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50" r:id="rId4"/>
    <p:sldMasterId id="2147483869" r:id="rId5"/>
    <p:sldMasterId id="2147484160" r:id="rId6"/>
    <p:sldMasterId id="2147484167" r:id="rId7"/>
  </p:sldMasterIdLst>
  <p:notesMasterIdLst>
    <p:notesMasterId r:id="rId21"/>
  </p:notesMasterIdLst>
  <p:handoutMasterIdLst>
    <p:handoutMasterId r:id="rId22"/>
  </p:handoutMasterIdLst>
  <p:sldIdLst>
    <p:sldId id="588" r:id="rId8"/>
    <p:sldId id="589" r:id="rId9"/>
    <p:sldId id="596" r:id="rId10"/>
    <p:sldId id="602" r:id="rId11"/>
    <p:sldId id="594" r:id="rId12"/>
    <p:sldId id="595" r:id="rId13"/>
    <p:sldId id="603" r:id="rId14"/>
    <p:sldId id="597" r:id="rId15"/>
    <p:sldId id="600" r:id="rId16"/>
    <p:sldId id="604" r:id="rId17"/>
    <p:sldId id="599" r:id="rId18"/>
    <p:sldId id="601" r:id="rId19"/>
    <p:sldId id="591" r:id="rId20"/>
  </p:sldIdLst>
  <p:sldSz cx="9906000" cy="6858000" type="A4"/>
  <p:notesSz cx="6807200" cy="9939338"/>
  <p:defaultTextStyle>
    <a:defPPr>
      <a:defRPr lang="ko-KR"/>
    </a:defPPr>
    <a:lvl1pPr algn="l" rtl="0" fontAlgn="base" latinLnBrk="1">
      <a:lnSpc>
        <a:spcPct val="150000"/>
      </a:lnSpc>
      <a:spcBef>
        <a:spcPct val="25000"/>
      </a:spcBef>
      <a:spcAft>
        <a:spcPct val="0"/>
      </a:spcAft>
      <a:buClr>
        <a:srgbClr val="333333"/>
      </a:buClr>
      <a:buChar char="–"/>
      <a:defRPr kumimoji="1" sz="1600" kern="1200">
        <a:solidFill>
          <a:srgbClr val="000000"/>
        </a:solidFill>
        <a:latin typeface="Arial" charset="0"/>
        <a:ea typeface="돋움" pitchFamily="50" charset="-127"/>
        <a:cs typeface="+mn-cs"/>
      </a:defRPr>
    </a:lvl1pPr>
    <a:lvl2pPr marL="457200" algn="l" rtl="0" fontAlgn="base" latinLnBrk="1">
      <a:lnSpc>
        <a:spcPct val="150000"/>
      </a:lnSpc>
      <a:spcBef>
        <a:spcPct val="25000"/>
      </a:spcBef>
      <a:spcAft>
        <a:spcPct val="0"/>
      </a:spcAft>
      <a:buClr>
        <a:srgbClr val="333333"/>
      </a:buClr>
      <a:buChar char="–"/>
      <a:defRPr kumimoji="1" sz="1600" kern="1200">
        <a:solidFill>
          <a:srgbClr val="000000"/>
        </a:solidFill>
        <a:latin typeface="Arial" charset="0"/>
        <a:ea typeface="돋움" pitchFamily="50" charset="-127"/>
        <a:cs typeface="+mn-cs"/>
      </a:defRPr>
    </a:lvl2pPr>
    <a:lvl3pPr marL="914400" algn="l" rtl="0" fontAlgn="base" latinLnBrk="1">
      <a:lnSpc>
        <a:spcPct val="150000"/>
      </a:lnSpc>
      <a:spcBef>
        <a:spcPct val="25000"/>
      </a:spcBef>
      <a:spcAft>
        <a:spcPct val="0"/>
      </a:spcAft>
      <a:buClr>
        <a:srgbClr val="333333"/>
      </a:buClr>
      <a:buChar char="–"/>
      <a:defRPr kumimoji="1" sz="1600" kern="1200">
        <a:solidFill>
          <a:srgbClr val="000000"/>
        </a:solidFill>
        <a:latin typeface="Arial" charset="0"/>
        <a:ea typeface="돋움" pitchFamily="50" charset="-127"/>
        <a:cs typeface="+mn-cs"/>
      </a:defRPr>
    </a:lvl3pPr>
    <a:lvl4pPr marL="1371600" algn="l" rtl="0" fontAlgn="base" latinLnBrk="1">
      <a:lnSpc>
        <a:spcPct val="150000"/>
      </a:lnSpc>
      <a:spcBef>
        <a:spcPct val="25000"/>
      </a:spcBef>
      <a:spcAft>
        <a:spcPct val="0"/>
      </a:spcAft>
      <a:buClr>
        <a:srgbClr val="333333"/>
      </a:buClr>
      <a:buChar char="–"/>
      <a:defRPr kumimoji="1" sz="1600" kern="1200">
        <a:solidFill>
          <a:srgbClr val="000000"/>
        </a:solidFill>
        <a:latin typeface="Arial" charset="0"/>
        <a:ea typeface="돋움" pitchFamily="50" charset="-127"/>
        <a:cs typeface="+mn-cs"/>
      </a:defRPr>
    </a:lvl4pPr>
    <a:lvl5pPr marL="1828800" algn="l" rtl="0" fontAlgn="base" latinLnBrk="1">
      <a:lnSpc>
        <a:spcPct val="150000"/>
      </a:lnSpc>
      <a:spcBef>
        <a:spcPct val="25000"/>
      </a:spcBef>
      <a:spcAft>
        <a:spcPct val="0"/>
      </a:spcAft>
      <a:buClr>
        <a:srgbClr val="333333"/>
      </a:buClr>
      <a:buChar char="–"/>
      <a:defRPr kumimoji="1" sz="1600" kern="1200">
        <a:solidFill>
          <a:srgbClr val="000000"/>
        </a:solidFill>
        <a:latin typeface="Arial" charset="0"/>
        <a:ea typeface="돋움" pitchFamily="50" charset="-127"/>
        <a:cs typeface="+mn-cs"/>
      </a:defRPr>
    </a:lvl5pPr>
    <a:lvl6pPr marL="2286000" algn="l" defTabSz="914400" rtl="0" eaLnBrk="1" latinLnBrk="1" hangingPunct="1">
      <a:defRPr kumimoji="1" sz="1600" kern="1200">
        <a:solidFill>
          <a:srgbClr val="000000"/>
        </a:solidFill>
        <a:latin typeface="Arial" charset="0"/>
        <a:ea typeface="돋움" pitchFamily="50" charset="-127"/>
        <a:cs typeface="+mn-cs"/>
      </a:defRPr>
    </a:lvl6pPr>
    <a:lvl7pPr marL="2743200" algn="l" defTabSz="914400" rtl="0" eaLnBrk="1" latinLnBrk="1" hangingPunct="1">
      <a:defRPr kumimoji="1" sz="1600" kern="1200">
        <a:solidFill>
          <a:srgbClr val="000000"/>
        </a:solidFill>
        <a:latin typeface="Arial" charset="0"/>
        <a:ea typeface="돋움" pitchFamily="50" charset="-127"/>
        <a:cs typeface="+mn-cs"/>
      </a:defRPr>
    </a:lvl7pPr>
    <a:lvl8pPr marL="3200400" algn="l" defTabSz="914400" rtl="0" eaLnBrk="1" latinLnBrk="1" hangingPunct="1">
      <a:defRPr kumimoji="1" sz="1600" kern="1200">
        <a:solidFill>
          <a:srgbClr val="000000"/>
        </a:solidFill>
        <a:latin typeface="Arial" charset="0"/>
        <a:ea typeface="돋움" pitchFamily="50" charset="-127"/>
        <a:cs typeface="+mn-cs"/>
      </a:defRPr>
    </a:lvl8pPr>
    <a:lvl9pPr marL="3657600" algn="l" defTabSz="914400" rtl="0" eaLnBrk="1" latinLnBrk="1" hangingPunct="1">
      <a:defRPr kumimoji="1" sz="1600" kern="1200">
        <a:solidFill>
          <a:srgbClr val="000000"/>
        </a:solidFill>
        <a:latin typeface="Arial" charset="0"/>
        <a:ea typeface="돋움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17">
          <p15:clr>
            <a:srgbClr val="A4A3A4"/>
          </p15:clr>
        </p15:guide>
        <p15:guide id="2" orient="horz" pos="4065">
          <p15:clr>
            <a:srgbClr val="A4A3A4"/>
          </p15:clr>
        </p15:guide>
        <p15:guide id="3" orient="horz" pos="346">
          <p15:clr>
            <a:srgbClr val="A4A3A4"/>
          </p15:clr>
        </p15:guide>
        <p15:guide id="4" orient="horz" pos="890">
          <p15:clr>
            <a:srgbClr val="A4A3A4"/>
          </p15:clr>
        </p15:guide>
        <p15:guide id="5" pos="3120">
          <p15:clr>
            <a:srgbClr val="A4A3A4"/>
          </p15:clr>
        </p15:guide>
        <p15:guide id="6" pos="262">
          <p15:clr>
            <a:srgbClr val="A4A3A4"/>
          </p15:clr>
        </p15:guide>
        <p15:guide id="7" pos="602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>
          <p15:clr>
            <a:srgbClr val="A4A3A4"/>
          </p15:clr>
        </p15:guide>
        <p15:guide id="2" pos="2143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사용자" initials="W사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4A5F"/>
    <a:srgbClr val="000000"/>
    <a:srgbClr val="FF0000"/>
    <a:srgbClr val="0000FF"/>
    <a:srgbClr val="5C5C5C"/>
    <a:srgbClr val="8C99D8"/>
    <a:srgbClr val="DDDDDD"/>
    <a:srgbClr val="E0E0E0"/>
    <a:srgbClr val="8686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69" autoAdjust="0"/>
    <p:restoredTop sz="95337" autoAdjust="0"/>
  </p:normalViewPr>
  <p:slideViewPr>
    <p:cSldViewPr showGuides="1">
      <p:cViewPr>
        <p:scale>
          <a:sx n="80" d="100"/>
          <a:sy n="80" d="100"/>
        </p:scale>
        <p:origin x="1493" y="139"/>
      </p:cViewPr>
      <p:guideLst>
        <p:guide orient="horz" pos="1117"/>
        <p:guide orient="horz" pos="4065"/>
        <p:guide orient="horz" pos="346"/>
        <p:guide orient="horz" pos="890"/>
        <p:guide pos="3120"/>
        <p:guide pos="262"/>
        <p:guide pos="6023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howGuides="1">
      <p:cViewPr varScale="1">
        <p:scale>
          <a:sx n="62" d="100"/>
          <a:sy n="62" d="100"/>
        </p:scale>
        <p:origin x="-3360" y="-72"/>
      </p:cViewPr>
      <p:guideLst>
        <p:guide orient="horz" pos="3131"/>
        <p:guide pos="214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commentAuthors" Target="commentAuthors.xml"/><Relationship Id="rId28" Type="http://schemas.microsoft.com/office/2015/10/relationships/revisionInfo" Target="revisionInfo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2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BE4F94-02C2-4B5B-A74A-98AF3D0DA48C}" type="doc">
      <dgm:prSet loTypeId="urn:microsoft.com/office/officeart/2005/8/layout/hList7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pPr latinLnBrk="1"/>
          <a:endParaRPr lang="ko-KR" altLang="en-US"/>
        </a:p>
      </dgm:t>
    </dgm:pt>
    <dgm:pt modelId="{AE6BEA6C-0C6A-48A7-A943-4098829E8363}">
      <dgm:prSet phldrT="[텍스트]" custT="1"/>
      <dgm:spPr>
        <a:solidFill>
          <a:srgbClr val="002060"/>
        </a:solidFill>
      </dgm:spPr>
      <dgm:t>
        <a:bodyPr/>
        <a:lstStyle/>
        <a:p>
          <a:pPr algn="ctr" latinLnBrk="1"/>
          <a:r>
            <a:rPr lang="en-US" altLang="ko-KR" sz="2000" b="1" dirty="0" smtClean="0">
              <a:solidFill>
                <a:srgbClr val="FFFF00"/>
              </a:solidFill>
              <a:latin typeface="Cambria" panose="02040503050406030204" pitchFamily="18" charset="0"/>
            </a:rPr>
            <a:t>User Define Contract</a:t>
          </a:r>
        </a:p>
        <a:p>
          <a:pPr algn="ctr" latinLnBrk="1"/>
          <a:r>
            <a:rPr lang="ko-KR" altLang="en-US" sz="1600" dirty="0" smtClean="0">
              <a:latin typeface="Cambria" panose="02040503050406030204" pitchFamily="18" charset="0"/>
            </a:rPr>
            <a:t>사용자가 직접 </a:t>
          </a:r>
          <a:r>
            <a:rPr lang="en-US" altLang="ko-KR" sz="1600" dirty="0" smtClean="0">
              <a:latin typeface="Cambria" panose="02040503050406030204" pitchFamily="18" charset="0"/>
            </a:rPr>
            <a:t>Data Factor</a:t>
          </a:r>
          <a:r>
            <a:rPr lang="ko-KR" altLang="en-US" sz="1600" dirty="0" smtClean="0">
              <a:latin typeface="Cambria" panose="02040503050406030204" pitchFamily="18" charset="0"/>
            </a:rPr>
            <a:t>를 지정해 임의대로 </a:t>
          </a:r>
          <a:r>
            <a:rPr lang="en-US" altLang="ko-KR" sz="1600" dirty="0" smtClean="0">
              <a:latin typeface="Cambria" panose="02040503050406030204" pitchFamily="18" charset="0"/>
            </a:rPr>
            <a:t>Contract</a:t>
          </a:r>
          <a:r>
            <a:rPr lang="ko-KR" altLang="en-US" sz="1600" dirty="0" smtClean="0">
              <a:latin typeface="Cambria" panose="02040503050406030204" pitchFamily="18" charset="0"/>
            </a:rPr>
            <a:t> 생성</a:t>
          </a:r>
          <a:endParaRPr lang="ko-KR" altLang="en-US" sz="1600" dirty="0">
            <a:latin typeface="Cambria" panose="02040503050406030204" pitchFamily="18" charset="0"/>
          </a:endParaRPr>
        </a:p>
      </dgm:t>
    </dgm:pt>
    <dgm:pt modelId="{3813307A-F699-4932-A6F1-51C0CD78CA11}" type="parTrans" cxnId="{435227E5-BCD7-499F-8D7E-7DE7F3DEBC47}">
      <dgm:prSet/>
      <dgm:spPr/>
      <dgm:t>
        <a:bodyPr/>
        <a:lstStyle/>
        <a:p>
          <a:pPr algn="ctr" latinLnBrk="1"/>
          <a:endParaRPr lang="ko-KR" altLang="en-US"/>
        </a:p>
      </dgm:t>
    </dgm:pt>
    <dgm:pt modelId="{6F1DFA6F-85A6-4A1D-A1E6-E4C3B127F8BF}" type="sibTrans" cxnId="{435227E5-BCD7-499F-8D7E-7DE7F3DEBC47}">
      <dgm:prSet/>
      <dgm:spPr/>
      <dgm:t>
        <a:bodyPr/>
        <a:lstStyle/>
        <a:p>
          <a:pPr algn="ctr" latinLnBrk="1"/>
          <a:endParaRPr lang="ko-KR" altLang="en-US"/>
        </a:p>
      </dgm:t>
    </dgm:pt>
    <dgm:pt modelId="{1BBCFC39-C1C2-4EDA-A0E7-5FC076D36204}">
      <dgm:prSet phldrT="[텍스트]" custT="1"/>
      <dgm:spPr>
        <a:solidFill>
          <a:srgbClr val="002060"/>
        </a:solidFill>
      </dgm:spPr>
      <dgm:t>
        <a:bodyPr/>
        <a:lstStyle/>
        <a:p>
          <a:pPr algn="ctr" latinLnBrk="1"/>
          <a:r>
            <a:rPr lang="en-US" altLang="ko-KR" sz="2000" b="1" dirty="0" smtClean="0">
              <a:solidFill>
                <a:srgbClr val="FFFF00"/>
              </a:solidFill>
              <a:latin typeface="Cambria" panose="02040503050406030204" pitchFamily="18" charset="0"/>
            </a:rPr>
            <a:t>Process Base Tariff </a:t>
          </a:r>
        </a:p>
        <a:p>
          <a:pPr algn="ctr" latinLnBrk="1"/>
          <a:r>
            <a:rPr lang="ko-KR" altLang="en-US" sz="1600" dirty="0" smtClean="0">
              <a:latin typeface="Cambria" panose="02040503050406030204" pitchFamily="18" charset="0"/>
            </a:rPr>
            <a:t>자유도 높은 </a:t>
          </a:r>
          <a:r>
            <a:rPr lang="en-US" altLang="ko-KR" sz="1600" dirty="0" smtClean="0">
              <a:latin typeface="Cambria" panose="02040503050406030204" pitchFamily="18" charset="0"/>
            </a:rPr>
            <a:t>Contract</a:t>
          </a:r>
          <a:r>
            <a:rPr lang="ko-KR" altLang="en-US" sz="1600" dirty="0" smtClean="0">
              <a:latin typeface="Cambria" panose="02040503050406030204" pitchFamily="18" charset="0"/>
            </a:rPr>
            <a:t>로 실무 프로세스와 일치하는 </a:t>
          </a:r>
          <a:r>
            <a:rPr lang="en-US" altLang="ko-KR" sz="1600" dirty="0" smtClean="0">
              <a:latin typeface="Cambria" panose="02040503050406030204" pitchFamily="18" charset="0"/>
            </a:rPr>
            <a:t>Tariff </a:t>
          </a:r>
          <a:r>
            <a:rPr lang="ko-KR" altLang="en-US" sz="1600" dirty="0" smtClean="0">
              <a:latin typeface="Cambria" panose="02040503050406030204" pitchFamily="18" charset="0"/>
            </a:rPr>
            <a:t>설정</a:t>
          </a:r>
          <a:endParaRPr lang="ko-KR" altLang="en-US" sz="1600" dirty="0">
            <a:latin typeface="Cambria" panose="02040503050406030204" pitchFamily="18" charset="0"/>
          </a:endParaRPr>
        </a:p>
      </dgm:t>
    </dgm:pt>
    <dgm:pt modelId="{2671837D-BA12-4B9F-A0AD-876BB86D29DD}" type="parTrans" cxnId="{4A58825F-F5DC-4B15-8EAA-03FA8F4AAC38}">
      <dgm:prSet/>
      <dgm:spPr/>
      <dgm:t>
        <a:bodyPr/>
        <a:lstStyle/>
        <a:p>
          <a:pPr algn="ctr" latinLnBrk="1"/>
          <a:endParaRPr lang="ko-KR" altLang="en-US"/>
        </a:p>
      </dgm:t>
    </dgm:pt>
    <dgm:pt modelId="{143C2185-7B36-4384-968B-4C60067E6D5B}" type="sibTrans" cxnId="{4A58825F-F5DC-4B15-8EAA-03FA8F4AAC38}">
      <dgm:prSet/>
      <dgm:spPr/>
      <dgm:t>
        <a:bodyPr/>
        <a:lstStyle/>
        <a:p>
          <a:pPr algn="ctr" latinLnBrk="1"/>
          <a:endParaRPr lang="ko-KR" altLang="en-US"/>
        </a:p>
      </dgm:t>
    </dgm:pt>
    <dgm:pt modelId="{C4200D15-ABD7-4D7D-9BCE-C7067CA8C994}">
      <dgm:prSet phldrT="[텍스트]" custT="1"/>
      <dgm:spPr>
        <a:solidFill>
          <a:schemeClr val="accent6"/>
        </a:solidFill>
      </dgm:spPr>
      <dgm:t>
        <a:bodyPr/>
        <a:lstStyle/>
        <a:p>
          <a:pPr algn="ctr" latinLnBrk="1"/>
          <a:r>
            <a:rPr lang="en-US" altLang="ko-KR" sz="2000" b="1" dirty="0" smtClean="0">
              <a:solidFill>
                <a:srgbClr val="FFFF00"/>
              </a:solidFill>
              <a:latin typeface="Cambria" panose="02040503050406030204" pitchFamily="18" charset="0"/>
            </a:rPr>
            <a:t>Auto Rating</a:t>
          </a:r>
        </a:p>
        <a:p>
          <a:pPr algn="ctr" latinLnBrk="1"/>
          <a:r>
            <a:rPr lang="ko-KR" altLang="en-US" sz="1600" dirty="0" smtClean="0">
              <a:latin typeface="+mn-lt"/>
            </a:rPr>
            <a:t>지정된 </a:t>
          </a:r>
          <a:r>
            <a:rPr lang="en-US" altLang="ko-KR" sz="1600" dirty="0" smtClean="0">
              <a:latin typeface="+mn-lt"/>
            </a:rPr>
            <a:t/>
          </a:r>
          <a:br>
            <a:rPr lang="en-US" altLang="ko-KR" sz="1600" dirty="0" smtClean="0">
              <a:latin typeface="+mn-lt"/>
            </a:rPr>
          </a:br>
          <a:r>
            <a:rPr lang="en-US" altLang="ko-KR" sz="1600" dirty="0" smtClean="0">
              <a:latin typeface="+mn-lt"/>
            </a:rPr>
            <a:t>Contract</a:t>
          </a:r>
          <a:r>
            <a:rPr lang="ko-KR" altLang="en-US" sz="1600" dirty="0" smtClean="0">
              <a:latin typeface="+mn-lt"/>
            </a:rPr>
            <a:t>에 따라</a:t>
          </a:r>
          <a:r>
            <a:rPr lang="en-US" altLang="ko-KR" sz="1600" dirty="0" smtClean="0">
              <a:latin typeface="+mn-lt"/>
            </a:rPr>
            <a:t/>
          </a:r>
          <a:br>
            <a:rPr lang="en-US" altLang="ko-KR" sz="1600" dirty="0" smtClean="0">
              <a:latin typeface="+mn-lt"/>
            </a:rPr>
          </a:br>
          <a:r>
            <a:rPr lang="ko-KR" altLang="en-US" sz="1600" dirty="0" smtClean="0">
              <a:latin typeface="+mn-lt"/>
            </a:rPr>
            <a:t>자동 </a:t>
          </a:r>
          <a:r>
            <a:rPr lang="ko-KR" altLang="en-US" sz="1600" dirty="0" err="1" smtClean="0">
              <a:latin typeface="+mn-lt"/>
            </a:rPr>
            <a:t>요율</a:t>
          </a:r>
          <a:r>
            <a:rPr lang="ko-KR" altLang="en-US" sz="1600" dirty="0" smtClean="0">
              <a:latin typeface="+mn-lt"/>
            </a:rPr>
            <a:t> 계산</a:t>
          </a:r>
          <a:endParaRPr lang="en-US" altLang="ko-KR" sz="1600" dirty="0" smtClean="0">
            <a:latin typeface="+mn-lt"/>
          </a:endParaRPr>
        </a:p>
      </dgm:t>
    </dgm:pt>
    <dgm:pt modelId="{742877A7-F2B9-4A3C-AFB9-8ADBCA86330F}" type="parTrans" cxnId="{AD4A57D7-8406-49F6-8549-8F1AC3A71A72}">
      <dgm:prSet/>
      <dgm:spPr/>
      <dgm:t>
        <a:bodyPr/>
        <a:lstStyle/>
        <a:p>
          <a:pPr algn="ctr" latinLnBrk="1"/>
          <a:endParaRPr lang="ko-KR" altLang="en-US"/>
        </a:p>
      </dgm:t>
    </dgm:pt>
    <dgm:pt modelId="{8950DB5B-24D7-482A-815C-B4F6D4B9F4CA}" type="sibTrans" cxnId="{AD4A57D7-8406-49F6-8549-8F1AC3A71A72}">
      <dgm:prSet/>
      <dgm:spPr/>
      <dgm:t>
        <a:bodyPr/>
        <a:lstStyle/>
        <a:p>
          <a:pPr algn="ctr" latinLnBrk="1"/>
          <a:endParaRPr lang="ko-KR" altLang="en-US"/>
        </a:p>
      </dgm:t>
    </dgm:pt>
    <dgm:pt modelId="{F5F51639-9CF7-44AA-AEB4-A6753F9B9524}">
      <dgm:prSet phldrT="[텍스트]" custT="1"/>
      <dgm:spPr>
        <a:solidFill>
          <a:schemeClr val="accent2"/>
        </a:solidFill>
      </dgm:spPr>
      <dgm:t>
        <a:bodyPr/>
        <a:lstStyle/>
        <a:p>
          <a:pPr algn="ctr" latinLnBrk="1"/>
          <a:r>
            <a:rPr lang="en-US" altLang="ko-KR" sz="2000" b="1" dirty="0" smtClean="0">
              <a:solidFill>
                <a:srgbClr val="FFFF00"/>
              </a:solidFill>
              <a:latin typeface="Cambria" panose="02040503050406030204" pitchFamily="18" charset="0"/>
            </a:rPr>
            <a:t>Process Visibility</a:t>
          </a:r>
        </a:p>
        <a:p>
          <a:pPr algn="ctr" latinLnBrk="1"/>
          <a:r>
            <a:rPr lang="en-US" altLang="ko-KR" sz="1600" dirty="0" smtClean="0">
              <a:latin typeface="+mn-lt"/>
            </a:rPr>
            <a:t>Process Log View, Execution Plan</a:t>
          </a:r>
          <a:r>
            <a:rPr lang="ko-KR" altLang="en-US" sz="1600" dirty="0" smtClean="0">
              <a:latin typeface="+mn-lt"/>
            </a:rPr>
            <a:t>을 통한 가시성 확보</a:t>
          </a:r>
          <a:endParaRPr lang="en-US" altLang="ko-KR" sz="1600" dirty="0" smtClean="0">
            <a:latin typeface="+mn-lt"/>
          </a:endParaRPr>
        </a:p>
      </dgm:t>
    </dgm:pt>
    <dgm:pt modelId="{B62236E1-9B3B-40E3-ADE9-68A59ACD146F}" type="parTrans" cxnId="{A9866E58-B297-4363-9D25-A29E30132164}">
      <dgm:prSet/>
      <dgm:spPr/>
      <dgm:t>
        <a:bodyPr/>
        <a:lstStyle/>
        <a:p>
          <a:pPr algn="ctr" latinLnBrk="1"/>
          <a:endParaRPr lang="ko-KR" altLang="en-US"/>
        </a:p>
      </dgm:t>
    </dgm:pt>
    <dgm:pt modelId="{C1DEE34B-099B-4F68-A628-EAA78526F77C}" type="sibTrans" cxnId="{A9866E58-B297-4363-9D25-A29E30132164}">
      <dgm:prSet/>
      <dgm:spPr/>
      <dgm:t>
        <a:bodyPr/>
        <a:lstStyle/>
        <a:p>
          <a:pPr algn="ctr" latinLnBrk="1"/>
          <a:endParaRPr lang="ko-KR" altLang="en-US"/>
        </a:p>
      </dgm:t>
    </dgm:pt>
    <dgm:pt modelId="{7B49E92F-FFBE-4F93-BCC4-164E5C33147E}" type="pres">
      <dgm:prSet presAssocID="{40BE4F94-02C2-4B5B-A74A-98AF3D0DA48C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0F282B64-A8F7-44E6-A456-824523F6BA7B}" type="pres">
      <dgm:prSet presAssocID="{40BE4F94-02C2-4B5B-A74A-98AF3D0DA48C}" presName="fgShape" presStyleLbl="fgShp" presStyleIdx="0" presStyleCnt="1"/>
      <dgm:spPr>
        <a:prstGeom prst="rightArrow">
          <a:avLst/>
        </a:prstGeom>
      </dgm:spPr>
      <dgm:t>
        <a:bodyPr/>
        <a:lstStyle/>
        <a:p>
          <a:pPr latinLnBrk="1"/>
          <a:endParaRPr lang="ko-KR" altLang="en-US"/>
        </a:p>
      </dgm:t>
    </dgm:pt>
    <dgm:pt modelId="{42D6DC9A-5133-484D-86D3-FC0F78126A9A}" type="pres">
      <dgm:prSet presAssocID="{40BE4F94-02C2-4B5B-A74A-98AF3D0DA48C}" presName="linComp" presStyleCnt="0"/>
      <dgm:spPr/>
      <dgm:t>
        <a:bodyPr/>
        <a:lstStyle/>
        <a:p>
          <a:pPr latinLnBrk="1"/>
          <a:endParaRPr lang="ko-KR" altLang="en-US"/>
        </a:p>
      </dgm:t>
    </dgm:pt>
    <dgm:pt modelId="{327F62AE-D5D1-4045-BC9F-38B50C76429D}" type="pres">
      <dgm:prSet presAssocID="{AE6BEA6C-0C6A-48A7-A943-4098829E8363}" presName="compNode" presStyleCnt="0"/>
      <dgm:spPr/>
      <dgm:t>
        <a:bodyPr/>
        <a:lstStyle/>
        <a:p>
          <a:pPr latinLnBrk="1"/>
          <a:endParaRPr lang="ko-KR" altLang="en-US"/>
        </a:p>
      </dgm:t>
    </dgm:pt>
    <dgm:pt modelId="{18CA5934-56D7-4B26-B886-4C2124584E8E}" type="pres">
      <dgm:prSet presAssocID="{AE6BEA6C-0C6A-48A7-A943-4098829E8363}" presName="bkgdShape" presStyleLbl="node1" presStyleIdx="0" presStyleCnt="4"/>
      <dgm:spPr/>
      <dgm:t>
        <a:bodyPr/>
        <a:lstStyle/>
        <a:p>
          <a:pPr latinLnBrk="1"/>
          <a:endParaRPr lang="ko-KR" altLang="en-US"/>
        </a:p>
      </dgm:t>
    </dgm:pt>
    <dgm:pt modelId="{8F145DD5-F6C0-4D20-A390-28F5D28E79FF}" type="pres">
      <dgm:prSet presAssocID="{AE6BEA6C-0C6A-48A7-A943-4098829E8363}" presName="nodeTx" presStyleLbl="node1" presStyleIdx="0" presStyleCnt="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A87DFCB2-AEF5-43BF-955A-7D9A9E694575}" type="pres">
      <dgm:prSet presAssocID="{AE6BEA6C-0C6A-48A7-A943-4098829E8363}" presName="invisiNode" presStyleLbl="node1" presStyleIdx="0" presStyleCnt="4"/>
      <dgm:spPr/>
      <dgm:t>
        <a:bodyPr/>
        <a:lstStyle/>
        <a:p>
          <a:pPr latinLnBrk="1"/>
          <a:endParaRPr lang="ko-KR" altLang="en-US"/>
        </a:p>
      </dgm:t>
    </dgm:pt>
    <dgm:pt modelId="{F76B4A81-27BC-4C64-915B-318231057309}" type="pres">
      <dgm:prSet presAssocID="{AE6BEA6C-0C6A-48A7-A943-4098829E8363}" presName="imagNode" presStyleLbl="fgImgPlace1" presStyleIdx="0" presStyleCnt="4"/>
      <dgm:spPr>
        <a:blipFill rotWithShape="1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pPr latinLnBrk="1"/>
          <a:endParaRPr lang="ko-KR" altLang="en-US"/>
        </a:p>
      </dgm:t>
    </dgm:pt>
    <dgm:pt modelId="{4F5593B8-D880-4BEB-9CF4-0ACD44B0DEB9}" type="pres">
      <dgm:prSet presAssocID="{6F1DFA6F-85A6-4A1D-A1E6-E4C3B127F8BF}" presName="sibTrans" presStyleLbl="sibTrans2D1" presStyleIdx="0" presStyleCnt="0"/>
      <dgm:spPr/>
      <dgm:t>
        <a:bodyPr/>
        <a:lstStyle/>
        <a:p>
          <a:pPr latinLnBrk="1"/>
          <a:endParaRPr lang="ko-KR" altLang="en-US"/>
        </a:p>
      </dgm:t>
    </dgm:pt>
    <dgm:pt modelId="{F25553B9-48C9-4B1B-9285-386B2595F540}" type="pres">
      <dgm:prSet presAssocID="{1BBCFC39-C1C2-4EDA-A0E7-5FC076D36204}" presName="compNode" presStyleCnt="0"/>
      <dgm:spPr/>
      <dgm:t>
        <a:bodyPr/>
        <a:lstStyle/>
        <a:p>
          <a:pPr latinLnBrk="1"/>
          <a:endParaRPr lang="ko-KR" altLang="en-US"/>
        </a:p>
      </dgm:t>
    </dgm:pt>
    <dgm:pt modelId="{98837013-BA0C-4190-A01D-8C7008BB3442}" type="pres">
      <dgm:prSet presAssocID="{1BBCFC39-C1C2-4EDA-A0E7-5FC076D36204}" presName="bkgdShape" presStyleLbl="node1" presStyleIdx="1" presStyleCnt="4"/>
      <dgm:spPr/>
      <dgm:t>
        <a:bodyPr/>
        <a:lstStyle/>
        <a:p>
          <a:pPr latinLnBrk="1"/>
          <a:endParaRPr lang="ko-KR" altLang="en-US"/>
        </a:p>
      </dgm:t>
    </dgm:pt>
    <dgm:pt modelId="{283E14E9-237C-469F-85A2-6B41B5200AA1}" type="pres">
      <dgm:prSet presAssocID="{1BBCFC39-C1C2-4EDA-A0E7-5FC076D36204}" presName="nodeTx" presStyleLbl="node1" presStyleIdx="1" presStyleCnt="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FB09D1BB-7590-40A9-95E2-73C69DC5ED09}" type="pres">
      <dgm:prSet presAssocID="{1BBCFC39-C1C2-4EDA-A0E7-5FC076D36204}" presName="invisiNode" presStyleLbl="node1" presStyleIdx="1" presStyleCnt="4"/>
      <dgm:spPr/>
      <dgm:t>
        <a:bodyPr/>
        <a:lstStyle/>
        <a:p>
          <a:pPr latinLnBrk="1"/>
          <a:endParaRPr lang="ko-KR" altLang="en-US"/>
        </a:p>
      </dgm:t>
    </dgm:pt>
    <dgm:pt modelId="{4AA8CF72-1FA8-4BEC-9840-72394539A7FC}" type="pres">
      <dgm:prSet presAssocID="{1BBCFC39-C1C2-4EDA-A0E7-5FC076D36204}" presName="imagNode" presStyleLbl="fgImgPlace1" presStyleIdx="1" presStyleCnt="4"/>
      <dgm:spPr>
        <a:blipFill rotWithShape="1"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pPr latinLnBrk="1"/>
          <a:endParaRPr lang="ko-KR" altLang="en-US"/>
        </a:p>
      </dgm:t>
    </dgm:pt>
    <dgm:pt modelId="{E20A5474-D004-48DD-9DF4-2C1C3AAED60C}" type="pres">
      <dgm:prSet presAssocID="{143C2185-7B36-4384-968B-4C60067E6D5B}" presName="sibTrans" presStyleLbl="sibTrans2D1" presStyleIdx="0" presStyleCnt="0"/>
      <dgm:spPr/>
      <dgm:t>
        <a:bodyPr/>
        <a:lstStyle/>
        <a:p>
          <a:pPr latinLnBrk="1"/>
          <a:endParaRPr lang="ko-KR" altLang="en-US"/>
        </a:p>
      </dgm:t>
    </dgm:pt>
    <dgm:pt modelId="{A1F00705-5984-471D-8BBB-CEFF65E4BC7E}" type="pres">
      <dgm:prSet presAssocID="{C4200D15-ABD7-4D7D-9BCE-C7067CA8C994}" presName="compNode" presStyleCnt="0"/>
      <dgm:spPr/>
      <dgm:t>
        <a:bodyPr/>
        <a:lstStyle/>
        <a:p>
          <a:pPr latinLnBrk="1"/>
          <a:endParaRPr lang="ko-KR" altLang="en-US"/>
        </a:p>
      </dgm:t>
    </dgm:pt>
    <dgm:pt modelId="{EED1F107-7A29-4419-ADF6-E4BA7400819E}" type="pres">
      <dgm:prSet presAssocID="{C4200D15-ABD7-4D7D-9BCE-C7067CA8C994}" presName="bkgdShape" presStyleLbl="node1" presStyleIdx="2" presStyleCnt="4"/>
      <dgm:spPr/>
      <dgm:t>
        <a:bodyPr/>
        <a:lstStyle/>
        <a:p>
          <a:pPr latinLnBrk="1"/>
          <a:endParaRPr lang="ko-KR" altLang="en-US"/>
        </a:p>
      </dgm:t>
    </dgm:pt>
    <dgm:pt modelId="{8AB5E5D2-90DE-4610-80CE-DC8F4D548AB8}" type="pres">
      <dgm:prSet presAssocID="{C4200D15-ABD7-4D7D-9BCE-C7067CA8C994}" presName="nodeTx" presStyleLbl="node1" presStyleIdx="2" presStyleCnt="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97D99251-6C8A-42B8-893D-77DE7493621A}" type="pres">
      <dgm:prSet presAssocID="{C4200D15-ABD7-4D7D-9BCE-C7067CA8C994}" presName="invisiNode" presStyleLbl="node1" presStyleIdx="2" presStyleCnt="4"/>
      <dgm:spPr/>
      <dgm:t>
        <a:bodyPr/>
        <a:lstStyle/>
        <a:p>
          <a:pPr latinLnBrk="1"/>
          <a:endParaRPr lang="ko-KR" altLang="en-US"/>
        </a:p>
      </dgm:t>
    </dgm:pt>
    <dgm:pt modelId="{7D37034C-1A57-49DC-98F7-D431E759FC17}" type="pres">
      <dgm:prSet presAssocID="{C4200D15-ABD7-4D7D-9BCE-C7067CA8C994}" presName="imagNode" presStyleLbl="fgImgPlace1" presStyleIdx="2" presStyleCnt="4"/>
      <dgm:spPr>
        <a:blipFill rotWithShape="1">
          <a:blip xmlns:r="http://schemas.openxmlformats.org/officeDocument/2006/relationships" r:embed="rId3"/>
          <a:stretch>
            <a:fillRect/>
          </a:stretch>
        </a:blipFill>
      </dgm:spPr>
      <dgm:t>
        <a:bodyPr/>
        <a:lstStyle/>
        <a:p>
          <a:pPr latinLnBrk="1"/>
          <a:endParaRPr lang="ko-KR" altLang="en-US"/>
        </a:p>
      </dgm:t>
    </dgm:pt>
    <dgm:pt modelId="{199C104C-5B3C-4894-A197-9DFF5C2DB81B}" type="pres">
      <dgm:prSet presAssocID="{8950DB5B-24D7-482A-815C-B4F6D4B9F4CA}" presName="sibTrans" presStyleLbl="sibTrans2D1" presStyleIdx="0" presStyleCnt="0"/>
      <dgm:spPr/>
      <dgm:t>
        <a:bodyPr/>
        <a:lstStyle/>
        <a:p>
          <a:pPr latinLnBrk="1"/>
          <a:endParaRPr lang="ko-KR" altLang="en-US"/>
        </a:p>
      </dgm:t>
    </dgm:pt>
    <dgm:pt modelId="{8665DF32-0B77-44EC-AD37-1745240863C2}" type="pres">
      <dgm:prSet presAssocID="{F5F51639-9CF7-44AA-AEB4-A6753F9B9524}" presName="compNode" presStyleCnt="0"/>
      <dgm:spPr/>
      <dgm:t>
        <a:bodyPr/>
        <a:lstStyle/>
        <a:p>
          <a:pPr latinLnBrk="1"/>
          <a:endParaRPr lang="ko-KR" altLang="en-US"/>
        </a:p>
      </dgm:t>
    </dgm:pt>
    <dgm:pt modelId="{A9D4CA5C-53B8-488C-9323-DA332FB5DDA2}" type="pres">
      <dgm:prSet presAssocID="{F5F51639-9CF7-44AA-AEB4-A6753F9B9524}" presName="bkgdShape" presStyleLbl="node1" presStyleIdx="3" presStyleCnt="4"/>
      <dgm:spPr/>
      <dgm:t>
        <a:bodyPr/>
        <a:lstStyle/>
        <a:p>
          <a:pPr latinLnBrk="1"/>
          <a:endParaRPr lang="ko-KR" altLang="en-US"/>
        </a:p>
      </dgm:t>
    </dgm:pt>
    <dgm:pt modelId="{08404179-9DCD-43BC-B7F3-0FB37EA03AFC}" type="pres">
      <dgm:prSet presAssocID="{F5F51639-9CF7-44AA-AEB4-A6753F9B9524}" presName="nodeTx" presStyleLbl="node1" presStyleIdx="3" presStyleCnt="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5C2140B2-61B3-4E8A-9C34-A74B65A399FC}" type="pres">
      <dgm:prSet presAssocID="{F5F51639-9CF7-44AA-AEB4-A6753F9B9524}" presName="invisiNode" presStyleLbl="node1" presStyleIdx="3" presStyleCnt="4"/>
      <dgm:spPr/>
      <dgm:t>
        <a:bodyPr/>
        <a:lstStyle/>
        <a:p>
          <a:pPr latinLnBrk="1"/>
          <a:endParaRPr lang="ko-KR" altLang="en-US"/>
        </a:p>
      </dgm:t>
    </dgm:pt>
    <dgm:pt modelId="{26D71DC9-E7D5-49E4-8E52-120E1DF59280}" type="pres">
      <dgm:prSet presAssocID="{F5F51639-9CF7-44AA-AEB4-A6753F9B9524}" presName="imagNode" presStyleLbl="fgImgPlace1" presStyleIdx="3" presStyleCnt="4"/>
      <dgm:spPr>
        <a:blipFill rotWithShape="1">
          <a:blip xmlns:r="http://schemas.openxmlformats.org/officeDocument/2006/relationships" r:embed="rId4"/>
          <a:stretch>
            <a:fillRect/>
          </a:stretch>
        </a:blipFill>
      </dgm:spPr>
      <dgm:t>
        <a:bodyPr/>
        <a:lstStyle/>
        <a:p>
          <a:pPr latinLnBrk="1"/>
          <a:endParaRPr lang="ko-KR" altLang="en-US"/>
        </a:p>
      </dgm:t>
    </dgm:pt>
  </dgm:ptLst>
  <dgm:cxnLst>
    <dgm:cxn modelId="{AFA1DBCD-5EDE-43E6-87A3-B706ECC0B28C}" type="presOf" srcId="{1BBCFC39-C1C2-4EDA-A0E7-5FC076D36204}" destId="{98837013-BA0C-4190-A01D-8C7008BB3442}" srcOrd="0" destOrd="0" presId="urn:microsoft.com/office/officeart/2005/8/layout/hList7"/>
    <dgm:cxn modelId="{1F128794-07B4-4F5B-BBE7-129A59485EA3}" type="presOf" srcId="{C4200D15-ABD7-4D7D-9BCE-C7067CA8C994}" destId="{8AB5E5D2-90DE-4610-80CE-DC8F4D548AB8}" srcOrd="1" destOrd="0" presId="urn:microsoft.com/office/officeart/2005/8/layout/hList7"/>
    <dgm:cxn modelId="{BE1D99D0-D2D3-49C1-8B43-C5454DF41BBD}" type="presOf" srcId="{F5F51639-9CF7-44AA-AEB4-A6753F9B9524}" destId="{08404179-9DCD-43BC-B7F3-0FB37EA03AFC}" srcOrd="1" destOrd="0" presId="urn:microsoft.com/office/officeart/2005/8/layout/hList7"/>
    <dgm:cxn modelId="{B76AE47C-9756-4CA7-9437-2B5BB80586D5}" type="presOf" srcId="{C4200D15-ABD7-4D7D-9BCE-C7067CA8C994}" destId="{EED1F107-7A29-4419-ADF6-E4BA7400819E}" srcOrd="0" destOrd="0" presId="urn:microsoft.com/office/officeart/2005/8/layout/hList7"/>
    <dgm:cxn modelId="{96257CE8-7E6D-4465-A2B2-755678154F02}" type="presOf" srcId="{AE6BEA6C-0C6A-48A7-A943-4098829E8363}" destId="{8F145DD5-F6C0-4D20-A390-28F5D28E79FF}" srcOrd="1" destOrd="0" presId="urn:microsoft.com/office/officeart/2005/8/layout/hList7"/>
    <dgm:cxn modelId="{03753A9F-3389-45B8-920D-ECF3ED3B1025}" type="presOf" srcId="{F5F51639-9CF7-44AA-AEB4-A6753F9B9524}" destId="{A9D4CA5C-53B8-488C-9323-DA332FB5DDA2}" srcOrd="0" destOrd="0" presId="urn:microsoft.com/office/officeart/2005/8/layout/hList7"/>
    <dgm:cxn modelId="{3E87EE10-27D7-4BCE-A9A8-284B5B269CB8}" type="presOf" srcId="{40BE4F94-02C2-4B5B-A74A-98AF3D0DA48C}" destId="{7B49E92F-FFBE-4F93-BCC4-164E5C33147E}" srcOrd="0" destOrd="0" presId="urn:microsoft.com/office/officeart/2005/8/layout/hList7"/>
    <dgm:cxn modelId="{4073F7B2-58C0-42C2-8EE2-7B60F52710C5}" type="presOf" srcId="{1BBCFC39-C1C2-4EDA-A0E7-5FC076D36204}" destId="{283E14E9-237C-469F-85A2-6B41B5200AA1}" srcOrd="1" destOrd="0" presId="urn:microsoft.com/office/officeart/2005/8/layout/hList7"/>
    <dgm:cxn modelId="{4A58825F-F5DC-4B15-8EAA-03FA8F4AAC38}" srcId="{40BE4F94-02C2-4B5B-A74A-98AF3D0DA48C}" destId="{1BBCFC39-C1C2-4EDA-A0E7-5FC076D36204}" srcOrd="1" destOrd="0" parTransId="{2671837D-BA12-4B9F-A0AD-876BB86D29DD}" sibTransId="{143C2185-7B36-4384-968B-4C60067E6D5B}"/>
    <dgm:cxn modelId="{AD4A57D7-8406-49F6-8549-8F1AC3A71A72}" srcId="{40BE4F94-02C2-4B5B-A74A-98AF3D0DA48C}" destId="{C4200D15-ABD7-4D7D-9BCE-C7067CA8C994}" srcOrd="2" destOrd="0" parTransId="{742877A7-F2B9-4A3C-AFB9-8ADBCA86330F}" sibTransId="{8950DB5B-24D7-482A-815C-B4F6D4B9F4CA}"/>
    <dgm:cxn modelId="{BCA84284-D212-4288-8A8A-91A0B27447D9}" type="presOf" srcId="{AE6BEA6C-0C6A-48A7-A943-4098829E8363}" destId="{18CA5934-56D7-4B26-B886-4C2124584E8E}" srcOrd="0" destOrd="0" presId="urn:microsoft.com/office/officeart/2005/8/layout/hList7"/>
    <dgm:cxn modelId="{435227E5-BCD7-499F-8D7E-7DE7F3DEBC47}" srcId="{40BE4F94-02C2-4B5B-A74A-98AF3D0DA48C}" destId="{AE6BEA6C-0C6A-48A7-A943-4098829E8363}" srcOrd="0" destOrd="0" parTransId="{3813307A-F699-4932-A6F1-51C0CD78CA11}" sibTransId="{6F1DFA6F-85A6-4A1D-A1E6-E4C3B127F8BF}"/>
    <dgm:cxn modelId="{FDC722AA-598C-4529-AF9C-839F364BCD12}" type="presOf" srcId="{8950DB5B-24D7-482A-815C-B4F6D4B9F4CA}" destId="{199C104C-5B3C-4894-A197-9DFF5C2DB81B}" srcOrd="0" destOrd="0" presId="urn:microsoft.com/office/officeart/2005/8/layout/hList7"/>
    <dgm:cxn modelId="{0E1A1500-4171-4462-AE1B-7BA68AB88E3E}" type="presOf" srcId="{6F1DFA6F-85A6-4A1D-A1E6-E4C3B127F8BF}" destId="{4F5593B8-D880-4BEB-9CF4-0ACD44B0DEB9}" srcOrd="0" destOrd="0" presId="urn:microsoft.com/office/officeart/2005/8/layout/hList7"/>
    <dgm:cxn modelId="{A9866E58-B297-4363-9D25-A29E30132164}" srcId="{40BE4F94-02C2-4B5B-A74A-98AF3D0DA48C}" destId="{F5F51639-9CF7-44AA-AEB4-A6753F9B9524}" srcOrd="3" destOrd="0" parTransId="{B62236E1-9B3B-40E3-ADE9-68A59ACD146F}" sibTransId="{C1DEE34B-099B-4F68-A628-EAA78526F77C}"/>
    <dgm:cxn modelId="{6B9EAA5A-3A64-4F97-8943-DD6CB5738786}" type="presOf" srcId="{143C2185-7B36-4384-968B-4C60067E6D5B}" destId="{E20A5474-D004-48DD-9DF4-2C1C3AAED60C}" srcOrd="0" destOrd="0" presId="urn:microsoft.com/office/officeart/2005/8/layout/hList7"/>
    <dgm:cxn modelId="{70031562-6F37-408A-8BF2-7B816FD5E9AA}" type="presParOf" srcId="{7B49E92F-FFBE-4F93-BCC4-164E5C33147E}" destId="{0F282B64-A8F7-44E6-A456-824523F6BA7B}" srcOrd="0" destOrd="0" presId="urn:microsoft.com/office/officeart/2005/8/layout/hList7"/>
    <dgm:cxn modelId="{56665CB6-C78F-414C-A5C2-000A7654CFFF}" type="presParOf" srcId="{7B49E92F-FFBE-4F93-BCC4-164E5C33147E}" destId="{42D6DC9A-5133-484D-86D3-FC0F78126A9A}" srcOrd="1" destOrd="0" presId="urn:microsoft.com/office/officeart/2005/8/layout/hList7"/>
    <dgm:cxn modelId="{57DE6E74-F586-43D3-A2E4-EFCA8A66E918}" type="presParOf" srcId="{42D6DC9A-5133-484D-86D3-FC0F78126A9A}" destId="{327F62AE-D5D1-4045-BC9F-38B50C76429D}" srcOrd="0" destOrd="0" presId="urn:microsoft.com/office/officeart/2005/8/layout/hList7"/>
    <dgm:cxn modelId="{EB8E48E3-CBFF-478B-8193-89ECAA7ACAAC}" type="presParOf" srcId="{327F62AE-D5D1-4045-BC9F-38B50C76429D}" destId="{18CA5934-56D7-4B26-B886-4C2124584E8E}" srcOrd="0" destOrd="0" presId="urn:microsoft.com/office/officeart/2005/8/layout/hList7"/>
    <dgm:cxn modelId="{FA5F68AB-4258-4DEE-8D50-586A8039E0D0}" type="presParOf" srcId="{327F62AE-D5D1-4045-BC9F-38B50C76429D}" destId="{8F145DD5-F6C0-4D20-A390-28F5D28E79FF}" srcOrd="1" destOrd="0" presId="urn:microsoft.com/office/officeart/2005/8/layout/hList7"/>
    <dgm:cxn modelId="{AF6F5228-DF66-46C3-A113-925771B0AF1A}" type="presParOf" srcId="{327F62AE-D5D1-4045-BC9F-38B50C76429D}" destId="{A87DFCB2-AEF5-43BF-955A-7D9A9E694575}" srcOrd="2" destOrd="0" presId="urn:microsoft.com/office/officeart/2005/8/layout/hList7"/>
    <dgm:cxn modelId="{9A5468B8-AF19-442F-8AD8-309E9113D6AA}" type="presParOf" srcId="{327F62AE-D5D1-4045-BC9F-38B50C76429D}" destId="{F76B4A81-27BC-4C64-915B-318231057309}" srcOrd="3" destOrd="0" presId="urn:microsoft.com/office/officeart/2005/8/layout/hList7"/>
    <dgm:cxn modelId="{4B3B537C-A641-464B-9419-C0B3B8073C85}" type="presParOf" srcId="{42D6DC9A-5133-484D-86D3-FC0F78126A9A}" destId="{4F5593B8-D880-4BEB-9CF4-0ACD44B0DEB9}" srcOrd="1" destOrd="0" presId="urn:microsoft.com/office/officeart/2005/8/layout/hList7"/>
    <dgm:cxn modelId="{7387D9BC-D1E4-47E5-9EB8-2C794ED8C3DD}" type="presParOf" srcId="{42D6DC9A-5133-484D-86D3-FC0F78126A9A}" destId="{F25553B9-48C9-4B1B-9285-386B2595F540}" srcOrd="2" destOrd="0" presId="urn:microsoft.com/office/officeart/2005/8/layout/hList7"/>
    <dgm:cxn modelId="{C3822FC1-7099-4BD0-9EE4-DF1A951ED9D8}" type="presParOf" srcId="{F25553B9-48C9-4B1B-9285-386B2595F540}" destId="{98837013-BA0C-4190-A01D-8C7008BB3442}" srcOrd="0" destOrd="0" presId="urn:microsoft.com/office/officeart/2005/8/layout/hList7"/>
    <dgm:cxn modelId="{8F58704E-4A1F-41FC-A965-9D0F76D027BD}" type="presParOf" srcId="{F25553B9-48C9-4B1B-9285-386B2595F540}" destId="{283E14E9-237C-469F-85A2-6B41B5200AA1}" srcOrd="1" destOrd="0" presId="urn:microsoft.com/office/officeart/2005/8/layout/hList7"/>
    <dgm:cxn modelId="{0DCD58EA-02F0-4BAE-9C83-056F7702911F}" type="presParOf" srcId="{F25553B9-48C9-4B1B-9285-386B2595F540}" destId="{FB09D1BB-7590-40A9-95E2-73C69DC5ED09}" srcOrd="2" destOrd="0" presId="urn:microsoft.com/office/officeart/2005/8/layout/hList7"/>
    <dgm:cxn modelId="{9D1B6CB5-1815-4151-B860-FA076C977CF2}" type="presParOf" srcId="{F25553B9-48C9-4B1B-9285-386B2595F540}" destId="{4AA8CF72-1FA8-4BEC-9840-72394539A7FC}" srcOrd="3" destOrd="0" presId="urn:microsoft.com/office/officeart/2005/8/layout/hList7"/>
    <dgm:cxn modelId="{60199503-AFAE-4ED5-9D0B-8E63476AAE5B}" type="presParOf" srcId="{42D6DC9A-5133-484D-86D3-FC0F78126A9A}" destId="{E20A5474-D004-48DD-9DF4-2C1C3AAED60C}" srcOrd="3" destOrd="0" presId="urn:microsoft.com/office/officeart/2005/8/layout/hList7"/>
    <dgm:cxn modelId="{E2AA4C07-CC35-4156-9F06-65251B3A7034}" type="presParOf" srcId="{42D6DC9A-5133-484D-86D3-FC0F78126A9A}" destId="{A1F00705-5984-471D-8BBB-CEFF65E4BC7E}" srcOrd="4" destOrd="0" presId="urn:microsoft.com/office/officeart/2005/8/layout/hList7"/>
    <dgm:cxn modelId="{029E40A9-61DC-4902-A7BF-A8895CC65153}" type="presParOf" srcId="{A1F00705-5984-471D-8BBB-CEFF65E4BC7E}" destId="{EED1F107-7A29-4419-ADF6-E4BA7400819E}" srcOrd="0" destOrd="0" presId="urn:microsoft.com/office/officeart/2005/8/layout/hList7"/>
    <dgm:cxn modelId="{70757923-17E3-4D57-9A30-6C4C751B1F5C}" type="presParOf" srcId="{A1F00705-5984-471D-8BBB-CEFF65E4BC7E}" destId="{8AB5E5D2-90DE-4610-80CE-DC8F4D548AB8}" srcOrd="1" destOrd="0" presId="urn:microsoft.com/office/officeart/2005/8/layout/hList7"/>
    <dgm:cxn modelId="{59DE9806-57DF-4C0F-B70E-3BF35F1E82FE}" type="presParOf" srcId="{A1F00705-5984-471D-8BBB-CEFF65E4BC7E}" destId="{97D99251-6C8A-42B8-893D-77DE7493621A}" srcOrd="2" destOrd="0" presId="urn:microsoft.com/office/officeart/2005/8/layout/hList7"/>
    <dgm:cxn modelId="{B539CA1B-CC78-46A4-B17E-975E739FF56A}" type="presParOf" srcId="{A1F00705-5984-471D-8BBB-CEFF65E4BC7E}" destId="{7D37034C-1A57-49DC-98F7-D431E759FC17}" srcOrd="3" destOrd="0" presId="urn:microsoft.com/office/officeart/2005/8/layout/hList7"/>
    <dgm:cxn modelId="{2DBA1672-9AFB-4939-8459-28639E8BD1BA}" type="presParOf" srcId="{42D6DC9A-5133-484D-86D3-FC0F78126A9A}" destId="{199C104C-5B3C-4894-A197-9DFF5C2DB81B}" srcOrd="5" destOrd="0" presId="urn:microsoft.com/office/officeart/2005/8/layout/hList7"/>
    <dgm:cxn modelId="{9B1BEDBB-0F1D-4FDC-B97B-EFE825040D2A}" type="presParOf" srcId="{42D6DC9A-5133-484D-86D3-FC0F78126A9A}" destId="{8665DF32-0B77-44EC-AD37-1745240863C2}" srcOrd="6" destOrd="0" presId="urn:microsoft.com/office/officeart/2005/8/layout/hList7"/>
    <dgm:cxn modelId="{8CEA5467-E9D0-47DF-A9B4-7807BFBC5FCD}" type="presParOf" srcId="{8665DF32-0B77-44EC-AD37-1745240863C2}" destId="{A9D4CA5C-53B8-488C-9323-DA332FB5DDA2}" srcOrd="0" destOrd="0" presId="urn:microsoft.com/office/officeart/2005/8/layout/hList7"/>
    <dgm:cxn modelId="{1F6EF7E2-E39F-426F-864B-9802EB2753F6}" type="presParOf" srcId="{8665DF32-0B77-44EC-AD37-1745240863C2}" destId="{08404179-9DCD-43BC-B7F3-0FB37EA03AFC}" srcOrd="1" destOrd="0" presId="urn:microsoft.com/office/officeart/2005/8/layout/hList7"/>
    <dgm:cxn modelId="{FB3E7B1E-4FFB-49F6-B303-ED7584CCA278}" type="presParOf" srcId="{8665DF32-0B77-44EC-AD37-1745240863C2}" destId="{5C2140B2-61B3-4E8A-9C34-A74B65A399FC}" srcOrd="2" destOrd="0" presId="urn:microsoft.com/office/officeart/2005/8/layout/hList7"/>
    <dgm:cxn modelId="{05203478-9E7D-4268-A186-1A7B624E1BCA}" type="presParOf" srcId="{8665DF32-0B77-44EC-AD37-1745240863C2}" destId="{26D71DC9-E7D5-49E4-8E52-120E1DF59280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CA5934-56D7-4B26-B886-4C2124584E8E}">
      <dsp:nvSpPr>
        <dsp:cNvPr id="0" name=""/>
        <dsp:cNvSpPr/>
      </dsp:nvSpPr>
      <dsp:spPr>
        <a:xfrm>
          <a:off x="2106" y="0"/>
          <a:ext cx="2208155" cy="4837862"/>
        </a:xfrm>
        <a:prstGeom prst="roundRect">
          <a:avLst>
            <a:gd name="adj" fmla="val 10000"/>
          </a:avLst>
        </a:prstGeom>
        <a:solidFill>
          <a:srgbClr val="002060"/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2000" b="1" kern="1200" dirty="0" smtClean="0">
              <a:solidFill>
                <a:srgbClr val="FFFF00"/>
              </a:solidFill>
              <a:latin typeface="Cambria" panose="02040503050406030204" pitchFamily="18" charset="0"/>
            </a:rPr>
            <a:t>User Define Contract</a:t>
          </a:r>
        </a:p>
        <a:p>
          <a:pPr lvl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600" kern="1200" dirty="0" smtClean="0">
              <a:latin typeface="Cambria" panose="02040503050406030204" pitchFamily="18" charset="0"/>
            </a:rPr>
            <a:t>사용자가 직접 </a:t>
          </a:r>
          <a:r>
            <a:rPr lang="en-US" altLang="ko-KR" sz="1600" kern="1200" dirty="0" smtClean="0">
              <a:latin typeface="Cambria" panose="02040503050406030204" pitchFamily="18" charset="0"/>
            </a:rPr>
            <a:t>Data Factor</a:t>
          </a:r>
          <a:r>
            <a:rPr lang="ko-KR" altLang="en-US" sz="1600" kern="1200" dirty="0" smtClean="0">
              <a:latin typeface="Cambria" panose="02040503050406030204" pitchFamily="18" charset="0"/>
            </a:rPr>
            <a:t>를 지정해 임의대로 </a:t>
          </a:r>
          <a:r>
            <a:rPr lang="en-US" altLang="ko-KR" sz="1600" kern="1200" dirty="0" smtClean="0">
              <a:latin typeface="Cambria" panose="02040503050406030204" pitchFamily="18" charset="0"/>
            </a:rPr>
            <a:t>Contract</a:t>
          </a:r>
          <a:r>
            <a:rPr lang="ko-KR" altLang="en-US" sz="1600" kern="1200" dirty="0" smtClean="0">
              <a:latin typeface="Cambria" panose="02040503050406030204" pitchFamily="18" charset="0"/>
            </a:rPr>
            <a:t> 생성</a:t>
          </a:r>
          <a:endParaRPr lang="ko-KR" altLang="en-US" sz="1600" kern="1200" dirty="0">
            <a:latin typeface="Cambria" panose="02040503050406030204" pitchFamily="18" charset="0"/>
          </a:endParaRPr>
        </a:p>
      </dsp:txBody>
      <dsp:txXfrm>
        <a:off x="2106" y="1935144"/>
        <a:ext cx="2208155" cy="1935144"/>
      </dsp:txXfrm>
    </dsp:sp>
    <dsp:sp modelId="{F76B4A81-27BC-4C64-915B-318231057309}">
      <dsp:nvSpPr>
        <dsp:cNvPr id="0" name=""/>
        <dsp:cNvSpPr/>
      </dsp:nvSpPr>
      <dsp:spPr>
        <a:xfrm>
          <a:off x="300680" y="290271"/>
          <a:ext cx="1611008" cy="1611008"/>
        </a:xfrm>
        <a:prstGeom prst="ellipse">
          <a:avLst/>
        </a:prstGeom>
        <a:blipFill rotWithShape="1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837013-BA0C-4190-A01D-8C7008BB3442}">
      <dsp:nvSpPr>
        <dsp:cNvPr id="0" name=""/>
        <dsp:cNvSpPr/>
      </dsp:nvSpPr>
      <dsp:spPr>
        <a:xfrm>
          <a:off x="2276507" y="0"/>
          <a:ext cx="2208155" cy="4837862"/>
        </a:xfrm>
        <a:prstGeom prst="roundRect">
          <a:avLst>
            <a:gd name="adj" fmla="val 10000"/>
          </a:avLst>
        </a:prstGeom>
        <a:solidFill>
          <a:srgbClr val="002060"/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2000" b="1" kern="1200" dirty="0" smtClean="0">
              <a:solidFill>
                <a:srgbClr val="FFFF00"/>
              </a:solidFill>
              <a:latin typeface="Cambria" panose="02040503050406030204" pitchFamily="18" charset="0"/>
            </a:rPr>
            <a:t>Process Base Tariff </a:t>
          </a:r>
        </a:p>
        <a:p>
          <a:pPr lvl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600" kern="1200" dirty="0" smtClean="0">
              <a:latin typeface="Cambria" panose="02040503050406030204" pitchFamily="18" charset="0"/>
            </a:rPr>
            <a:t>자유도 높은 </a:t>
          </a:r>
          <a:r>
            <a:rPr lang="en-US" altLang="ko-KR" sz="1600" kern="1200" dirty="0" smtClean="0">
              <a:latin typeface="Cambria" panose="02040503050406030204" pitchFamily="18" charset="0"/>
            </a:rPr>
            <a:t>Contract</a:t>
          </a:r>
          <a:r>
            <a:rPr lang="ko-KR" altLang="en-US" sz="1600" kern="1200" dirty="0" smtClean="0">
              <a:latin typeface="Cambria" panose="02040503050406030204" pitchFamily="18" charset="0"/>
            </a:rPr>
            <a:t>로 실무 프로세스와 일치하는 </a:t>
          </a:r>
          <a:r>
            <a:rPr lang="en-US" altLang="ko-KR" sz="1600" kern="1200" dirty="0" smtClean="0">
              <a:latin typeface="Cambria" panose="02040503050406030204" pitchFamily="18" charset="0"/>
            </a:rPr>
            <a:t>Tariff </a:t>
          </a:r>
          <a:r>
            <a:rPr lang="ko-KR" altLang="en-US" sz="1600" kern="1200" dirty="0" smtClean="0">
              <a:latin typeface="Cambria" panose="02040503050406030204" pitchFamily="18" charset="0"/>
            </a:rPr>
            <a:t>설정</a:t>
          </a:r>
          <a:endParaRPr lang="ko-KR" altLang="en-US" sz="1600" kern="1200" dirty="0">
            <a:latin typeface="Cambria" panose="02040503050406030204" pitchFamily="18" charset="0"/>
          </a:endParaRPr>
        </a:p>
      </dsp:txBody>
      <dsp:txXfrm>
        <a:off x="2276507" y="1935144"/>
        <a:ext cx="2208155" cy="1935144"/>
      </dsp:txXfrm>
    </dsp:sp>
    <dsp:sp modelId="{4AA8CF72-1FA8-4BEC-9840-72394539A7FC}">
      <dsp:nvSpPr>
        <dsp:cNvPr id="0" name=""/>
        <dsp:cNvSpPr/>
      </dsp:nvSpPr>
      <dsp:spPr>
        <a:xfrm>
          <a:off x="2575081" y="290271"/>
          <a:ext cx="1611008" cy="1611008"/>
        </a:xfrm>
        <a:prstGeom prst="ellipse">
          <a:avLst/>
        </a:prstGeom>
        <a:blipFill rotWithShape="1">
          <a:blip xmlns:r="http://schemas.openxmlformats.org/officeDocument/2006/relationships" r:embed="rId2"/>
          <a:stretch>
            <a:fillRect/>
          </a:stretch>
        </a:blip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D1F107-7A29-4419-ADF6-E4BA7400819E}">
      <dsp:nvSpPr>
        <dsp:cNvPr id="0" name=""/>
        <dsp:cNvSpPr/>
      </dsp:nvSpPr>
      <dsp:spPr>
        <a:xfrm>
          <a:off x="4550907" y="0"/>
          <a:ext cx="2208155" cy="4837862"/>
        </a:xfrm>
        <a:prstGeom prst="roundRect">
          <a:avLst>
            <a:gd name="adj" fmla="val 10000"/>
          </a:avLst>
        </a:prstGeom>
        <a:solidFill>
          <a:schemeClr val="accent6"/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2000" b="1" kern="1200" dirty="0" smtClean="0">
              <a:solidFill>
                <a:srgbClr val="FFFF00"/>
              </a:solidFill>
              <a:latin typeface="Cambria" panose="02040503050406030204" pitchFamily="18" charset="0"/>
            </a:rPr>
            <a:t>Auto Rating</a:t>
          </a:r>
        </a:p>
        <a:p>
          <a:pPr lvl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600" kern="1200" dirty="0" smtClean="0">
              <a:latin typeface="+mn-lt"/>
            </a:rPr>
            <a:t>지정된 </a:t>
          </a:r>
          <a:r>
            <a:rPr lang="en-US" altLang="ko-KR" sz="1600" kern="1200" dirty="0" smtClean="0">
              <a:latin typeface="+mn-lt"/>
            </a:rPr>
            <a:t/>
          </a:r>
          <a:br>
            <a:rPr lang="en-US" altLang="ko-KR" sz="1600" kern="1200" dirty="0" smtClean="0">
              <a:latin typeface="+mn-lt"/>
            </a:rPr>
          </a:br>
          <a:r>
            <a:rPr lang="en-US" altLang="ko-KR" sz="1600" kern="1200" dirty="0" smtClean="0">
              <a:latin typeface="+mn-lt"/>
            </a:rPr>
            <a:t>Contract</a:t>
          </a:r>
          <a:r>
            <a:rPr lang="ko-KR" altLang="en-US" sz="1600" kern="1200" dirty="0" smtClean="0">
              <a:latin typeface="+mn-lt"/>
            </a:rPr>
            <a:t>에 따라</a:t>
          </a:r>
          <a:r>
            <a:rPr lang="en-US" altLang="ko-KR" sz="1600" kern="1200" dirty="0" smtClean="0">
              <a:latin typeface="+mn-lt"/>
            </a:rPr>
            <a:t/>
          </a:r>
          <a:br>
            <a:rPr lang="en-US" altLang="ko-KR" sz="1600" kern="1200" dirty="0" smtClean="0">
              <a:latin typeface="+mn-lt"/>
            </a:rPr>
          </a:br>
          <a:r>
            <a:rPr lang="ko-KR" altLang="en-US" sz="1600" kern="1200" dirty="0" smtClean="0">
              <a:latin typeface="+mn-lt"/>
            </a:rPr>
            <a:t>자동 </a:t>
          </a:r>
          <a:r>
            <a:rPr lang="ko-KR" altLang="en-US" sz="1600" kern="1200" dirty="0" err="1" smtClean="0">
              <a:latin typeface="+mn-lt"/>
            </a:rPr>
            <a:t>요율</a:t>
          </a:r>
          <a:r>
            <a:rPr lang="ko-KR" altLang="en-US" sz="1600" kern="1200" dirty="0" smtClean="0">
              <a:latin typeface="+mn-lt"/>
            </a:rPr>
            <a:t> 계산</a:t>
          </a:r>
          <a:endParaRPr lang="en-US" altLang="ko-KR" sz="1600" kern="1200" dirty="0" smtClean="0">
            <a:latin typeface="+mn-lt"/>
          </a:endParaRPr>
        </a:p>
      </dsp:txBody>
      <dsp:txXfrm>
        <a:off x="4550907" y="1935144"/>
        <a:ext cx="2208155" cy="1935144"/>
      </dsp:txXfrm>
    </dsp:sp>
    <dsp:sp modelId="{7D37034C-1A57-49DC-98F7-D431E759FC17}">
      <dsp:nvSpPr>
        <dsp:cNvPr id="0" name=""/>
        <dsp:cNvSpPr/>
      </dsp:nvSpPr>
      <dsp:spPr>
        <a:xfrm>
          <a:off x="4849481" y="290271"/>
          <a:ext cx="1611008" cy="1611008"/>
        </a:xfrm>
        <a:prstGeom prst="ellipse">
          <a:avLst/>
        </a:prstGeom>
        <a:blipFill rotWithShape="1">
          <a:blip xmlns:r="http://schemas.openxmlformats.org/officeDocument/2006/relationships" r:embed="rId3"/>
          <a:stretch>
            <a:fillRect/>
          </a:stretch>
        </a:blip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D4CA5C-53B8-488C-9323-DA332FB5DDA2}">
      <dsp:nvSpPr>
        <dsp:cNvPr id="0" name=""/>
        <dsp:cNvSpPr/>
      </dsp:nvSpPr>
      <dsp:spPr>
        <a:xfrm>
          <a:off x="6825308" y="0"/>
          <a:ext cx="2208155" cy="4837862"/>
        </a:xfrm>
        <a:prstGeom prst="roundRect">
          <a:avLst>
            <a:gd name="adj" fmla="val 10000"/>
          </a:avLst>
        </a:prstGeom>
        <a:solidFill>
          <a:schemeClr val="accent2"/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2000" b="1" kern="1200" dirty="0" smtClean="0">
              <a:solidFill>
                <a:srgbClr val="FFFF00"/>
              </a:solidFill>
              <a:latin typeface="Cambria" panose="02040503050406030204" pitchFamily="18" charset="0"/>
            </a:rPr>
            <a:t>Process Visibility</a:t>
          </a:r>
        </a:p>
        <a:p>
          <a:pPr lvl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600" kern="1200" dirty="0" smtClean="0">
              <a:latin typeface="+mn-lt"/>
            </a:rPr>
            <a:t>Process Log View, Execution Plan</a:t>
          </a:r>
          <a:r>
            <a:rPr lang="ko-KR" altLang="en-US" sz="1600" kern="1200" dirty="0" smtClean="0">
              <a:latin typeface="+mn-lt"/>
            </a:rPr>
            <a:t>을 통한 가시성 확보</a:t>
          </a:r>
          <a:endParaRPr lang="en-US" altLang="ko-KR" sz="1600" kern="1200" dirty="0" smtClean="0">
            <a:latin typeface="+mn-lt"/>
          </a:endParaRPr>
        </a:p>
      </dsp:txBody>
      <dsp:txXfrm>
        <a:off x="6825308" y="1935144"/>
        <a:ext cx="2208155" cy="1935144"/>
      </dsp:txXfrm>
    </dsp:sp>
    <dsp:sp modelId="{26D71DC9-E7D5-49E4-8E52-120E1DF59280}">
      <dsp:nvSpPr>
        <dsp:cNvPr id="0" name=""/>
        <dsp:cNvSpPr/>
      </dsp:nvSpPr>
      <dsp:spPr>
        <a:xfrm>
          <a:off x="7123882" y="290271"/>
          <a:ext cx="1611008" cy="1611008"/>
        </a:xfrm>
        <a:prstGeom prst="ellipse">
          <a:avLst/>
        </a:prstGeom>
        <a:blipFill rotWithShape="1">
          <a:blip xmlns:r="http://schemas.openxmlformats.org/officeDocument/2006/relationships" r:embed="rId4"/>
          <a:stretch>
            <a:fillRect/>
          </a:stretch>
        </a:blip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282B64-A8F7-44E6-A456-824523F6BA7B}">
      <dsp:nvSpPr>
        <dsp:cNvPr id="0" name=""/>
        <dsp:cNvSpPr/>
      </dsp:nvSpPr>
      <dsp:spPr>
        <a:xfrm>
          <a:off x="361422" y="3870289"/>
          <a:ext cx="8312725" cy="725679"/>
        </a:xfrm>
        <a:prstGeom prst="rightArrow">
          <a:avLst/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9084" cy="4974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23" tIns="45811" rIns="91623" bIns="45811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8116" y="0"/>
            <a:ext cx="2949084" cy="4974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23" tIns="45811" rIns="91623" bIns="45811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63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441896"/>
            <a:ext cx="2949084" cy="497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23" tIns="45811" rIns="91623" bIns="45811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63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8116" y="9441896"/>
            <a:ext cx="2949084" cy="497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23" tIns="45811" rIns="91623" bIns="45811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7A3BD987-A3F0-48CC-BC87-9FB37C309576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99857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084" cy="497445"/>
          </a:xfrm>
          <a:prstGeom prst="rect">
            <a:avLst/>
          </a:prstGeom>
        </p:spPr>
        <p:txBody>
          <a:bodyPr vert="horz" lIns="91623" tIns="45811" rIns="91623" bIns="45811" rtlCol="0"/>
          <a:lstStyle>
            <a:lvl1pPr algn="l">
              <a:defRPr sz="1200">
                <a:latin typeface="맑은 고딕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6496" y="0"/>
            <a:ext cx="2949084" cy="497445"/>
          </a:xfrm>
          <a:prstGeom prst="rect">
            <a:avLst/>
          </a:prstGeom>
        </p:spPr>
        <p:txBody>
          <a:bodyPr vert="horz" lIns="91623" tIns="45811" rIns="91623" bIns="45811" rtlCol="0"/>
          <a:lstStyle>
            <a:lvl1pPr algn="r">
              <a:defRPr sz="1200">
                <a:latin typeface="맑은 고딕" pitchFamily="50" charset="-127"/>
              </a:defRPr>
            </a:lvl1pPr>
          </a:lstStyle>
          <a:p>
            <a:pPr>
              <a:defRPr/>
            </a:pPr>
            <a:fld id="{37AB2BF3-B93B-4ED6-BC29-9F3724D2290E}" type="datetimeFigureOut">
              <a:rPr lang="ko-KR" altLang="en-US"/>
              <a:pPr>
                <a:defRPr/>
              </a:pPr>
              <a:t>2017-10-17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6125"/>
            <a:ext cx="5384800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623" tIns="45811" rIns="91623" bIns="45811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59" y="4721744"/>
            <a:ext cx="5446084" cy="4472225"/>
          </a:xfrm>
          <a:prstGeom prst="rect">
            <a:avLst/>
          </a:prstGeom>
        </p:spPr>
        <p:txBody>
          <a:bodyPr vert="horz" lIns="91623" tIns="45811" rIns="91623" bIns="45811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40306"/>
            <a:ext cx="2949084" cy="497445"/>
          </a:xfrm>
          <a:prstGeom prst="rect">
            <a:avLst/>
          </a:prstGeom>
        </p:spPr>
        <p:txBody>
          <a:bodyPr vert="horz" lIns="91623" tIns="45811" rIns="91623" bIns="45811" rtlCol="0" anchor="b"/>
          <a:lstStyle>
            <a:lvl1pPr algn="l">
              <a:defRPr sz="1200">
                <a:latin typeface="맑은 고딕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6496" y="9440306"/>
            <a:ext cx="2949084" cy="497445"/>
          </a:xfrm>
          <a:prstGeom prst="rect">
            <a:avLst/>
          </a:prstGeom>
        </p:spPr>
        <p:txBody>
          <a:bodyPr vert="horz" lIns="91623" tIns="45811" rIns="91623" bIns="45811" rtlCol="0" anchor="b"/>
          <a:lstStyle>
            <a:lvl1pPr algn="r">
              <a:defRPr sz="1200">
                <a:latin typeface="맑은 고딕" pitchFamily="50" charset="-127"/>
              </a:defRPr>
            </a:lvl1pPr>
          </a:lstStyle>
          <a:p>
            <a:pPr>
              <a:defRPr/>
            </a:pPr>
            <a:fld id="{C9DE996D-486D-4C92-9BA7-30E0D427AA05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2115103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 smtClean="0"/>
              <a:t>데쉬보드에서</a:t>
            </a:r>
            <a:r>
              <a:rPr lang="ko-KR" altLang="en-US" dirty="0" smtClean="0"/>
              <a:t> 표현된 데이터가 </a:t>
            </a:r>
            <a:r>
              <a:rPr lang="ko-KR" altLang="en-US" dirty="0" err="1" smtClean="0"/>
              <a:t>실행계에서</a:t>
            </a:r>
            <a:r>
              <a:rPr lang="ko-KR" altLang="en-US" dirty="0" smtClean="0"/>
              <a:t> 어떻게 효율적으로 </a:t>
            </a:r>
            <a:r>
              <a:rPr lang="en-US" altLang="ko-KR" dirty="0" smtClean="0"/>
              <a:t>Gathering</a:t>
            </a:r>
            <a:r>
              <a:rPr lang="ko-KR" altLang="en-US" smtClean="0"/>
              <a:t>되는지 보여드리겠습니다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일반적인 글로벌 기업은 구매</a:t>
            </a:r>
            <a:r>
              <a:rPr lang="en-US" altLang="ko-KR" dirty="0" smtClean="0"/>
              <a:t>/</a:t>
            </a:r>
            <a:r>
              <a:rPr lang="ko-KR" altLang="en-US" smtClean="0"/>
              <a:t>생산</a:t>
            </a:r>
            <a:r>
              <a:rPr lang="en-US" altLang="ko-KR" dirty="0" smtClean="0"/>
              <a:t>/</a:t>
            </a:r>
            <a:r>
              <a:rPr lang="ko-KR" altLang="en-US" smtClean="0"/>
              <a:t>판매 과정에서 물류 실행이 발생합니다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여기서는 국제운송 중심의 수출</a:t>
            </a:r>
            <a:r>
              <a:rPr lang="en-US" altLang="ko-KR" dirty="0" smtClean="0"/>
              <a:t>/</a:t>
            </a:r>
            <a:r>
              <a:rPr lang="ko-KR" altLang="en-US" smtClean="0"/>
              <a:t>수입 업무 처리가 어떻게 되는지 보여드리겠습니다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I will show you how the data represented in the Dashboard can be gathered efficiently in the execution system.</a:t>
            </a:r>
          </a:p>
          <a:p>
            <a:r>
              <a:rPr lang="en-US" altLang="ko-KR" dirty="0" smtClean="0"/>
              <a:t>In a typical global enterprise, logistics execution occurs during the purchase / production / sales process.</a:t>
            </a:r>
          </a:p>
          <a:p>
            <a:r>
              <a:rPr lang="en-US" altLang="ko-KR" dirty="0" smtClean="0"/>
              <a:t>Here, I will show you how to handle export / import business in terms of international logistics.</a:t>
            </a:r>
            <a:endParaRPr lang="ko-KR" altLang="en-US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9DE996D-486D-4C92-9BA7-30E0D427AA05}" type="slidenum">
              <a:rPr lang="ko-KR" altLang="en-US" smtClean="0"/>
              <a:pPr>
                <a:defRPr/>
              </a:pPr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99430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물류 실행과정의 가시성에 대해 설명하겠습니다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Cargo Tracing</a:t>
            </a:r>
            <a:r>
              <a:rPr lang="ko-KR" altLang="en-US" smtClean="0"/>
              <a:t>화면에서는 물리적인 화물의 위치를 확인할 수 있습니다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Work Flow</a:t>
            </a:r>
            <a:r>
              <a:rPr lang="ko-KR" altLang="en-US" smtClean="0"/>
              <a:t>화면에서는 고객의 주문을 기준으로 업무처리 상황을 모니터링할 수 있습니다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또한 </a:t>
            </a:r>
            <a:r>
              <a:rPr lang="en-US" altLang="ko-KR" dirty="0" smtClean="0"/>
              <a:t>Damage</a:t>
            </a:r>
            <a:r>
              <a:rPr lang="ko-KR" altLang="en-US" smtClean="0"/>
              <a:t>와 </a:t>
            </a:r>
            <a:r>
              <a:rPr lang="en-US" altLang="ko-KR" dirty="0" smtClean="0"/>
              <a:t>Delay</a:t>
            </a:r>
            <a:r>
              <a:rPr lang="ko-KR" altLang="en-US" smtClean="0"/>
              <a:t>와 같은 물류 예외사항이 어떻게 관리되는지 설명하겠습니다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I will explain the visibility of the logistics execution process.</a:t>
            </a:r>
          </a:p>
          <a:p>
            <a:r>
              <a:rPr lang="en-US" altLang="ko-KR" dirty="0" smtClean="0"/>
              <a:t>On the Cargo Tracing screen, you can see the physical cargo location.</a:t>
            </a:r>
          </a:p>
          <a:p>
            <a:r>
              <a:rPr lang="en-US" altLang="ko-KR" dirty="0" smtClean="0"/>
              <a:t>On the Work Flow screen, you can monitor the work progress based on customer’s</a:t>
            </a:r>
            <a:r>
              <a:rPr lang="en-US" altLang="ko-KR" baseline="0" dirty="0" smtClean="0"/>
              <a:t> </a:t>
            </a:r>
            <a:r>
              <a:rPr lang="en-US" altLang="ko-KR" dirty="0" smtClean="0"/>
              <a:t>order.</a:t>
            </a:r>
          </a:p>
          <a:p>
            <a:r>
              <a:rPr lang="en-US" altLang="ko-KR" dirty="0" smtClean="0"/>
              <a:t>I will also explain how logistics exceptions such as Damage and Delay are managed.</a:t>
            </a:r>
            <a:endParaRPr lang="ko-KR" altLang="en-US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9DE996D-486D-4C92-9BA7-30E0D427AA05}" type="slidenum">
              <a:rPr lang="ko-KR" altLang="en-US" smtClean="0"/>
              <a:pPr>
                <a:defRPr/>
              </a:pPr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341290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물류 실행과정의 가시성에 대해 설명하겠습니다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Cargo Tracing</a:t>
            </a:r>
            <a:r>
              <a:rPr lang="ko-KR" altLang="en-US" smtClean="0"/>
              <a:t>화면에서는 물리적인 화물의 위치를 확인할 수 있습니다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Work Flow</a:t>
            </a:r>
            <a:r>
              <a:rPr lang="ko-KR" altLang="en-US" smtClean="0"/>
              <a:t>화면에서는 고객의 주문을 기준으로 업무처리 상황을 모니터링할 수 있습니다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또한 </a:t>
            </a:r>
            <a:r>
              <a:rPr lang="en-US" altLang="ko-KR" dirty="0" smtClean="0"/>
              <a:t>Damage</a:t>
            </a:r>
            <a:r>
              <a:rPr lang="ko-KR" altLang="en-US" smtClean="0"/>
              <a:t>와 </a:t>
            </a:r>
            <a:r>
              <a:rPr lang="en-US" altLang="ko-KR" dirty="0" smtClean="0"/>
              <a:t>Delay</a:t>
            </a:r>
            <a:r>
              <a:rPr lang="ko-KR" altLang="en-US" smtClean="0"/>
              <a:t>와 같은 물류 예외사항이 어떻게 관리되는지 설명하겠습니다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I will explain the visibility of the logistics execution process.</a:t>
            </a:r>
          </a:p>
          <a:p>
            <a:r>
              <a:rPr lang="en-US" altLang="ko-KR" dirty="0" smtClean="0"/>
              <a:t>On the Cargo Tracing screen, you can see the physical cargo location.</a:t>
            </a:r>
          </a:p>
          <a:p>
            <a:r>
              <a:rPr lang="en-US" altLang="ko-KR" dirty="0" smtClean="0"/>
              <a:t>On the Work Flow screen, you can monitor the work progress based on customer’s</a:t>
            </a:r>
            <a:r>
              <a:rPr lang="en-US" altLang="ko-KR" baseline="0" dirty="0" smtClean="0"/>
              <a:t> </a:t>
            </a:r>
            <a:r>
              <a:rPr lang="en-US" altLang="ko-KR" dirty="0" smtClean="0"/>
              <a:t>order.</a:t>
            </a:r>
          </a:p>
          <a:p>
            <a:r>
              <a:rPr lang="en-US" altLang="ko-KR" dirty="0" smtClean="0"/>
              <a:t>I will also explain how logistics exceptions such as Damage and Delay are managed.</a:t>
            </a:r>
            <a:endParaRPr lang="ko-KR" altLang="en-US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9DE996D-486D-4C92-9BA7-30E0D427AA05}" type="slidenum">
              <a:rPr lang="ko-KR" altLang="en-US" smtClean="0"/>
              <a:pPr>
                <a:defRPr/>
              </a:pPr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116096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 smtClean="0"/>
              <a:t>데쉬보드에서</a:t>
            </a:r>
            <a:r>
              <a:rPr lang="ko-KR" altLang="en-US" dirty="0" smtClean="0"/>
              <a:t> 표현된 데이터가 </a:t>
            </a:r>
            <a:r>
              <a:rPr lang="ko-KR" altLang="en-US" dirty="0" err="1" smtClean="0"/>
              <a:t>실행계에서</a:t>
            </a:r>
            <a:r>
              <a:rPr lang="ko-KR" altLang="en-US" dirty="0" smtClean="0"/>
              <a:t> 어떻게 효율적으로 </a:t>
            </a:r>
            <a:r>
              <a:rPr lang="en-US" altLang="ko-KR" dirty="0" smtClean="0"/>
              <a:t>Gathering</a:t>
            </a:r>
            <a:r>
              <a:rPr lang="ko-KR" altLang="en-US" smtClean="0"/>
              <a:t>되는지 보여드리겠습니다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일반적인 글로벌 기업은 구매</a:t>
            </a:r>
            <a:r>
              <a:rPr lang="en-US" altLang="ko-KR" dirty="0" smtClean="0"/>
              <a:t>/</a:t>
            </a:r>
            <a:r>
              <a:rPr lang="ko-KR" altLang="en-US" smtClean="0"/>
              <a:t>생산</a:t>
            </a:r>
            <a:r>
              <a:rPr lang="en-US" altLang="ko-KR" dirty="0" smtClean="0"/>
              <a:t>/</a:t>
            </a:r>
            <a:r>
              <a:rPr lang="ko-KR" altLang="en-US" smtClean="0"/>
              <a:t>판매 과정에서 물류 실행이 발생합니다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여기서는 국제운송 중심의 수출</a:t>
            </a:r>
            <a:r>
              <a:rPr lang="en-US" altLang="ko-KR" dirty="0" smtClean="0"/>
              <a:t>/</a:t>
            </a:r>
            <a:r>
              <a:rPr lang="ko-KR" altLang="en-US" smtClean="0"/>
              <a:t>수입 업무 처리가 어떻게 되는지 보여드리겠습니다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I will show you how the data represented in the Dashboard can be gathered efficiently in the execution system.</a:t>
            </a:r>
          </a:p>
          <a:p>
            <a:r>
              <a:rPr lang="en-US" altLang="ko-KR" dirty="0" smtClean="0"/>
              <a:t>In a typical global enterprise, logistics execution occurs during the purchase / production / sales process.</a:t>
            </a:r>
          </a:p>
          <a:p>
            <a:r>
              <a:rPr lang="en-US" altLang="ko-KR" dirty="0" smtClean="0"/>
              <a:t>Here, I will show you how to handle export / import business in terms of international logistics.</a:t>
            </a:r>
            <a:endParaRPr lang="ko-KR" altLang="en-US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9DE996D-486D-4C92-9BA7-30E0D427AA05}" type="slidenum">
              <a:rPr lang="ko-KR" altLang="en-US" smtClean="0"/>
              <a:pPr>
                <a:defRPr/>
              </a:pPr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675611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948421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auto">
          <a:xfrm>
            <a:off x="0" y="6526213"/>
            <a:ext cx="99060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latinLnBrk="0">
              <a:lnSpc>
                <a:spcPct val="101000"/>
              </a:lnSpc>
              <a:spcBef>
                <a:spcPct val="50000"/>
              </a:spcBef>
              <a:buClrTx/>
              <a:buFontTx/>
              <a:buNone/>
              <a:defRPr/>
            </a:pPr>
            <a:r>
              <a:rPr kumimoji="0" lang="en-US" altLang="ko-KR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C2589AB8-8C84-42E5-BD99-020A333FA3EA}" type="slidenum">
              <a:rPr kumimoji="0" lang="en-US" altLang="ko-KR" sz="800" smtClean="0">
                <a:latin typeface="맑은 고딕" pitchFamily="50" charset="-127"/>
                <a:ea typeface="맑은 고딕" pitchFamily="50" charset="-127"/>
              </a:rPr>
              <a:pPr algn="ctr" latinLnBrk="0">
                <a:lnSpc>
                  <a:spcPct val="101000"/>
                </a:lnSpc>
                <a:spcBef>
                  <a:spcPct val="50000"/>
                </a:spcBef>
                <a:buClrTx/>
                <a:buFontTx/>
                <a:buNone/>
                <a:defRPr/>
              </a:pPr>
              <a:t>‹#›</a:t>
            </a:fld>
            <a:r>
              <a:rPr kumimoji="0" lang="en-US" altLang="ko-KR" sz="8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-</a:t>
            </a:r>
          </a:p>
        </p:txBody>
      </p:sp>
      <p:pic>
        <p:nvPicPr>
          <p:cNvPr id="3" name="Picture 2" descr="바닥라인"/>
          <p:cNvPicPr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6434138"/>
            <a:ext cx="9180513" cy="6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 descr="skcnc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44" t="61763" r="17746" b="-2043"/>
          <a:stretch>
            <a:fillRect/>
          </a:stretch>
        </p:blipFill>
        <p:spPr bwMode="auto">
          <a:xfrm>
            <a:off x="9056688" y="6484938"/>
            <a:ext cx="48577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그림 4" descr="KHGC_logo(new)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813" y="357188"/>
            <a:ext cx="1439862" cy="29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382588" y="79375"/>
          <a:ext cx="9107487" cy="966787"/>
        </p:xfrm>
        <a:graphic>
          <a:graphicData uri="http://schemas.openxmlformats.org/drawingml/2006/table">
            <a:tbl>
              <a:tblPr/>
              <a:tblGrid>
                <a:gridCol w="19062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81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405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5015">
                <a:tc rowSpan="4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endParaRPr lang="en-US" sz="700" kern="1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42164" marR="42164" marT="18010" marB="1801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254000"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600" b="1" kern="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사업수행계획서</a:t>
                      </a:r>
                      <a:endParaRPr lang="ko-KR" sz="1000" kern="1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42164" marR="42164" marT="18010" marB="1801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9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ko-KR" sz="900" b="1" kern="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프로젝트</a:t>
                      </a:r>
                      <a:endParaRPr lang="ko-KR" sz="900" kern="1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42164" marR="42164" marT="18010" marB="1801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kern="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{</a:t>
                      </a:r>
                      <a:r>
                        <a:rPr lang="ko-KR" altLang="en-US" sz="900" kern="100" dirty="0" err="1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프로젝트명</a:t>
                      </a:r>
                      <a:r>
                        <a:rPr lang="en-US" altLang="ko-KR" sz="900" kern="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}</a:t>
                      </a:r>
                      <a:endParaRPr lang="ko-KR" sz="900" kern="1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42164" marR="42164" marT="18010" marB="1801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ko-KR" sz="900" b="1" kern="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단계</a:t>
                      </a:r>
                      <a:endParaRPr lang="ko-KR" sz="900" kern="1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42164" marR="42164" marT="18010" marB="1801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계획수립</a:t>
                      </a:r>
                      <a:endParaRPr lang="ko-KR" sz="900" kern="1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42164" marR="42164" marT="18010" marB="1801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9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ko-KR" sz="900" b="1" kern="10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시스템</a:t>
                      </a:r>
                      <a:endParaRPr lang="ko-KR" sz="900" kern="10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42164" marR="42164" marT="18010" marB="1801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{</a:t>
                      </a:r>
                      <a:r>
                        <a:rPr lang="ko-KR" sz="900" kern="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시스템 명</a:t>
                      </a:r>
                      <a:r>
                        <a:rPr lang="en-US" sz="900" kern="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}</a:t>
                      </a:r>
                      <a:endParaRPr lang="ko-KR" sz="900" kern="1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42164" marR="42164" marT="18010" marB="1801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ko-KR" sz="900" b="1" kern="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문서번호</a:t>
                      </a:r>
                      <a:endParaRPr lang="ko-KR" sz="900" kern="1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42164" marR="42164" marT="18010" marB="1801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OOOO_</a:t>
                      </a:r>
                      <a:r>
                        <a:rPr lang="ko-KR" sz="900" kern="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업무</a:t>
                      </a:r>
                      <a:r>
                        <a:rPr lang="en-US" sz="900" kern="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ID_</a:t>
                      </a:r>
                      <a:r>
                        <a:rPr lang="ko-KR" sz="900" kern="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단계</a:t>
                      </a:r>
                      <a:r>
                        <a:rPr lang="en-US" sz="900" kern="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ID_</a:t>
                      </a:r>
                      <a:r>
                        <a:rPr lang="ko-KR" sz="900" kern="100" dirty="0" err="1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문서명</a:t>
                      </a:r>
                      <a:r>
                        <a:rPr lang="en-US" sz="900" kern="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(</a:t>
                      </a:r>
                      <a:r>
                        <a:rPr lang="ko-KR" sz="900" kern="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세부업무</a:t>
                      </a:r>
                      <a:r>
                        <a:rPr lang="en-US" sz="900" kern="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ID)</a:t>
                      </a:r>
                      <a:endParaRPr lang="ko-KR" sz="900" kern="1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42164" marR="42164" marT="18010" marB="1801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9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ko-KR" sz="900" b="1" kern="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작성자</a:t>
                      </a:r>
                      <a:endParaRPr lang="ko-KR" sz="900" kern="1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42164" marR="42164" marT="18010" marB="1801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{</a:t>
                      </a:r>
                      <a:r>
                        <a:rPr lang="ko-KR" sz="900" kern="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작성자 명</a:t>
                      </a:r>
                      <a:r>
                        <a:rPr lang="en-US" sz="900" kern="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}</a:t>
                      </a:r>
                      <a:endParaRPr lang="ko-KR" sz="900" kern="1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42164" marR="42164" marT="18010" marB="1801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ko-KR" sz="900" b="1" kern="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작성일자</a:t>
                      </a:r>
                      <a:endParaRPr lang="ko-KR" sz="900" kern="1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42164" marR="42164" marT="18010" marB="1801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YYYY-MM-DD</a:t>
                      </a:r>
                      <a:endParaRPr lang="ko-KR" sz="900" kern="1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42164" marR="42164" marT="18010" marB="1801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직사각형 6"/>
          <p:cNvSpPr/>
          <p:nvPr userDrawn="1"/>
        </p:nvSpPr>
        <p:spPr bwMode="auto">
          <a:xfrm>
            <a:off x="631825" y="384175"/>
            <a:ext cx="1481138" cy="415925"/>
          </a:xfrm>
          <a:prstGeom prst="rect">
            <a:avLst/>
          </a:prstGeom>
          <a:solidFill>
            <a:srgbClr val="FFFF00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buFontTx/>
              <a:buNone/>
              <a:defRPr/>
            </a:pPr>
            <a:r>
              <a:rPr lang="ko-KR" altLang="en-US" sz="1400" b="1" dirty="0" err="1">
                <a:solidFill>
                  <a:srgbClr val="000000"/>
                </a:solidFill>
              </a:rPr>
              <a:t>고객사</a:t>
            </a:r>
            <a:r>
              <a:rPr lang="ko-KR" altLang="en-US" sz="1400" b="1" dirty="0">
                <a:solidFill>
                  <a:srgbClr val="000000"/>
                </a:solidFill>
              </a:rPr>
              <a:t> </a:t>
            </a:r>
            <a:r>
              <a:rPr lang="en-US" altLang="ko-KR" sz="1400" b="1" dirty="0">
                <a:solidFill>
                  <a:srgbClr val="000000"/>
                </a:solidFill>
              </a:rPr>
              <a:t>Logo</a:t>
            </a:r>
            <a:endParaRPr lang="ko-KR" altLang="en-US" sz="14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270157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7"/>
          <p:cNvSpPr>
            <a:spLocks noChangeShapeType="1"/>
          </p:cNvSpPr>
          <p:nvPr userDrawn="1"/>
        </p:nvSpPr>
        <p:spPr bwMode="auto">
          <a:xfrm>
            <a:off x="344488" y="492125"/>
            <a:ext cx="91455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0000" bIns="90000" anchor="ctr"/>
          <a:lstStyle/>
          <a:p>
            <a:endParaRPr lang="ko-KR" altLang="en-US"/>
          </a:p>
        </p:txBody>
      </p:sp>
      <p:sp>
        <p:nvSpPr>
          <p:cNvPr id="3" name="Text Box 3"/>
          <p:cNvSpPr txBox="1">
            <a:spLocks noChangeArrowheads="1"/>
          </p:cNvSpPr>
          <p:nvPr userDrawn="1"/>
        </p:nvSpPr>
        <p:spPr bwMode="auto">
          <a:xfrm>
            <a:off x="0" y="6526213"/>
            <a:ext cx="99060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latinLnBrk="0">
              <a:lnSpc>
                <a:spcPct val="101000"/>
              </a:lnSpc>
              <a:spcBef>
                <a:spcPct val="50000"/>
              </a:spcBef>
              <a:buClrTx/>
              <a:buFontTx/>
              <a:buNone/>
              <a:defRPr/>
            </a:pPr>
            <a:r>
              <a:rPr kumimoji="0" lang="en-US" altLang="ko-KR" sz="800">
                <a:solidFill>
                  <a:schemeClr val="tx1"/>
                </a:solidFill>
                <a:latin typeface="-2002" pitchFamily="18" charset="-127"/>
                <a:ea typeface="-2002" pitchFamily="18" charset="-127"/>
              </a:rPr>
              <a:t>- </a:t>
            </a:r>
            <a:fld id="{79FDBF2D-458E-47EB-9529-D2417624A11D}" type="slidenum">
              <a:rPr kumimoji="0" lang="en-US" altLang="ko-KR" sz="800" smtClean="0">
                <a:latin typeface="-2002" pitchFamily="18" charset="-127"/>
                <a:ea typeface="-2002" pitchFamily="18" charset="-127"/>
              </a:rPr>
              <a:pPr algn="ctr" latinLnBrk="0">
                <a:lnSpc>
                  <a:spcPct val="101000"/>
                </a:lnSpc>
                <a:spcBef>
                  <a:spcPct val="50000"/>
                </a:spcBef>
                <a:buClrTx/>
                <a:buFontTx/>
                <a:buNone/>
                <a:defRPr/>
              </a:pPr>
              <a:t>‹#›</a:t>
            </a:fld>
            <a:r>
              <a:rPr kumimoji="0" lang="en-US" altLang="ko-KR" sz="800">
                <a:latin typeface="-2002" pitchFamily="18" charset="-127"/>
                <a:ea typeface="-2002" pitchFamily="18" charset="-127"/>
              </a:rPr>
              <a:t> </a:t>
            </a:r>
            <a:r>
              <a:rPr kumimoji="0" lang="en-US" altLang="ko-KR" sz="800">
                <a:solidFill>
                  <a:schemeClr val="tx1"/>
                </a:solidFill>
                <a:latin typeface="-2002" pitchFamily="18" charset="-127"/>
                <a:ea typeface="-2002" pitchFamily="18" charset="-127"/>
              </a:rPr>
              <a:t>-</a:t>
            </a:r>
          </a:p>
        </p:txBody>
      </p:sp>
      <p:pic>
        <p:nvPicPr>
          <p:cNvPr id="4" name="Picture 2" descr="바닥라인"/>
          <p:cNvPicPr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6434138"/>
            <a:ext cx="9180513" cy="6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 descr="skcnc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44" t="61763" r="17746" b="-2043"/>
          <a:stretch>
            <a:fillRect/>
          </a:stretch>
        </p:blipFill>
        <p:spPr bwMode="auto">
          <a:xfrm>
            <a:off x="9056688" y="6484938"/>
            <a:ext cx="48577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69599335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7950" y="100013"/>
            <a:ext cx="9621838" cy="3048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7951" y="549275"/>
            <a:ext cx="9621838" cy="205043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481336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32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7CF681-5715-42BE-8E9F-7BB4D743CF9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1675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65C109-FD67-48EA-8F2E-935CEC762BE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0603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7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0CF8D5-5695-4793-B141-EBF3B8996C9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033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6575" y="1600204"/>
            <a:ext cx="474662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448300" y="1600204"/>
            <a:ext cx="474662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1F0FFE-9819-4E78-8B8D-B0654A3D014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2462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4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4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4CDBFD-9E21-4EB6-A2AA-11B21EE08FF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8581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043F7D-A316-4985-A6C2-38AF68E6793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6810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7"/>
          <p:cNvSpPr>
            <a:spLocks noChangeShapeType="1"/>
          </p:cNvSpPr>
          <p:nvPr userDrawn="1"/>
        </p:nvSpPr>
        <p:spPr bwMode="auto">
          <a:xfrm>
            <a:off x="415925" y="492125"/>
            <a:ext cx="91455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0000" bIns="90000" anchor="ctr"/>
          <a:lstStyle/>
          <a:p>
            <a:endParaRPr lang="ko-KR" altLang="en-US"/>
          </a:p>
        </p:txBody>
      </p:sp>
      <p:sp>
        <p:nvSpPr>
          <p:cNvPr id="3" name="Text Box 3"/>
          <p:cNvSpPr txBox="1">
            <a:spLocks noChangeArrowheads="1"/>
          </p:cNvSpPr>
          <p:nvPr userDrawn="1"/>
        </p:nvSpPr>
        <p:spPr bwMode="auto">
          <a:xfrm>
            <a:off x="0" y="6526213"/>
            <a:ext cx="99060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latinLnBrk="0">
              <a:lnSpc>
                <a:spcPct val="101000"/>
              </a:lnSpc>
              <a:spcBef>
                <a:spcPct val="50000"/>
              </a:spcBef>
              <a:buClrTx/>
              <a:buFontTx/>
              <a:buNone/>
              <a:defRPr/>
            </a:pPr>
            <a:r>
              <a:rPr kumimoji="0" lang="en-US" altLang="ko-KR" sz="800">
                <a:solidFill>
                  <a:schemeClr val="tx1"/>
                </a:solidFill>
                <a:latin typeface="-2002" pitchFamily="18" charset="-127"/>
                <a:ea typeface="-2002" pitchFamily="18" charset="-127"/>
              </a:rPr>
              <a:t>- </a:t>
            </a:r>
            <a:fld id="{0F63F60A-43BA-4672-94BF-BA9E31191571}" type="slidenum">
              <a:rPr kumimoji="0" lang="en-US" altLang="ko-KR" sz="800" smtClean="0">
                <a:latin typeface="-2002" pitchFamily="18" charset="-127"/>
                <a:ea typeface="-2002" pitchFamily="18" charset="-127"/>
              </a:rPr>
              <a:pPr algn="ctr" latinLnBrk="0">
                <a:lnSpc>
                  <a:spcPct val="101000"/>
                </a:lnSpc>
                <a:spcBef>
                  <a:spcPct val="50000"/>
                </a:spcBef>
                <a:buClrTx/>
                <a:buFontTx/>
                <a:buNone/>
                <a:defRPr/>
              </a:pPr>
              <a:t>‹#›</a:t>
            </a:fld>
            <a:r>
              <a:rPr kumimoji="0" lang="en-US" altLang="ko-KR" sz="800">
                <a:latin typeface="-2002" pitchFamily="18" charset="-127"/>
                <a:ea typeface="-2002" pitchFamily="18" charset="-127"/>
              </a:rPr>
              <a:t> </a:t>
            </a:r>
            <a:r>
              <a:rPr kumimoji="0" lang="en-US" altLang="ko-KR" sz="800">
                <a:solidFill>
                  <a:schemeClr val="tx1"/>
                </a:solidFill>
                <a:latin typeface="-2002" pitchFamily="18" charset="-127"/>
                <a:ea typeface="-2002" pitchFamily="18" charset="-127"/>
              </a:rPr>
              <a:t>-</a:t>
            </a:r>
          </a:p>
        </p:txBody>
      </p:sp>
      <p:pic>
        <p:nvPicPr>
          <p:cNvPr id="4" name="Picture 2" descr="바닥라인"/>
          <p:cNvPicPr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6434138"/>
            <a:ext cx="9180513" cy="6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Tx/>
              <a:buNone/>
              <a:defRPr/>
            </a:pPr>
            <a:endParaRPr lang="ko-KR" altLang="en-US" dirty="0"/>
          </a:p>
        </p:txBody>
      </p:sp>
      <p:sp>
        <p:nvSpPr>
          <p:cNvPr id="7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lvl4pPr>
              <a:buNone/>
              <a:defRPr/>
            </a:lvl4pPr>
          </a:lstStyle>
          <a:p>
            <a:pPr lvl="3">
              <a:defRPr/>
            </a:pPr>
            <a:endParaRPr lang="ko-KR" altLang="en-US" dirty="0"/>
          </a:p>
        </p:txBody>
      </p:sp>
      <p:sp>
        <p:nvSpPr>
          <p:cNvPr id="8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Tx/>
              <a:buNone/>
              <a:defRPr/>
            </a:pPr>
            <a:fld id="{4428D4CF-1794-4B47-AB1C-8348FA60A670}" type="slidenum">
              <a:rPr lang="ko-KR" altLang="en-US" smtClean="0"/>
              <a:pPr>
                <a:buFontTx/>
                <a:buNone/>
                <a:defRPr/>
              </a:pPr>
              <a:t>‹#›</a:t>
            </a:fld>
            <a:endParaRPr lang="ko-KR" altLang="en-US" dirty="0"/>
          </a:p>
        </p:txBody>
      </p:sp>
      <p:pic>
        <p:nvPicPr>
          <p:cNvPr id="10" name="Picture 2" descr="G:\05. Admin\60. 물류사업 브랜드 Naming\JV로고 디자인시안\FSK CI.jpg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52" t="39724" r="22947" b="44537"/>
          <a:stretch/>
        </p:blipFill>
        <p:spPr bwMode="auto">
          <a:xfrm>
            <a:off x="8406357" y="6511926"/>
            <a:ext cx="1145630" cy="232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96253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2" y="273052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E70586-0C96-4410-ACC9-8ACEAFBC30D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31238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2E8256-B754-44E3-B482-EDBDF4F071A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88971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D20B9A-D7A8-4387-8C24-EA5BB014E71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998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780337" y="274639"/>
            <a:ext cx="2414588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36578" y="274639"/>
            <a:ext cx="7078663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AEDB8A-EC60-4C0B-B84B-1957FE1F5EE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7445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auto">
          <a:xfrm>
            <a:off x="0" y="6526213"/>
            <a:ext cx="99060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latinLnBrk="0">
              <a:lnSpc>
                <a:spcPct val="101000"/>
              </a:lnSpc>
              <a:spcBef>
                <a:spcPct val="50000"/>
              </a:spcBef>
              <a:buClrTx/>
              <a:buFontTx/>
              <a:buNone/>
              <a:defRPr/>
            </a:pPr>
            <a:r>
              <a:rPr kumimoji="0" lang="en-US" altLang="ko-KR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87B5561-F6BF-4549-81F1-479E5B98682A}" type="slidenum">
              <a:rPr kumimoji="0" lang="en-US" altLang="ko-KR" sz="800" smtClean="0">
                <a:latin typeface="맑은 고딕" pitchFamily="50" charset="-127"/>
                <a:ea typeface="맑은 고딕" pitchFamily="50" charset="-127"/>
              </a:rPr>
              <a:pPr algn="ctr" latinLnBrk="0">
                <a:lnSpc>
                  <a:spcPct val="101000"/>
                </a:lnSpc>
                <a:spcBef>
                  <a:spcPct val="50000"/>
                </a:spcBef>
                <a:buClrTx/>
                <a:buFontTx/>
                <a:buNone/>
                <a:defRPr/>
              </a:pPr>
              <a:t>‹#›</a:t>
            </a:fld>
            <a:r>
              <a:rPr kumimoji="0" lang="en-US" altLang="ko-KR" sz="8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-</a:t>
            </a:r>
          </a:p>
        </p:txBody>
      </p:sp>
      <p:pic>
        <p:nvPicPr>
          <p:cNvPr id="3" name="Picture 2" descr="바닥라인"/>
          <p:cNvPicPr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6434138"/>
            <a:ext cx="9180513" cy="6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그림 9" descr="KHGC_logo(new)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813" y="357188"/>
            <a:ext cx="1439862" cy="29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1590778"/>
              </p:ext>
            </p:extLst>
          </p:nvPr>
        </p:nvGraphicFramePr>
        <p:xfrm>
          <a:off x="382588" y="79375"/>
          <a:ext cx="9107487" cy="966787"/>
        </p:xfrm>
        <a:graphic>
          <a:graphicData uri="http://schemas.openxmlformats.org/drawingml/2006/table">
            <a:tbl>
              <a:tblPr/>
              <a:tblGrid>
                <a:gridCol w="19062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81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405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5015">
                <a:tc rowSpan="4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endParaRPr lang="en-US" sz="700" kern="1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42164" marR="42164" marT="18010" marB="1801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254000"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600" b="1" kern="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사업수행계획서</a:t>
                      </a:r>
                      <a:endParaRPr lang="ko-KR" sz="1000" kern="1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42164" marR="42164" marT="18010" marB="1801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9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ko-KR" sz="900" b="1" kern="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프로젝트</a:t>
                      </a:r>
                      <a:endParaRPr lang="ko-KR" sz="900" kern="1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42164" marR="42164" marT="18010" marB="1801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kern="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ICT</a:t>
                      </a:r>
                      <a:r>
                        <a:rPr lang="ko-KR" altLang="en-US" sz="900" kern="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융합물류 </a:t>
                      </a:r>
                      <a:r>
                        <a:rPr lang="en-US" altLang="ko-KR" sz="900" kern="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IT Platform </a:t>
                      </a:r>
                      <a:r>
                        <a:rPr lang="ko-KR" altLang="en-US" sz="900" kern="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구축</a:t>
                      </a:r>
                      <a:endParaRPr lang="ko-KR" sz="900" kern="1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42164" marR="42164" marT="18010" marB="1801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ko-KR" sz="900" b="1" kern="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단계</a:t>
                      </a:r>
                      <a:endParaRPr lang="ko-KR" sz="900" kern="1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42164" marR="42164" marT="18010" marB="1801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계획수립</a:t>
                      </a:r>
                      <a:endParaRPr lang="ko-KR" sz="900" kern="1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42164" marR="42164" marT="18010" marB="1801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9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ko-KR" sz="900" b="1" kern="10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시스템</a:t>
                      </a:r>
                      <a:endParaRPr lang="ko-KR" sz="900" kern="10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42164" marR="42164" marT="18010" marB="1801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42164" marR="42164" marT="18010" marB="1801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ko-KR" sz="900" b="1" kern="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문서번호</a:t>
                      </a:r>
                      <a:endParaRPr lang="ko-KR" sz="900" kern="1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42164" marR="42164" marT="18010" marB="1801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SKWINE_</a:t>
                      </a:r>
                      <a:r>
                        <a:rPr lang="ko-KR" altLang="en-US" sz="900" kern="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공통</a:t>
                      </a:r>
                      <a:r>
                        <a:rPr lang="en-US" altLang="ko-KR" sz="900" kern="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_</a:t>
                      </a:r>
                      <a:r>
                        <a:rPr lang="ko-KR" altLang="en-US" sz="900" kern="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계획</a:t>
                      </a:r>
                      <a:r>
                        <a:rPr lang="en-US" sz="900" kern="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_</a:t>
                      </a:r>
                      <a:r>
                        <a:rPr lang="ko-KR" altLang="en-US" sz="900" kern="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사업수행계획서</a:t>
                      </a:r>
                      <a:endParaRPr lang="ko-KR" sz="900" kern="1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42164" marR="42164" marT="18010" marB="1801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9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ko-KR" sz="900" b="1" kern="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작성자</a:t>
                      </a:r>
                      <a:endParaRPr lang="ko-KR" sz="900" kern="1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42164" marR="42164" marT="18010" marB="1801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김상원</a:t>
                      </a:r>
                      <a:endParaRPr lang="ko-KR" sz="900" kern="1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42164" marR="42164" marT="18010" marB="1801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ko-KR" sz="900" b="1" kern="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작성일자</a:t>
                      </a:r>
                      <a:endParaRPr lang="ko-KR" sz="900" kern="1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42164" marR="42164" marT="18010" marB="1801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2015-12-14</a:t>
                      </a:r>
                      <a:endParaRPr lang="ko-KR" sz="900" kern="1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42164" marR="42164" marT="18010" marB="1801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8" name="그림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254" y="270646"/>
            <a:ext cx="1546034" cy="638074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5411" y="6503833"/>
            <a:ext cx="620370" cy="256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508085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2071021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9"/>
          <p:cNvSpPr>
            <a:spLocks noChangeShapeType="1"/>
          </p:cNvSpPr>
          <p:nvPr userDrawn="1"/>
        </p:nvSpPr>
        <p:spPr bwMode="auto">
          <a:xfrm>
            <a:off x="200025" y="517059"/>
            <a:ext cx="9504363" cy="0"/>
          </a:xfrm>
          <a:prstGeom prst="line">
            <a:avLst/>
          </a:prstGeom>
          <a:noFill/>
          <a:ln w="19050">
            <a:solidFill>
              <a:srgbClr val="FF99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buFont typeface="Wingdings" pitchFamily="2" charset="2"/>
              <a:buChar char="§"/>
              <a:defRPr/>
            </a:pPr>
            <a:endParaRPr lang="ko-KR" altLang="en-US" sz="1200" u="sng"/>
          </a:p>
        </p:txBody>
      </p:sp>
      <p:sp>
        <p:nvSpPr>
          <p:cNvPr id="5" name="Rectangle 10"/>
          <p:cNvSpPr>
            <a:spLocks noChangeArrowheads="1"/>
          </p:cNvSpPr>
          <p:nvPr userDrawn="1"/>
        </p:nvSpPr>
        <p:spPr bwMode="auto">
          <a:xfrm>
            <a:off x="200026" y="175746"/>
            <a:ext cx="106363" cy="304800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buFont typeface="Wingdings" pitchFamily="2" charset="2"/>
              <a:buChar char="§"/>
              <a:defRPr/>
            </a:pPr>
            <a:endParaRPr lang="ko-KR" altLang="en-US" sz="1200" u="sng"/>
          </a:p>
        </p:txBody>
      </p:sp>
      <p:sp>
        <p:nvSpPr>
          <p:cNvPr id="6" name="Line 11"/>
          <p:cNvSpPr>
            <a:spLocks noChangeShapeType="1"/>
          </p:cNvSpPr>
          <p:nvPr userDrawn="1"/>
        </p:nvSpPr>
        <p:spPr bwMode="auto">
          <a:xfrm>
            <a:off x="200025" y="6453188"/>
            <a:ext cx="9504363" cy="0"/>
          </a:xfrm>
          <a:prstGeom prst="line">
            <a:avLst/>
          </a:prstGeom>
          <a:noFill/>
          <a:ln w="19050">
            <a:solidFill>
              <a:srgbClr val="FF99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buFont typeface="Wingdings" pitchFamily="2" charset="2"/>
              <a:buChar char="§"/>
              <a:defRPr/>
            </a:pPr>
            <a:endParaRPr lang="ko-KR" altLang="en-US" sz="1200" u="sng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436938" y="6480175"/>
            <a:ext cx="303371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latinLnBrk="0">
              <a:buFontTx/>
              <a:buNone/>
              <a:defRPr kumimoji="0" sz="1000" b="0" u="none">
                <a:latin typeface="Trebuchet MS" pitchFamily="34" charset="0"/>
                <a:ea typeface="굴림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- </a:t>
            </a:r>
            <a:fld id="{EE975AF4-B1F3-41E4-B19A-4F6D78AFBDB1}" type="slidenum">
              <a:rPr lang="en-US" altLang="ko-KR" smtClean="0"/>
              <a:pPr>
                <a:defRPr/>
              </a:pPr>
              <a:t>‹#›</a:t>
            </a:fld>
            <a:r>
              <a:rPr lang="en-US" altLang="ko-KR" dirty="0" smtClean="0"/>
              <a:t> -</a:t>
            </a:r>
            <a:endParaRPr lang="en-US" altLang="ko-KR" dirty="0"/>
          </a:p>
        </p:txBody>
      </p:sp>
      <p:pic>
        <p:nvPicPr>
          <p:cNvPr id="2" name="Picture 2" descr="G:\05. Admin\60. 물류사업 브랜드 Naming\JV로고 디자인시안\FSK CI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52" t="39724" r="22947" b="44537"/>
          <a:stretch/>
        </p:blipFill>
        <p:spPr bwMode="auto">
          <a:xfrm>
            <a:off x="8373380" y="6525344"/>
            <a:ext cx="1325650" cy="269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76340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7"/>
            <a:ext cx="8420100" cy="1470025"/>
          </a:xfrm>
          <a:noFill/>
        </p:spPr>
        <p:txBody>
          <a:bodyPr>
            <a:normAutofit/>
          </a:bodyPr>
          <a:lstStyle>
            <a:lvl1pPr algn="ctr">
              <a:defRPr sz="2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4725144"/>
            <a:ext cx="6934200" cy="913656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1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1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14194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8588" y="188640"/>
            <a:ext cx="9648825" cy="360040"/>
          </a:xfrm>
          <a:noFill/>
          <a:ln>
            <a:noFill/>
          </a:ln>
        </p:spPr>
        <p:txBody>
          <a:bodyPr>
            <a:noAutofit/>
          </a:bodyPr>
          <a:lstStyle>
            <a:lvl1pPr>
              <a:defRPr sz="1800">
                <a:latin typeface="Cambria" panose="02040503050406030204" pitchFamily="18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9" name="슬라이드 번호 개체 틀 2"/>
          <p:cNvSpPr txBox="1">
            <a:spLocks/>
          </p:cNvSpPr>
          <p:nvPr userDrawn="1"/>
        </p:nvSpPr>
        <p:spPr>
          <a:xfrm>
            <a:off x="3797300" y="6566293"/>
            <a:ext cx="2311400" cy="216024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defPPr>
              <a:defRPr lang="ko-KR"/>
            </a:defPPr>
            <a:lvl1pPr marL="0" algn="r" defTabSz="914287" rtl="0" eaLnBrk="1" latinLnBrk="1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+mn-ea"/>
                <a:cs typeface="+mn-cs"/>
              </a:defRPr>
            </a:lvl1pPr>
            <a:lvl2pPr marL="457144" algn="l" defTabSz="914287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87" algn="l" defTabSz="914287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30" algn="l" defTabSz="914287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73" algn="l" defTabSz="914287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17" algn="l" defTabSz="914287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60" algn="l" defTabSz="914287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3" algn="l" defTabSz="914287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46" algn="l" defTabSz="914287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fld id="{ABF338F1-7BA8-4883-AA00-A587D1E26AFF}" type="slidenum">
              <a:rPr lang="ko-KR" altLang="en-US" i="1" smtClean="0">
                <a:solidFill>
                  <a:prstClr val="black">
                    <a:tint val="75000"/>
                  </a:prstClr>
                </a:solidFill>
                <a:latin typeface="Cambria" panose="02040503050406030204" pitchFamily="18" charset="0"/>
              </a:rPr>
              <a:pPr algn="ctr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t>‹#›</a:t>
            </a:fld>
            <a:endParaRPr lang="ko-KR" altLang="en-US" i="1" dirty="0">
              <a:solidFill>
                <a:prstClr val="black">
                  <a:tint val="75000"/>
                </a:prstClr>
              </a:solidFill>
              <a:latin typeface="Cambria" panose="02040503050406030204" pitchFamily="18" charset="0"/>
            </a:endParaRPr>
          </a:p>
        </p:txBody>
      </p:sp>
      <p:sp>
        <p:nvSpPr>
          <p:cNvPr id="8" name="Line 13"/>
          <p:cNvSpPr>
            <a:spLocks noChangeShapeType="1"/>
          </p:cNvSpPr>
          <p:nvPr userDrawn="1"/>
        </p:nvSpPr>
        <p:spPr bwMode="auto">
          <a:xfrm>
            <a:off x="0" y="692696"/>
            <a:ext cx="9913939" cy="0"/>
          </a:xfrm>
          <a:prstGeom prst="lin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/>
        </p:spPr>
        <p:txBody>
          <a:bodyPr anchor="ctr"/>
          <a:lstStyle/>
          <a:p>
            <a:pPr algn="ctr" eaLnBrk="0" latinLnBrk="0" hangingPunct="0">
              <a:lnSpc>
                <a:spcPct val="100000"/>
              </a:lnSpc>
              <a:spcBef>
                <a:spcPct val="0"/>
              </a:spcBef>
              <a:buClrTx/>
              <a:buFontTx/>
              <a:buChar char="•"/>
              <a:defRPr/>
            </a:pPr>
            <a:endParaRPr lang="ko-KR" altLang="en-US" sz="900" dirty="0">
              <a:latin typeface="HY그래픽M" pitchFamily="18" charset="-127"/>
              <a:ea typeface="HY그래픽M" pitchFamily="18" charset="-127"/>
            </a:endParaRPr>
          </a:p>
        </p:txBody>
      </p:sp>
      <p:pic>
        <p:nvPicPr>
          <p:cNvPr id="10" name="Picture 2" descr="image008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158" b="18657"/>
          <a:stretch/>
        </p:blipFill>
        <p:spPr bwMode="auto">
          <a:xfrm>
            <a:off x="8206513" y="6491954"/>
            <a:ext cx="1398514" cy="3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859486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8588" y="188640"/>
            <a:ext cx="9648825" cy="360040"/>
          </a:xfrm>
          <a:noFill/>
          <a:ln>
            <a:noFill/>
          </a:ln>
        </p:spPr>
        <p:txBody>
          <a:bodyPr>
            <a:noAutofit/>
          </a:bodyPr>
          <a:lstStyle>
            <a:lvl1pPr>
              <a:defRPr sz="1800">
                <a:latin typeface="Cambria" panose="02040503050406030204" pitchFamily="18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>
          <a:xfrm>
            <a:off x="281786" y="749771"/>
            <a:ext cx="9359900" cy="735013"/>
          </a:xfrm>
        </p:spPr>
        <p:txBody>
          <a:bodyPr>
            <a:normAutofit/>
          </a:bodyPr>
          <a:lstStyle>
            <a:lvl1pPr marL="0" indent="0" latinLnBrk="0">
              <a:lnSpc>
                <a:spcPct val="120000"/>
              </a:lnSpc>
              <a:spcBef>
                <a:spcPts val="0"/>
              </a:spcBef>
              <a:buNone/>
              <a:defRPr sz="1600">
                <a:latin typeface="Cambria" panose="02040503050406030204" pitchFamily="18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8" name="Line 13"/>
          <p:cNvSpPr>
            <a:spLocks noChangeShapeType="1"/>
          </p:cNvSpPr>
          <p:nvPr userDrawn="1"/>
        </p:nvSpPr>
        <p:spPr bwMode="auto">
          <a:xfrm>
            <a:off x="0" y="692696"/>
            <a:ext cx="9913939" cy="0"/>
          </a:xfrm>
          <a:prstGeom prst="lin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/>
        </p:spPr>
        <p:txBody>
          <a:bodyPr anchor="ctr"/>
          <a:lstStyle/>
          <a:p>
            <a:pPr algn="ctr" eaLnBrk="0" latinLnBrk="0" hangingPunct="0">
              <a:lnSpc>
                <a:spcPct val="100000"/>
              </a:lnSpc>
              <a:spcBef>
                <a:spcPct val="0"/>
              </a:spcBef>
              <a:buClrTx/>
              <a:buFontTx/>
              <a:buChar char="•"/>
              <a:defRPr/>
            </a:pPr>
            <a:endParaRPr lang="ko-KR" altLang="en-US" sz="900" dirty="0">
              <a:latin typeface="HY그래픽M" pitchFamily="18" charset="-127"/>
              <a:ea typeface="HY그래픽M" pitchFamily="18" charset="-127"/>
            </a:endParaRPr>
          </a:p>
        </p:txBody>
      </p:sp>
      <p:sp>
        <p:nvSpPr>
          <p:cNvPr id="10" name="슬라이드 번호 개체 틀 2"/>
          <p:cNvSpPr txBox="1">
            <a:spLocks/>
          </p:cNvSpPr>
          <p:nvPr userDrawn="1"/>
        </p:nvSpPr>
        <p:spPr>
          <a:xfrm>
            <a:off x="3797300" y="6566293"/>
            <a:ext cx="2311400" cy="216024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defPPr>
              <a:defRPr lang="ko-KR"/>
            </a:defPPr>
            <a:lvl1pPr marL="0" algn="r" defTabSz="914287" rtl="0" eaLnBrk="1" latinLnBrk="1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+mn-ea"/>
                <a:cs typeface="+mn-cs"/>
              </a:defRPr>
            </a:lvl1pPr>
            <a:lvl2pPr marL="457144" algn="l" defTabSz="914287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87" algn="l" defTabSz="914287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30" algn="l" defTabSz="914287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73" algn="l" defTabSz="914287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17" algn="l" defTabSz="914287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60" algn="l" defTabSz="914287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3" algn="l" defTabSz="914287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46" algn="l" defTabSz="914287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fld id="{ABF338F1-7BA8-4883-AA00-A587D1E26AFF}" type="slidenum">
              <a:rPr lang="ko-KR" altLang="en-US" i="1" smtClean="0">
                <a:solidFill>
                  <a:prstClr val="black">
                    <a:tint val="75000"/>
                  </a:prstClr>
                </a:solidFill>
                <a:latin typeface="Cambria" panose="02040503050406030204" pitchFamily="18" charset="0"/>
              </a:rPr>
              <a:pPr algn="ctr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t>‹#›</a:t>
            </a:fld>
            <a:endParaRPr lang="ko-KR" altLang="en-US" i="1" dirty="0">
              <a:solidFill>
                <a:prstClr val="black">
                  <a:tint val="75000"/>
                </a:prstClr>
              </a:solidFill>
              <a:latin typeface="Cambria" panose="02040503050406030204" pitchFamily="18" charset="0"/>
            </a:endParaRPr>
          </a:p>
        </p:txBody>
      </p:sp>
      <p:pic>
        <p:nvPicPr>
          <p:cNvPr id="9" name="Picture 2" descr="image008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158" b="18657"/>
          <a:stretch/>
        </p:blipFill>
        <p:spPr bwMode="auto">
          <a:xfrm>
            <a:off x="8206513" y="6491954"/>
            <a:ext cx="1398514" cy="3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196834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2"/>
          <p:cNvSpPr txBox="1">
            <a:spLocks/>
          </p:cNvSpPr>
          <p:nvPr userDrawn="1"/>
        </p:nvSpPr>
        <p:spPr>
          <a:xfrm>
            <a:off x="3797300" y="6566293"/>
            <a:ext cx="2311400" cy="216024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defPPr>
              <a:defRPr lang="ko-KR"/>
            </a:defPPr>
            <a:lvl1pPr marL="0" algn="r" defTabSz="914287" rtl="0" eaLnBrk="1" latinLnBrk="1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+mn-ea"/>
                <a:cs typeface="+mn-cs"/>
              </a:defRPr>
            </a:lvl1pPr>
            <a:lvl2pPr marL="457144" algn="l" defTabSz="914287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87" algn="l" defTabSz="914287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30" algn="l" defTabSz="914287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73" algn="l" defTabSz="914287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17" algn="l" defTabSz="914287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60" algn="l" defTabSz="914287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3" algn="l" defTabSz="914287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46" algn="l" defTabSz="914287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fld id="{ABF338F1-7BA8-4883-AA00-A587D1E26AFF}" type="slidenum">
              <a:rPr lang="ko-KR" altLang="en-US" i="1" smtClean="0">
                <a:solidFill>
                  <a:prstClr val="black">
                    <a:tint val="75000"/>
                  </a:prstClr>
                </a:solidFill>
                <a:latin typeface="Cambria" panose="02040503050406030204" pitchFamily="18" charset="0"/>
              </a:rPr>
              <a:pPr algn="ctr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t>‹#›</a:t>
            </a:fld>
            <a:endParaRPr lang="ko-KR" altLang="en-US" i="1" dirty="0">
              <a:solidFill>
                <a:prstClr val="black">
                  <a:tint val="75000"/>
                </a:prstClr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42527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91"/>
          <a:stretch/>
        </p:blipFill>
        <p:spPr>
          <a:xfrm>
            <a:off x="4953000" y="-4321"/>
            <a:ext cx="4956786" cy="287779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직사각형 5"/>
          <p:cNvSpPr/>
          <p:nvPr userDrawn="1"/>
        </p:nvSpPr>
        <p:spPr bwMode="auto">
          <a:xfrm>
            <a:off x="-1" y="0"/>
            <a:ext cx="4953001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88900" marR="0" lvl="0" indent="-8890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1" lang="ko-KR" altLang="en-US" sz="1200" b="1" i="0" u="sng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15134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9"/>
          <p:cNvSpPr>
            <a:spLocks noChangeShapeType="1"/>
          </p:cNvSpPr>
          <p:nvPr userDrawn="1"/>
        </p:nvSpPr>
        <p:spPr bwMode="auto">
          <a:xfrm>
            <a:off x="200025" y="517059"/>
            <a:ext cx="9504363" cy="0"/>
          </a:xfrm>
          <a:prstGeom prst="line">
            <a:avLst/>
          </a:prstGeom>
          <a:noFill/>
          <a:ln w="19050">
            <a:solidFill>
              <a:srgbClr val="FF9900"/>
            </a:solidFill>
            <a:round/>
            <a:headEnd/>
            <a:tailEnd/>
          </a:ln>
          <a:effectLst/>
        </p:spPr>
        <p:txBody>
          <a:bodyPr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1" lang="ko-KR" altLang="en-US" sz="1200" b="1" i="0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5" name="Rectangle 10"/>
          <p:cNvSpPr>
            <a:spLocks noChangeArrowheads="1"/>
          </p:cNvSpPr>
          <p:nvPr userDrawn="1"/>
        </p:nvSpPr>
        <p:spPr bwMode="auto">
          <a:xfrm>
            <a:off x="200026" y="175746"/>
            <a:ext cx="106363" cy="304800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1" lang="ko-KR" altLang="en-US" sz="1200" b="1" i="0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6" name="Line 11"/>
          <p:cNvSpPr>
            <a:spLocks noChangeShapeType="1"/>
          </p:cNvSpPr>
          <p:nvPr userDrawn="1"/>
        </p:nvSpPr>
        <p:spPr bwMode="auto">
          <a:xfrm>
            <a:off x="200025" y="6453188"/>
            <a:ext cx="9504363" cy="0"/>
          </a:xfrm>
          <a:prstGeom prst="line">
            <a:avLst/>
          </a:prstGeom>
          <a:noFill/>
          <a:ln w="19050">
            <a:solidFill>
              <a:srgbClr val="FF9900"/>
            </a:solidFill>
            <a:round/>
            <a:headEnd/>
            <a:tailEnd/>
          </a:ln>
          <a:effectLst/>
        </p:spPr>
        <p:txBody>
          <a:bodyPr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1" lang="ko-KR" altLang="en-US" sz="1200" b="1" i="0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436938" y="6480175"/>
            <a:ext cx="303371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latinLnBrk="0">
              <a:buFontTx/>
              <a:buNone/>
              <a:defRPr kumimoji="0" sz="1000" b="0" u="none">
                <a:latin typeface="Trebuchet MS" pitchFamily="34" charset="0"/>
                <a:ea typeface="굴림" pitchFamily="50" charset="-127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itchFamily="34" charset="0"/>
                <a:ea typeface="굴림" pitchFamily="50" charset="-127"/>
                <a:cs typeface="+mn-cs"/>
              </a:rPr>
              <a:t>- </a:t>
            </a:r>
            <a:fld id="{EE975AF4-B1F3-41E4-B19A-4F6D78AFBDB1}" type="slidenum">
              <a:rPr kumimoji="0" lang="en-US" altLang="ko-KR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itchFamily="34" charset="0"/>
                <a:ea typeface="굴림" pitchFamily="50" charset="-127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ko-KR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itchFamily="34" charset="0"/>
                <a:ea typeface="굴림" pitchFamily="50" charset="-127"/>
                <a:cs typeface="+mn-cs"/>
              </a:rPr>
              <a:t> -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itchFamily="34" charset="0"/>
              <a:ea typeface="굴림" pitchFamily="50" charset="-127"/>
              <a:cs typeface="+mn-cs"/>
            </a:endParaRPr>
          </a:p>
        </p:txBody>
      </p:sp>
      <p:pic>
        <p:nvPicPr>
          <p:cNvPr id="2" name="Picture 2" descr="G:\05. Admin\60. 물류사업 브랜드 Naming\JV로고 디자인시안\FSK CI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52" t="39724" r="22947" b="44537"/>
          <a:stretch/>
        </p:blipFill>
        <p:spPr bwMode="auto">
          <a:xfrm>
            <a:off x="8373380" y="6525344"/>
            <a:ext cx="1325650" cy="269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6294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45148"/>
            <a:ext cx="9909787" cy="410843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961346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1850789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165C109-FD67-48EA-8F2E-935CEC762BEE}" type="slidenum">
              <a:rPr kumimoji="1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rPr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6707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7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2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4130" r:id="rId1"/>
    <p:sldLayoutId id="2147484142" r:id="rId2"/>
    <p:sldLayoutId id="2147484143" r:id="rId3"/>
    <p:sldLayoutId id="2147484131" r:id="rId4"/>
  </p:sldLayoutIdLst>
  <p:transition/>
  <p:hf hdr="0" ftr="0" dt="0"/>
  <p:txStyles>
    <p:titleStyle>
      <a:lvl1pPr marL="285750" indent="-285750" algn="l" rtl="0" eaLnBrk="0" fontAlgn="base" latinLnBrk="1" hangingPunct="0">
        <a:spcBef>
          <a:spcPct val="0"/>
        </a:spcBef>
        <a:spcAft>
          <a:spcPct val="0"/>
        </a:spcAft>
        <a:buAutoNum type="arabicPeriod"/>
        <a:defRPr kumimoji="1" sz="2000">
          <a:solidFill>
            <a:srgbClr val="000000"/>
          </a:solidFill>
          <a:latin typeface="+mj-lt"/>
          <a:ea typeface="+mj-ea"/>
          <a:cs typeface="+mj-cs"/>
        </a:defRPr>
      </a:lvl1pPr>
      <a:lvl2pPr marL="285750" indent="-285750" algn="l" rtl="0" eaLnBrk="0" fontAlgn="base" latinLnBrk="1" hangingPunct="0">
        <a:spcBef>
          <a:spcPct val="0"/>
        </a:spcBef>
        <a:spcAft>
          <a:spcPct val="0"/>
        </a:spcAft>
        <a:buAutoNum type="arabicPeriod"/>
        <a:defRPr kumimoji="1" sz="2000">
          <a:solidFill>
            <a:srgbClr val="000000"/>
          </a:solidFill>
          <a:latin typeface="맑은 고딕" pitchFamily="50" charset="-127"/>
          <a:ea typeface="맑은 고딕" pitchFamily="50" charset="-127"/>
        </a:defRPr>
      </a:lvl2pPr>
      <a:lvl3pPr marL="285750" indent="-285750" algn="l" rtl="0" eaLnBrk="0" fontAlgn="base" latinLnBrk="1" hangingPunct="0">
        <a:spcBef>
          <a:spcPct val="0"/>
        </a:spcBef>
        <a:spcAft>
          <a:spcPct val="0"/>
        </a:spcAft>
        <a:buAutoNum type="arabicPeriod"/>
        <a:defRPr kumimoji="1" sz="2000">
          <a:solidFill>
            <a:srgbClr val="000000"/>
          </a:solidFill>
          <a:latin typeface="맑은 고딕" pitchFamily="50" charset="-127"/>
          <a:ea typeface="맑은 고딕" pitchFamily="50" charset="-127"/>
        </a:defRPr>
      </a:lvl3pPr>
      <a:lvl4pPr marL="285750" indent="-285750" algn="l" rtl="0" eaLnBrk="0" fontAlgn="base" latinLnBrk="1" hangingPunct="0">
        <a:spcBef>
          <a:spcPct val="0"/>
        </a:spcBef>
        <a:spcAft>
          <a:spcPct val="0"/>
        </a:spcAft>
        <a:buAutoNum type="arabicPeriod"/>
        <a:defRPr kumimoji="1" sz="2000">
          <a:solidFill>
            <a:srgbClr val="000000"/>
          </a:solidFill>
          <a:latin typeface="맑은 고딕" pitchFamily="50" charset="-127"/>
          <a:ea typeface="맑은 고딕" pitchFamily="50" charset="-127"/>
        </a:defRPr>
      </a:lvl4pPr>
      <a:lvl5pPr marL="285750" indent="-285750" algn="l" rtl="0" eaLnBrk="0" fontAlgn="base" latinLnBrk="1" hangingPunct="0">
        <a:spcBef>
          <a:spcPct val="0"/>
        </a:spcBef>
        <a:spcAft>
          <a:spcPct val="0"/>
        </a:spcAft>
        <a:buAutoNum type="arabicPeriod"/>
        <a:defRPr kumimoji="1" sz="2000">
          <a:solidFill>
            <a:srgbClr val="000000"/>
          </a:solidFill>
          <a:latin typeface="맑은 고딕" pitchFamily="50" charset="-127"/>
          <a:ea typeface="맑은 고딕" pitchFamily="50" charset="-127"/>
        </a:defRPr>
      </a:lvl5pPr>
      <a:lvl6pPr marL="742950" indent="-285750" algn="l" rtl="0" fontAlgn="base" latinLnBrk="1">
        <a:spcBef>
          <a:spcPct val="0"/>
        </a:spcBef>
        <a:spcAft>
          <a:spcPct val="0"/>
        </a:spcAft>
        <a:buAutoNum type="arabicPeriod"/>
        <a:defRPr kumimoji="1" sz="2000">
          <a:solidFill>
            <a:srgbClr val="000000"/>
          </a:solidFill>
          <a:latin typeface="굴림" pitchFamily="50" charset="-127"/>
          <a:ea typeface="굴림" pitchFamily="50" charset="-127"/>
        </a:defRPr>
      </a:lvl6pPr>
      <a:lvl7pPr marL="1200150" indent="-285750" algn="l" rtl="0" fontAlgn="base" latinLnBrk="1">
        <a:spcBef>
          <a:spcPct val="0"/>
        </a:spcBef>
        <a:spcAft>
          <a:spcPct val="0"/>
        </a:spcAft>
        <a:buAutoNum type="arabicPeriod"/>
        <a:defRPr kumimoji="1" sz="2000">
          <a:solidFill>
            <a:srgbClr val="000000"/>
          </a:solidFill>
          <a:latin typeface="굴림" pitchFamily="50" charset="-127"/>
          <a:ea typeface="굴림" pitchFamily="50" charset="-127"/>
        </a:defRPr>
      </a:lvl7pPr>
      <a:lvl8pPr marL="1657350" indent="-285750" algn="l" rtl="0" fontAlgn="base" latinLnBrk="1">
        <a:spcBef>
          <a:spcPct val="0"/>
        </a:spcBef>
        <a:spcAft>
          <a:spcPct val="0"/>
        </a:spcAft>
        <a:buAutoNum type="arabicPeriod"/>
        <a:defRPr kumimoji="1" sz="2000">
          <a:solidFill>
            <a:srgbClr val="000000"/>
          </a:solidFill>
          <a:latin typeface="굴림" pitchFamily="50" charset="-127"/>
          <a:ea typeface="굴림" pitchFamily="50" charset="-127"/>
        </a:defRPr>
      </a:lvl8pPr>
      <a:lvl9pPr marL="2114550" indent="-285750" algn="l" rtl="0" fontAlgn="base" latinLnBrk="1">
        <a:spcBef>
          <a:spcPct val="0"/>
        </a:spcBef>
        <a:spcAft>
          <a:spcPct val="0"/>
        </a:spcAft>
        <a:buAutoNum type="arabicPeriod"/>
        <a:defRPr kumimoji="1" sz="2000">
          <a:solidFill>
            <a:srgbClr val="000000"/>
          </a:solidFill>
          <a:latin typeface="굴림" pitchFamily="50" charset="-127"/>
          <a:ea typeface="굴림" pitchFamily="50" charset="-127"/>
        </a:defRPr>
      </a:lvl9pPr>
    </p:titleStyle>
    <p:bodyStyle>
      <a:lvl1pPr marL="304800" indent="-304800" algn="l" rtl="0" eaLnBrk="0" fontAlgn="base" latinLnBrk="1" hangingPunct="0">
        <a:lnSpc>
          <a:spcPct val="150000"/>
        </a:lnSpc>
        <a:spcBef>
          <a:spcPct val="25000"/>
        </a:spcBef>
        <a:spcAft>
          <a:spcPct val="0"/>
        </a:spcAft>
        <a:buClr>
          <a:srgbClr val="333333"/>
        </a:buClr>
        <a:buFont typeface="Wingdings" pitchFamily="2" charset="2"/>
        <a:buChar char="q"/>
        <a:tabLst>
          <a:tab pos="266700" algn="l"/>
          <a:tab pos="400050" algn="l"/>
        </a:tabLst>
        <a:defRPr kumimoji="1" b="1">
          <a:solidFill>
            <a:srgbClr val="000000"/>
          </a:solidFill>
          <a:latin typeface="+mn-lt"/>
          <a:ea typeface="+mn-ea"/>
          <a:cs typeface="+mn-cs"/>
        </a:defRPr>
      </a:lvl1pPr>
      <a:lvl2pPr marL="504825" indent="-266700" algn="l" rtl="0" eaLnBrk="0" fontAlgn="base" latinLnBrk="1" hangingPunct="0">
        <a:lnSpc>
          <a:spcPct val="150000"/>
        </a:lnSpc>
        <a:spcBef>
          <a:spcPct val="25000"/>
        </a:spcBef>
        <a:spcAft>
          <a:spcPct val="0"/>
        </a:spcAft>
        <a:buClr>
          <a:srgbClr val="333333"/>
        </a:buClr>
        <a:buChar char="–"/>
        <a:tabLst>
          <a:tab pos="266700" algn="l"/>
          <a:tab pos="400050" algn="l"/>
        </a:tabLst>
        <a:defRPr kumimoji="1" sz="1600">
          <a:solidFill>
            <a:srgbClr val="000000"/>
          </a:solidFill>
          <a:latin typeface="+mn-lt"/>
          <a:ea typeface="+mn-ea"/>
        </a:defRPr>
      </a:lvl2pPr>
      <a:lvl3pPr marL="733425" indent="-247650" algn="l" rtl="0" eaLnBrk="0" fontAlgn="base" latinLnBrk="1" hangingPunct="0">
        <a:lnSpc>
          <a:spcPct val="150000"/>
        </a:lnSpc>
        <a:spcBef>
          <a:spcPct val="25000"/>
        </a:spcBef>
        <a:spcAft>
          <a:spcPct val="0"/>
        </a:spcAft>
        <a:buClr>
          <a:srgbClr val="333333"/>
        </a:buClr>
        <a:buChar char="•"/>
        <a:tabLst>
          <a:tab pos="266700" algn="l"/>
          <a:tab pos="400050" algn="l"/>
        </a:tabLst>
        <a:defRPr kumimoji="1" sz="1400">
          <a:solidFill>
            <a:srgbClr val="000000"/>
          </a:solidFill>
          <a:latin typeface="+mn-lt"/>
          <a:ea typeface="+mn-ea"/>
        </a:defRPr>
      </a:lvl3pPr>
      <a:lvl4pPr marL="904875" indent="-152400" algn="l" rtl="0" eaLnBrk="0" fontAlgn="base" latinLnBrk="1" hangingPunct="0">
        <a:spcBef>
          <a:spcPct val="25000"/>
        </a:spcBef>
        <a:spcAft>
          <a:spcPct val="0"/>
        </a:spcAft>
        <a:buClr>
          <a:srgbClr val="333333"/>
        </a:buClr>
        <a:buFont typeface="Wingdings" pitchFamily="2" charset="2"/>
        <a:buAutoNum type="arabicPeriod"/>
        <a:tabLst>
          <a:tab pos="266700" algn="l"/>
          <a:tab pos="400050" algn="l"/>
        </a:tabLst>
        <a:defRPr kumimoji="1" sz="1400">
          <a:solidFill>
            <a:srgbClr val="000000"/>
          </a:solidFill>
          <a:latin typeface="+mn-lt"/>
          <a:ea typeface="+mn-ea"/>
        </a:defRPr>
      </a:lvl4pPr>
      <a:lvl5pPr marL="2789238" indent="-457200" algn="l" rtl="0" eaLnBrk="0" fontAlgn="base" latinLnBrk="1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è"/>
        <a:tabLst>
          <a:tab pos="266700" algn="l"/>
          <a:tab pos="400050" algn="l"/>
        </a:tabLst>
        <a:defRPr kumimoji="1" sz="2400">
          <a:solidFill>
            <a:schemeClr val="tx1"/>
          </a:solidFill>
          <a:latin typeface="+mn-lt"/>
          <a:ea typeface="+mn-ea"/>
        </a:defRPr>
      </a:lvl5pPr>
      <a:lvl6pPr marL="3246438" indent="-4572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è"/>
        <a:tabLst>
          <a:tab pos="266700" algn="l"/>
          <a:tab pos="400050" algn="l"/>
        </a:tabLst>
        <a:defRPr kumimoji="1" sz="2400">
          <a:solidFill>
            <a:schemeClr val="tx1"/>
          </a:solidFill>
          <a:latin typeface="+mn-lt"/>
          <a:ea typeface="+mn-ea"/>
        </a:defRPr>
      </a:lvl6pPr>
      <a:lvl7pPr marL="3703638" indent="-4572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è"/>
        <a:tabLst>
          <a:tab pos="266700" algn="l"/>
          <a:tab pos="400050" algn="l"/>
        </a:tabLst>
        <a:defRPr kumimoji="1" sz="2400">
          <a:solidFill>
            <a:schemeClr val="tx1"/>
          </a:solidFill>
          <a:latin typeface="+mn-lt"/>
          <a:ea typeface="+mn-ea"/>
        </a:defRPr>
      </a:lvl7pPr>
      <a:lvl8pPr marL="4160838" indent="-4572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è"/>
        <a:tabLst>
          <a:tab pos="266700" algn="l"/>
          <a:tab pos="400050" algn="l"/>
        </a:tabLst>
        <a:defRPr kumimoji="1" sz="2400">
          <a:solidFill>
            <a:schemeClr val="tx1"/>
          </a:solidFill>
          <a:latin typeface="+mn-lt"/>
          <a:ea typeface="+mn-ea"/>
        </a:defRPr>
      </a:lvl8pPr>
      <a:lvl9pPr marL="4618038" indent="-4572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è"/>
        <a:tabLst>
          <a:tab pos="266700" algn="l"/>
          <a:tab pos="400050" algn="l"/>
        </a:tabLst>
        <a:defRPr kumimoji="1" sz="2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fld id="{6222063C-46F9-4CED-B389-8EDE43BD397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32" r:id="rId1"/>
    <p:sldLayoutId id="2147484133" r:id="rId2"/>
    <p:sldLayoutId id="2147484134" r:id="rId3"/>
    <p:sldLayoutId id="2147484135" r:id="rId4"/>
    <p:sldLayoutId id="2147484136" r:id="rId5"/>
    <p:sldLayoutId id="2147484137" r:id="rId6"/>
    <p:sldLayoutId id="2147484144" r:id="rId7"/>
    <p:sldLayoutId id="2147484138" r:id="rId8"/>
    <p:sldLayoutId id="2147484139" r:id="rId9"/>
    <p:sldLayoutId id="2147484140" r:id="rId10"/>
    <p:sldLayoutId id="2147484141" r:id="rId11"/>
    <p:sldLayoutId id="2147484146" r:id="rId12"/>
    <p:sldLayoutId id="2147484165" r:id="rId13"/>
    <p:sldLayoutId id="2147484166" r:id="rId14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28588" y="116632"/>
            <a:ext cx="9648825" cy="3600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vert="horz" lIns="91428" tIns="45714" rIns="91428" bIns="45714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8588" y="548680"/>
            <a:ext cx="9648825" cy="5976664"/>
          </a:xfrm>
          <a:prstGeom prst="rect">
            <a:avLst/>
          </a:prstGeom>
        </p:spPr>
        <p:txBody>
          <a:bodyPr vert="horz" lIns="91428" tIns="45714" rIns="91428" bIns="45714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121320" y="6597353"/>
            <a:ext cx="2311400" cy="216024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prstClr val="black">
                  <a:tint val="75000"/>
                </a:prstClr>
              </a:solidFill>
              <a:ea typeface="굴림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597353"/>
            <a:ext cx="3136900" cy="216024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prstClr val="black">
                  <a:tint val="75000"/>
                </a:prstClr>
              </a:solidFill>
              <a:ea typeface="굴림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466136" y="6597353"/>
            <a:ext cx="2311400" cy="216024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fld id="{ABF338F1-7BA8-4883-AA00-A587D1E26AFF}" type="slidenum">
              <a:rPr lang="ko-KR" altLang="en-US" smtClean="0">
                <a:solidFill>
                  <a:prstClr val="black">
                    <a:tint val="75000"/>
                  </a:prstClr>
                </a:solidFill>
                <a:ea typeface="굴림" charset="-127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91722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61" r:id="rId1"/>
    <p:sldLayoutId id="2147484162" r:id="rId2"/>
    <p:sldLayoutId id="2147484163" r:id="rId3"/>
    <p:sldLayoutId id="2147484164" r:id="rId4"/>
  </p:sldLayoutIdLst>
  <p:hf hdr="0" ftr="0" dt="0"/>
  <p:txStyles>
    <p:titleStyle>
      <a:lvl1pPr algn="l" defTabSz="914287" rtl="0" eaLnBrk="1" latinLnBrk="1" hangingPunct="1">
        <a:spcBef>
          <a:spcPct val="0"/>
        </a:spcBef>
        <a:buNone/>
        <a:defRPr sz="1400" b="1" kern="1200">
          <a:solidFill>
            <a:schemeClr val="tx1"/>
          </a:solidFill>
          <a:latin typeface="맑은 고딕" panose="020B0503020000020004" pitchFamily="50" charset="-127"/>
          <a:ea typeface="+mj-ea"/>
          <a:cs typeface="+mj-cs"/>
        </a:defRPr>
      </a:lvl1pPr>
    </p:titleStyle>
    <p:bodyStyle>
      <a:lvl1pPr marL="180953" indent="-180953" algn="l" defTabSz="914287" rtl="0" eaLnBrk="1" latinLnBrk="1" hangingPunct="1">
        <a:spcBef>
          <a:spcPct val="20000"/>
        </a:spcBef>
        <a:buFont typeface="Arial" panose="020B0604020202020204" pitchFamily="34" charset="0"/>
        <a:buChar char="•"/>
        <a:defRPr sz="1300" b="1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1pPr>
      <a:lvl2pPr marL="361905" indent="-180953" algn="l" defTabSz="914287" rtl="0" eaLnBrk="1" latinLnBrk="1" hangingPunct="1">
        <a:spcBef>
          <a:spcPct val="20000"/>
        </a:spcBef>
        <a:buFont typeface="Arial" panose="020B0604020202020204" pitchFamily="34" charset="0"/>
        <a:buChar char="–"/>
        <a:defRPr sz="1300" b="1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2pPr>
      <a:lvl3pPr marL="542858" indent="-180953" algn="l" defTabSz="914287" rtl="0" eaLnBrk="1" latinLnBrk="1" hangingPunct="1">
        <a:spcBef>
          <a:spcPct val="20000"/>
        </a:spcBef>
        <a:buFont typeface="Arial" panose="020B0604020202020204" pitchFamily="34" charset="0"/>
        <a:buChar char="•"/>
        <a:defRPr sz="1300" b="1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3pPr>
      <a:lvl4pPr marL="712700" indent="-169842" algn="l" defTabSz="914287" rtl="0" eaLnBrk="1" latinLnBrk="1" hangingPunct="1">
        <a:spcBef>
          <a:spcPct val="20000"/>
        </a:spcBef>
        <a:buFont typeface="Arial" panose="020B0604020202020204" pitchFamily="34" charset="0"/>
        <a:buChar char="–"/>
        <a:defRPr sz="1300" b="1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4pPr>
      <a:lvl5pPr marL="893652" indent="-180953" algn="l" defTabSz="914287" rtl="0" eaLnBrk="1" latinLnBrk="1" hangingPunct="1">
        <a:spcBef>
          <a:spcPct val="20000"/>
        </a:spcBef>
        <a:buFont typeface="Arial" panose="020B0604020202020204" pitchFamily="34" charset="0"/>
        <a:buChar char="»"/>
        <a:defRPr sz="1300" b="1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5pPr>
      <a:lvl6pPr marL="2514289" indent="-228572" algn="l" defTabSz="914287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31" indent="-228572" algn="l" defTabSz="914287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75" indent="-228572" algn="l" defTabSz="914287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18" indent="-228572" algn="l" defTabSz="914287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28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4" algn="l" defTabSz="91428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87" algn="l" defTabSz="91428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30" algn="l" defTabSz="91428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73" algn="l" defTabSz="91428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17" algn="l" defTabSz="91428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60" algn="l" defTabSz="91428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3" algn="l" defTabSz="91428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46" algn="l" defTabSz="91428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3722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68" r:id="rId1"/>
    <p:sldLayoutId id="2147484169" r:id="rId2"/>
    <p:sldLayoutId id="2147484170" r:id="rId3"/>
    <p:sldLayoutId id="2147484171" r:id="rId4"/>
    <p:sldLayoutId id="2147484172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image" Target="../media/image14.png"/><Relationship Id="rId26" Type="http://schemas.openxmlformats.org/officeDocument/2006/relationships/image" Target="../media/image22.png"/><Relationship Id="rId3" Type="http://schemas.openxmlformats.org/officeDocument/2006/relationships/tags" Target="../tags/tag4.xml"/><Relationship Id="rId21" Type="http://schemas.openxmlformats.org/officeDocument/2006/relationships/image" Target="../media/image17.png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image" Target="../media/image13.png"/><Relationship Id="rId25" Type="http://schemas.openxmlformats.org/officeDocument/2006/relationships/image" Target="../media/image21.png"/><Relationship Id="rId2" Type="http://schemas.openxmlformats.org/officeDocument/2006/relationships/tags" Target="../tags/tag3.xml"/><Relationship Id="rId16" Type="http://schemas.openxmlformats.org/officeDocument/2006/relationships/image" Target="../media/image12.png"/><Relationship Id="rId20" Type="http://schemas.openxmlformats.org/officeDocument/2006/relationships/image" Target="../media/image16.png"/><Relationship Id="rId29" Type="http://schemas.openxmlformats.org/officeDocument/2006/relationships/image" Target="../media/image24.png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24" Type="http://schemas.openxmlformats.org/officeDocument/2006/relationships/image" Target="../media/image20.png"/><Relationship Id="rId5" Type="http://schemas.openxmlformats.org/officeDocument/2006/relationships/tags" Target="../tags/tag6.xml"/><Relationship Id="rId15" Type="http://schemas.openxmlformats.org/officeDocument/2006/relationships/slideLayout" Target="../slideLayouts/slideLayout18.xml"/><Relationship Id="rId23" Type="http://schemas.openxmlformats.org/officeDocument/2006/relationships/image" Target="../media/image19.png"/><Relationship Id="rId28" Type="http://schemas.openxmlformats.org/officeDocument/2006/relationships/image" Target="../media/image23.png"/><Relationship Id="rId10" Type="http://schemas.openxmlformats.org/officeDocument/2006/relationships/tags" Target="../tags/tag11.xml"/><Relationship Id="rId19" Type="http://schemas.openxmlformats.org/officeDocument/2006/relationships/image" Target="../media/image15.png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image" Target="../media/image18.png"/><Relationship Id="rId27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6.png"/><Relationship Id="rId7" Type="http://schemas.openxmlformats.org/officeDocument/2006/relationships/image" Target="../media/image49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8.xml"/><Relationship Id="rId6" Type="http://schemas.microsoft.com/office/2007/relationships/hdphoto" Target="../media/hdphoto2.wdp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9" Type="http://schemas.openxmlformats.org/officeDocument/2006/relationships/image" Target="../media/image5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851" name="Group 6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7174896"/>
              </p:ext>
            </p:extLst>
          </p:nvPr>
        </p:nvGraphicFramePr>
        <p:xfrm>
          <a:off x="762000" y="2262188"/>
          <a:ext cx="8382000" cy="2400072"/>
        </p:xfrm>
        <a:graphic>
          <a:graphicData uri="http://schemas.openxmlformats.org/drawingml/2006/table">
            <a:tbl>
              <a:tblPr/>
              <a:tblGrid>
                <a:gridCol w="838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349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맑은 고딕" pitchFamily="50" charset="-127"/>
                          <a:cs typeface="Times New Roman" pitchFamily="18" charset="0"/>
                        </a:rPr>
                        <a:t>Intelligence Logistics Digital Mesh</a:t>
                      </a:r>
                      <a:r>
                        <a:rPr kumimoji="1" lang="ko-KR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맑은 고딕" pitchFamily="50" charset="-127"/>
                          <a:cs typeface="Times New Roman" pitchFamily="18" charset="0"/>
                        </a:rPr>
                        <a:t> </a:t>
                      </a:r>
                    </a:p>
                  </a:txBody>
                  <a:tcPr marL="90000" marR="90000" marT="36012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89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33"/>
                        </a:buClr>
                        <a:buSzTx/>
                        <a:buFont typeface="Wingdings" pitchFamily="2" charset="2"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맑은 고딕" pitchFamily="50" charset="-127"/>
                      </a:endParaRPr>
                    </a:p>
                  </a:txBody>
                  <a:tcPr marL="90000" marR="90000" marT="36012" marB="0" anchor="ctr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268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맑은 고딕" pitchFamily="50" charset="-127"/>
                          <a:cs typeface="Times New Roman" pitchFamily="18" charset="0"/>
                        </a:rPr>
                        <a:t>KEROL Introduction</a:t>
                      </a:r>
                    </a:p>
                    <a:p>
                      <a:pPr marL="0" marR="0" lvl="0" indent="0" algn="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맑은 고딕" pitchFamily="50" charset="-127"/>
                          <a:cs typeface="Times New Roman" pitchFamily="18" charset="0"/>
                        </a:rPr>
                        <a:t>- Global Trading</a:t>
                      </a:r>
                      <a:endParaRPr kumimoji="1" lang="ko-KR" alt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90000" marR="9000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87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333333"/>
                        </a:buClr>
                        <a:buSzTx/>
                        <a:buFont typeface="Wingdings" pitchFamily="2" charset="2"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ko-KR" sz="1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맑은 고딕" pitchFamily="50" charset="-127"/>
                      </a:endParaRPr>
                    </a:p>
                  </a:txBody>
                  <a:tcPr marT="45735" marB="45735" anchor="ctr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333333"/>
                        </a:buClr>
                        <a:buSzTx/>
                        <a:buFont typeface="Wingdings" pitchFamily="2" charset="2"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ko-KR" sz="1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맑은 고딕" pitchFamily="50" charset="-127"/>
                      </a:endParaRPr>
                    </a:p>
                  </a:txBody>
                  <a:tcPr marL="90000" marR="9000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87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333333"/>
                        </a:buClr>
                        <a:buSzTx/>
                        <a:buFont typeface="Wingdings" pitchFamily="2" charset="2"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ko-KR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맑은 고딕" pitchFamily="50" charset="-127"/>
                      </a:endParaRPr>
                    </a:p>
                  </a:txBody>
                  <a:tcPr marL="90000" marR="9000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89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맑은 고딕" pitchFamily="50" charset="-127"/>
                          <a:cs typeface="Arial" charset="0"/>
                        </a:rPr>
                        <a:t>2017.10.18</a:t>
                      </a:r>
                    </a:p>
                  </a:txBody>
                  <a:tcPr marT="45735" marB="45735" anchor="ctr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182" name="직사각형 1"/>
          <p:cNvSpPr>
            <a:spLocks noChangeArrowheads="1"/>
          </p:cNvSpPr>
          <p:nvPr/>
        </p:nvSpPr>
        <p:spPr bwMode="auto">
          <a:xfrm>
            <a:off x="704850" y="981075"/>
            <a:ext cx="18669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762000" indent="-304800"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pic>
        <p:nvPicPr>
          <p:cNvPr id="5" name="Picture 2" descr="G:\05. Admin\60. 물류사업 브랜드 Naming\JV로고 디자인시안\FSK CI 보증브랜드 조합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30" t="35544" r="22508" b="30016"/>
          <a:stretch/>
        </p:blipFill>
        <p:spPr bwMode="auto">
          <a:xfrm>
            <a:off x="420734" y="580107"/>
            <a:ext cx="2160240" cy="958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/>
          <p:cNvSpPr/>
          <p:nvPr/>
        </p:nvSpPr>
        <p:spPr>
          <a:xfrm>
            <a:off x="6926700" y="5682734"/>
            <a:ext cx="220707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ko-KR" b="1" dirty="0" smtClean="0">
                <a:latin typeface="Cambria" panose="02040503050406030204" pitchFamily="18" charset="0"/>
                <a:ea typeface="맑은 고딕" pitchFamily="50" charset="-127"/>
                <a:cs typeface="Times New Roman" pitchFamily="18" charset="0"/>
              </a:rPr>
              <a:t>ICT Platform Division</a:t>
            </a:r>
            <a:endParaRPr lang="ko-KR" altLang="en-US" dirty="0" smtClean="0">
              <a:latin typeface="Cambria" panose="02040503050406030204" pitchFamily="18" charset="0"/>
              <a:ea typeface="맑은 고딕" pitchFamily="50" charset="-127"/>
              <a:cs typeface="Times New Roman" pitchFamily="18" charset="0"/>
            </a:endParaRPr>
          </a:p>
        </p:txBody>
      </p:sp>
      <p:sp>
        <p:nvSpPr>
          <p:cNvPr id="13" name="Text Box 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824749" y="6431564"/>
            <a:ext cx="8232708" cy="338554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ko-KR" sz="800" b="1" dirty="0">
                <a:solidFill>
                  <a:srgbClr val="666666"/>
                </a:solidFill>
                <a:latin typeface="Palatino Linotype" pitchFamily="18" charset="0"/>
                <a:ea typeface="맑은 고딕"/>
              </a:rPr>
              <a:t>This information was prepared by </a:t>
            </a:r>
            <a:r>
              <a:rPr lang="en-US" altLang="ko-KR" sz="800" b="1" dirty="0" smtClean="0">
                <a:solidFill>
                  <a:srgbClr val="666666"/>
                </a:solidFill>
                <a:latin typeface="Palatino Linotype" pitchFamily="18" charset="0"/>
                <a:ea typeface="맑은 고딕"/>
              </a:rPr>
              <a:t>FSK L&amp;S </a:t>
            </a:r>
            <a:r>
              <a:rPr lang="en-US" altLang="ko-KR" sz="800" b="1" dirty="0">
                <a:solidFill>
                  <a:srgbClr val="666666"/>
                </a:solidFill>
                <a:latin typeface="Palatino Linotype" pitchFamily="18" charset="0"/>
                <a:ea typeface="맑은 고딕"/>
              </a:rPr>
              <a:t>solely for the use of client personnel.  </a:t>
            </a:r>
            <a:br>
              <a:rPr lang="en-US" altLang="ko-KR" sz="800" b="1" dirty="0">
                <a:solidFill>
                  <a:srgbClr val="666666"/>
                </a:solidFill>
                <a:latin typeface="Palatino Linotype" pitchFamily="18" charset="0"/>
                <a:ea typeface="맑은 고딕"/>
              </a:rPr>
            </a:br>
            <a:r>
              <a:rPr lang="en-US" altLang="ko-KR" sz="800" b="1" dirty="0">
                <a:solidFill>
                  <a:srgbClr val="666666"/>
                </a:solidFill>
                <a:latin typeface="Palatino Linotype" pitchFamily="18" charset="0"/>
                <a:ea typeface="맑은 고딕"/>
              </a:rPr>
              <a:t>No part of it may be circulated, quoted or reproduced for distribution outside the client organization without prior written approval from </a:t>
            </a:r>
            <a:r>
              <a:rPr lang="en-US" altLang="ko-KR" sz="800" b="1" dirty="0" smtClean="0">
                <a:solidFill>
                  <a:srgbClr val="666666"/>
                </a:solidFill>
                <a:latin typeface="Palatino Linotype" pitchFamily="18" charset="0"/>
                <a:ea typeface="맑은 고딕"/>
              </a:rPr>
              <a:t>FSK L&amp;S .</a:t>
            </a:r>
            <a:endParaRPr lang="en-US" altLang="ko-KR" sz="1400" b="1" dirty="0">
              <a:solidFill>
                <a:srgbClr val="666666"/>
              </a:solidFill>
              <a:latin typeface="Arial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21617833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6"/>
          <p:cNvSpPr txBox="1">
            <a:spLocks noChangeArrowheads="1"/>
          </p:cNvSpPr>
          <p:nvPr/>
        </p:nvSpPr>
        <p:spPr bwMode="auto">
          <a:xfrm>
            <a:off x="344488" y="142875"/>
            <a:ext cx="44656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ko-KR" b="1" dirty="0" smtClean="0">
                <a:latin typeface="Cambria" panose="02040503050406030204" pitchFamily="18" charset="0"/>
                <a:ea typeface="맑은 고딕" pitchFamily="50" charset="-127"/>
                <a:sym typeface="Wingdings" pitchFamily="2" charset="2"/>
              </a:rPr>
              <a:t>Table of Contents</a:t>
            </a:r>
            <a:endParaRPr kumimoji="0" lang="ko-KR" altLang="en-US" b="1" dirty="0">
              <a:latin typeface="Cambria" panose="02040503050406030204" pitchFamily="18" charset="0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45088" y="2924944"/>
            <a:ext cx="3310202" cy="3016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00050" indent="-400050">
              <a:lnSpc>
                <a:spcPct val="200000"/>
              </a:lnSpc>
              <a:spcBef>
                <a:spcPts val="1200"/>
              </a:spcBef>
              <a:buAutoNum type="romanUcPeriod"/>
            </a:pPr>
            <a:r>
              <a:rPr lang="en-US" altLang="ko-KR" sz="2000" b="1" dirty="0" smtClean="0">
                <a:latin typeface="Cambria" panose="02040503050406030204" pitchFamily="18" charset="0"/>
                <a:ea typeface="맑은 고딕" panose="020B0503020000020004" pitchFamily="50" charset="-127"/>
              </a:rPr>
              <a:t>KEROL </a:t>
            </a:r>
            <a:r>
              <a:rPr lang="ko-KR" altLang="en-US" sz="2000" b="1" dirty="0" smtClean="0">
                <a:latin typeface="Cambria" panose="02040503050406030204" pitchFamily="18" charset="0"/>
                <a:ea typeface="맑은 고딕" panose="020B0503020000020004" pitchFamily="50" charset="-127"/>
              </a:rPr>
              <a:t>소개</a:t>
            </a:r>
            <a:endParaRPr lang="en-US" altLang="ko-KR" sz="2000" b="1" dirty="0" smtClean="0">
              <a:latin typeface="Cambria" panose="02040503050406030204" pitchFamily="18" charset="0"/>
              <a:ea typeface="맑은 고딕" panose="020B0503020000020004" pitchFamily="50" charset="-127"/>
            </a:endParaRPr>
          </a:p>
          <a:p>
            <a:pPr marL="400050" indent="-400050">
              <a:lnSpc>
                <a:spcPct val="200000"/>
              </a:lnSpc>
              <a:spcBef>
                <a:spcPts val="1200"/>
              </a:spcBef>
              <a:buAutoNum type="romanUcPeriod"/>
            </a:pPr>
            <a:r>
              <a:rPr lang="en-US" altLang="ko-KR" sz="2000" b="1" dirty="0" smtClean="0">
                <a:latin typeface="Cambria" panose="02040503050406030204" pitchFamily="18" charset="0"/>
                <a:ea typeface="맑은 고딕" panose="020B0503020000020004" pitchFamily="50" charset="-127"/>
              </a:rPr>
              <a:t>Global </a:t>
            </a:r>
            <a:r>
              <a:rPr lang="en-US" altLang="ko-KR" sz="2000" b="1" dirty="0" smtClean="0">
                <a:latin typeface="Cambria" panose="02040503050406030204" pitchFamily="18" charset="0"/>
                <a:ea typeface="맑은 고딕" panose="020B0503020000020004" pitchFamily="50" charset="-127"/>
              </a:rPr>
              <a:t>Trading(</a:t>
            </a:r>
            <a:r>
              <a:rPr lang="ko-KR" altLang="en-US" sz="2000" b="1" dirty="0" err="1" smtClean="0">
                <a:latin typeface="Cambria" panose="02040503050406030204" pitchFamily="18" charset="0"/>
                <a:ea typeface="맑은 고딕" panose="020B0503020000020004" pitchFamily="50" charset="-127"/>
              </a:rPr>
              <a:t>포워딩</a:t>
            </a:r>
            <a:r>
              <a:rPr lang="en-US" altLang="ko-KR" sz="2000" b="1" dirty="0" smtClean="0">
                <a:latin typeface="Cambria" panose="02040503050406030204" pitchFamily="18" charset="0"/>
                <a:ea typeface="맑은 고딕" panose="020B0503020000020004" pitchFamily="50" charset="-127"/>
              </a:rPr>
              <a:t>)</a:t>
            </a:r>
          </a:p>
          <a:p>
            <a:pPr marL="400050" indent="-400050">
              <a:lnSpc>
                <a:spcPct val="200000"/>
              </a:lnSpc>
              <a:spcBef>
                <a:spcPts val="1200"/>
              </a:spcBef>
              <a:buAutoNum type="romanUcPeriod"/>
            </a:pPr>
            <a:r>
              <a:rPr lang="en-US" altLang="ko-KR" sz="2000" b="1" dirty="0" smtClean="0">
                <a:latin typeface="Cambria" panose="02040503050406030204" pitchFamily="18" charset="0"/>
                <a:ea typeface="맑은 고딕" panose="020B0503020000020004" pitchFamily="50" charset="-127"/>
              </a:rPr>
              <a:t>Contract &amp; </a:t>
            </a:r>
            <a:r>
              <a:rPr lang="en-US" altLang="ko-KR" sz="2000" b="1" dirty="0" smtClean="0">
                <a:latin typeface="Cambria" panose="02040503050406030204" pitchFamily="18" charset="0"/>
                <a:ea typeface="맑은 고딕" panose="020B0503020000020004" pitchFamily="50" charset="-127"/>
              </a:rPr>
              <a:t>Billing</a:t>
            </a:r>
            <a:endParaRPr lang="en-US" altLang="ko-KR" sz="2000" b="1" dirty="0">
              <a:latin typeface="Cambria" panose="02040503050406030204" pitchFamily="18" charset="0"/>
              <a:ea typeface="맑은 고딕" panose="020B0503020000020004" pitchFamily="50" charset="-127"/>
            </a:endParaRPr>
          </a:p>
          <a:p>
            <a:pPr marL="400050" indent="-400050">
              <a:lnSpc>
                <a:spcPct val="200000"/>
              </a:lnSpc>
              <a:spcBef>
                <a:spcPts val="1200"/>
              </a:spcBef>
              <a:buAutoNum type="romanUcPeriod"/>
            </a:pPr>
            <a:r>
              <a:rPr lang="en-US" altLang="ko-KR" sz="2000" b="1" dirty="0" smtClean="0">
                <a:latin typeface="Cambria" panose="02040503050406030204" pitchFamily="18" charset="0"/>
                <a:ea typeface="맑은 고딕" panose="020B0503020000020004" pitchFamily="50" charset="-127"/>
              </a:rPr>
              <a:t>Demo </a:t>
            </a:r>
            <a:r>
              <a:rPr lang="en-US" altLang="ko-KR" sz="2000" b="1" dirty="0" smtClean="0">
                <a:latin typeface="Cambria" panose="02040503050406030204" pitchFamily="18" charset="0"/>
                <a:ea typeface="맑은 고딕" panose="020B0503020000020004" pitchFamily="50" charset="-127"/>
              </a:rPr>
              <a:t>Scenario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- </a:t>
            </a:r>
            <a:fld id="{EE975AF4-B1F3-41E4-B19A-4F6D78AFBDB1}" type="slidenum">
              <a:rPr lang="en-US" altLang="ko-KR" smtClean="0"/>
              <a:pPr>
                <a:defRPr/>
              </a:pPr>
              <a:t>1</a:t>
            </a:fld>
            <a:r>
              <a:rPr lang="en-US" altLang="ko-KR" smtClean="0"/>
              <a:t> -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5177922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6"/>
          <p:cNvSpPr txBox="1">
            <a:spLocks noChangeArrowheads="1"/>
          </p:cNvSpPr>
          <p:nvPr/>
        </p:nvSpPr>
        <p:spPr bwMode="auto">
          <a:xfrm>
            <a:off x="344488" y="142875"/>
            <a:ext cx="44656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ko-KR" b="1" dirty="0" smtClean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KEROL </a:t>
            </a:r>
            <a:r>
              <a:rPr kumimoji="0" lang="ko-KR" altLang="en-US" b="1" dirty="0" smtClean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소개</a:t>
            </a:r>
            <a:endParaRPr kumimoji="0" lang="ko-KR" altLang="en-US" b="1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163037" y="116632"/>
            <a:ext cx="15495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114300" indent="-114300" algn="r">
              <a:buFont typeface="+mj-lt"/>
              <a:buAutoNum type="romanUcPeriod"/>
            </a:lvl1pPr>
          </a:lstStyle>
          <a:p>
            <a:pPr marL="0" indent="0">
              <a:buNone/>
              <a:defRPr/>
            </a:pPr>
            <a:r>
              <a:rPr lang="en-US" altLang="ko-KR" dirty="0" smtClean="0">
                <a:solidFill>
                  <a:srgbClr val="000000"/>
                </a:solidFill>
                <a:latin typeface="Cambria" panose="02040503050406030204" pitchFamily="18" charset="0"/>
              </a:rPr>
              <a:t>Ⅰ. </a:t>
            </a:r>
            <a:r>
              <a:rPr lang="en-US" altLang="ko-KR" dirty="0" smtClean="0">
                <a:latin typeface="Cambria" panose="02040503050406030204" pitchFamily="18" charset="0"/>
              </a:rPr>
              <a:t>KEROL </a:t>
            </a:r>
            <a:r>
              <a:rPr lang="ko-KR" altLang="en-US" dirty="0" smtClean="0">
                <a:latin typeface="Cambria" panose="02040503050406030204" pitchFamily="18" charset="0"/>
              </a:rPr>
              <a:t>소개</a:t>
            </a:r>
            <a:endParaRPr lang="ko-KR" altLang="en-US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105" name="Content Placeholder 1"/>
          <p:cNvSpPr txBox="1">
            <a:spLocks/>
          </p:cNvSpPr>
          <p:nvPr/>
        </p:nvSpPr>
        <p:spPr bwMode="auto">
          <a:xfrm>
            <a:off x="276252" y="692696"/>
            <a:ext cx="9356698" cy="5170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 algn="just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Font typeface="Wingdings" pitchFamily="2" charset="2"/>
              <a:defRPr sz="1600" b="1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latinLnBrk="1" hangingPunct="0">
              <a:spcBef>
                <a:spcPct val="25000"/>
              </a:spcBef>
              <a:spcAft>
                <a:spcPct val="15000"/>
              </a:spcAft>
              <a:buClr>
                <a:schemeClr val="accent2"/>
              </a:buClr>
              <a:buFont typeface="Arial" charset="0"/>
              <a:buChar char="–"/>
              <a:defRPr kumimoji="1">
                <a:solidFill>
                  <a:schemeClr val="tx1"/>
                </a:solidFill>
                <a:latin typeface="굴림" charset="-127"/>
                <a:ea typeface="굴림" charset="-127"/>
                <a:cs typeface="굴림" charset="-127"/>
              </a:defRPr>
            </a:lvl2pPr>
            <a:lvl3pPr marL="9144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굴림" charset="-127"/>
                <a:ea typeface="굴림" charset="-127"/>
                <a:cs typeface="굴림" charset="-127"/>
              </a:defRPr>
            </a:lvl3pPr>
            <a:lvl4pPr marL="1371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charset="0"/>
              <a:buChar char="–"/>
              <a:defRPr kumimoji="1">
                <a:solidFill>
                  <a:schemeClr val="tx1"/>
                </a:solidFill>
                <a:latin typeface="굴림" charset="-127"/>
                <a:ea typeface="굴림" charset="-127"/>
                <a:cs typeface="굴림" charset="-127"/>
              </a:defRPr>
            </a:lvl4pPr>
            <a:lvl5pPr marL="18288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charset="0"/>
              <a:buChar char="&gt;"/>
              <a:defRPr kumimoji="1">
                <a:solidFill>
                  <a:schemeClr val="tx1"/>
                </a:solidFill>
                <a:latin typeface="굴림" charset="-127"/>
                <a:ea typeface="굴림" charset="-127"/>
                <a:cs typeface="굴림" charset="-127"/>
              </a:defRPr>
            </a:lvl5pPr>
            <a:lvl6pPr marL="22860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charset="0"/>
              <a:buChar char="&gt;"/>
              <a:defRPr kumimoji="1">
                <a:solidFill>
                  <a:schemeClr val="tx1"/>
                </a:solidFill>
                <a:latin typeface="굴림" charset="-127"/>
                <a:ea typeface="굴림" charset="-127"/>
                <a:cs typeface="굴림" charset="-127"/>
              </a:defRPr>
            </a:lvl6pPr>
            <a:lvl7pPr marL="27432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charset="0"/>
              <a:buChar char="&gt;"/>
              <a:defRPr kumimoji="1">
                <a:solidFill>
                  <a:schemeClr val="tx1"/>
                </a:solidFill>
                <a:latin typeface="굴림" charset="-127"/>
                <a:ea typeface="굴림" charset="-127"/>
                <a:cs typeface="굴림" charset="-127"/>
              </a:defRPr>
            </a:lvl7pPr>
            <a:lvl8pPr marL="32004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charset="0"/>
              <a:buChar char="&gt;"/>
              <a:defRPr kumimoji="1">
                <a:solidFill>
                  <a:schemeClr val="tx1"/>
                </a:solidFill>
                <a:latin typeface="굴림" charset="-127"/>
                <a:ea typeface="굴림" charset="-127"/>
                <a:cs typeface="굴림" charset="-127"/>
              </a:defRPr>
            </a:lvl8pPr>
            <a:lvl9pPr marL="3657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charset="0"/>
              <a:buChar char="&gt;"/>
              <a:defRPr kumimoji="1">
                <a:solidFill>
                  <a:schemeClr val="tx1"/>
                </a:solidFill>
                <a:latin typeface="굴림" charset="-127"/>
                <a:ea typeface="굴림" charset="-127"/>
                <a:cs typeface="굴림" charset="-127"/>
              </a:defRPr>
            </a:lvl9pPr>
          </a:lstStyle>
          <a:p>
            <a:pPr algn="l" latinLnBrk="0">
              <a:lnSpc>
                <a:spcPct val="105000"/>
              </a:lnSpc>
              <a:spcBef>
                <a:spcPts val="0"/>
              </a:spcBef>
              <a:buClrTx/>
              <a:buNone/>
            </a:pPr>
            <a:r>
              <a:rPr kumimoji="0" lang="en-US" altLang="ko-KR" b="0" kern="0" dirty="0" smtClean="0">
                <a:latin typeface="Cambria" panose="02040503050406030204" pitchFamily="18" charset="0"/>
              </a:rPr>
              <a:t>SK </a:t>
            </a:r>
            <a:r>
              <a:rPr kumimoji="0" lang="ko-KR" altLang="en-US" b="0" kern="0" dirty="0" smtClean="0">
                <a:latin typeface="Cambria" panose="02040503050406030204" pitchFamily="18" charset="0"/>
              </a:rPr>
              <a:t>그룹의 </a:t>
            </a:r>
            <a:r>
              <a:rPr kumimoji="0" lang="en-US" altLang="ko-KR" b="0" kern="0" dirty="0" smtClean="0">
                <a:latin typeface="Cambria" panose="02040503050406030204" pitchFamily="18" charset="0"/>
              </a:rPr>
              <a:t>Cloud </a:t>
            </a:r>
            <a:r>
              <a:rPr kumimoji="0" lang="ko-KR" altLang="en-US" b="0" kern="0" dirty="0" smtClean="0">
                <a:latin typeface="Cambria" panose="02040503050406030204" pitchFamily="18" charset="0"/>
              </a:rPr>
              <a:t>기반 통합 물류 </a:t>
            </a:r>
            <a:r>
              <a:rPr kumimoji="0" lang="en-US" altLang="ko-KR" b="0" kern="0" dirty="0" smtClean="0">
                <a:latin typeface="Cambria" panose="02040503050406030204" pitchFamily="18" charset="0"/>
              </a:rPr>
              <a:t>Platform</a:t>
            </a:r>
            <a:r>
              <a:rPr kumimoji="0" lang="ko-KR" altLang="en-US" b="0" kern="0" dirty="0" smtClean="0">
                <a:latin typeface="Cambria" panose="02040503050406030204" pitchFamily="18" charset="0"/>
              </a:rPr>
              <a:t>으로 </a:t>
            </a:r>
            <a:r>
              <a:rPr kumimoji="0" lang="ko-KR" altLang="en-US" b="0" kern="0" dirty="0" err="1" smtClean="0">
                <a:latin typeface="Cambria" panose="02040503050406030204" pitchFamily="18" charset="0"/>
              </a:rPr>
              <a:t>포워딩</a:t>
            </a:r>
            <a:r>
              <a:rPr kumimoji="0" lang="en-US" altLang="ko-KR" b="0" kern="0" dirty="0" smtClean="0">
                <a:latin typeface="Cambria" panose="02040503050406030204" pitchFamily="18" charset="0"/>
              </a:rPr>
              <a:t>/</a:t>
            </a:r>
            <a:r>
              <a:rPr kumimoji="0" lang="ko-KR" altLang="en-US" b="0" kern="0" dirty="0" smtClean="0">
                <a:latin typeface="Cambria" panose="02040503050406030204" pitchFamily="18" charset="0"/>
              </a:rPr>
              <a:t>창고관리</a:t>
            </a:r>
            <a:r>
              <a:rPr kumimoji="0" lang="en-US" altLang="ko-KR" b="0" kern="0" dirty="0" smtClean="0">
                <a:latin typeface="Cambria" panose="02040503050406030204" pitchFamily="18" charset="0"/>
              </a:rPr>
              <a:t>/</a:t>
            </a:r>
            <a:r>
              <a:rPr kumimoji="0" lang="ko-KR" altLang="en-US" b="0" kern="0" dirty="0" err="1" smtClean="0">
                <a:latin typeface="Cambria" panose="02040503050406030204" pitchFamily="18" charset="0"/>
              </a:rPr>
              <a:t>운송관리</a:t>
            </a:r>
            <a:r>
              <a:rPr kumimoji="0" lang="en-US" altLang="ko-KR" b="0" kern="0" dirty="0" smtClean="0">
                <a:latin typeface="Cambria" panose="02040503050406030204" pitchFamily="18" charset="0"/>
              </a:rPr>
              <a:t>/</a:t>
            </a:r>
            <a:r>
              <a:rPr kumimoji="0" lang="ko-KR" altLang="en-US" b="0" kern="0" dirty="0" err="1" smtClean="0">
                <a:latin typeface="Cambria" panose="02040503050406030204" pitchFamily="18" charset="0"/>
              </a:rPr>
              <a:t>가시성관리</a:t>
            </a:r>
            <a:r>
              <a:rPr kumimoji="0" lang="en-US" altLang="ko-KR" b="0" kern="0" dirty="0" smtClean="0">
                <a:latin typeface="Cambria" panose="02040503050406030204" pitchFamily="18" charset="0"/>
              </a:rPr>
              <a:t>/</a:t>
            </a:r>
            <a:r>
              <a:rPr kumimoji="0" lang="ko-KR" altLang="en-US" b="0" kern="0" dirty="0" err="1" smtClean="0">
                <a:latin typeface="Cambria" panose="02040503050406030204" pitchFamily="18" charset="0"/>
              </a:rPr>
              <a:t>정산관리</a:t>
            </a:r>
            <a:r>
              <a:rPr kumimoji="0" lang="ko-KR" altLang="en-US" b="0" kern="0" dirty="0" smtClean="0">
                <a:latin typeface="Cambria" panose="02040503050406030204" pitchFamily="18" charset="0"/>
              </a:rPr>
              <a:t> 등 기능을 완료하였으며</a:t>
            </a:r>
            <a:r>
              <a:rPr kumimoji="0" lang="en-US" altLang="ko-KR" b="0" kern="0" dirty="0" smtClean="0">
                <a:latin typeface="Cambria" panose="02040503050406030204" pitchFamily="18" charset="0"/>
              </a:rPr>
              <a:t>, </a:t>
            </a:r>
            <a:r>
              <a:rPr kumimoji="0" lang="ko-KR" altLang="en-US" b="0" kern="0" dirty="0" smtClean="0">
                <a:latin typeface="Cambria" panose="02040503050406030204" pitchFamily="18" charset="0"/>
              </a:rPr>
              <a:t>향후 </a:t>
            </a:r>
            <a:r>
              <a:rPr kumimoji="0" lang="en-US" altLang="ko-KR" b="0" kern="0" dirty="0" smtClean="0">
                <a:latin typeface="Cambria" panose="02040503050406030204" pitchFamily="18" charset="0"/>
              </a:rPr>
              <a:t>AI/Big Data/Robot </a:t>
            </a:r>
            <a:r>
              <a:rPr kumimoji="0" lang="ko-KR" altLang="en-US" b="0" kern="0" dirty="0" smtClean="0">
                <a:latin typeface="Cambria" panose="02040503050406030204" pitchFamily="18" charset="0"/>
              </a:rPr>
              <a:t>등 신기술 접목 예정임</a:t>
            </a:r>
            <a:endParaRPr kumimoji="0" lang="en-US" altLang="ko-KR" b="0" kern="0" dirty="0">
              <a:latin typeface="Cambria" panose="02040503050406030204" pitchFamily="18" charset="0"/>
            </a:endParaRPr>
          </a:p>
        </p:txBody>
      </p:sp>
      <p:pic>
        <p:nvPicPr>
          <p:cNvPr id="106" name="그림 193" descr="Untitled-1.png"/>
          <p:cNvPicPr>
            <a:picLocks noChangeAspect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 rot="10800000" flipV="1">
            <a:off x="2760151" y="2119462"/>
            <a:ext cx="4385700" cy="19716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7" name="그룹 106"/>
          <p:cNvGrpSpPr/>
          <p:nvPr/>
        </p:nvGrpSpPr>
        <p:grpSpPr>
          <a:xfrm>
            <a:off x="1136576" y="4235127"/>
            <a:ext cx="7632848" cy="377270"/>
            <a:chOff x="2599454" y="1863868"/>
            <a:chExt cx="4705394" cy="377270"/>
          </a:xfrm>
          <a:solidFill>
            <a:srgbClr val="FFFFFF">
              <a:lumMod val="85000"/>
            </a:srgbClr>
          </a:solidFill>
        </p:grpSpPr>
        <p:sp>
          <p:nvSpPr>
            <p:cNvPr id="108" name="직사각형 4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gray">
            <a:xfrm>
              <a:off x="2599454" y="1863868"/>
              <a:ext cx="2313398" cy="377270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950881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r>
                <a:rPr kumimoji="0" lang="en-US" altLang="ko-KR" kern="0" dirty="0" smtClean="0">
                  <a:latin typeface="Cambria" panose="02040503050406030204" pitchFamily="18" charset="0"/>
                  <a:ea typeface="맑은 고딕" pitchFamily="50" charset="-127"/>
                </a:rPr>
                <a:t>ECC Platform</a:t>
              </a:r>
            </a:p>
          </p:txBody>
        </p:sp>
        <p:sp>
          <p:nvSpPr>
            <p:cNvPr id="109" name="직사각형 4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gray">
            <a:xfrm>
              <a:off x="4991450" y="1863868"/>
              <a:ext cx="2313398" cy="377270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950881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r>
                <a:rPr kumimoji="0" lang="en-US" altLang="ko-KR" kern="0" dirty="0" smtClean="0">
                  <a:latin typeface="Cambria" panose="02040503050406030204" pitchFamily="18" charset="0"/>
                  <a:ea typeface="맑은 고딕" pitchFamily="50" charset="-127"/>
                </a:rPr>
                <a:t>Intelligence</a:t>
              </a:r>
              <a:r>
                <a:rPr kumimoji="0" lang="ko-KR" altLang="en-US" kern="0" dirty="0" smtClean="0">
                  <a:latin typeface="Cambria" panose="02040503050406030204" pitchFamily="18" charset="0"/>
                  <a:ea typeface="맑은 고딕" pitchFamily="50" charset="-127"/>
                </a:rPr>
                <a:t> </a:t>
              </a:r>
              <a:r>
                <a:rPr kumimoji="0" lang="en-US" altLang="ko-KR" kern="0" dirty="0" smtClean="0">
                  <a:latin typeface="Cambria" panose="02040503050406030204" pitchFamily="18" charset="0"/>
                  <a:ea typeface="맑은 고딕" pitchFamily="50" charset="-127"/>
                </a:rPr>
                <a:t>Platform</a:t>
              </a:r>
            </a:p>
          </p:txBody>
        </p:sp>
      </p:grpSp>
      <p:sp>
        <p:nvSpPr>
          <p:cNvPr id="110" name="직사각형 4"/>
          <p:cNvSpPr>
            <a:spLocks noChangeArrowheads="1"/>
          </p:cNvSpPr>
          <p:nvPr>
            <p:custDataLst>
              <p:tags r:id="rId1"/>
            </p:custDataLst>
          </p:nvPr>
        </p:nvSpPr>
        <p:spPr bwMode="gray">
          <a:xfrm>
            <a:off x="2459862" y="1615406"/>
            <a:ext cx="4986276" cy="432048"/>
          </a:xfrm>
          <a:prstGeom prst="rect">
            <a:avLst/>
          </a:prstGeom>
          <a:noFill/>
          <a:ln w="12700" algn="ctr">
            <a:noFill/>
            <a:round/>
            <a:headEnd/>
            <a:tailEnd/>
          </a:ln>
        </p:spPr>
        <p:txBody>
          <a:bodyPr wrap="none" lIns="36000" tIns="36000" rIns="36000" bIns="36000" anchor="ctr"/>
          <a:lstStyle/>
          <a:p>
            <a:pPr algn="ctr" fontAlgn="auto" latinLnBrk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7D0900"/>
              </a:buClr>
              <a:buFontTx/>
              <a:buNone/>
              <a:defRPr/>
            </a:pPr>
            <a:r>
              <a:rPr lang="en-US" altLang="ko-KR" sz="2400" b="1" u="sng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맑은 고딕" pitchFamily="50" charset="-127"/>
              </a:rPr>
              <a:t>KEROL Logistics Platform</a:t>
            </a:r>
          </a:p>
        </p:txBody>
      </p:sp>
      <p:sp>
        <p:nvSpPr>
          <p:cNvPr id="111" name="직사각형 4"/>
          <p:cNvSpPr>
            <a:spLocks noChangeArrowheads="1"/>
          </p:cNvSpPr>
          <p:nvPr>
            <p:custDataLst>
              <p:tags r:id="rId2"/>
            </p:custDataLst>
          </p:nvPr>
        </p:nvSpPr>
        <p:spPr bwMode="gray">
          <a:xfrm>
            <a:off x="1152249" y="4714964"/>
            <a:ext cx="1639982" cy="391939"/>
          </a:xfrm>
          <a:prstGeom prst="roundRect">
            <a:avLst>
              <a:gd name="adj" fmla="val 50000"/>
            </a:avLst>
          </a:prstGeom>
          <a:solidFill>
            <a:srgbClr val="000000">
              <a:lumMod val="65000"/>
              <a:lumOff val="35000"/>
            </a:srgbClr>
          </a:solidFill>
          <a:ln w="12700" algn="ctr">
            <a:noFill/>
            <a:round/>
            <a:headEnd/>
            <a:tailEnd/>
          </a:ln>
        </p:spPr>
        <p:txBody>
          <a:bodyPr wrap="none" lIns="72000" tIns="72000" rIns="72000" bIns="72000" anchor="ctr"/>
          <a:lstStyle/>
          <a:p>
            <a:pPr algn="ctr" fontAlgn="auto" latinLnBrk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7D0900"/>
              </a:buClr>
              <a:buFontTx/>
              <a:buNone/>
              <a:defRPr/>
            </a:pPr>
            <a:r>
              <a:rPr kumimoji="0" lang="en-US" altLang="ko-KR" kern="0" dirty="0" smtClean="0">
                <a:solidFill>
                  <a:srgbClr val="FFFFFF"/>
                </a:solidFill>
                <a:latin typeface="Cambria" panose="02040503050406030204" pitchFamily="18" charset="0"/>
                <a:ea typeface="맑은 고딕" pitchFamily="50" charset="-127"/>
              </a:rPr>
              <a:t>Forwarding</a:t>
            </a:r>
            <a:endParaRPr kumimoji="0" lang="en-US" altLang="ko-KR" kern="0" dirty="0">
              <a:solidFill>
                <a:srgbClr val="FFFFFF"/>
              </a:solidFill>
              <a:latin typeface="Cambria" panose="02040503050406030204" pitchFamily="18" charset="0"/>
              <a:ea typeface="맑은 고딕" pitchFamily="50" charset="-127"/>
            </a:endParaRPr>
          </a:p>
        </p:txBody>
      </p:sp>
      <p:sp>
        <p:nvSpPr>
          <p:cNvPr id="112" name="직사각형 4"/>
          <p:cNvSpPr>
            <a:spLocks noChangeArrowheads="1"/>
          </p:cNvSpPr>
          <p:nvPr>
            <p:custDataLst>
              <p:tags r:id="rId3"/>
            </p:custDataLst>
          </p:nvPr>
        </p:nvSpPr>
        <p:spPr bwMode="gray">
          <a:xfrm>
            <a:off x="1152778" y="5183875"/>
            <a:ext cx="1639982" cy="391939"/>
          </a:xfrm>
          <a:prstGeom prst="roundRect">
            <a:avLst>
              <a:gd name="adj" fmla="val 50000"/>
            </a:avLst>
          </a:prstGeom>
          <a:solidFill>
            <a:srgbClr val="000000">
              <a:lumMod val="65000"/>
              <a:lumOff val="35000"/>
            </a:srgbClr>
          </a:solidFill>
          <a:ln w="12700" algn="ctr">
            <a:noFill/>
            <a:round/>
            <a:headEnd/>
            <a:tailEnd/>
          </a:ln>
        </p:spPr>
        <p:txBody>
          <a:bodyPr wrap="none" lIns="72000" tIns="72000" rIns="72000" bIns="72000" anchor="ctr"/>
          <a:lstStyle/>
          <a:p>
            <a:pPr algn="ctr" fontAlgn="auto" latinLnBrk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7D0900"/>
              </a:buClr>
              <a:buFontTx/>
              <a:buNone/>
              <a:defRPr/>
            </a:pPr>
            <a:r>
              <a:rPr kumimoji="0" lang="en-US" altLang="ko-KR" kern="0" dirty="0" smtClean="0">
                <a:solidFill>
                  <a:srgbClr val="FFFFFF"/>
                </a:solidFill>
                <a:latin typeface="Cambria" panose="02040503050406030204" pitchFamily="18" charset="0"/>
                <a:ea typeface="맑은 고딕" pitchFamily="50" charset="-127"/>
              </a:rPr>
              <a:t>Warehouse</a:t>
            </a:r>
            <a:endParaRPr kumimoji="0" lang="en-US" altLang="ko-KR" kern="0" dirty="0">
              <a:solidFill>
                <a:srgbClr val="FFFFFF"/>
              </a:solidFill>
              <a:latin typeface="Cambria" panose="02040503050406030204" pitchFamily="18" charset="0"/>
              <a:ea typeface="맑은 고딕" pitchFamily="50" charset="-127"/>
            </a:endParaRPr>
          </a:p>
        </p:txBody>
      </p:sp>
      <p:sp>
        <p:nvSpPr>
          <p:cNvPr id="113" name="직사각형 4"/>
          <p:cNvSpPr>
            <a:spLocks noChangeArrowheads="1"/>
          </p:cNvSpPr>
          <p:nvPr>
            <p:custDataLst>
              <p:tags r:id="rId4"/>
            </p:custDataLst>
          </p:nvPr>
        </p:nvSpPr>
        <p:spPr bwMode="gray">
          <a:xfrm>
            <a:off x="2808962" y="4711749"/>
            <a:ext cx="1639982" cy="391939"/>
          </a:xfrm>
          <a:prstGeom prst="roundRect">
            <a:avLst>
              <a:gd name="adj" fmla="val 50000"/>
            </a:avLst>
          </a:prstGeom>
          <a:solidFill>
            <a:srgbClr val="000000">
              <a:lumMod val="65000"/>
              <a:lumOff val="35000"/>
            </a:srgbClr>
          </a:solidFill>
          <a:ln w="12700" algn="ctr">
            <a:noFill/>
            <a:round/>
            <a:headEnd/>
            <a:tailEnd/>
          </a:ln>
        </p:spPr>
        <p:txBody>
          <a:bodyPr wrap="none" lIns="72000" tIns="72000" rIns="72000" bIns="72000" anchor="ctr"/>
          <a:lstStyle/>
          <a:p>
            <a:pPr algn="ctr" fontAlgn="auto" latinLnBrk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7D0900"/>
              </a:buClr>
              <a:buFontTx/>
              <a:buNone/>
              <a:defRPr/>
            </a:pPr>
            <a:r>
              <a:rPr kumimoji="0" lang="en-US" altLang="ko-KR" kern="0" dirty="0" smtClean="0">
                <a:solidFill>
                  <a:srgbClr val="FFFFFF"/>
                </a:solidFill>
                <a:latin typeface="Cambria" panose="02040503050406030204" pitchFamily="18" charset="0"/>
                <a:ea typeface="맑은 고딕" pitchFamily="50" charset="-127"/>
              </a:rPr>
              <a:t>Transport</a:t>
            </a:r>
            <a:endParaRPr kumimoji="0" lang="en-US" altLang="ko-KR" kern="0" dirty="0">
              <a:solidFill>
                <a:srgbClr val="FFFFFF"/>
              </a:solidFill>
              <a:latin typeface="Cambria" panose="02040503050406030204" pitchFamily="18" charset="0"/>
              <a:ea typeface="맑은 고딕" pitchFamily="50" charset="-127"/>
            </a:endParaRPr>
          </a:p>
        </p:txBody>
      </p:sp>
      <p:sp>
        <p:nvSpPr>
          <p:cNvPr id="114" name="직사각형 4"/>
          <p:cNvSpPr>
            <a:spLocks noChangeArrowheads="1"/>
          </p:cNvSpPr>
          <p:nvPr>
            <p:custDataLst>
              <p:tags r:id="rId5"/>
            </p:custDataLst>
          </p:nvPr>
        </p:nvSpPr>
        <p:spPr bwMode="gray">
          <a:xfrm>
            <a:off x="2808962" y="5183907"/>
            <a:ext cx="1639982" cy="391939"/>
          </a:xfrm>
          <a:prstGeom prst="roundRect">
            <a:avLst>
              <a:gd name="adj" fmla="val 50000"/>
            </a:avLst>
          </a:prstGeom>
          <a:solidFill>
            <a:srgbClr val="000000">
              <a:lumMod val="65000"/>
              <a:lumOff val="35000"/>
            </a:srgbClr>
          </a:solidFill>
          <a:ln w="12700" algn="ctr">
            <a:noFill/>
            <a:round/>
            <a:headEnd/>
            <a:tailEnd/>
          </a:ln>
        </p:spPr>
        <p:txBody>
          <a:bodyPr wrap="none" lIns="72000" tIns="72000" rIns="72000" bIns="72000" anchor="ctr"/>
          <a:lstStyle/>
          <a:p>
            <a:pPr algn="ctr" fontAlgn="auto" latinLnBrk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7D0900"/>
              </a:buClr>
              <a:buFontTx/>
              <a:buNone/>
              <a:defRPr/>
            </a:pPr>
            <a:r>
              <a:rPr kumimoji="0" lang="en-US" altLang="ko-KR" kern="0" dirty="0" smtClean="0">
                <a:solidFill>
                  <a:srgbClr val="FFFFFF"/>
                </a:solidFill>
                <a:latin typeface="Cambria" panose="02040503050406030204" pitchFamily="18" charset="0"/>
                <a:ea typeface="맑은 고딕" pitchFamily="50" charset="-127"/>
              </a:rPr>
              <a:t>Visibility</a:t>
            </a:r>
            <a:endParaRPr kumimoji="0" lang="en-US" altLang="ko-KR" kern="0" dirty="0">
              <a:solidFill>
                <a:srgbClr val="FFFFFF"/>
              </a:solidFill>
              <a:latin typeface="Cambria" panose="02040503050406030204" pitchFamily="18" charset="0"/>
              <a:ea typeface="맑은 고딕" pitchFamily="50" charset="-127"/>
            </a:endParaRPr>
          </a:p>
        </p:txBody>
      </p:sp>
      <p:pic>
        <p:nvPicPr>
          <p:cNvPr id="115" name="Picture 2" descr="\\Client\C$\Users\09525\Desktop\윤진호\이미지\customers-icon-53440.png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82803" y="3078318"/>
            <a:ext cx="612000" cy="576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6" name="직사각형 115"/>
          <p:cNvSpPr/>
          <p:nvPr/>
        </p:nvSpPr>
        <p:spPr bwMode="auto">
          <a:xfrm>
            <a:off x="2189041" y="2923521"/>
            <a:ext cx="1510969" cy="813354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>
                <a:lumMod val="65000"/>
                <a:lumOff val="35000"/>
              </a:srgbClr>
            </a:solidFill>
            <a:miter lim="800000"/>
            <a:headEnd/>
            <a:tailEnd/>
          </a:ln>
        </p:spPr>
        <p:txBody>
          <a:bodyPr wrap="square" lIns="36000" tIns="72000" rIns="36000" bIns="72000" rtlCol="0" anchor="ctr">
            <a:noAutofit/>
          </a:bodyPr>
          <a:lstStyle/>
          <a:p>
            <a:pPr algn="ctr" fontAlgn="auto" latinLnBrk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FontTx/>
              <a:buNone/>
              <a:defRPr/>
            </a:pPr>
            <a:endParaRPr kumimoji="0" lang="ko-KR" altLang="en-US" sz="2000" kern="0" dirty="0" smtClean="0">
              <a:latin typeface="Cambria" panose="02040503050406030204" pitchFamily="18" charset="0"/>
              <a:ea typeface="맑은 고딕" pitchFamily="50" charset="-127"/>
            </a:endParaRPr>
          </a:p>
        </p:txBody>
      </p:sp>
      <p:cxnSp>
        <p:nvCxnSpPr>
          <p:cNvPr id="117" name="직선 화살표 연결선 116"/>
          <p:cNvCxnSpPr/>
          <p:nvPr/>
        </p:nvCxnSpPr>
        <p:spPr bwMode="auto">
          <a:xfrm>
            <a:off x="1791643" y="3351435"/>
            <a:ext cx="288000" cy="0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18" name="직선 화살표 연결선 117"/>
          <p:cNvCxnSpPr/>
          <p:nvPr/>
        </p:nvCxnSpPr>
        <p:spPr bwMode="auto">
          <a:xfrm flipH="1">
            <a:off x="1785293" y="3495451"/>
            <a:ext cx="288000" cy="0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19" name="TextBox 118"/>
          <p:cNvSpPr txBox="1"/>
          <p:nvPr/>
        </p:nvSpPr>
        <p:spPr>
          <a:xfrm>
            <a:off x="2679165" y="2956000"/>
            <a:ext cx="101021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ko-KR" sz="800" b="1" dirty="0" smtClean="0">
                <a:latin typeface="Cambria" panose="02040503050406030204" pitchFamily="18" charset="0"/>
                <a:ea typeface="맑은 고딕" pitchFamily="50" charset="-127"/>
              </a:rPr>
              <a:t>Fun &amp; Easy UI/UX</a:t>
            </a:r>
            <a:endParaRPr lang="ko-KR" altLang="en-US" sz="800" b="1" dirty="0" err="1" smtClean="0">
              <a:latin typeface="Cambria" panose="02040503050406030204" pitchFamily="18" charset="0"/>
              <a:ea typeface="맑은 고딕" pitchFamily="50" charset="-127"/>
            </a:endParaRPr>
          </a:p>
        </p:txBody>
      </p:sp>
      <p:pic>
        <p:nvPicPr>
          <p:cNvPr id="120" name="Picture 4"/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6191" y="3222471"/>
            <a:ext cx="352251" cy="386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1" name="Picture 5"/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5571" y="3247812"/>
            <a:ext cx="425202" cy="408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" name="Picture 6"/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8994" y="3222470"/>
            <a:ext cx="444168" cy="434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3" name="TextBox 122"/>
          <p:cNvSpPr txBox="1"/>
          <p:nvPr/>
        </p:nvSpPr>
        <p:spPr>
          <a:xfrm>
            <a:off x="3685085" y="2882400"/>
            <a:ext cx="1119217" cy="8803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92075" indent="-92075">
              <a:lnSpc>
                <a:spcPct val="20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US" altLang="ko-KR" sz="900" b="1" dirty="0" smtClean="0">
                <a:latin typeface="Cambria" panose="02040503050406030204" pitchFamily="18" charset="0"/>
                <a:ea typeface="맑은 고딕" pitchFamily="50" charset="-127"/>
              </a:rPr>
              <a:t>Monitoring</a:t>
            </a:r>
          </a:p>
          <a:p>
            <a:pPr marL="92075" indent="-92075">
              <a:lnSpc>
                <a:spcPct val="20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US" altLang="ko-KR" sz="900" b="1" dirty="0" smtClean="0">
                <a:latin typeface="Cambria" panose="02040503050406030204" pitchFamily="18" charset="0"/>
                <a:ea typeface="맑은 고딕" pitchFamily="50" charset="-127"/>
              </a:rPr>
              <a:t>Control</a:t>
            </a:r>
          </a:p>
          <a:p>
            <a:pPr marL="92075" indent="-92075">
              <a:lnSpc>
                <a:spcPct val="20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US" altLang="ko-KR" sz="900" b="1" dirty="0" smtClean="0">
                <a:latin typeface="Cambria" panose="02040503050406030204" pitchFamily="18" charset="0"/>
                <a:ea typeface="맑은 고딕" pitchFamily="50" charset="-127"/>
              </a:rPr>
              <a:t>Communication</a:t>
            </a:r>
            <a:endParaRPr lang="ko-KR" altLang="en-US" sz="900" b="1" dirty="0" err="1" smtClean="0">
              <a:latin typeface="Cambria" panose="02040503050406030204" pitchFamily="18" charset="0"/>
              <a:ea typeface="맑은 고딕" pitchFamily="50" charset="-127"/>
            </a:endParaRPr>
          </a:p>
        </p:txBody>
      </p:sp>
      <p:sp>
        <p:nvSpPr>
          <p:cNvPr id="124" name="직사각형 4"/>
          <p:cNvSpPr>
            <a:spLocks noChangeArrowheads="1"/>
          </p:cNvSpPr>
          <p:nvPr>
            <p:custDataLst>
              <p:tags r:id="rId6"/>
            </p:custDataLst>
          </p:nvPr>
        </p:nvSpPr>
        <p:spPr bwMode="gray">
          <a:xfrm>
            <a:off x="1776336" y="2246248"/>
            <a:ext cx="2456584" cy="377270"/>
          </a:xfrm>
          <a:prstGeom prst="rect">
            <a:avLst/>
          </a:prstGeom>
          <a:noFill/>
          <a:ln w="12700" algn="ctr">
            <a:noFill/>
            <a:round/>
            <a:headEnd/>
            <a:tailEnd/>
          </a:ln>
        </p:spPr>
        <p:txBody>
          <a:bodyPr wrap="none" lIns="72000" tIns="72000" rIns="72000" bIns="72000" anchor="ctr"/>
          <a:lstStyle/>
          <a:p>
            <a:pPr algn="ctr" fontAlgn="auto" latinLnBrk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7D0900"/>
              </a:buClr>
              <a:buFontTx/>
              <a:buNone/>
              <a:defRPr/>
            </a:pPr>
            <a:r>
              <a:rPr lang="en-US" altLang="ko-KR" sz="1400" b="1" kern="0" dirty="0" smtClean="0">
                <a:solidFill>
                  <a:srgbClr val="2A79D0">
                    <a:lumMod val="75000"/>
                  </a:srgbClr>
                </a:solidFill>
                <a:latin typeface="Cambria" panose="02040503050406030204" pitchFamily="18" charset="0"/>
                <a:ea typeface="맑은 고딕" pitchFamily="50" charset="-127"/>
              </a:rPr>
              <a:t>UI/ UX </a:t>
            </a:r>
          </a:p>
          <a:p>
            <a:pPr algn="ctr" fontAlgn="auto" latinLnBrk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7D0900"/>
              </a:buClr>
              <a:buFontTx/>
              <a:buNone/>
              <a:defRPr/>
            </a:pPr>
            <a:r>
              <a:rPr lang="ko-KR" altLang="en-US" sz="1400" b="1" kern="0" dirty="0" smtClean="0">
                <a:solidFill>
                  <a:srgbClr val="2A79D0">
                    <a:lumMod val="75000"/>
                  </a:srgbClr>
                </a:solidFill>
                <a:latin typeface="Cambria" panose="02040503050406030204" pitchFamily="18" charset="0"/>
                <a:ea typeface="맑은 고딕" pitchFamily="50" charset="-127"/>
              </a:rPr>
              <a:t>물류서비스</a:t>
            </a:r>
            <a:endParaRPr lang="en-US" altLang="ko-KR" sz="1400" b="1" kern="0" dirty="0" smtClean="0">
              <a:solidFill>
                <a:srgbClr val="2A79D0">
                  <a:lumMod val="75000"/>
                </a:srgbClr>
              </a:solidFill>
              <a:latin typeface="Cambria" panose="02040503050406030204" pitchFamily="18" charset="0"/>
              <a:ea typeface="맑은 고딕" pitchFamily="50" charset="-127"/>
            </a:endParaRPr>
          </a:p>
        </p:txBody>
      </p:sp>
      <p:sp>
        <p:nvSpPr>
          <p:cNvPr id="125" name="직사각형 4"/>
          <p:cNvSpPr>
            <a:spLocks noChangeArrowheads="1"/>
          </p:cNvSpPr>
          <p:nvPr>
            <p:custDataLst>
              <p:tags r:id="rId7"/>
            </p:custDataLst>
          </p:nvPr>
        </p:nvSpPr>
        <p:spPr bwMode="gray">
          <a:xfrm>
            <a:off x="5736776" y="2246248"/>
            <a:ext cx="2456584" cy="377270"/>
          </a:xfrm>
          <a:prstGeom prst="rect">
            <a:avLst/>
          </a:prstGeom>
          <a:noFill/>
          <a:ln w="12700" algn="ctr">
            <a:noFill/>
            <a:round/>
            <a:headEnd/>
            <a:tailEnd/>
          </a:ln>
        </p:spPr>
        <p:txBody>
          <a:bodyPr wrap="none" lIns="72000" tIns="72000" rIns="72000" bIns="72000" anchor="ctr"/>
          <a:lstStyle/>
          <a:p>
            <a:pPr algn="ctr" fontAlgn="auto" latinLnBrk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7D0900"/>
              </a:buClr>
              <a:buFontTx/>
              <a:buNone/>
              <a:defRPr/>
            </a:pPr>
            <a:r>
              <a:rPr kumimoji="0" lang="en-US" altLang="ko-KR" sz="1400" b="1" kern="0" dirty="0" smtClean="0">
                <a:solidFill>
                  <a:srgbClr val="2A79D0">
                    <a:lumMod val="75000"/>
                  </a:srgbClr>
                </a:solidFill>
                <a:latin typeface="Cambria" panose="02040503050406030204" pitchFamily="18" charset="0"/>
                <a:ea typeface="맑은 고딕" pitchFamily="50" charset="-127"/>
              </a:rPr>
              <a:t>Global Connected</a:t>
            </a:r>
          </a:p>
          <a:p>
            <a:pPr algn="ctr" fontAlgn="auto" latinLnBrk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7D0900"/>
              </a:buClr>
              <a:buFontTx/>
              <a:buNone/>
              <a:defRPr/>
            </a:pPr>
            <a:r>
              <a:rPr lang="en-US" altLang="ko-KR" sz="1400" b="1" kern="0" dirty="0" smtClean="0">
                <a:solidFill>
                  <a:srgbClr val="2A79D0">
                    <a:lumMod val="75000"/>
                  </a:srgbClr>
                </a:solidFill>
                <a:latin typeface="Cambria" panose="02040503050406030204" pitchFamily="18" charset="0"/>
                <a:ea typeface="맑은 고딕" pitchFamily="50" charset="-127"/>
              </a:rPr>
              <a:t>Logistics Network</a:t>
            </a:r>
            <a:endParaRPr kumimoji="0" lang="en-US" altLang="ko-KR" sz="1400" b="1" kern="0" dirty="0">
              <a:solidFill>
                <a:srgbClr val="2A79D0">
                  <a:lumMod val="75000"/>
                </a:srgbClr>
              </a:solidFill>
              <a:latin typeface="Cambria" panose="02040503050406030204" pitchFamily="18" charset="0"/>
              <a:ea typeface="맑은 고딕" pitchFamily="50" charset="-127"/>
            </a:endParaRPr>
          </a:p>
        </p:txBody>
      </p:sp>
      <p:grpSp>
        <p:nvGrpSpPr>
          <p:cNvPr id="126" name="그룹 125"/>
          <p:cNvGrpSpPr/>
          <p:nvPr/>
        </p:nvGrpSpPr>
        <p:grpSpPr>
          <a:xfrm>
            <a:off x="5640253" y="2790138"/>
            <a:ext cx="2649629" cy="1186001"/>
            <a:chOff x="1306726" y="3130091"/>
            <a:chExt cx="2649629" cy="1186001"/>
          </a:xfrm>
        </p:grpSpPr>
        <p:pic>
          <p:nvPicPr>
            <p:cNvPr id="127" name="Picture 9"/>
            <p:cNvPicPr>
              <a:picLocks noChangeAspect="1" noChangeArrowheads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4608" y="3130091"/>
              <a:ext cx="2469276" cy="118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8" name="그림 127"/>
            <p:cNvPicPr>
              <a:picLocks noChangeAspect="1"/>
            </p:cNvPicPr>
            <p:nvPr/>
          </p:nvPicPr>
          <p:blipFill rotWithShape="1">
            <a:blip r:embed="rId2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306726" y="3729468"/>
              <a:ext cx="648000" cy="272290"/>
            </a:xfrm>
            <a:prstGeom prst="rect">
              <a:avLst/>
            </a:prstGeom>
          </p:spPr>
        </p:pic>
        <p:pic>
          <p:nvPicPr>
            <p:cNvPr id="129" name="그림 128"/>
            <p:cNvPicPr>
              <a:picLocks noChangeAspect="1"/>
            </p:cNvPicPr>
            <p:nvPr/>
          </p:nvPicPr>
          <p:blipFill rotWithShape="1">
            <a:blip r:embed="rId2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891529" y="4053977"/>
              <a:ext cx="648000" cy="262115"/>
            </a:xfrm>
            <a:prstGeom prst="rect">
              <a:avLst/>
            </a:prstGeom>
          </p:spPr>
        </p:pic>
        <p:pic>
          <p:nvPicPr>
            <p:cNvPr id="130" name="그림 129"/>
            <p:cNvPicPr>
              <a:picLocks noChangeAspect="1"/>
            </p:cNvPicPr>
            <p:nvPr/>
          </p:nvPicPr>
          <p:blipFill rotWithShape="1">
            <a:blip r:embed="rId2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769080" y="3951458"/>
              <a:ext cx="648000" cy="314333"/>
            </a:xfrm>
            <a:prstGeom prst="rect">
              <a:avLst/>
            </a:prstGeom>
          </p:spPr>
        </p:pic>
        <p:pic>
          <p:nvPicPr>
            <p:cNvPr id="131" name="그림 130"/>
            <p:cNvPicPr>
              <a:picLocks noChangeAspect="1"/>
            </p:cNvPicPr>
            <p:nvPr/>
          </p:nvPicPr>
          <p:blipFill rotWithShape="1">
            <a:blip r:embed="rId2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308355" y="3697003"/>
              <a:ext cx="648000" cy="314227"/>
            </a:xfrm>
            <a:prstGeom prst="rect">
              <a:avLst/>
            </a:prstGeom>
          </p:spPr>
        </p:pic>
        <p:grpSp>
          <p:nvGrpSpPr>
            <p:cNvPr id="132" name="그룹 131"/>
            <p:cNvGrpSpPr/>
            <p:nvPr/>
          </p:nvGrpSpPr>
          <p:grpSpPr>
            <a:xfrm>
              <a:off x="2117424" y="3257497"/>
              <a:ext cx="995187" cy="637439"/>
              <a:chOff x="2733677" y="1938098"/>
              <a:chExt cx="995187" cy="637439"/>
            </a:xfrm>
          </p:grpSpPr>
          <p:pic>
            <p:nvPicPr>
              <p:cNvPr id="137" name="Picture 8"/>
              <p:cNvPicPr>
                <a:picLocks noChangeAspect="1" noChangeArrowheads="1"/>
              </p:cNvPicPr>
              <p:nvPr/>
            </p:nvPicPr>
            <p:blipFill>
              <a:blip r:embed="rId26" cstate="print">
                <a:extLst>
                  <a:ext uri="{BEBA8EAE-BF5A-486C-A8C5-ECC9F3942E4B}">
                    <a14:imgProps xmlns:a14="http://schemas.microsoft.com/office/drawing/2010/main">
                      <a14:imgLayer r:embed="rId27">
                        <a14:imgEffect>
                          <a14:sharpenSoften amount="43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40436" y="1999461"/>
                <a:ext cx="795321" cy="4431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8" name="타원 137"/>
              <p:cNvSpPr/>
              <p:nvPr/>
            </p:nvSpPr>
            <p:spPr bwMode="auto">
              <a:xfrm>
                <a:off x="2733677" y="1938098"/>
                <a:ext cx="995187" cy="637439"/>
              </a:xfrm>
              <a:prstGeom prst="ellipse">
                <a:avLst/>
              </a:prstGeom>
              <a:noFill/>
              <a:ln w="19050">
                <a:solidFill>
                  <a:srgbClr val="00B0F0"/>
                </a:solidFill>
                <a:miter lim="800000"/>
                <a:headEnd/>
                <a:tailEnd/>
              </a:ln>
            </p:spPr>
            <p:txBody>
              <a:bodyPr wrap="square" lIns="36000" tIns="72000" rIns="36000" bIns="72000" rtlCol="0" anchor="ctr">
                <a:noAutofit/>
              </a:bodyPr>
              <a:lstStyle/>
              <a:p>
                <a:pPr algn="ctr"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FontTx/>
                  <a:buNone/>
                </a:pPr>
                <a:endParaRPr lang="ko-KR" altLang="en-US" sz="2000" dirty="0" smtClean="0">
                  <a:latin typeface="Cambria" panose="02040503050406030204" pitchFamily="18" charset="0"/>
                  <a:ea typeface="맑은 고딕" pitchFamily="50" charset="-127"/>
                </a:endParaRPr>
              </a:p>
            </p:txBody>
          </p:sp>
        </p:grpSp>
        <p:cxnSp>
          <p:nvCxnSpPr>
            <p:cNvPr id="133" name="직선 연결선 132"/>
            <p:cNvCxnSpPr/>
            <p:nvPr/>
          </p:nvCxnSpPr>
          <p:spPr bwMode="auto">
            <a:xfrm flipV="1">
              <a:off x="1944093" y="3729469"/>
              <a:ext cx="252000" cy="136144"/>
            </a:xfrm>
            <a:prstGeom prst="line">
              <a:avLst/>
            </a:prstGeom>
            <a:noFill/>
            <a:ln w="1905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4" name="직선 연결선 133"/>
            <p:cNvCxnSpPr/>
            <p:nvPr/>
          </p:nvCxnSpPr>
          <p:spPr bwMode="auto">
            <a:xfrm flipV="1">
              <a:off x="2226162" y="3860603"/>
              <a:ext cx="152400" cy="172108"/>
            </a:xfrm>
            <a:prstGeom prst="line">
              <a:avLst/>
            </a:prstGeom>
            <a:noFill/>
            <a:ln w="1905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5" name="직선 연결선 134"/>
            <p:cNvCxnSpPr/>
            <p:nvPr/>
          </p:nvCxnSpPr>
          <p:spPr bwMode="auto">
            <a:xfrm flipH="1" flipV="1">
              <a:off x="2894253" y="3850171"/>
              <a:ext cx="154736" cy="158211"/>
            </a:xfrm>
            <a:prstGeom prst="line">
              <a:avLst/>
            </a:prstGeom>
            <a:noFill/>
            <a:ln w="1905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6" name="직선 연결선 135"/>
            <p:cNvCxnSpPr/>
            <p:nvPr/>
          </p:nvCxnSpPr>
          <p:spPr bwMode="auto">
            <a:xfrm flipH="1" flipV="1">
              <a:off x="3067745" y="3708203"/>
              <a:ext cx="195744" cy="124648"/>
            </a:xfrm>
            <a:prstGeom prst="line">
              <a:avLst/>
            </a:prstGeom>
            <a:noFill/>
            <a:ln w="1905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39" name="직사각형 4"/>
          <p:cNvSpPr>
            <a:spLocks noChangeArrowheads="1"/>
          </p:cNvSpPr>
          <p:nvPr>
            <p:custDataLst>
              <p:tags r:id="rId8"/>
            </p:custDataLst>
          </p:nvPr>
        </p:nvSpPr>
        <p:spPr bwMode="gray">
          <a:xfrm>
            <a:off x="5471553" y="4714964"/>
            <a:ext cx="1639982" cy="391939"/>
          </a:xfrm>
          <a:prstGeom prst="roundRect">
            <a:avLst>
              <a:gd name="adj" fmla="val 50000"/>
            </a:avLst>
          </a:prstGeom>
          <a:solidFill>
            <a:srgbClr val="000000">
              <a:lumMod val="65000"/>
              <a:lumOff val="35000"/>
            </a:srgbClr>
          </a:solidFill>
          <a:ln w="12700" algn="ctr">
            <a:noFill/>
            <a:round/>
            <a:headEnd/>
            <a:tailEnd/>
          </a:ln>
        </p:spPr>
        <p:txBody>
          <a:bodyPr wrap="none" lIns="72000" tIns="72000" rIns="72000" bIns="72000" anchor="ctr"/>
          <a:lstStyle/>
          <a:p>
            <a:pPr algn="ctr" fontAlgn="auto" latinLnBrk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7D0900"/>
              </a:buClr>
              <a:buFontTx/>
              <a:buNone/>
              <a:defRPr/>
            </a:pPr>
            <a:r>
              <a:rPr kumimoji="0" lang="en-US" altLang="ko-KR" kern="0" dirty="0" smtClean="0">
                <a:solidFill>
                  <a:srgbClr val="FFFFFF"/>
                </a:solidFill>
                <a:latin typeface="Cambria" panose="02040503050406030204" pitchFamily="18" charset="0"/>
                <a:ea typeface="맑은 고딕" pitchFamily="50" charset="-127"/>
              </a:rPr>
              <a:t>Conversation</a:t>
            </a:r>
          </a:p>
        </p:txBody>
      </p:sp>
      <p:sp>
        <p:nvSpPr>
          <p:cNvPr id="140" name="직사각형 4"/>
          <p:cNvSpPr>
            <a:spLocks noChangeArrowheads="1"/>
          </p:cNvSpPr>
          <p:nvPr>
            <p:custDataLst>
              <p:tags r:id="rId9"/>
            </p:custDataLst>
          </p:nvPr>
        </p:nvSpPr>
        <p:spPr bwMode="gray">
          <a:xfrm>
            <a:off x="5472082" y="5183875"/>
            <a:ext cx="1639982" cy="391939"/>
          </a:xfrm>
          <a:prstGeom prst="roundRect">
            <a:avLst>
              <a:gd name="adj" fmla="val 50000"/>
            </a:avLst>
          </a:prstGeom>
          <a:solidFill>
            <a:srgbClr val="000000">
              <a:lumMod val="65000"/>
              <a:lumOff val="35000"/>
            </a:srgbClr>
          </a:solidFill>
          <a:ln w="12700" algn="ctr">
            <a:noFill/>
            <a:round/>
            <a:headEnd/>
            <a:tailEnd/>
          </a:ln>
        </p:spPr>
        <p:txBody>
          <a:bodyPr wrap="none" lIns="72000" tIns="72000" rIns="72000" bIns="72000" anchor="ctr"/>
          <a:lstStyle/>
          <a:p>
            <a:pPr algn="ctr" fontAlgn="auto" latinLnBrk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7D0900"/>
              </a:buClr>
              <a:buFontTx/>
              <a:buNone/>
              <a:defRPr/>
            </a:pPr>
            <a:r>
              <a:rPr kumimoji="0" lang="en-US" altLang="ko-KR" kern="0" dirty="0" smtClean="0">
                <a:solidFill>
                  <a:srgbClr val="FFFFFF"/>
                </a:solidFill>
                <a:latin typeface="Cambria" panose="02040503050406030204" pitchFamily="18" charset="0"/>
                <a:ea typeface="맑은 고딕" pitchFamily="50" charset="-127"/>
              </a:rPr>
              <a:t>Intelligence</a:t>
            </a:r>
          </a:p>
        </p:txBody>
      </p:sp>
      <p:sp>
        <p:nvSpPr>
          <p:cNvPr id="141" name="직사각형 4"/>
          <p:cNvSpPr>
            <a:spLocks noChangeArrowheads="1"/>
          </p:cNvSpPr>
          <p:nvPr>
            <p:custDataLst>
              <p:tags r:id="rId10"/>
            </p:custDataLst>
          </p:nvPr>
        </p:nvSpPr>
        <p:spPr bwMode="gray">
          <a:xfrm>
            <a:off x="7129442" y="4711749"/>
            <a:ext cx="1639982" cy="391939"/>
          </a:xfrm>
          <a:prstGeom prst="roundRect">
            <a:avLst>
              <a:gd name="adj" fmla="val 50000"/>
            </a:avLst>
          </a:prstGeom>
          <a:solidFill>
            <a:srgbClr val="000000">
              <a:lumMod val="65000"/>
              <a:lumOff val="35000"/>
            </a:srgbClr>
          </a:solidFill>
          <a:ln w="12700" algn="ctr">
            <a:noFill/>
            <a:round/>
            <a:headEnd/>
            <a:tailEnd/>
          </a:ln>
        </p:spPr>
        <p:txBody>
          <a:bodyPr wrap="none" lIns="72000" tIns="72000" rIns="72000" bIns="72000" anchor="ctr"/>
          <a:lstStyle/>
          <a:p>
            <a:pPr algn="ctr" fontAlgn="auto" latinLnBrk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7D0900"/>
              </a:buClr>
              <a:buFontTx/>
              <a:buNone/>
              <a:defRPr/>
            </a:pPr>
            <a:r>
              <a:rPr kumimoji="0" lang="en-US" altLang="ko-KR" kern="0" dirty="0" smtClean="0">
                <a:solidFill>
                  <a:srgbClr val="FFFFFF"/>
                </a:solidFill>
                <a:latin typeface="Cambria" panose="02040503050406030204" pitchFamily="18" charset="0"/>
                <a:ea typeface="맑은 고딕" pitchFamily="50" charset="-127"/>
              </a:rPr>
              <a:t>Autonomous</a:t>
            </a:r>
          </a:p>
        </p:txBody>
      </p:sp>
      <p:sp>
        <p:nvSpPr>
          <p:cNvPr id="142" name="직사각형 4"/>
          <p:cNvSpPr>
            <a:spLocks noChangeArrowheads="1"/>
          </p:cNvSpPr>
          <p:nvPr>
            <p:custDataLst>
              <p:tags r:id="rId11"/>
            </p:custDataLst>
          </p:nvPr>
        </p:nvSpPr>
        <p:spPr bwMode="gray">
          <a:xfrm>
            <a:off x="7129442" y="5183907"/>
            <a:ext cx="1639982" cy="391939"/>
          </a:xfrm>
          <a:prstGeom prst="roundRect">
            <a:avLst>
              <a:gd name="adj" fmla="val 50000"/>
            </a:avLst>
          </a:prstGeom>
          <a:solidFill>
            <a:srgbClr val="000000">
              <a:lumMod val="65000"/>
              <a:lumOff val="35000"/>
            </a:srgbClr>
          </a:solidFill>
          <a:ln w="12700" algn="ctr">
            <a:noFill/>
            <a:round/>
            <a:headEnd/>
            <a:tailEnd/>
          </a:ln>
        </p:spPr>
        <p:txBody>
          <a:bodyPr wrap="none" lIns="72000" tIns="72000" rIns="72000" bIns="72000" anchor="ctr"/>
          <a:lstStyle/>
          <a:p>
            <a:pPr algn="ctr" fontAlgn="auto" latinLnBrk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7D0900"/>
              </a:buClr>
              <a:buFontTx/>
              <a:buNone/>
              <a:defRPr/>
            </a:pPr>
            <a:r>
              <a:rPr kumimoji="0" lang="en-US" altLang="ko-KR" kern="0" dirty="0" smtClean="0">
                <a:solidFill>
                  <a:srgbClr val="FFFFFF"/>
                </a:solidFill>
                <a:latin typeface="Cambria" panose="02040503050406030204" pitchFamily="18" charset="0"/>
                <a:ea typeface="맑은 고딕" pitchFamily="50" charset="-127"/>
              </a:rPr>
              <a:t>Security</a:t>
            </a:r>
          </a:p>
        </p:txBody>
      </p:sp>
      <p:sp>
        <p:nvSpPr>
          <p:cNvPr id="143" name="직사각형 4"/>
          <p:cNvSpPr>
            <a:spLocks noChangeArrowheads="1"/>
          </p:cNvSpPr>
          <p:nvPr>
            <p:custDataLst>
              <p:tags r:id="rId12"/>
            </p:custDataLst>
          </p:nvPr>
        </p:nvSpPr>
        <p:spPr bwMode="gray">
          <a:xfrm>
            <a:off x="621806" y="6007895"/>
            <a:ext cx="8723682" cy="288032"/>
          </a:xfrm>
          <a:prstGeom prst="roundRect">
            <a:avLst>
              <a:gd name="adj" fmla="val 50000"/>
            </a:avLst>
          </a:prstGeom>
          <a:solidFill>
            <a:srgbClr val="FFFFFF">
              <a:lumMod val="75000"/>
            </a:srgbClr>
          </a:solidFill>
          <a:ln w="12700" cmpd="sng" algn="ctr">
            <a:solidFill>
              <a:srgbClr val="FFFFFF">
                <a:lumMod val="50000"/>
              </a:srgbClr>
            </a:solidFill>
            <a:round/>
            <a:headEnd/>
            <a:tailEnd/>
          </a:ln>
        </p:spPr>
        <p:txBody>
          <a:bodyPr wrap="none" lIns="72000" tIns="72000" rIns="72000" bIns="72000" anchor="ctr"/>
          <a:lstStyle/>
          <a:p>
            <a:pPr algn="ctr" fontAlgn="auto" latinLnBrk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7D0900"/>
              </a:buClr>
              <a:buFontTx/>
              <a:buNone/>
              <a:defRPr/>
            </a:pPr>
            <a:r>
              <a:rPr kumimoji="0" lang="en-US" altLang="ko-KR" kern="0" dirty="0" smtClean="0">
                <a:latin typeface="Cambria" panose="02040503050406030204" pitchFamily="18" charset="0"/>
                <a:ea typeface="맑은 고딕" pitchFamily="50" charset="-127"/>
              </a:rPr>
              <a:t>Cloud</a:t>
            </a:r>
            <a:endParaRPr kumimoji="0" lang="en-US" altLang="ko-KR" kern="0" dirty="0">
              <a:latin typeface="Cambria" panose="02040503050406030204" pitchFamily="18" charset="0"/>
              <a:ea typeface="맑은 고딕" pitchFamily="50" charset="-127"/>
            </a:endParaRPr>
          </a:p>
        </p:txBody>
      </p:sp>
      <p:pic>
        <p:nvPicPr>
          <p:cNvPr id="144" name="Picture 8"/>
          <p:cNvPicPr>
            <a:picLocks noChangeAspect="1" noChangeArrowheads="1"/>
          </p:cNvPicPr>
          <p:nvPr/>
        </p:nvPicPr>
        <p:blipFill>
          <a:blip r:embed="rId28" cstate="print">
            <a:clrChange>
              <a:clrFrom>
                <a:srgbClr val="F5F5F5"/>
              </a:clrFrom>
              <a:clrTo>
                <a:srgbClr val="F5F5F5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sharpenSoften amount="43000"/>
                    </a14:imgEffect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469" y="5215806"/>
            <a:ext cx="1292048" cy="719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5" name="Picture 2" descr="P:\Users\09525\Desktop\윤진호\01.물류플랫폼\00.통합물류플랫폼\KEROL이미지\케롤 BI.PNG"/>
          <p:cNvPicPr>
            <a:picLocks noChangeAspect="1" noChangeArrowheads="1"/>
          </p:cNvPicPr>
          <p:nvPr/>
        </p:nvPicPr>
        <p:blipFill rotWithShape="1"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33" r="58711" b="48724"/>
          <a:stretch/>
        </p:blipFill>
        <p:spPr bwMode="auto">
          <a:xfrm>
            <a:off x="4187362" y="3631630"/>
            <a:ext cx="1566984" cy="1428189"/>
          </a:xfrm>
          <a:prstGeom prst="rect">
            <a:avLst/>
          </a:prstGeom>
          <a:noFill/>
          <a:extLst/>
        </p:spPr>
      </p:pic>
      <p:sp>
        <p:nvSpPr>
          <p:cNvPr id="146" name="TextBox 145"/>
          <p:cNvSpPr txBox="1"/>
          <p:nvPr/>
        </p:nvSpPr>
        <p:spPr>
          <a:xfrm>
            <a:off x="4457993" y="4423762"/>
            <a:ext cx="990015" cy="6123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ko-KR" sz="2000" b="1" dirty="0" smtClean="0">
                <a:latin typeface="Cambria" panose="02040503050406030204" pitchFamily="18" charset="0"/>
                <a:ea typeface="맑은 고딕" pitchFamily="50" charset="-127"/>
              </a:rPr>
              <a:t>KEROL</a:t>
            </a:r>
            <a:endParaRPr lang="ko-KR" altLang="en-US" sz="2000" b="1" dirty="0" err="1" smtClean="0">
              <a:latin typeface="Cambria" panose="02040503050406030204" pitchFamily="18" charset="0"/>
              <a:ea typeface="맑은 고딕" pitchFamily="50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- </a:t>
            </a:r>
            <a:fld id="{EE975AF4-B1F3-41E4-B19A-4F6D78AFBDB1}" type="slidenum">
              <a:rPr lang="en-US" altLang="ko-KR" smtClean="0"/>
              <a:pPr>
                <a:defRPr/>
              </a:pPr>
              <a:t>2</a:t>
            </a:fld>
            <a:r>
              <a:rPr lang="en-US" altLang="ko-KR" smtClean="0"/>
              <a:t> -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77894888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6"/>
          <p:cNvSpPr txBox="1">
            <a:spLocks noChangeArrowheads="1"/>
          </p:cNvSpPr>
          <p:nvPr/>
        </p:nvSpPr>
        <p:spPr bwMode="auto">
          <a:xfrm>
            <a:off x="344488" y="142875"/>
            <a:ext cx="44656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ko-KR" b="1" dirty="0" smtClean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KEROL - Global </a:t>
            </a:r>
            <a:r>
              <a:rPr kumimoji="0" lang="en-US" altLang="ko-KR" b="1" dirty="0" smtClean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Trading </a:t>
            </a:r>
            <a:r>
              <a:rPr kumimoji="0" lang="ko-KR" altLang="en-US" b="1" dirty="0" smtClean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기능 </a:t>
            </a:r>
            <a:r>
              <a:rPr kumimoji="0" lang="ko-KR" altLang="en-US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구성도</a:t>
            </a:r>
          </a:p>
        </p:txBody>
      </p:sp>
      <p:sp>
        <p:nvSpPr>
          <p:cNvPr id="71" name="Text Box 35"/>
          <p:cNvSpPr txBox="1">
            <a:spLocks noChangeArrowheads="1"/>
          </p:cNvSpPr>
          <p:nvPr/>
        </p:nvSpPr>
        <p:spPr bwMode="auto">
          <a:xfrm>
            <a:off x="377825" y="669987"/>
            <a:ext cx="9133617" cy="626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9190" tIns="39594" rIns="79190" bIns="39594"/>
          <a:lstStyle>
            <a:defPPr>
              <a:defRPr lang="ko-KR"/>
            </a:defPPr>
            <a:lvl1pPr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1pPr>
            <a:lvl2pPr marL="4572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2pPr>
            <a:lvl3pPr marL="9144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3pPr>
            <a:lvl4pPr marL="13716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4pPr>
            <a:lvl5pPr marL="18288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9pPr>
          </a:lstStyle>
          <a:p>
            <a:pPr latinLnBrk="0">
              <a:lnSpc>
                <a:spcPts val="2160"/>
              </a:lnSpc>
              <a:spcBef>
                <a:spcPct val="0"/>
              </a:spcBef>
              <a:buClrTx/>
              <a:buFontTx/>
              <a:buNone/>
            </a:pPr>
            <a:r>
              <a:rPr lang="ko-KR" altLang="en-US" b="1" dirty="0">
                <a:latin typeface="Cambria" panose="020405030504060302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국제 </a:t>
            </a:r>
            <a:r>
              <a:rPr lang="ko-KR" altLang="en-US" b="1" dirty="0" smtClean="0">
                <a:latin typeface="Cambria" panose="020405030504060302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수출입 오더관리</a:t>
            </a:r>
            <a:r>
              <a:rPr lang="en-US" altLang="ko-KR" b="1" dirty="0" smtClean="0">
                <a:latin typeface="Cambria" panose="020405030504060302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b="1" dirty="0" smtClean="0">
                <a:latin typeface="Cambria" panose="020405030504060302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및 </a:t>
            </a:r>
            <a:r>
              <a:rPr lang="en-US" altLang="ko-KR" b="1" dirty="0" smtClean="0">
                <a:latin typeface="Cambria" panose="020405030504060302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Document, </a:t>
            </a:r>
            <a:r>
              <a:rPr lang="ko-KR" altLang="en-US" b="1" dirty="0" smtClean="0">
                <a:latin typeface="Cambria" panose="020405030504060302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통관</a:t>
            </a:r>
            <a:r>
              <a:rPr lang="en-US" altLang="ko-KR" b="1" dirty="0" smtClean="0">
                <a:latin typeface="Cambria" panose="020405030504060302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b="1" dirty="0" smtClean="0">
                <a:latin typeface="Cambria" panose="020405030504060302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내</a:t>
            </a:r>
            <a:r>
              <a:rPr lang="ko-KR" altLang="en-US" b="1" dirty="0">
                <a:latin typeface="Cambria" panose="020405030504060302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륙</a:t>
            </a:r>
            <a:r>
              <a:rPr lang="ko-KR" altLang="en-US" b="1" dirty="0" smtClean="0">
                <a:latin typeface="Cambria" panose="020405030504060302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운송</a:t>
            </a:r>
            <a:r>
              <a:rPr lang="en-US" altLang="ko-KR" b="1" dirty="0" smtClean="0">
                <a:latin typeface="Cambria" panose="020405030504060302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b="1" dirty="0" smtClean="0">
                <a:latin typeface="Cambria" panose="020405030504060302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등 포워딩 全 영역의 운영</a:t>
            </a:r>
            <a:r>
              <a:rPr lang="en-US" altLang="ko-KR" b="1" dirty="0" smtClean="0">
                <a:latin typeface="Cambria" panose="020405030504060302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/</a:t>
            </a:r>
            <a:r>
              <a:rPr lang="ko-KR" altLang="en-US" b="1" dirty="0" smtClean="0">
                <a:latin typeface="Cambria" panose="020405030504060302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실행 관리를 </a:t>
            </a:r>
            <a:r>
              <a:rPr lang="ko-KR" altLang="en-US" b="1" dirty="0">
                <a:latin typeface="Cambria" panose="020405030504060302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위한 </a:t>
            </a:r>
            <a:r>
              <a:rPr lang="ko-KR" altLang="en-US" b="1" dirty="0" smtClean="0">
                <a:latin typeface="Cambria" panose="020405030504060302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기능을 제공</a:t>
            </a:r>
            <a:endParaRPr lang="ko-KR" altLang="en-US" b="1" dirty="0">
              <a:latin typeface="Cambria" panose="020405030504060302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2720003" y="1366059"/>
            <a:ext cx="1282723" cy="338554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1pPr>
            <a:lvl2pPr marL="4572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2pPr>
            <a:lvl3pPr marL="9144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3pPr>
            <a:lvl4pPr marL="13716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4pPr>
            <a:lvl5pPr marL="18288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9pPr>
          </a:lstStyle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b="1" kern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기능 구성도</a:t>
            </a:r>
          </a:p>
        </p:txBody>
      </p:sp>
      <p:sp>
        <p:nvSpPr>
          <p:cNvPr id="73" name="직사각형 72"/>
          <p:cNvSpPr/>
          <p:nvPr/>
        </p:nvSpPr>
        <p:spPr>
          <a:xfrm>
            <a:off x="7462471" y="1394634"/>
            <a:ext cx="1077539" cy="338554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1pPr>
            <a:lvl2pPr marL="4572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2pPr>
            <a:lvl3pPr marL="9144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3pPr>
            <a:lvl4pPr marL="13716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4pPr>
            <a:lvl5pPr marL="18288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9pPr>
          </a:lstStyle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b="1" kern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주요 내용</a:t>
            </a:r>
          </a:p>
        </p:txBody>
      </p:sp>
      <p:cxnSp>
        <p:nvCxnSpPr>
          <p:cNvPr id="74" name="직선 연결선 73"/>
          <p:cNvCxnSpPr/>
          <p:nvPr/>
        </p:nvCxnSpPr>
        <p:spPr bwMode="auto">
          <a:xfrm>
            <a:off x="6471240" y="1733188"/>
            <a:ext cx="2952000" cy="0"/>
          </a:xfrm>
          <a:prstGeom prst="line">
            <a:avLst/>
          </a:prstGeom>
          <a:noFill/>
          <a:ln w="6350" cap="flat" cmpd="sng" algn="ctr">
            <a:solidFill>
              <a:srgbClr val="000000">
                <a:lumMod val="65000"/>
                <a:lumOff val="3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5" name="직사각형 74"/>
          <p:cNvSpPr/>
          <p:nvPr/>
        </p:nvSpPr>
        <p:spPr bwMode="auto">
          <a:xfrm>
            <a:off x="301364" y="1730135"/>
            <a:ext cx="6012000" cy="46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777777"/>
            </a:solidFill>
            <a:miter lim="800000"/>
            <a:headEnd/>
            <a:tailEnd/>
          </a:ln>
        </p:spPr>
        <p:txBody>
          <a:bodyPr wrap="none" rtlCol="0" anchor="ctr"/>
          <a:lstStyle>
            <a:defPPr>
              <a:defRPr lang="ko-KR"/>
            </a:defPPr>
            <a:lvl1pPr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1pPr>
            <a:lvl2pPr marL="4572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2pPr>
            <a:lvl3pPr marL="9144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3pPr>
            <a:lvl4pPr marL="13716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4pPr>
            <a:lvl5pPr marL="18288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9pPr>
          </a:lstStyle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3200" kern="0" dirty="0" smtClean="0">
              <a:solidFill>
                <a:sysClr val="windowText" lastClr="000000"/>
              </a:solidFill>
              <a:latin typeface="Cambria" panose="02040503050406030204" pitchFamily="18" charset="0"/>
              <a:ea typeface="맑은 고딕" panose="020B0503020000020004" pitchFamily="50" charset="-127"/>
            </a:endParaRPr>
          </a:p>
        </p:txBody>
      </p:sp>
      <p:sp>
        <p:nvSpPr>
          <p:cNvPr id="76" name="TextBox 39"/>
          <p:cNvSpPr txBox="1"/>
          <p:nvPr/>
        </p:nvSpPr>
        <p:spPr>
          <a:xfrm>
            <a:off x="6368406" y="1823284"/>
            <a:ext cx="330891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1pPr>
            <a:lvl2pPr marL="4572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2pPr>
            <a:lvl3pPr marL="9144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3pPr>
            <a:lvl4pPr marL="13716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4pPr>
            <a:lvl5pPr marL="18288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9pPr>
          </a:lstStyle>
          <a:p>
            <a:pPr marL="92075" indent="-92075" fontAlgn="auto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Font typeface="Wingdings" panose="05000000000000000000" pitchFamily="2" charset="2"/>
              <a:buChar char="Ø"/>
            </a:pPr>
            <a:r>
              <a:rPr kumimoji="0" lang="en-US" altLang="ko-KR" sz="1200" b="1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  </a:t>
            </a:r>
            <a:r>
              <a:rPr kumimoji="0" lang="ko-KR" altLang="en-US" sz="1200" b="1" dirty="0" err="1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포워딩</a:t>
            </a:r>
            <a:r>
              <a:rPr kumimoji="0" lang="ko-KR" altLang="en-US" sz="1200" b="1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 全 영역의 통합 기능 제공</a:t>
            </a:r>
            <a:r>
              <a:rPr kumimoji="0" lang="en-US" altLang="ko-KR" sz="120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/>
            </a:r>
            <a:br>
              <a:rPr kumimoji="0" lang="en-US" altLang="ko-KR" sz="120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</a:br>
            <a:r>
              <a:rPr kumimoji="0" lang="en-US" altLang="ko-KR" sz="1200" b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    - </a:t>
            </a:r>
            <a:r>
              <a:rPr kumimoji="0" lang="ko-KR" altLang="en-US" sz="1200" b="0" dirty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 </a:t>
            </a:r>
            <a:r>
              <a:rPr kumimoji="0" lang="en-US" altLang="ko-KR" sz="1200" b="0" dirty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Order Control</a:t>
            </a:r>
            <a:r>
              <a:rPr kumimoji="0" lang="ko-KR" altLang="en-US" sz="1200" b="0" dirty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기능에 의한 프로세스 </a:t>
            </a:r>
            <a:r>
              <a:rPr kumimoji="0" lang="en-US" altLang="ko-KR" sz="1200" b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/>
            </a:r>
            <a:br>
              <a:rPr kumimoji="0" lang="en-US" altLang="ko-KR" sz="1200" b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</a:br>
            <a:r>
              <a:rPr kumimoji="0" lang="en-US" altLang="ko-KR" sz="1200" b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       </a:t>
            </a:r>
            <a:r>
              <a:rPr kumimoji="0" lang="ko-KR" altLang="en-US" sz="1200" b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및 </a:t>
            </a:r>
            <a:r>
              <a:rPr kumimoji="0" lang="ko-KR" altLang="en-US" sz="1200" b="0" dirty="0" err="1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실행사</a:t>
            </a:r>
            <a:r>
              <a:rPr kumimoji="0" lang="ko-KR" altLang="en-US" sz="1200" b="0" dirty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 </a:t>
            </a:r>
            <a:r>
              <a:rPr kumimoji="0" lang="ko-KR" altLang="en-US" sz="1200" b="0" dirty="0" err="1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맵핑</a:t>
            </a:r>
            <a:r>
              <a:rPr kumimoji="0" lang="en-US" altLang="ko-KR" sz="1200" b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/>
            </a:r>
            <a:br>
              <a:rPr kumimoji="0" lang="en-US" altLang="ko-KR" sz="1200" b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</a:br>
            <a:r>
              <a:rPr kumimoji="0" lang="en-US" altLang="ko-KR" sz="1200" b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   -</a:t>
            </a:r>
            <a:r>
              <a:rPr kumimoji="0" lang="ko-KR" altLang="en-US" sz="1200" b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 </a:t>
            </a:r>
            <a:r>
              <a:rPr kumimoji="0" lang="ko-KR" altLang="en-US" sz="1200" b="0" dirty="0" err="1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선적지</a:t>
            </a:r>
            <a:r>
              <a:rPr kumimoji="0" lang="en-US" altLang="ko-KR" sz="1200" b="0" dirty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~</a:t>
            </a:r>
            <a:r>
              <a:rPr kumimoji="0" lang="ko-KR" altLang="en-US" sz="1200" b="0" dirty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도착지 프로세스 연속성 </a:t>
            </a:r>
            <a:r>
              <a:rPr kumimoji="0" lang="en-US" altLang="ko-KR" sz="1200" b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/>
            </a:r>
            <a:br>
              <a:rPr kumimoji="0" lang="en-US" altLang="ko-KR" sz="1200" b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</a:br>
            <a:r>
              <a:rPr kumimoji="0" lang="en-US" altLang="ko-KR" sz="1200" b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      (</a:t>
            </a:r>
            <a:r>
              <a:rPr kumimoji="0" lang="ko-KR" altLang="en-US" sz="1200" b="0" dirty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조달 물류 가시성 제공</a:t>
            </a:r>
            <a:r>
              <a:rPr kumimoji="0" lang="en-US" altLang="ko-KR" sz="1200" b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)</a:t>
            </a:r>
            <a:br>
              <a:rPr kumimoji="0" lang="en-US" altLang="ko-KR" sz="1200" b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</a:br>
            <a:r>
              <a:rPr kumimoji="0" lang="en-US" altLang="ko-KR" sz="1200" b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  - </a:t>
            </a:r>
            <a:r>
              <a:rPr kumimoji="0" lang="ko-KR" altLang="en-US" sz="1200" b="0" dirty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컨테이너 운송 및 통관 업무 관리</a:t>
            </a:r>
          </a:p>
        </p:txBody>
      </p:sp>
      <p:sp>
        <p:nvSpPr>
          <p:cNvPr id="77" name="TextBox 40"/>
          <p:cNvSpPr txBox="1"/>
          <p:nvPr/>
        </p:nvSpPr>
        <p:spPr>
          <a:xfrm>
            <a:off x="6368406" y="3612198"/>
            <a:ext cx="3308919" cy="13747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1pPr>
            <a:lvl2pPr marL="4572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2pPr>
            <a:lvl3pPr marL="9144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3pPr>
            <a:lvl4pPr marL="13716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4pPr>
            <a:lvl5pPr marL="18288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9pPr>
          </a:lstStyle>
          <a:p>
            <a:pPr marL="92075" indent="-92075" fontAlgn="auto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Font typeface="Wingdings" panose="05000000000000000000" pitchFamily="2" charset="2"/>
              <a:buChar char="Ø"/>
            </a:pPr>
            <a:r>
              <a:rPr kumimoji="0" lang="en-US" altLang="ko-KR" sz="1200" b="1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  </a:t>
            </a:r>
            <a:r>
              <a:rPr kumimoji="0" lang="ko-KR" altLang="en-US" sz="1200" b="1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화주</a:t>
            </a:r>
            <a:r>
              <a:rPr kumimoji="0" lang="en-US" altLang="ko-KR" sz="1200" b="1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/</a:t>
            </a:r>
            <a:r>
              <a:rPr kumimoji="0" lang="ko-KR" altLang="en-US" sz="1200" b="1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파트너와의 협업 환경 제공</a:t>
            </a:r>
            <a:r>
              <a:rPr kumimoji="0" lang="en-US" altLang="ko-KR" sz="120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/>
            </a:r>
            <a:br>
              <a:rPr kumimoji="0" lang="en-US" altLang="ko-KR" sz="120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</a:br>
            <a:r>
              <a:rPr kumimoji="0" lang="en-US" altLang="ko-KR" sz="1200" b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    - </a:t>
            </a:r>
            <a:r>
              <a:rPr kumimoji="0" lang="ko-KR" altLang="en-US" sz="1200" b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화주</a:t>
            </a:r>
            <a:r>
              <a:rPr kumimoji="0" lang="en-US" altLang="ko-KR" sz="1200" b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, </a:t>
            </a:r>
            <a:r>
              <a:rPr kumimoji="0" lang="ko-KR" altLang="en-US" sz="1200" b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선사</a:t>
            </a:r>
            <a:r>
              <a:rPr kumimoji="0" lang="en-US" altLang="ko-KR" sz="1200" b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, </a:t>
            </a:r>
            <a:r>
              <a:rPr kumimoji="0" lang="ko-KR" altLang="en-US" sz="1200" b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실행사 등 오더</a:t>
            </a:r>
            <a:r>
              <a:rPr kumimoji="0" lang="en-US" altLang="ko-KR" sz="1200" b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/</a:t>
            </a:r>
            <a:r>
              <a:rPr kumimoji="0" lang="ko-KR" altLang="en-US" sz="1200" b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선적</a:t>
            </a:r>
            <a:r>
              <a:rPr kumimoji="0" lang="en-US" altLang="ko-KR" sz="1200" b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/</a:t>
            </a:r>
            <a:r>
              <a:rPr kumimoji="0" lang="ko-KR" altLang="en-US" sz="1200" b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운송정보</a:t>
            </a:r>
            <a:r>
              <a:rPr kumimoji="0" lang="en-US" altLang="ko-KR" sz="1200" b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/>
            </a:r>
            <a:br>
              <a:rPr kumimoji="0" lang="en-US" altLang="ko-KR" sz="1200" b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</a:br>
            <a:r>
              <a:rPr kumimoji="0" lang="en-US" altLang="ko-KR" sz="1200" b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      </a:t>
            </a:r>
            <a:r>
              <a:rPr kumimoji="0" lang="ko-KR" altLang="en-US" sz="1200" b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실시간 공유 </a:t>
            </a:r>
            <a:r>
              <a:rPr kumimoji="0" lang="en-US" altLang="ko-KR" sz="120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(Pre-alert </a:t>
            </a:r>
            <a:r>
              <a:rPr kumimoji="0" lang="ko-KR" altLang="en-US" sz="120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등 편의 기능 제공</a:t>
            </a:r>
            <a:r>
              <a:rPr kumimoji="0" lang="en-US" altLang="ko-KR" sz="120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)</a:t>
            </a:r>
            <a:r>
              <a:rPr kumimoji="0" lang="en-US" altLang="ko-KR" sz="1200" b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/>
            </a:r>
            <a:br>
              <a:rPr kumimoji="0" lang="en-US" altLang="ko-KR" sz="1200" b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</a:br>
            <a:r>
              <a:rPr kumimoji="0" lang="en-US" altLang="ko-KR" sz="1200" b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    - </a:t>
            </a:r>
            <a:r>
              <a:rPr kumimoji="0" lang="ko-KR" altLang="en-US" sz="1200" b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수출입 업무 </a:t>
            </a:r>
            <a:r>
              <a:rPr kumimoji="0" lang="en-US" altLang="ko-KR" sz="1200" b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End-to-End </a:t>
            </a:r>
            <a:r>
              <a:rPr kumimoji="0" lang="ko-KR" altLang="en-US" sz="1200" b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가시성 확보</a:t>
            </a:r>
            <a:r>
              <a:rPr kumimoji="0" lang="en-US" altLang="ko-KR" sz="1200" b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/>
            </a:r>
            <a:br>
              <a:rPr kumimoji="0" lang="en-US" altLang="ko-KR" sz="1200" b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</a:br>
            <a:r>
              <a:rPr kumimoji="0" lang="en-US" altLang="ko-KR" sz="1200" b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    - </a:t>
            </a:r>
            <a:r>
              <a:rPr kumimoji="0" lang="ko-KR" altLang="en-US" sz="1200" b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표준 </a:t>
            </a:r>
            <a:r>
              <a:rPr kumimoji="0" lang="en-US" altLang="ko-KR" sz="1200" b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EDI </a:t>
            </a:r>
            <a:r>
              <a:rPr kumimoji="0" lang="ko-KR" altLang="en-US" sz="1200" b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체계 지원</a:t>
            </a:r>
            <a:endParaRPr kumimoji="0" lang="ko-KR" altLang="en-US" sz="1200" b="0" dirty="0">
              <a:solidFill>
                <a:prstClr val="black"/>
              </a:solidFill>
              <a:latin typeface="Cambria" panose="02040503050406030204" pitchFamily="18" charset="0"/>
              <a:ea typeface="맑은 고딕" panose="020B0503020000020004" pitchFamily="50" charset="-127"/>
            </a:endParaRPr>
          </a:p>
        </p:txBody>
      </p:sp>
      <p:sp>
        <p:nvSpPr>
          <p:cNvPr id="78" name="모서리가 둥근 직사각형 77"/>
          <p:cNvSpPr/>
          <p:nvPr/>
        </p:nvSpPr>
        <p:spPr bwMode="auto">
          <a:xfrm>
            <a:off x="488513" y="1890328"/>
            <a:ext cx="1655280" cy="3420000"/>
          </a:xfrm>
          <a:prstGeom prst="roundRect">
            <a:avLst>
              <a:gd name="adj" fmla="val 5537"/>
            </a:avLst>
          </a:prstGeom>
          <a:solidFill>
            <a:srgbClr val="FFFFFF">
              <a:lumMod val="65000"/>
            </a:srgbClr>
          </a:solidFill>
          <a:ln w="25400" cap="flat" cmpd="sng" algn="ctr">
            <a:noFill/>
            <a:prstDash val="solid"/>
          </a:ln>
          <a:effectLst/>
        </p:spPr>
        <p:txBody>
          <a:bodyPr tIns="72000" rtlCol="0" anchor="t" anchorCtr="0"/>
          <a:lstStyle>
            <a:defPPr>
              <a:defRPr lang="ko-KR"/>
            </a:defPPr>
            <a:lvl1pPr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1pPr>
            <a:lvl2pPr marL="4572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2pPr>
            <a:lvl3pPr marL="9144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3pPr>
            <a:lvl4pPr marL="13716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4pPr>
            <a:lvl5pPr marL="18288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9pPr>
          </a:lstStyle>
          <a:p>
            <a:pPr algn="ctr" fontAlgn="auto" latinLnBrk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400" b="1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맑은 고딕"/>
                <a:cs typeface="Arial" pitchFamily="34" charset="0"/>
              </a:rPr>
              <a:t>Export</a:t>
            </a:r>
            <a:endParaRPr kumimoji="0" lang="ko-KR" altLang="en-US" sz="1400" b="1" kern="0" dirty="0" smtClean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맑은 고딕"/>
              <a:cs typeface="Arial" pitchFamily="34" charset="0"/>
            </a:endParaRPr>
          </a:p>
        </p:txBody>
      </p:sp>
      <p:sp>
        <p:nvSpPr>
          <p:cNvPr id="79" name="모서리가 둥근 직사각형 78"/>
          <p:cNvSpPr/>
          <p:nvPr/>
        </p:nvSpPr>
        <p:spPr bwMode="auto">
          <a:xfrm>
            <a:off x="2461828" y="1890328"/>
            <a:ext cx="1655280" cy="3420000"/>
          </a:xfrm>
          <a:prstGeom prst="roundRect">
            <a:avLst>
              <a:gd name="adj" fmla="val 5537"/>
            </a:avLst>
          </a:prstGeom>
          <a:solidFill>
            <a:srgbClr val="FFFFFF">
              <a:lumMod val="65000"/>
            </a:srgbClr>
          </a:solidFill>
          <a:ln w="25400" cap="flat" cmpd="sng" algn="ctr">
            <a:noFill/>
            <a:prstDash val="solid"/>
          </a:ln>
          <a:effectLst/>
        </p:spPr>
        <p:txBody>
          <a:bodyPr tIns="72000" rtlCol="0" anchor="t" anchorCtr="0"/>
          <a:lstStyle>
            <a:defPPr>
              <a:defRPr lang="ko-KR"/>
            </a:defPPr>
            <a:lvl1pPr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1pPr>
            <a:lvl2pPr marL="4572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2pPr>
            <a:lvl3pPr marL="9144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3pPr>
            <a:lvl4pPr marL="13716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4pPr>
            <a:lvl5pPr marL="18288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9pPr>
          </a:lstStyle>
          <a:p>
            <a:pPr algn="ctr" fontAlgn="auto" latinLnBrk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400" b="1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맑은 고딕"/>
                <a:cs typeface="Arial" pitchFamily="34" charset="0"/>
              </a:rPr>
              <a:t>Import</a:t>
            </a:r>
            <a:endParaRPr kumimoji="0" lang="ko-KR" altLang="en-US" sz="1400" b="1" kern="0" dirty="0" smtClean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맑은 고딕"/>
              <a:cs typeface="Arial" pitchFamily="34" charset="0"/>
            </a:endParaRPr>
          </a:p>
        </p:txBody>
      </p:sp>
      <p:sp>
        <p:nvSpPr>
          <p:cNvPr id="80" name="직사각형 79"/>
          <p:cNvSpPr/>
          <p:nvPr/>
        </p:nvSpPr>
        <p:spPr bwMode="auto">
          <a:xfrm>
            <a:off x="764429" y="2314096"/>
            <a:ext cx="1152000" cy="50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rgbClr val="777777"/>
            </a:solidFill>
            <a:prstDash val="solid"/>
          </a:ln>
          <a:effectLst/>
        </p:spPr>
        <p:txBody>
          <a:bodyPr lIns="0" tIns="0" rIns="0" bIns="0" anchor="ctr"/>
          <a:lstStyle>
            <a:defPPr>
              <a:defRPr lang="ko-KR"/>
            </a:defPPr>
            <a:lvl1pPr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1pPr>
            <a:lvl2pPr marL="4572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2pPr>
            <a:lvl3pPr marL="9144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3pPr>
            <a:lvl4pPr marL="13716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4pPr>
            <a:lvl5pPr marL="18288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9pPr>
          </a:lstStyle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200" b="1" kern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  <a:cs typeface="Arial" pitchFamily="34" charset="0"/>
              </a:rPr>
              <a:t>Booking</a:t>
            </a:r>
            <a:endParaRPr kumimoji="0" lang="ko-KR" altLang="en-US" sz="1200" b="1" kern="0" dirty="0">
              <a:solidFill>
                <a:prstClr val="black"/>
              </a:solidFill>
              <a:latin typeface="Cambria" panose="02040503050406030204" pitchFamily="18" charset="0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81" name="직사각형 80"/>
          <p:cNvSpPr/>
          <p:nvPr/>
        </p:nvSpPr>
        <p:spPr bwMode="auto">
          <a:xfrm>
            <a:off x="764429" y="2900704"/>
            <a:ext cx="1152000" cy="50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rgbClr val="777777"/>
            </a:solidFill>
            <a:prstDash val="solid"/>
          </a:ln>
          <a:effectLst/>
        </p:spPr>
        <p:txBody>
          <a:bodyPr lIns="0" tIns="0" rIns="0" bIns="0" anchor="ctr"/>
          <a:lstStyle>
            <a:defPPr>
              <a:defRPr lang="ko-KR"/>
            </a:defPPr>
            <a:lvl1pPr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1pPr>
            <a:lvl2pPr marL="4572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2pPr>
            <a:lvl3pPr marL="9144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3pPr>
            <a:lvl4pPr marL="13716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4pPr>
            <a:lvl5pPr marL="18288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9pPr>
          </a:lstStyle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200" b="1" kern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  <a:cs typeface="Arial" pitchFamily="34" charset="0"/>
              </a:rPr>
              <a:t>Trucking</a:t>
            </a:r>
            <a:endParaRPr kumimoji="0" lang="ko-KR" altLang="en-US" sz="1200" b="1" kern="0" dirty="0">
              <a:solidFill>
                <a:prstClr val="black"/>
              </a:solidFill>
              <a:latin typeface="Cambria" panose="02040503050406030204" pitchFamily="18" charset="0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82" name="직사각형 81"/>
          <p:cNvSpPr/>
          <p:nvPr/>
        </p:nvSpPr>
        <p:spPr bwMode="auto">
          <a:xfrm>
            <a:off x="764429" y="3487312"/>
            <a:ext cx="1152000" cy="50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rgbClr val="777777"/>
            </a:solidFill>
            <a:prstDash val="solid"/>
          </a:ln>
          <a:effectLst/>
        </p:spPr>
        <p:txBody>
          <a:bodyPr lIns="0" tIns="0" rIns="0" bIns="0" anchor="ctr"/>
          <a:lstStyle>
            <a:defPPr>
              <a:defRPr lang="ko-KR"/>
            </a:defPPr>
            <a:lvl1pPr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1pPr>
            <a:lvl2pPr marL="4572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2pPr>
            <a:lvl3pPr marL="9144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3pPr>
            <a:lvl4pPr marL="13716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4pPr>
            <a:lvl5pPr marL="18288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9pPr>
          </a:lstStyle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200" b="1" kern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  <a:cs typeface="Arial" pitchFamily="34" charset="0"/>
              </a:rPr>
              <a:t>Shipping</a:t>
            </a:r>
          </a:p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200" b="1" kern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  <a:cs typeface="Arial" pitchFamily="34" charset="0"/>
              </a:rPr>
              <a:t>Request</a:t>
            </a:r>
            <a:endParaRPr kumimoji="0" lang="ko-KR" altLang="en-US" sz="1200" b="1" kern="0" dirty="0">
              <a:solidFill>
                <a:prstClr val="black"/>
              </a:solidFill>
              <a:latin typeface="Cambria" panose="02040503050406030204" pitchFamily="18" charset="0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83" name="직사각형 82"/>
          <p:cNvSpPr/>
          <p:nvPr/>
        </p:nvSpPr>
        <p:spPr bwMode="auto">
          <a:xfrm>
            <a:off x="764429" y="4073920"/>
            <a:ext cx="1152000" cy="50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rgbClr val="777777"/>
            </a:solidFill>
            <a:prstDash val="solid"/>
          </a:ln>
          <a:effectLst/>
        </p:spPr>
        <p:txBody>
          <a:bodyPr lIns="0" tIns="0" rIns="0" bIns="0" anchor="ctr"/>
          <a:lstStyle>
            <a:defPPr>
              <a:defRPr lang="ko-KR"/>
            </a:defPPr>
            <a:lvl1pPr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1pPr>
            <a:lvl2pPr marL="4572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2pPr>
            <a:lvl3pPr marL="9144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3pPr>
            <a:lvl4pPr marL="13716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4pPr>
            <a:lvl5pPr marL="18288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9pPr>
          </a:lstStyle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200" b="1" kern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  <a:cs typeface="Arial" pitchFamily="34" charset="0"/>
              </a:rPr>
              <a:t>House BL</a:t>
            </a:r>
          </a:p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200" b="1" kern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  <a:cs typeface="Arial" pitchFamily="34" charset="0"/>
              </a:rPr>
              <a:t>Master BL</a:t>
            </a:r>
            <a:endParaRPr kumimoji="0" lang="ko-KR" altLang="en-US" sz="1200" b="1" kern="0" dirty="0">
              <a:solidFill>
                <a:prstClr val="black"/>
              </a:solidFill>
              <a:latin typeface="Cambria" panose="02040503050406030204" pitchFamily="18" charset="0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84" name="직사각형 83"/>
          <p:cNvSpPr/>
          <p:nvPr/>
        </p:nvSpPr>
        <p:spPr bwMode="auto">
          <a:xfrm>
            <a:off x="764429" y="4660526"/>
            <a:ext cx="1152000" cy="50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rgbClr val="777777"/>
            </a:solidFill>
            <a:prstDash val="solid"/>
          </a:ln>
          <a:effectLst/>
        </p:spPr>
        <p:txBody>
          <a:bodyPr lIns="0" tIns="0" rIns="0" bIns="0" anchor="ctr"/>
          <a:lstStyle>
            <a:defPPr>
              <a:defRPr lang="ko-KR"/>
            </a:defPPr>
            <a:lvl1pPr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1pPr>
            <a:lvl2pPr marL="4572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2pPr>
            <a:lvl3pPr marL="9144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3pPr>
            <a:lvl4pPr marL="13716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4pPr>
            <a:lvl5pPr marL="18288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9pPr>
          </a:lstStyle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200" b="1" kern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  <a:cs typeface="Arial" pitchFamily="34" charset="0"/>
              </a:rPr>
              <a:t>Shipping</a:t>
            </a:r>
          </a:p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200" b="1" kern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  <a:cs typeface="Arial" pitchFamily="34" charset="0"/>
              </a:rPr>
              <a:t>Notification</a:t>
            </a:r>
            <a:endParaRPr kumimoji="0" lang="ko-KR" altLang="en-US" sz="1200" b="1" kern="0" dirty="0">
              <a:solidFill>
                <a:prstClr val="black"/>
              </a:solidFill>
              <a:latin typeface="Cambria" panose="02040503050406030204" pitchFamily="18" charset="0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85" name="직사각형 84"/>
          <p:cNvSpPr/>
          <p:nvPr/>
        </p:nvSpPr>
        <p:spPr bwMode="auto">
          <a:xfrm>
            <a:off x="2713468" y="2314096"/>
            <a:ext cx="1152000" cy="50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rgbClr val="777777"/>
            </a:solidFill>
            <a:prstDash val="solid"/>
          </a:ln>
          <a:effectLst/>
        </p:spPr>
        <p:txBody>
          <a:bodyPr lIns="0" tIns="0" rIns="0" bIns="0" anchor="ctr"/>
          <a:lstStyle>
            <a:defPPr>
              <a:defRPr lang="ko-KR"/>
            </a:defPPr>
            <a:lvl1pPr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1pPr>
            <a:lvl2pPr marL="4572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2pPr>
            <a:lvl3pPr marL="9144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3pPr>
            <a:lvl4pPr marL="13716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4pPr>
            <a:lvl5pPr marL="18288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9pPr>
          </a:lstStyle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200" b="1" kern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  <a:cs typeface="Arial" pitchFamily="34" charset="0"/>
              </a:rPr>
              <a:t>ASN, BL</a:t>
            </a:r>
            <a:endParaRPr kumimoji="0" lang="ko-KR" altLang="en-US" sz="1200" b="1" kern="0" dirty="0">
              <a:solidFill>
                <a:prstClr val="black"/>
              </a:solidFill>
              <a:latin typeface="Cambria" panose="02040503050406030204" pitchFamily="18" charset="0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86" name="직사각형 85"/>
          <p:cNvSpPr/>
          <p:nvPr/>
        </p:nvSpPr>
        <p:spPr bwMode="auto">
          <a:xfrm>
            <a:off x="2713468" y="2900704"/>
            <a:ext cx="1152000" cy="50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rgbClr val="777777"/>
            </a:solidFill>
            <a:prstDash val="solid"/>
          </a:ln>
          <a:effectLst/>
        </p:spPr>
        <p:txBody>
          <a:bodyPr lIns="0" tIns="0" rIns="0" bIns="0" anchor="ctr"/>
          <a:lstStyle>
            <a:defPPr>
              <a:defRPr lang="ko-KR"/>
            </a:defPPr>
            <a:lvl1pPr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1pPr>
            <a:lvl2pPr marL="4572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2pPr>
            <a:lvl3pPr marL="9144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3pPr>
            <a:lvl4pPr marL="13716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4pPr>
            <a:lvl5pPr marL="18288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9pPr>
          </a:lstStyle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200" b="1" kern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  <a:cs typeface="Arial" pitchFamily="34" charset="0"/>
              </a:rPr>
              <a:t>Arrival</a:t>
            </a:r>
          </a:p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200" b="1" kern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  <a:cs typeface="Arial" pitchFamily="34" charset="0"/>
              </a:rPr>
              <a:t>Notification</a:t>
            </a:r>
            <a:endParaRPr kumimoji="0" lang="ko-KR" altLang="en-US" sz="1200" b="1" kern="0" dirty="0">
              <a:solidFill>
                <a:prstClr val="black"/>
              </a:solidFill>
              <a:latin typeface="Cambria" panose="02040503050406030204" pitchFamily="18" charset="0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87" name="직사각형 86"/>
          <p:cNvSpPr/>
          <p:nvPr/>
        </p:nvSpPr>
        <p:spPr bwMode="auto">
          <a:xfrm>
            <a:off x="2713468" y="3487312"/>
            <a:ext cx="1152000" cy="50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rgbClr val="777777"/>
            </a:solidFill>
            <a:prstDash val="solid"/>
          </a:ln>
          <a:effectLst/>
        </p:spPr>
        <p:txBody>
          <a:bodyPr lIns="0" tIns="0" rIns="0" bIns="0" anchor="ctr"/>
          <a:lstStyle>
            <a:defPPr>
              <a:defRPr lang="ko-KR"/>
            </a:defPPr>
            <a:lvl1pPr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1pPr>
            <a:lvl2pPr marL="4572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2pPr>
            <a:lvl3pPr marL="9144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3pPr>
            <a:lvl4pPr marL="13716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4pPr>
            <a:lvl5pPr marL="18288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9pPr>
          </a:lstStyle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200" b="1" kern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  <a:cs typeface="Arial" pitchFamily="34" charset="0"/>
              </a:rPr>
              <a:t>Delivery</a:t>
            </a:r>
          </a:p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200" b="1" kern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  <a:cs typeface="Arial" pitchFamily="34" charset="0"/>
              </a:rPr>
              <a:t>Order</a:t>
            </a:r>
            <a:endParaRPr kumimoji="0" lang="ko-KR" altLang="en-US" sz="1200" b="1" kern="0" dirty="0">
              <a:solidFill>
                <a:prstClr val="black"/>
              </a:solidFill>
              <a:latin typeface="Cambria" panose="02040503050406030204" pitchFamily="18" charset="0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88" name="직사각형 87"/>
          <p:cNvSpPr/>
          <p:nvPr/>
        </p:nvSpPr>
        <p:spPr bwMode="auto">
          <a:xfrm>
            <a:off x="2713468" y="4073920"/>
            <a:ext cx="1152000" cy="50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rgbClr val="777777"/>
            </a:solidFill>
            <a:prstDash val="solid"/>
          </a:ln>
          <a:effectLst/>
        </p:spPr>
        <p:txBody>
          <a:bodyPr lIns="0" tIns="0" rIns="0" bIns="0" anchor="ctr"/>
          <a:lstStyle>
            <a:defPPr>
              <a:defRPr lang="ko-KR"/>
            </a:defPPr>
            <a:lvl1pPr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1pPr>
            <a:lvl2pPr marL="4572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2pPr>
            <a:lvl3pPr marL="9144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3pPr>
            <a:lvl4pPr marL="13716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4pPr>
            <a:lvl5pPr marL="18288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9pPr>
          </a:lstStyle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200" b="1" kern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  <a:cs typeface="Arial" pitchFamily="34" charset="0"/>
              </a:rPr>
              <a:t>Trucking</a:t>
            </a:r>
            <a:endParaRPr kumimoji="0" lang="ko-KR" altLang="en-US" sz="1200" b="1" kern="0" dirty="0">
              <a:solidFill>
                <a:prstClr val="black"/>
              </a:solidFill>
              <a:latin typeface="Cambria" panose="02040503050406030204" pitchFamily="18" charset="0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89" name="직사각형 88"/>
          <p:cNvSpPr/>
          <p:nvPr/>
        </p:nvSpPr>
        <p:spPr bwMode="auto">
          <a:xfrm>
            <a:off x="2713468" y="4660526"/>
            <a:ext cx="1152000" cy="50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rgbClr val="777777"/>
            </a:solidFill>
            <a:prstDash val="solid"/>
          </a:ln>
          <a:effectLst/>
        </p:spPr>
        <p:txBody>
          <a:bodyPr lIns="0" tIns="0" rIns="0" bIns="0" anchor="ctr"/>
          <a:lstStyle>
            <a:defPPr>
              <a:defRPr lang="ko-KR"/>
            </a:defPPr>
            <a:lvl1pPr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1pPr>
            <a:lvl2pPr marL="4572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2pPr>
            <a:lvl3pPr marL="9144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3pPr>
            <a:lvl4pPr marL="13716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4pPr>
            <a:lvl5pPr marL="18288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9pPr>
          </a:lstStyle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200" b="1" kern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  <a:cs typeface="Arial" pitchFamily="34" charset="0"/>
              </a:rPr>
              <a:t>Tracking</a:t>
            </a:r>
          </a:p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200" b="1" kern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  <a:cs typeface="Arial" pitchFamily="34" charset="0"/>
              </a:rPr>
              <a:t>Entry</a:t>
            </a:r>
          </a:p>
        </p:txBody>
      </p:sp>
      <p:sp>
        <p:nvSpPr>
          <p:cNvPr id="90" name="모서리가 둥근 직사각형 89"/>
          <p:cNvSpPr/>
          <p:nvPr/>
        </p:nvSpPr>
        <p:spPr bwMode="auto">
          <a:xfrm>
            <a:off x="470312" y="5421943"/>
            <a:ext cx="5724000" cy="792000"/>
          </a:xfrm>
          <a:prstGeom prst="roundRect">
            <a:avLst>
              <a:gd name="adj" fmla="val 5537"/>
            </a:avLst>
          </a:prstGeom>
          <a:solidFill>
            <a:srgbClr val="000000">
              <a:lumMod val="65000"/>
              <a:lumOff val="35000"/>
            </a:srgbClr>
          </a:solidFill>
          <a:ln w="25400" cap="flat" cmpd="sng" algn="ctr">
            <a:noFill/>
            <a:prstDash val="solid"/>
          </a:ln>
          <a:effectLst/>
        </p:spPr>
        <p:txBody>
          <a:bodyPr tIns="72000" rtlCol="0" anchor="t" anchorCtr="0"/>
          <a:lstStyle>
            <a:defPPr>
              <a:defRPr lang="ko-KR"/>
            </a:defPPr>
            <a:lvl1pPr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1pPr>
            <a:lvl2pPr marL="4572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2pPr>
            <a:lvl3pPr marL="9144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3pPr>
            <a:lvl4pPr marL="13716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4pPr>
            <a:lvl5pPr marL="18288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9pPr>
          </a:lstStyle>
          <a:p>
            <a:pPr algn="ctr" fontAlgn="auto" latinLnBrk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400" b="1" kern="0" dirty="0" smtClean="0">
                <a:solidFill>
                  <a:srgbClr val="FFFFFF"/>
                </a:solidFill>
                <a:latin typeface="Cambria" panose="02040503050406030204" pitchFamily="18" charset="0"/>
                <a:ea typeface="맑은 고딕"/>
                <a:cs typeface="Arial" pitchFamily="34" charset="0"/>
              </a:rPr>
              <a:t>EDI</a:t>
            </a:r>
            <a:endParaRPr kumimoji="0" lang="ko-KR" altLang="en-US" sz="1400" b="1" kern="0" dirty="0" smtClean="0">
              <a:solidFill>
                <a:srgbClr val="FFFFFF"/>
              </a:solidFill>
              <a:latin typeface="Cambria" panose="02040503050406030204" pitchFamily="18" charset="0"/>
              <a:ea typeface="맑은 고딕"/>
              <a:cs typeface="Arial" pitchFamily="34" charset="0"/>
            </a:endParaRPr>
          </a:p>
        </p:txBody>
      </p:sp>
      <p:sp>
        <p:nvSpPr>
          <p:cNvPr id="91" name="직사각형 90"/>
          <p:cNvSpPr/>
          <p:nvPr/>
        </p:nvSpPr>
        <p:spPr bwMode="auto">
          <a:xfrm>
            <a:off x="578313" y="5805916"/>
            <a:ext cx="1565480" cy="288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rgbClr val="777777"/>
            </a:solidFill>
            <a:prstDash val="solid"/>
          </a:ln>
          <a:effectLst/>
        </p:spPr>
        <p:txBody>
          <a:bodyPr lIns="0" tIns="0" rIns="0" bIns="0" anchor="ctr"/>
          <a:lstStyle>
            <a:defPPr>
              <a:defRPr lang="ko-KR"/>
            </a:defPPr>
            <a:lvl1pPr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1pPr>
            <a:lvl2pPr marL="4572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2pPr>
            <a:lvl3pPr marL="9144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3pPr>
            <a:lvl4pPr marL="13716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4pPr>
            <a:lvl5pPr marL="18288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9pPr>
          </a:lstStyle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200" b="1" kern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  <a:cs typeface="Arial" pitchFamily="34" charset="0"/>
              </a:rPr>
              <a:t>Customs</a:t>
            </a:r>
            <a:endParaRPr kumimoji="0" lang="en-US" altLang="ko-KR" sz="1200" b="1" kern="0" dirty="0">
              <a:solidFill>
                <a:prstClr val="black"/>
              </a:solidFill>
              <a:latin typeface="Cambria" panose="02040503050406030204" pitchFamily="18" charset="0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92" name="직사각형 91"/>
          <p:cNvSpPr/>
          <p:nvPr/>
        </p:nvSpPr>
        <p:spPr bwMode="auto">
          <a:xfrm>
            <a:off x="2461495" y="5805916"/>
            <a:ext cx="1655614" cy="288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rgbClr val="777777"/>
            </a:solidFill>
            <a:prstDash val="solid"/>
          </a:ln>
          <a:effectLst/>
        </p:spPr>
        <p:txBody>
          <a:bodyPr lIns="0" tIns="0" rIns="0" bIns="0" anchor="ctr"/>
          <a:lstStyle>
            <a:defPPr>
              <a:defRPr lang="ko-KR"/>
            </a:defPPr>
            <a:lvl1pPr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1pPr>
            <a:lvl2pPr marL="4572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2pPr>
            <a:lvl3pPr marL="9144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3pPr>
            <a:lvl4pPr marL="13716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4pPr>
            <a:lvl5pPr marL="18288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9pPr>
          </a:lstStyle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200" b="1" kern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  <a:cs typeface="Arial" pitchFamily="34" charset="0"/>
              </a:rPr>
              <a:t>LSP</a:t>
            </a:r>
            <a:endParaRPr kumimoji="0" lang="en-US" altLang="ko-KR" sz="1200" b="1" kern="0" dirty="0">
              <a:solidFill>
                <a:prstClr val="black"/>
              </a:solidFill>
              <a:latin typeface="Cambria" panose="02040503050406030204" pitchFamily="18" charset="0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93" name="직사각형 92"/>
          <p:cNvSpPr/>
          <p:nvPr/>
        </p:nvSpPr>
        <p:spPr bwMode="auto">
          <a:xfrm>
            <a:off x="4414666" y="5805916"/>
            <a:ext cx="1655280" cy="288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rgbClr val="777777"/>
            </a:solidFill>
            <a:prstDash val="solid"/>
          </a:ln>
          <a:effectLst/>
        </p:spPr>
        <p:txBody>
          <a:bodyPr lIns="0" tIns="0" rIns="0" bIns="0" anchor="ctr"/>
          <a:lstStyle>
            <a:defPPr>
              <a:defRPr lang="ko-KR"/>
            </a:defPPr>
            <a:lvl1pPr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1pPr>
            <a:lvl2pPr marL="4572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2pPr>
            <a:lvl3pPr marL="9144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3pPr>
            <a:lvl4pPr marL="13716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4pPr>
            <a:lvl5pPr marL="18288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9pPr>
          </a:lstStyle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200" b="1" kern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  <a:cs typeface="Arial" pitchFamily="34" charset="0"/>
              </a:rPr>
              <a:t>Liner</a:t>
            </a:r>
            <a:endParaRPr kumimoji="0" lang="en-US" altLang="ko-KR" sz="1200" b="1" kern="0" dirty="0">
              <a:solidFill>
                <a:prstClr val="black"/>
              </a:solidFill>
              <a:latin typeface="Cambria" panose="02040503050406030204" pitchFamily="18" charset="0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94" name="모서리가 둥근 직사각형 93"/>
          <p:cNvSpPr/>
          <p:nvPr/>
        </p:nvSpPr>
        <p:spPr bwMode="auto">
          <a:xfrm>
            <a:off x="4414665" y="1890328"/>
            <a:ext cx="1655280" cy="3420000"/>
          </a:xfrm>
          <a:prstGeom prst="roundRect">
            <a:avLst>
              <a:gd name="adj" fmla="val 5537"/>
            </a:avLst>
          </a:prstGeom>
          <a:solidFill>
            <a:srgbClr val="FFFFFF">
              <a:lumMod val="65000"/>
            </a:srgbClr>
          </a:solidFill>
          <a:ln w="25400" cap="flat" cmpd="sng" algn="ctr">
            <a:noFill/>
            <a:prstDash val="solid"/>
          </a:ln>
          <a:effectLst/>
        </p:spPr>
        <p:txBody>
          <a:bodyPr tIns="72000" rtlCol="0" anchor="t" anchorCtr="0"/>
          <a:lstStyle>
            <a:defPPr>
              <a:defRPr lang="ko-KR"/>
            </a:defPPr>
            <a:lvl1pPr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1pPr>
            <a:lvl2pPr marL="4572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2pPr>
            <a:lvl3pPr marL="9144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3pPr>
            <a:lvl4pPr marL="13716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4pPr>
            <a:lvl5pPr marL="18288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9pPr>
          </a:lstStyle>
          <a:p>
            <a:pPr algn="ctr" fontAlgn="auto" latinLnBrk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400" b="1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맑은 고딕"/>
                <a:cs typeface="Arial" pitchFamily="34" charset="0"/>
              </a:rPr>
              <a:t>Common</a:t>
            </a:r>
            <a:endParaRPr kumimoji="0" lang="ko-KR" altLang="en-US" sz="1400" b="1" kern="0" dirty="0" smtClean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맑은 고딕"/>
              <a:cs typeface="Arial" pitchFamily="34" charset="0"/>
            </a:endParaRPr>
          </a:p>
        </p:txBody>
      </p:sp>
      <p:sp>
        <p:nvSpPr>
          <p:cNvPr id="95" name="직사각형 94"/>
          <p:cNvSpPr/>
          <p:nvPr/>
        </p:nvSpPr>
        <p:spPr bwMode="auto">
          <a:xfrm>
            <a:off x="4658213" y="2314096"/>
            <a:ext cx="1152000" cy="50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rgbClr val="777777"/>
            </a:solidFill>
            <a:prstDash val="solid"/>
          </a:ln>
          <a:effectLst/>
        </p:spPr>
        <p:txBody>
          <a:bodyPr lIns="0" tIns="0" rIns="0" bIns="0" anchor="ctr"/>
          <a:lstStyle>
            <a:defPPr>
              <a:defRPr lang="ko-KR"/>
            </a:defPPr>
            <a:lvl1pPr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1pPr>
            <a:lvl2pPr marL="4572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2pPr>
            <a:lvl3pPr marL="9144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3pPr>
            <a:lvl4pPr marL="13716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4pPr>
            <a:lvl5pPr marL="18288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9pPr>
          </a:lstStyle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200" b="1" kern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  <a:cs typeface="Arial" pitchFamily="34" charset="0"/>
              </a:rPr>
              <a:t>Schedule</a:t>
            </a:r>
            <a:endParaRPr kumimoji="0" lang="ko-KR" altLang="en-US" sz="1200" b="1" kern="0" dirty="0">
              <a:solidFill>
                <a:prstClr val="black"/>
              </a:solidFill>
              <a:latin typeface="Cambria" panose="02040503050406030204" pitchFamily="18" charset="0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96" name="직사각형 95"/>
          <p:cNvSpPr/>
          <p:nvPr/>
        </p:nvSpPr>
        <p:spPr bwMode="auto">
          <a:xfrm>
            <a:off x="4658213" y="2900704"/>
            <a:ext cx="1152000" cy="50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rgbClr val="777777"/>
            </a:solidFill>
            <a:prstDash val="solid"/>
          </a:ln>
          <a:effectLst/>
        </p:spPr>
        <p:txBody>
          <a:bodyPr lIns="0" tIns="0" rIns="0" bIns="0" anchor="ctr"/>
          <a:lstStyle>
            <a:defPPr>
              <a:defRPr lang="ko-KR"/>
            </a:defPPr>
            <a:lvl1pPr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1pPr>
            <a:lvl2pPr marL="4572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2pPr>
            <a:lvl3pPr marL="9144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3pPr>
            <a:lvl4pPr marL="13716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4pPr>
            <a:lvl5pPr marL="18288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9pPr>
          </a:lstStyle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200" b="1" kern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  <a:cs typeface="Arial" pitchFamily="34" charset="0"/>
              </a:rPr>
              <a:t>Customs</a:t>
            </a:r>
          </a:p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200" b="1" kern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  <a:cs typeface="Arial" pitchFamily="34" charset="0"/>
              </a:rPr>
              <a:t>Clearance</a:t>
            </a:r>
            <a:endParaRPr kumimoji="0" lang="ko-KR" altLang="en-US" sz="1200" b="1" kern="0" dirty="0">
              <a:solidFill>
                <a:prstClr val="black"/>
              </a:solidFill>
              <a:latin typeface="Cambria" panose="02040503050406030204" pitchFamily="18" charset="0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97" name="직사각형 96"/>
          <p:cNvSpPr/>
          <p:nvPr/>
        </p:nvSpPr>
        <p:spPr bwMode="auto">
          <a:xfrm>
            <a:off x="4676089" y="3487312"/>
            <a:ext cx="1152000" cy="50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rgbClr val="777777"/>
            </a:solidFill>
            <a:prstDash val="solid"/>
          </a:ln>
          <a:effectLst/>
        </p:spPr>
        <p:txBody>
          <a:bodyPr lIns="0" tIns="0" rIns="0" bIns="0" anchor="ctr"/>
          <a:lstStyle>
            <a:defPPr>
              <a:defRPr lang="ko-KR"/>
            </a:defPPr>
            <a:lvl1pPr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1pPr>
            <a:lvl2pPr marL="4572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2pPr>
            <a:lvl3pPr marL="9144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3pPr>
            <a:lvl4pPr marL="13716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4pPr>
            <a:lvl5pPr marL="18288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9pPr>
          </a:lstStyle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200" b="1" kern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  <a:cs typeface="Arial" pitchFamily="34" charset="0"/>
              </a:rPr>
              <a:t>Manifest EDI</a:t>
            </a:r>
            <a:endParaRPr kumimoji="0" lang="ko-KR" altLang="en-US" sz="1200" b="1" kern="0" dirty="0">
              <a:solidFill>
                <a:prstClr val="black"/>
              </a:solidFill>
              <a:latin typeface="Cambria" panose="02040503050406030204" pitchFamily="18" charset="0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98" name="직사각형 97"/>
          <p:cNvSpPr/>
          <p:nvPr/>
        </p:nvSpPr>
        <p:spPr bwMode="auto">
          <a:xfrm>
            <a:off x="4684942" y="4081487"/>
            <a:ext cx="1152000" cy="50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rgbClr val="777777"/>
            </a:solidFill>
            <a:prstDash val="solid"/>
          </a:ln>
          <a:effectLst/>
        </p:spPr>
        <p:txBody>
          <a:bodyPr lIns="0" tIns="0" rIns="0" bIns="0" anchor="ctr"/>
          <a:lstStyle>
            <a:defPPr>
              <a:defRPr lang="ko-KR"/>
            </a:defPPr>
            <a:lvl1pPr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1pPr>
            <a:lvl2pPr marL="4572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2pPr>
            <a:lvl3pPr marL="9144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3pPr>
            <a:lvl4pPr marL="13716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4pPr>
            <a:lvl5pPr marL="18288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9pPr>
          </a:lstStyle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200" b="1" kern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  <a:cs typeface="Arial" pitchFamily="34" charset="0"/>
              </a:rPr>
              <a:t>Track &amp; Trace</a:t>
            </a:r>
            <a:endParaRPr kumimoji="0" lang="ko-KR" altLang="en-US" sz="1200" b="1" kern="0" dirty="0">
              <a:solidFill>
                <a:prstClr val="black"/>
              </a:solidFill>
              <a:latin typeface="Cambria" panose="02040503050406030204" pitchFamily="18" charset="0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4684942" y="4660526"/>
            <a:ext cx="1152000" cy="50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rgbClr val="777777"/>
            </a:solidFill>
            <a:prstDash val="solid"/>
          </a:ln>
          <a:effectLst/>
        </p:spPr>
        <p:txBody>
          <a:bodyPr lIns="0" tIns="0" rIns="0" bIns="0" anchor="ctr"/>
          <a:lstStyle>
            <a:defPPr>
              <a:defRPr lang="ko-KR"/>
            </a:defPPr>
            <a:lvl1pPr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1pPr>
            <a:lvl2pPr marL="4572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2pPr>
            <a:lvl3pPr marL="9144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3pPr>
            <a:lvl4pPr marL="13716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4pPr>
            <a:lvl5pPr marL="18288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9pPr>
          </a:lstStyle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200" b="1" kern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  <a:cs typeface="Arial" pitchFamily="34" charset="0"/>
              </a:rPr>
              <a:t>DEM/DET</a:t>
            </a:r>
            <a:endParaRPr kumimoji="0" lang="ko-KR" altLang="en-US" sz="1200" b="1" kern="0" dirty="0">
              <a:solidFill>
                <a:prstClr val="black"/>
              </a:solidFill>
              <a:latin typeface="Cambria" panose="02040503050406030204" pitchFamily="18" charset="0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948236" y="116632"/>
            <a:ext cx="17643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114300" indent="-114300" algn="r">
              <a:buFont typeface="+mj-lt"/>
              <a:buAutoNum type="romanUcPeriod"/>
            </a:lvl1pPr>
          </a:lstStyle>
          <a:p>
            <a:pPr marL="0" indent="0">
              <a:buNone/>
              <a:defRPr/>
            </a:pPr>
            <a:r>
              <a:rPr lang="en-US" altLang="ko-KR" dirty="0">
                <a:latin typeface="Cambria" panose="02040503050406030204" pitchFamily="18" charset="0"/>
              </a:rPr>
              <a:t>Ⅱ</a:t>
            </a:r>
            <a:r>
              <a:rPr lang="en-US" altLang="ko-KR" dirty="0" smtClean="0">
                <a:solidFill>
                  <a:srgbClr val="000000"/>
                </a:solidFill>
                <a:latin typeface="Cambria" panose="02040503050406030204" pitchFamily="18" charset="0"/>
              </a:rPr>
              <a:t>. </a:t>
            </a:r>
            <a:r>
              <a:rPr lang="en-US" altLang="ko-KR" dirty="0" smtClean="0">
                <a:solidFill>
                  <a:srgbClr val="000000"/>
                </a:solidFill>
                <a:latin typeface="Cambria" panose="02040503050406030204" pitchFamily="18" charset="0"/>
              </a:rPr>
              <a:t>Global Trading</a:t>
            </a:r>
            <a:endParaRPr lang="ko-KR" altLang="en-US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- </a:t>
            </a:r>
            <a:fld id="{EE975AF4-B1F3-41E4-B19A-4F6D78AFBDB1}" type="slidenum">
              <a:rPr lang="en-US" altLang="ko-KR" smtClean="0"/>
              <a:pPr>
                <a:defRPr/>
              </a:pPr>
              <a:t>3</a:t>
            </a:fld>
            <a:r>
              <a:rPr lang="en-US" altLang="ko-KR" smtClean="0"/>
              <a:t> -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57109971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6"/>
          <p:cNvSpPr txBox="1">
            <a:spLocks noChangeArrowheads="1"/>
          </p:cNvSpPr>
          <p:nvPr/>
        </p:nvSpPr>
        <p:spPr bwMode="auto">
          <a:xfrm>
            <a:off x="344488" y="142875"/>
            <a:ext cx="44656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KEROL - Global Trading </a:t>
            </a:r>
            <a:r>
              <a:rPr kumimoji="0" lang="ko-KR" altLang="en-US" b="1" dirty="0" smtClean="0"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적용 영역</a:t>
            </a:r>
            <a:endParaRPr kumimoji="0"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  <a:sym typeface="Wingdings" pitchFamily="2" charset="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7948236" y="116632"/>
            <a:ext cx="17643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114300" indent="-114300" algn="r">
              <a:buFont typeface="+mj-lt"/>
              <a:buAutoNum type="romanUcPeriod"/>
            </a:lvl1pPr>
          </a:lstStyle>
          <a:p>
            <a:pPr marL="0" indent="0">
              <a:buNone/>
              <a:defRPr/>
            </a:pPr>
            <a:r>
              <a:rPr lang="en-US" altLang="ko-KR" dirty="0">
                <a:latin typeface="Cambria" panose="02040503050406030204" pitchFamily="18" charset="0"/>
              </a:rPr>
              <a:t>Ⅱ</a:t>
            </a:r>
            <a:r>
              <a:rPr lang="en-US" altLang="ko-KR" dirty="0" smtClean="0">
                <a:solidFill>
                  <a:srgbClr val="000000"/>
                </a:solidFill>
                <a:latin typeface="Cambria" panose="02040503050406030204" pitchFamily="18" charset="0"/>
              </a:rPr>
              <a:t>. </a:t>
            </a:r>
            <a:r>
              <a:rPr lang="en-US" altLang="ko-KR" dirty="0" smtClean="0">
                <a:solidFill>
                  <a:srgbClr val="000000"/>
                </a:solidFill>
                <a:latin typeface="Cambria" panose="02040503050406030204" pitchFamily="18" charset="0"/>
              </a:rPr>
              <a:t>Global Trading</a:t>
            </a:r>
            <a:endParaRPr lang="ko-KR" altLang="en-US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181" name="Content Placeholder 1"/>
          <p:cNvSpPr txBox="1">
            <a:spLocks/>
          </p:cNvSpPr>
          <p:nvPr/>
        </p:nvSpPr>
        <p:spPr bwMode="auto">
          <a:xfrm>
            <a:off x="276252" y="620688"/>
            <a:ext cx="9356698" cy="5170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 algn="just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Font typeface="Wingdings" pitchFamily="2" charset="2"/>
              <a:defRPr sz="1600" b="1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latinLnBrk="1" hangingPunct="0">
              <a:spcBef>
                <a:spcPct val="25000"/>
              </a:spcBef>
              <a:spcAft>
                <a:spcPct val="15000"/>
              </a:spcAft>
              <a:buClr>
                <a:schemeClr val="accent2"/>
              </a:buClr>
              <a:buFont typeface="Arial" charset="0"/>
              <a:buChar char="–"/>
              <a:defRPr kumimoji="1">
                <a:solidFill>
                  <a:schemeClr val="tx1"/>
                </a:solidFill>
                <a:latin typeface="굴림" charset="-127"/>
                <a:ea typeface="굴림" charset="-127"/>
                <a:cs typeface="굴림" charset="-127"/>
              </a:defRPr>
            </a:lvl2pPr>
            <a:lvl3pPr marL="9144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굴림" charset="-127"/>
                <a:ea typeface="굴림" charset="-127"/>
                <a:cs typeface="굴림" charset="-127"/>
              </a:defRPr>
            </a:lvl3pPr>
            <a:lvl4pPr marL="1371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charset="0"/>
              <a:buChar char="–"/>
              <a:defRPr kumimoji="1">
                <a:solidFill>
                  <a:schemeClr val="tx1"/>
                </a:solidFill>
                <a:latin typeface="굴림" charset="-127"/>
                <a:ea typeface="굴림" charset="-127"/>
                <a:cs typeface="굴림" charset="-127"/>
              </a:defRPr>
            </a:lvl4pPr>
            <a:lvl5pPr marL="18288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charset="0"/>
              <a:buChar char="&gt;"/>
              <a:defRPr kumimoji="1">
                <a:solidFill>
                  <a:schemeClr val="tx1"/>
                </a:solidFill>
                <a:latin typeface="굴림" charset="-127"/>
                <a:ea typeface="굴림" charset="-127"/>
                <a:cs typeface="굴림" charset="-127"/>
              </a:defRPr>
            </a:lvl5pPr>
            <a:lvl6pPr marL="22860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charset="0"/>
              <a:buChar char="&gt;"/>
              <a:defRPr kumimoji="1">
                <a:solidFill>
                  <a:schemeClr val="tx1"/>
                </a:solidFill>
                <a:latin typeface="굴림" charset="-127"/>
                <a:ea typeface="굴림" charset="-127"/>
                <a:cs typeface="굴림" charset="-127"/>
              </a:defRPr>
            </a:lvl6pPr>
            <a:lvl7pPr marL="27432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charset="0"/>
              <a:buChar char="&gt;"/>
              <a:defRPr kumimoji="1">
                <a:solidFill>
                  <a:schemeClr val="tx1"/>
                </a:solidFill>
                <a:latin typeface="굴림" charset="-127"/>
                <a:ea typeface="굴림" charset="-127"/>
                <a:cs typeface="굴림" charset="-127"/>
              </a:defRPr>
            </a:lvl7pPr>
            <a:lvl8pPr marL="32004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charset="0"/>
              <a:buChar char="&gt;"/>
              <a:defRPr kumimoji="1">
                <a:solidFill>
                  <a:schemeClr val="tx1"/>
                </a:solidFill>
                <a:latin typeface="굴림" charset="-127"/>
                <a:ea typeface="굴림" charset="-127"/>
                <a:cs typeface="굴림" charset="-127"/>
              </a:defRPr>
            </a:lvl8pPr>
            <a:lvl9pPr marL="3657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charset="0"/>
              <a:buChar char="&gt;"/>
              <a:defRPr kumimoji="1">
                <a:solidFill>
                  <a:schemeClr val="tx1"/>
                </a:solidFill>
                <a:latin typeface="굴림" charset="-127"/>
                <a:ea typeface="굴림" charset="-127"/>
                <a:cs typeface="굴림" charset="-127"/>
              </a:defRPr>
            </a:lvl9pPr>
          </a:lstStyle>
          <a:p>
            <a:pPr algn="l" latinLnBrk="0">
              <a:lnSpc>
                <a:spcPct val="105000"/>
              </a:lnSpc>
              <a:spcBef>
                <a:spcPts val="0"/>
              </a:spcBef>
              <a:buClrTx/>
              <a:buNone/>
            </a:pPr>
            <a:r>
              <a:rPr kumimoji="0" lang="ko-KR" altLang="en-US" b="0" kern="0" dirty="0" smtClean="0">
                <a:latin typeface="Cambria" panose="02040503050406030204" pitchFamily="18" charset="0"/>
              </a:rPr>
              <a:t>수출입 오더 접수</a:t>
            </a:r>
            <a:r>
              <a:rPr kumimoji="0" lang="en-US" altLang="ko-KR" b="0" kern="0" dirty="0" smtClean="0">
                <a:latin typeface="Cambria" panose="02040503050406030204" pitchFamily="18" charset="0"/>
              </a:rPr>
              <a:t>/</a:t>
            </a:r>
            <a:r>
              <a:rPr kumimoji="0" lang="ko-KR" altLang="en-US" b="0" kern="0" dirty="0" smtClean="0">
                <a:latin typeface="Cambria" panose="02040503050406030204" pitchFamily="18" charset="0"/>
              </a:rPr>
              <a:t>계획</a:t>
            </a:r>
            <a:r>
              <a:rPr kumimoji="0" lang="en-US" altLang="ko-KR" b="0" kern="0" dirty="0" smtClean="0">
                <a:latin typeface="Cambria" panose="02040503050406030204" pitchFamily="18" charset="0"/>
              </a:rPr>
              <a:t>/</a:t>
            </a:r>
            <a:r>
              <a:rPr kumimoji="0" lang="ko-KR" altLang="en-US" b="0" kern="0" dirty="0" smtClean="0">
                <a:latin typeface="Cambria" panose="02040503050406030204" pitchFamily="18" charset="0"/>
              </a:rPr>
              <a:t>실행 및 </a:t>
            </a:r>
            <a:r>
              <a:rPr kumimoji="0" lang="ko-KR" altLang="en-US" b="0" kern="0" dirty="0" err="1" smtClean="0">
                <a:latin typeface="Cambria" panose="02040503050406030204" pitchFamily="18" charset="0"/>
              </a:rPr>
              <a:t>지급물류비</a:t>
            </a:r>
            <a:r>
              <a:rPr kumimoji="0" lang="ko-KR" altLang="en-US" b="0" kern="0" dirty="0" smtClean="0">
                <a:latin typeface="Cambria" panose="02040503050406030204" pitchFamily="18" charset="0"/>
              </a:rPr>
              <a:t> 검증</a:t>
            </a:r>
            <a:r>
              <a:rPr kumimoji="0" lang="en-US" altLang="ko-KR" b="0" kern="0" dirty="0" smtClean="0">
                <a:latin typeface="Cambria" panose="02040503050406030204" pitchFamily="18" charset="0"/>
              </a:rPr>
              <a:t>/</a:t>
            </a:r>
            <a:r>
              <a:rPr kumimoji="0" lang="ko-KR" altLang="en-US" b="0" kern="0" dirty="0" smtClean="0">
                <a:latin typeface="Cambria" panose="02040503050406030204" pitchFamily="18" charset="0"/>
              </a:rPr>
              <a:t>정산 업무를 수행하며</a:t>
            </a:r>
            <a:r>
              <a:rPr kumimoji="0" lang="en-US" altLang="ko-KR" b="0" kern="0" dirty="0" smtClean="0">
                <a:latin typeface="Cambria" panose="02040503050406030204" pitchFamily="18" charset="0"/>
              </a:rPr>
              <a:t>, </a:t>
            </a:r>
            <a:r>
              <a:rPr kumimoji="0" lang="ko-KR" altLang="en-US" b="0" kern="0" dirty="0" smtClean="0">
                <a:latin typeface="Cambria" panose="02040503050406030204" pitchFamily="18" charset="0"/>
              </a:rPr>
              <a:t>고객의 주문을 접수 오더 기반으로 물류 실행 관련 全 업무를 수행함</a:t>
            </a:r>
            <a:endParaRPr kumimoji="0" lang="ko-KR" altLang="en-US" b="0" kern="0" dirty="0">
              <a:latin typeface="Cambria" panose="02040503050406030204" pitchFamily="18" charset="0"/>
            </a:endParaRPr>
          </a:p>
        </p:txBody>
      </p:sp>
      <p:cxnSp>
        <p:nvCxnSpPr>
          <p:cNvPr id="182" name="직선 연결선 181"/>
          <p:cNvCxnSpPr/>
          <p:nvPr/>
        </p:nvCxnSpPr>
        <p:spPr bwMode="auto">
          <a:xfrm>
            <a:off x="395230" y="3710935"/>
            <a:ext cx="5112000" cy="0"/>
          </a:xfrm>
          <a:prstGeom prst="line">
            <a:avLst/>
          </a:prstGeom>
          <a:noFill/>
          <a:ln w="6350" cap="flat" cmpd="sng" algn="ctr">
            <a:solidFill>
              <a:srgbClr val="777777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183" name="오각형 182"/>
          <p:cNvSpPr/>
          <p:nvPr/>
        </p:nvSpPr>
        <p:spPr bwMode="auto">
          <a:xfrm>
            <a:off x="3596911" y="2205312"/>
            <a:ext cx="3780000" cy="4032000"/>
          </a:xfrm>
          <a:prstGeom prst="homePlate">
            <a:avLst>
              <a:gd name="adj" fmla="val 8577"/>
            </a:avLst>
          </a:prstGeom>
          <a:noFill/>
          <a:ln w="19050">
            <a:solidFill>
              <a:srgbClr val="3C8ECD"/>
            </a:solidFill>
          </a:ln>
          <a:effectLst>
            <a:glow rad="101600">
              <a:srgbClr val="BBE0E3">
                <a:satMod val="175000"/>
                <a:alpha val="40000"/>
              </a:srgbClr>
            </a:glow>
          </a:effectLst>
        </p:spPr>
        <p:txBody>
          <a:bodyPr wrap="none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kumimoji="0" lang="ko-KR" altLang="en-US" sz="1800" kern="0" dirty="0">
              <a:solidFill>
                <a:prstClr val="black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cxnSp>
        <p:nvCxnSpPr>
          <p:cNvPr id="184" name="직선 연결선 183"/>
          <p:cNvCxnSpPr/>
          <p:nvPr/>
        </p:nvCxnSpPr>
        <p:spPr bwMode="auto">
          <a:xfrm>
            <a:off x="1428282" y="1661652"/>
            <a:ext cx="1728000" cy="0"/>
          </a:xfrm>
          <a:prstGeom prst="line">
            <a:avLst/>
          </a:prstGeom>
          <a:noFill/>
          <a:ln w="6350" cap="flat" cmpd="sng" algn="ctr">
            <a:solidFill>
              <a:srgbClr val="000000">
                <a:lumMod val="65000"/>
                <a:lumOff val="3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85" name="TextBox 184"/>
          <p:cNvSpPr txBox="1"/>
          <p:nvPr/>
        </p:nvSpPr>
        <p:spPr>
          <a:xfrm>
            <a:off x="1724468" y="1338487"/>
            <a:ext cx="113563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500" b="1" dirty="0" smtClean="0">
                <a:latin typeface="Cambria" panose="020405030504060302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고객 </a:t>
            </a:r>
            <a:r>
              <a:rPr kumimoji="0" lang="en-US" altLang="ko-KR" sz="1500" b="1" dirty="0" smtClean="0">
                <a:latin typeface="Cambria" panose="020405030504060302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Order</a:t>
            </a:r>
            <a:endParaRPr kumimoji="0" lang="en-US" altLang="ko-KR" sz="1500" b="1" dirty="0">
              <a:latin typeface="Cambria" panose="020405030504060302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186" name="직선 연결선 185"/>
          <p:cNvCxnSpPr/>
          <p:nvPr/>
        </p:nvCxnSpPr>
        <p:spPr bwMode="auto">
          <a:xfrm>
            <a:off x="3773556" y="1661652"/>
            <a:ext cx="3168000" cy="0"/>
          </a:xfrm>
          <a:prstGeom prst="line">
            <a:avLst/>
          </a:prstGeom>
          <a:noFill/>
          <a:ln w="6350" cap="flat" cmpd="sng" algn="ctr">
            <a:solidFill>
              <a:srgbClr val="000000">
                <a:lumMod val="65000"/>
                <a:lumOff val="3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87" name="TextBox 186"/>
          <p:cNvSpPr txBox="1"/>
          <p:nvPr/>
        </p:nvSpPr>
        <p:spPr>
          <a:xfrm>
            <a:off x="4963602" y="1338487"/>
            <a:ext cx="78790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500" b="1" dirty="0" smtClean="0">
                <a:latin typeface="Cambria" panose="020405030504060302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KEROL</a:t>
            </a:r>
            <a:endParaRPr kumimoji="0" lang="en-US" altLang="ko-KR" sz="1500" b="1" dirty="0">
              <a:latin typeface="Cambria" panose="020405030504060302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88" name="Rectangle 83"/>
          <p:cNvSpPr>
            <a:spLocks noChangeArrowheads="1"/>
          </p:cNvSpPr>
          <p:nvPr/>
        </p:nvSpPr>
        <p:spPr bwMode="auto">
          <a:xfrm>
            <a:off x="395230" y="2289643"/>
            <a:ext cx="900000" cy="1353600"/>
          </a:xfrm>
          <a:prstGeom prst="rect">
            <a:avLst/>
          </a:prstGeom>
          <a:solidFill>
            <a:srgbClr val="FFFFFF">
              <a:lumMod val="95000"/>
            </a:srgbClr>
          </a:solidFill>
          <a:ln w="6350" algn="ctr">
            <a:solidFill>
              <a:srgbClr val="777777"/>
            </a:solidFill>
            <a:round/>
            <a:headEnd/>
            <a:tailEnd/>
          </a:ln>
        </p:spPr>
        <p:txBody>
          <a:bodyPr wrap="none" tIns="72000" anchor="ctr"/>
          <a:lstStyle/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</a:rPr>
              <a:t>Order</a:t>
            </a:r>
          </a:p>
        </p:txBody>
      </p:sp>
      <p:sp>
        <p:nvSpPr>
          <p:cNvPr id="189" name="Rectangle 83"/>
          <p:cNvSpPr>
            <a:spLocks noChangeArrowheads="1"/>
          </p:cNvSpPr>
          <p:nvPr/>
        </p:nvSpPr>
        <p:spPr bwMode="auto">
          <a:xfrm>
            <a:off x="395230" y="3778627"/>
            <a:ext cx="900000" cy="1353600"/>
          </a:xfrm>
          <a:prstGeom prst="rect">
            <a:avLst/>
          </a:prstGeom>
          <a:solidFill>
            <a:srgbClr val="FFFFFF">
              <a:lumMod val="95000"/>
            </a:srgbClr>
          </a:solidFill>
          <a:ln w="6350" algn="ctr">
            <a:solidFill>
              <a:srgbClr val="777777"/>
            </a:solidFill>
            <a:round/>
            <a:headEnd/>
            <a:tailEnd/>
          </a:ln>
        </p:spPr>
        <p:txBody>
          <a:bodyPr wrap="none" tIns="72000" anchor="ctr"/>
          <a:lstStyle/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</a:rPr>
              <a:t>Operation</a:t>
            </a:r>
          </a:p>
        </p:txBody>
      </p:sp>
      <p:sp>
        <p:nvSpPr>
          <p:cNvPr id="190" name="Rectangle 83"/>
          <p:cNvSpPr>
            <a:spLocks noChangeArrowheads="1"/>
          </p:cNvSpPr>
          <p:nvPr/>
        </p:nvSpPr>
        <p:spPr bwMode="auto">
          <a:xfrm>
            <a:off x="395230" y="5267611"/>
            <a:ext cx="900000" cy="856800"/>
          </a:xfrm>
          <a:prstGeom prst="rect">
            <a:avLst/>
          </a:prstGeom>
          <a:solidFill>
            <a:srgbClr val="FFFFFF">
              <a:lumMod val="95000"/>
            </a:srgbClr>
          </a:solidFill>
          <a:ln w="6350" algn="ctr">
            <a:solidFill>
              <a:srgbClr val="777777"/>
            </a:solidFill>
            <a:round/>
            <a:headEnd/>
            <a:tailEnd/>
          </a:ln>
        </p:spPr>
        <p:txBody>
          <a:bodyPr wrap="none" tIns="72000" anchor="ctr"/>
          <a:lstStyle/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</a:rPr>
              <a:t>Billing</a:t>
            </a:r>
          </a:p>
        </p:txBody>
      </p:sp>
      <p:sp>
        <p:nvSpPr>
          <p:cNvPr id="191" name="모서리가 둥근 직사각형 190"/>
          <p:cNvSpPr/>
          <p:nvPr/>
        </p:nvSpPr>
        <p:spPr bwMode="auto">
          <a:xfrm>
            <a:off x="1428282" y="2289643"/>
            <a:ext cx="1728000" cy="36000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777777"/>
            </a:solidFill>
            <a:round/>
            <a:headEnd/>
            <a:tailEnd/>
          </a:ln>
        </p:spPr>
        <p:txBody>
          <a:bodyPr wrap="none" lIns="0" tIns="46800" rIns="0" anchor="ctr"/>
          <a:lstStyle/>
          <a:p>
            <a:pPr marL="0" marR="0" lvl="0" indent="0" algn="ctr" defTabSz="914400" eaLnBrk="0" fontAlgn="auto" latinLnBrk="0" hangingPunc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</a:rPr>
              <a:t>Deliver Order </a:t>
            </a: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</a:rPr>
              <a:t>제공</a:t>
            </a:r>
          </a:p>
        </p:txBody>
      </p:sp>
      <p:sp>
        <p:nvSpPr>
          <p:cNvPr id="192" name="모서리가 둥근 직사각형 191"/>
          <p:cNvSpPr/>
          <p:nvPr/>
        </p:nvSpPr>
        <p:spPr bwMode="auto">
          <a:xfrm>
            <a:off x="3773556" y="2289643"/>
            <a:ext cx="1728000" cy="360000"/>
          </a:xfrm>
          <a:prstGeom prst="roundRect">
            <a:avLst/>
          </a:prstGeom>
          <a:solidFill>
            <a:srgbClr val="FFFFFF">
              <a:lumMod val="85000"/>
            </a:srgbClr>
          </a:solidFill>
          <a:ln w="12700" algn="ctr">
            <a:solidFill>
              <a:srgbClr val="777777"/>
            </a:solidFill>
            <a:round/>
            <a:headEnd/>
            <a:tailEnd/>
          </a:ln>
        </p:spPr>
        <p:txBody>
          <a:bodyPr wrap="none" tIns="72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</a:rPr>
              <a:t>국제운송 </a:t>
            </a:r>
            <a:r>
              <a:rPr kumimoji="0" lang="en-US" altLang="ko-KR" sz="12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</a:rPr>
              <a:t>Booking </a:t>
            </a: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</a:rPr>
              <a:t>요청</a:t>
            </a:r>
          </a:p>
        </p:txBody>
      </p:sp>
      <p:sp>
        <p:nvSpPr>
          <p:cNvPr id="193" name="모서리가 둥근 직사각형 192"/>
          <p:cNvSpPr/>
          <p:nvPr/>
        </p:nvSpPr>
        <p:spPr bwMode="auto">
          <a:xfrm>
            <a:off x="3773556" y="3282299"/>
            <a:ext cx="1728000" cy="360000"/>
          </a:xfrm>
          <a:prstGeom prst="roundRect">
            <a:avLst/>
          </a:prstGeom>
          <a:solidFill>
            <a:srgbClr val="FFFFFF">
              <a:lumMod val="85000"/>
            </a:srgbClr>
          </a:solidFill>
          <a:ln w="12700" algn="ctr">
            <a:solidFill>
              <a:srgbClr val="777777"/>
            </a:solidFill>
            <a:round/>
            <a:headEnd/>
            <a:tailEnd/>
          </a:ln>
        </p:spPr>
        <p:txBody>
          <a:bodyPr wrap="none" tIns="72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</a:rPr>
              <a:t>MBL/HBL</a:t>
            </a: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</a:rPr>
              <a:t>생성</a:t>
            </a:r>
            <a:r>
              <a:rPr kumimoji="0" lang="en-US" altLang="ko-KR" sz="12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</a:rPr>
              <a:t>,</a:t>
            </a: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</a:rPr>
              <a:t>스케줄링</a:t>
            </a:r>
          </a:p>
        </p:txBody>
      </p:sp>
      <p:sp>
        <p:nvSpPr>
          <p:cNvPr id="194" name="모서리가 둥근 직사각형 193"/>
          <p:cNvSpPr/>
          <p:nvPr/>
        </p:nvSpPr>
        <p:spPr bwMode="auto">
          <a:xfrm>
            <a:off x="3773556" y="2785971"/>
            <a:ext cx="1728000" cy="360000"/>
          </a:xfrm>
          <a:prstGeom prst="roundRect">
            <a:avLst/>
          </a:prstGeom>
          <a:solidFill>
            <a:srgbClr val="FFFFFF">
              <a:lumMod val="85000"/>
            </a:srgbClr>
          </a:solidFill>
          <a:ln w="12700" algn="ctr">
            <a:solidFill>
              <a:srgbClr val="777777"/>
            </a:solidFill>
            <a:round/>
            <a:headEnd/>
            <a:tailEnd/>
          </a:ln>
        </p:spPr>
        <p:txBody>
          <a:bodyPr wrap="none" tIns="72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</a:rPr>
              <a:t>국제운송 </a:t>
            </a:r>
            <a:r>
              <a:rPr kumimoji="0" lang="en-US" altLang="ko-KR" sz="12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</a:rPr>
              <a:t>Booking </a:t>
            </a: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</a:rPr>
              <a:t>확정</a:t>
            </a:r>
          </a:p>
        </p:txBody>
      </p:sp>
      <p:sp>
        <p:nvSpPr>
          <p:cNvPr id="195" name="모서리가 둥근 직사각형 194"/>
          <p:cNvSpPr/>
          <p:nvPr/>
        </p:nvSpPr>
        <p:spPr bwMode="auto">
          <a:xfrm>
            <a:off x="1428282" y="3282299"/>
            <a:ext cx="1728000" cy="36000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777777"/>
            </a:solidFill>
            <a:round/>
            <a:headEnd/>
            <a:tailEnd/>
          </a:ln>
        </p:spPr>
        <p:txBody>
          <a:bodyPr wrap="none" lIns="0" tIns="46800" rIns="0" anchor="ctr"/>
          <a:lstStyle/>
          <a:p>
            <a:pPr marL="0" marR="0" lvl="0" indent="0" algn="ctr" defTabSz="914400" eaLnBrk="0" fontAlgn="auto" latinLnBrk="0" hangingPunc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</a:rPr>
              <a:t>선적요청</a:t>
            </a:r>
            <a:r>
              <a:rPr kumimoji="0" lang="en-US" altLang="ko-KR" sz="12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</a:rPr>
              <a:t/>
            </a:r>
            <a:br>
              <a:rPr kumimoji="0" lang="en-US" altLang="ko-KR" sz="12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</a:rPr>
            </a:b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</a:rPr>
              <a:t>(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</a:rPr>
              <a:t>S/R: DO Combine, C/I, P/L</a:t>
            </a: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</a:rPr>
              <a:t>)</a:t>
            </a:r>
            <a:endParaRPr kumimoji="0" lang="ko-KR" altLang="en-US" sz="12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맑은 고딕" panose="020B0503020000020004" pitchFamily="50" charset="-127"/>
            </a:endParaRPr>
          </a:p>
        </p:txBody>
      </p:sp>
      <p:cxnSp>
        <p:nvCxnSpPr>
          <p:cNvPr id="196" name="직선 화살표 연결선 195"/>
          <p:cNvCxnSpPr>
            <a:stCxn id="191" idx="2"/>
            <a:endCxn id="195" idx="0"/>
          </p:cNvCxnSpPr>
          <p:nvPr/>
        </p:nvCxnSpPr>
        <p:spPr>
          <a:xfrm>
            <a:off x="2292282" y="2649643"/>
            <a:ext cx="0" cy="632656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197" name="직선 화살표 연결선 196"/>
          <p:cNvCxnSpPr>
            <a:stCxn id="192" idx="2"/>
            <a:endCxn id="194" idx="0"/>
          </p:cNvCxnSpPr>
          <p:nvPr/>
        </p:nvCxnSpPr>
        <p:spPr>
          <a:xfrm>
            <a:off x="4637556" y="2649643"/>
            <a:ext cx="0" cy="136328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198" name="직선 화살표 연결선 197"/>
          <p:cNvCxnSpPr>
            <a:stCxn id="194" idx="2"/>
            <a:endCxn id="193" idx="0"/>
          </p:cNvCxnSpPr>
          <p:nvPr/>
        </p:nvCxnSpPr>
        <p:spPr>
          <a:xfrm>
            <a:off x="4637556" y="3145971"/>
            <a:ext cx="0" cy="136328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199" name="직선 화살표 연결선 198"/>
          <p:cNvCxnSpPr>
            <a:stCxn id="195" idx="3"/>
            <a:endCxn id="193" idx="1"/>
          </p:cNvCxnSpPr>
          <p:nvPr/>
        </p:nvCxnSpPr>
        <p:spPr>
          <a:xfrm>
            <a:off x="3156282" y="3462299"/>
            <a:ext cx="617274" cy="0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headEnd type="triangle" w="med" len="med"/>
            <a:tailEnd type="triangle" w="med" len="med"/>
          </a:ln>
          <a:effectLst/>
        </p:spPr>
      </p:cxnSp>
      <p:cxnSp>
        <p:nvCxnSpPr>
          <p:cNvPr id="200" name="직선 화살표 연결선 199"/>
          <p:cNvCxnSpPr>
            <a:stCxn id="191" idx="3"/>
            <a:endCxn id="192" idx="1"/>
          </p:cNvCxnSpPr>
          <p:nvPr/>
        </p:nvCxnSpPr>
        <p:spPr>
          <a:xfrm>
            <a:off x="3156282" y="2469643"/>
            <a:ext cx="617274" cy="0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201" name="모서리가 둥근 직사각형 200"/>
          <p:cNvSpPr/>
          <p:nvPr/>
        </p:nvSpPr>
        <p:spPr bwMode="auto">
          <a:xfrm>
            <a:off x="1428282" y="4274955"/>
            <a:ext cx="1728000" cy="36000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777777"/>
            </a:solidFill>
            <a:round/>
            <a:headEnd/>
            <a:tailEnd/>
          </a:ln>
        </p:spPr>
        <p:txBody>
          <a:bodyPr wrap="none" lIns="0" tIns="46800" rIns="0" anchor="ctr"/>
          <a:lstStyle/>
          <a:p>
            <a:pPr marL="0" marR="0" lvl="0" indent="0" algn="ctr" defTabSz="914400" eaLnBrk="0" fontAlgn="auto" latinLnBrk="0" hangingPunc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</a:rPr>
              <a:t>HBL </a:t>
            </a: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</a:rPr>
              <a:t>관리</a:t>
            </a:r>
          </a:p>
        </p:txBody>
      </p:sp>
      <p:sp>
        <p:nvSpPr>
          <p:cNvPr id="202" name="모서리가 둥근 직사각형 201"/>
          <p:cNvSpPr/>
          <p:nvPr/>
        </p:nvSpPr>
        <p:spPr bwMode="auto">
          <a:xfrm>
            <a:off x="3773556" y="3778627"/>
            <a:ext cx="1728000" cy="360000"/>
          </a:xfrm>
          <a:prstGeom prst="roundRect">
            <a:avLst/>
          </a:prstGeom>
          <a:solidFill>
            <a:srgbClr val="FFFFFF">
              <a:lumMod val="85000"/>
            </a:srgbClr>
          </a:solidFill>
          <a:ln w="12700" algn="ctr">
            <a:solidFill>
              <a:srgbClr val="777777"/>
            </a:solidFill>
            <a:round/>
            <a:headEnd/>
            <a:tailEnd/>
          </a:ln>
        </p:spPr>
        <p:txBody>
          <a:bodyPr wrap="none" tIns="72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</a:rPr>
              <a:t>내륙운송 실행</a:t>
            </a:r>
          </a:p>
        </p:txBody>
      </p:sp>
      <p:sp>
        <p:nvSpPr>
          <p:cNvPr id="203" name="모서리가 둥근 직사각형 202"/>
          <p:cNvSpPr/>
          <p:nvPr/>
        </p:nvSpPr>
        <p:spPr bwMode="auto">
          <a:xfrm>
            <a:off x="3773556" y="4274955"/>
            <a:ext cx="1728000" cy="360000"/>
          </a:xfrm>
          <a:prstGeom prst="roundRect">
            <a:avLst/>
          </a:prstGeom>
          <a:solidFill>
            <a:srgbClr val="FFFFFF">
              <a:lumMod val="85000"/>
            </a:srgbClr>
          </a:solidFill>
          <a:ln w="12700" algn="ctr">
            <a:solidFill>
              <a:srgbClr val="777777"/>
            </a:solidFill>
            <a:round/>
            <a:headEnd/>
            <a:tailEnd/>
          </a:ln>
        </p:spPr>
        <p:txBody>
          <a:bodyPr wrap="none" tIns="72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</a:rPr>
              <a:t>항공</a:t>
            </a:r>
            <a:r>
              <a:rPr kumimoji="0" lang="en-US" altLang="ko-KR" sz="12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</a:rPr>
              <a:t>/</a:t>
            </a: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</a:rPr>
              <a:t>해상운송 실행</a:t>
            </a:r>
          </a:p>
        </p:txBody>
      </p:sp>
      <p:sp>
        <p:nvSpPr>
          <p:cNvPr id="204" name="모서리가 둥근 직사각형 203"/>
          <p:cNvSpPr/>
          <p:nvPr/>
        </p:nvSpPr>
        <p:spPr bwMode="auto">
          <a:xfrm>
            <a:off x="3773556" y="4771283"/>
            <a:ext cx="1728000" cy="360000"/>
          </a:xfrm>
          <a:prstGeom prst="roundRect">
            <a:avLst/>
          </a:prstGeom>
          <a:solidFill>
            <a:srgbClr val="FFFFFF">
              <a:lumMod val="85000"/>
            </a:srgbClr>
          </a:solidFill>
          <a:ln w="12700" algn="ctr">
            <a:solidFill>
              <a:srgbClr val="777777"/>
            </a:solidFill>
            <a:round/>
            <a:headEnd/>
            <a:tailEnd/>
          </a:ln>
        </p:spPr>
        <p:txBody>
          <a:bodyPr wrap="none" tIns="72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</a:rPr>
              <a:t>화물 </a:t>
            </a:r>
            <a:r>
              <a:rPr kumimoji="0" lang="en-US" altLang="ko-KR" sz="12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</a:rPr>
              <a:t>POD </a:t>
            </a: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</a:rPr>
              <a:t>수행</a:t>
            </a:r>
          </a:p>
        </p:txBody>
      </p:sp>
      <p:cxnSp>
        <p:nvCxnSpPr>
          <p:cNvPr id="205" name="직선 화살표 연결선 204"/>
          <p:cNvCxnSpPr>
            <a:stCxn id="202" idx="2"/>
            <a:endCxn id="203" idx="0"/>
          </p:cNvCxnSpPr>
          <p:nvPr/>
        </p:nvCxnSpPr>
        <p:spPr>
          <a:xfrm>
            <a:off x="4637556" y="4138627"/>
            <a:ext cx="0" cy="136328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206" name="직선 화살표 연결선 205"/>
          <p:cNvCxnSpPr>
            <a:stCxn id="203" idx="2"/>
            <a:endCxn id="204" idx="0"/>
          </p:cNvCxnSpPr>
          <p:nvPr/>
        </p:nvCxnSpPr>
        <p:spPr>
          <a:xfrm>
            <a:off x="4637556" y="4634955"/>
            <a:ext cx="0" cy="136328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207" name="직선 화살표 연결선 206"/>
          <p:cNvCxnSpPr>
            <a:stCxn id="193" idx="2"/>
            <a:endCxn id="202" idx="0"/>
          </p:cNvCxnSpPr>
          <p:nvPr/>
        </p:nvCxnSpPr>
        <p:spPr>
          <a:xfrm>
            <a:off x="4637556" y="3642299"/>
            <a:ext cx="0" cy="136328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208" name="모서리가 둥근 직사각형 207"/>
          <p:cNvSpPr/>
          <p:nvPr/>
        </p:nvSpPr>
        <p:spPr bwMode="auto">
          <a:xfrm>
            <a:off x="3773556" y="5267611"/>
            <a:ext cx="1728000" cy="36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algn="ctr">
            <a:solidFill>
              <a:srgbClr val="777777"/>
            </a:solidFill>
            <a:round/>
            <a:headEnd/>
            <a:tailEnd/>
          </a:ln>
        </p:spPr>
        <p:txBody>
          <a:bodyPr wrap="none" tIns="72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</a:rPr>
              <a:t>물류실행실적관리</a:t>
            </a:r>
          </a:p>
        </p:txBody>
      </p:sp>
      <p:sp>
        <p:nvSpPr>
          <p:cNvPr id="209" name="모서리가 둥근 직사각형 208"/>
          <p:cNvSpPr/>
          <p:nvPr/>
        </p:nvSpPr>
        <p:spPr bwMode="auto">
          <a:xfrm>
            <a:off x="3773556" y="5763942"/>
            <a:ext cx="1728000" cy="360000"/>
          </a:xfrm>
          <a:prstGeom prst="roundRect">
            <a:avLst/>
          </a:prstGeom>
          <a:solidFill>
            <a:srgbClr val="FFFFFF">
              <a:lumMod val="85000"/>
            </a:srgbClr>
          </a:solidFill>
          <a:ln w="12700" algn="ctr">
            <a:solidFill>
              <a:srgbClr val="777777"/>
            </a:solidFill>
            <a:round/>
            <a:headEnd/>
            <a:tailEnd/>
          </a:ln>
        </p:spPr>
        <p:txBody>
          <a:bodyPr wrap="none" tIns="72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</a:rPr>
              <a:t>물류비 자동정산</a:t>
            </a:r>
            <a:r>
              <a:rPr kumimoji="0" lang="en-US" altLang="ko-KR" sz="12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</a:rPr>
              <a:t>(AR, AP)</a:t>
            </a:r>
            <a:endParaRPr kumimoji="0" lang="ko-KR" altLang="en-US" sz="1200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맑은 고딕" panose="020B0503020000020004" pitchFamily="50" charset="-127"/>
            </a:endParaRPr>
          </a:p>
        </p:txBody>
      </p:sp>
      <p:sp>
        <p:nvSpPr>
          <p:cNvPr id="210" name="모서리가 둥근 직사각형 209"/>
          <p:cNvSpPr/>
          <p:nvPr/>
        </p:nvSpPr>
        <p:spPr bwMode="auto">
          <a:xfrm>
            <a:off x="1428282" y="5763942"/>
            <a:ext cx="1728000" cy="36000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777777"/>
            </a:solidFill>
            <a:round/>
            <a:headEnd/>
            <a:tailEnd/>
          </a:ln>
        </p:spPr>
        <p:txBody>
          <a:bodyPr wrap="none" lIns="0" tIns="46800" rIns="0" anchor="ctr"/>
          <a:lstStyle/>
          <a:p>
            <a:pPr marL="0" marR="0" lvl="0" indent="0" algn="ctr" defTabSz="914400" eaLnBrk="0" fontAlgn="auto" latinLnBrk="0" hangingPunc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</a:rPr>
              <a:t>물류비 검증</a:t>
            </a:r>
            <a:r>
              <a:rPr kumimoji="0" lang="en-US" altLang="ko-KR" sz="12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</a:rPr>
              <a:t>/</a:t>
            </a: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</a:rPr>
              <a:t>정산</a:t>
            </a:r>
            <a:r>
              <a:rPr kumimoji="0" lang="en-US" altLang="ko-KR" sz="12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</a:rPr>
              <a:t>(AP)</a:t>
            </a:r>
            <a:endParaRPr kumimoji="0" lang="ko-KR" altLang="en-US" sz="1200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맑은 고딕" panose="020B0503020000020004" pitchFamily="50" charset="-127"/>
            </a:endParaRPr>
          </a:p>
        </p:txBody>
      </p:sp>
      <p:cxnSp>
        <p:nvCxnSpPr>
          <p:cNvPr id="211" name="직선 화살표 연결선 210"/>
          <p:cNvCxnSpPr>
            <a:stCxn id="204" idx="2"/>
            <a:endCxn id="208" idx="0"/>
          </p:cNvCxnSpPr>
          <p:nvPr/>
        </p:nvCxnSpPr>
        <p:spPr>
          <a:xfrm>
            <a:off x="4637556" y="5131283"/>
            <a:ext cx="0" cy="136328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212" name="직선 화살표 연결선 211"/>
          <p:cNvCxnSpPr>
            <a:stCxn id="208" idx="2"/>
            <a:endCxn id="209" idx="0"/>
          </p:cNvCxnSpPr>
          <p:nvPr/>
        </p:nvCxnSpPr>
        <p:spPr>
          <a:xfrm>
            <a:off x="4637556" y="5627611"/>
            <a:ext cx="0" cy="136331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213" name="직선 화살표 연결선 212"/>
          <p:cNvCxnSpPr>
            <a:stCxn id="209" idx="1"/>
            <a:endCxn id="210" idx="3"/>
          </p:cNvCxnSpPr>
          <p:nvPr/>
        </p:nvCxnSpPr>
        <p:spPr>
          <a:xfrm flipH="1">
            <a:off x="3156282" y="5943942"/>
            <a:ext cx="617274" cy="0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214" name="직선 화살표 연결선 213"/>
          <p:cNvCxnSpPr>
            <a:stCxn id="201" idx="2"/>
            <a:endCxn id="210" idx="0"/>
          </p:cNvCxnSpPr>
          <p:nvPr/>
        </p:nvCxnSpPr>
        <p:spPr>
          <a:xfrm>
            <a:off x="2292282" y="4634955"/>
            <a:ext cx="0" cy="1128987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215" name="직선 화살표 연결선 214"/>
          <p:cNvCxnSpPr>
            <a:stCxn id="192" idx="3"/>
          </p:cNvCxnSpPr>
          <p:nvPr/>
        </p:nvCxnSpPr>
        <p:spPr>
          <a:xfrm>
            <a:off x="5501556" y="2469643"/>
            <a:ext cx="216000" cy="0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216" name="직선 화살표 연결선 215"/>
          <p:cNvCxnSpPr>
            <a:stCxn id="194" idx="3"/>
          </p:cNvCxnSpPr>
          <p:nvPr/>
        </p:nvCxnSpPr>
        <p:spPr>
          <a:xfrm>
            <a:off x="5501556" y="2965971"/>
            <a:ext cx="216000" cy="0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217" name="직선 화살표 연결선 216"/>
          <p:cNvCxnSpPr>
            <a:stCxn id="193" idx="3"/>
          </p:cNvCxnSpPr>
          <p:nvPr/>
        </p:nvCxnSpPr>
        <p:spPr>
          <a:xfrm>
            <a:off x="5501556" y="3462299"/>
            <a:ext cx="216000" cy="0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218" name="직선 화살표 연결선 217"/>
          <p:cNvCxnSpPr>
            <a:stCxn id="202" idx="3"/>
          </p:cNvCxnSpPr>
          <p:nvPr/>
        </p:nvCxnSpPr>
        <p:spPr>
          <a:xfrm>
            <a:off x="5501556" y="3958627"/>
            <a:ext cx="216000" cy="0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219" name="직선 화살표 연결선 218"/>
          <p:cNvCxnSpPr>
            <a:stCxn id="203" idx="3"/>
          </p:cNvCxnSpPr>
          <p:nvPr/>
        </p:nvCxnSpPr>
        <p:spPr>
          <a:xfrm>
            <a:off x="5501556" y="4454955"/>
            <a:ext cx="216000" cy="0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220" name="직선 화살표 연결선 219"/>
          <p:cNvCxnSpPr>
            <a:stCxn id="204" idx="3"/>
          </p:cNvCxnSpPr>
          <p:nvPr/>
        </p:nvCxnSpPr>
        <p:spPr>
          <a:xfrm>
            <a:off x="5501556" y="4951283"/>
            <a:ext cx="216000" cy="0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221" name="직선 화살표 연결선 220"/>
          <p:cNvCxnSpPr>
            <a:stCxn id="208" idx="3"/>
          </p:cNvCxnSpPr>
          <p:nvPr/>
        </p:nvCxnSpPr>
        <p:spPr>
          <a:xfrm>
            <a:off x="5501556" y="5447611"/>
            <a:ext cx="216000" cy="0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222" name="직선 화살표 연결선 221"/>
          <p:cNvCxnSpPr>
            <a:stCxn id="209" idx="3"/>
          </p:cNvCxnSpPr>
          <p:nvPr/>
        </p:nvCxnSpPr>
        <p:spPr>
          <a:xfrm>
            <a:off x="5501556" y="5943942"/>
            <a:ext cx="216000" cy="0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headEnd type="none" w="med" len="med"/>
            <a:tailEnd type="none" w="med" len="med"/>
          </a:ln>
          <a:effectLst/>
        </p:spPr>
      </p:cxnSp>
      <p:sp>
        <p:nvSpPr>
          <p:cNvPr id="223" name="모서리가 둥근 직사각형 222"/>
          <p:cNvSpPr/>
          <p:nvPr/>
        </p:nvSpPr>
        <p:spPr bwMode="auto">
          <a:xfrm>
            <a:off x="1428282" y="3778627"/>
            <a:ext cx="1728000" cy="36000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777777"/>
            </a:solidFill>
            <a:round/>
            <a:headEnd/>
            <a:tailEnd/>
          </a:ln>
        </p:spPr>
        <p:txBody>
          <a:bodyPr wrap="none" lIns="0" tIns="46800" rIns="0" anchor="ctr"/>
          <a:lstStyle/>
          <a:p>
            <a:pPr marL="0" marR="0" lvl="0" indent="0" algn="ctr" defTabSz="914400" eaLnBrk="0" fontAlgn="auto" latinLnBrk="0" hangingPunc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</a:rPr>
              <a:t>수출입 통관관리</a:t>
            </a:r>
          </a:p>
        </p:txBody>
      </p:sp>
      <p:cxnSp>
        <p:nvCxnSpPr>
          <p:cNvPr id="224" name="직선 화살표 연결선 164"/>
          <p:cNvCxnSpPr>
            <a:stCxn id="193" idx="1"/>
            <a:endCxn id="201" idx="3"/>
          </p:cNvCxnSpPr>
          <p:nvPr/>
        </p:nvCxnSpPr>
        <p:spPr>
          <a:xfrm rot="10800000" flipV="1">
            <a:off x="3156282" y="3554955"/>
            <a:ext cx="617274" cy="90000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225" name="직선 화살표 연결선 224"/>
          <p:cNvCxnSpPr>
            <a:stCxn id="223" idx="2"/>
            <a:endCxn id="201" idx="0"/>
          </p:cNvCxnSpPr>
          <p:nvPr/>
        </p:nvCxnSpPr>
        <p:spPr>
          <a:xfrm>
            <a:off x="2292282" y="4138627"/>
            <a:ext cx="0" cy="136328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226" name="Rectangle 83"/>
          <p:cNvSpPr>
            <a:spLocks noChangeArrowheads="1"/>
          </p:cNvSpPr>
          <p:nvPr/>
        </p:nvSpPr>
        <p:spPr bwMode="auto">
          <a:xfrm>
            <a:off x="395230" y="1820105"/>
            <a:ext cx="6682006" cy="308744"/>
          </a:xfrm>
          <a:prstGeom prst="rect">
            <a:avLst/>
          </a:prstGeom>
          <a:solidFill>
            <a:srgbClr val="FFFFFF">
              <a:lumMod val="95000"/>
            </a:srgbClr>
          </a:solidFill>
          <a:ln w="6350" algn="ctr">
            <a:solidFill>
              <a:srgbClr val="777777"/>
            </a:solidFill>
            <a:round/>
            <a:headEnd/>
            <a:tailEnd/>
          </a:ln>
        </p:spPr>
        <p:txBody>
          <a:bodyPr wrap="none" tIns="72000" anchor="ctr"/>
          <a:lstStyle/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</a:rPr>
              <a:t>기준정보관리</a:t>
            </a:r>
            <a:r>
              <a:rPr kumimoji="0" lang="en-US" altLang="ko-KR" sz="13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227" name="직사각형 226"/>
          <p:cNvSpPr/>
          <p:nvPr/>
        </p:nvSpPr>
        <p:spPr>
          <a:xfrm>
            <a:off x="7437979" y="2984478"/>
            <a:ext cx="19183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0" latin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ko-KR" altLang="en-US" sz="1400" b="1" dirty="0" smtClean="0">
                <a:solidFill>
                  <a:srgbClr val="0000CC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물류 </a:t>
            </a:r>
            <a:r>
              <a:rPr kumimoji="0" lang="ko-KR" altLang="en-US" sz="1400" b="1" dirty="0" smtClean="0">
                <a:solidFill>
                  <a:srgbClr val="0000CC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全 영역</a:t>
            </a:r>
            <a:r>
              <a:rPr kumimoji="0" lang="en-US" altLang="ko-KR" sz="1400" b="1" dirty="0" smtClean="0">
                <a:solidFill>
                  <a:srgbClr val="0000CC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/>
            </a:r>
            <a:br>
              <a:rPr kumimoji="0" lang="en-US" altLang="ko-KR" sz="1400" b="1" dirty="0" smtClean="0">
                <a:solidFill>
                  <a:srgbClr val="0000CC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</a:br>
            <a:r>
              <a:rPr kumimoji="0" lang="en-US" altLang="ko-KR" sz="1400" b="1" dirty="0" smtClean="0">
                <a:solidFill>
                  <a:srgbClr val="0000CC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(</a:t>
            </a:r>
            <a:r>
              <a:rPr kumimoji="0" lang="ko-KR" altLang="en-US" sz="1400" b="1" dirty="0" err="1" smtClean="0">
                <a:solidFill>
                  <a:srgbClr val="0000CC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적용영역</a:t>
            </a:r>
            <a:r>
              <a:rPr kumimoji="0" lang="ko-KR" altLang="en-US" sz="1400" b="1" dirty="0" smtClean="0">
                <a:solidFill>
                  <a:srgbClr val="0000CC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 </a:t>
            </a:r>
            <a:r>
              <a:rPr kumimoji="0" lang="en-US" altLang="ko-KR" sz="1400" b="1" dirty="0" smtClean="0">
                <a:solidFill>
                  <a:srgbClr val="0000CC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Gray Zone)</a:t>
            </a:r>
            <a:endParaRPr kumimoji="0" lang="ko-KR" altLang="en-US" sz="1400" b="1" dirty="0">
              <a:solidFill>
                <a:srgbClr val="0000CC"/>
              </a:solidFill>
              <a:latin typeface="Cambria" panose="02040503050406030204" pitchFamily="18" charset="0"/>
              <a:ea typeface="맑은 고딕" panose="020B0503020000020004" pitchFamily="50" charset="-127"/>
            </a:endParaRPr>
          </a:p>
        </p:txBody>
      </p:sp>
      <p:sp>
        <p:nvSpPr>
          <p:cNvPr id="228" name="직사각형 227"/>
          <p:cNvSpPr/>
          <p:nvPr/>
        </p:nvSpPr>
        <p:spPr>
          <a:xfrm>
            <a:off x="7333337" y="3568270"/>
            <a:ext cx="2175276" cy="10852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488" tIns="46800" rIns="90488" bIns="46800" numCol="1" anchor="t" anchorCtr="0" compatLnSpc="1">
            <a:prstTxWarp prst="textNoShape">
              <a:avLst/>
            </a:prstTxWarp>
            <a:spAutoFit/>
          </a:bodyPr>
          <a:lstStyle/>
          <a:p>
            <a:pPr marL="92075" indent="-92075" eaLnBrk="0" fontAlgn="b" latinLnBrk="0" hangingPunc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Wingdings" panose="05000000000000000000" pitchFamily="2" charset="2"/>
              <a:buChar char="§"/>
            </a:pPr>
            <a:r>
              <a:rPr kumimoji="0" lang="ko-KR" altLang="en-US" sz="1100" b="1" dirty="0" err="1" smtClean="0">
                <a:latin typeface="Cambria" panose="02040503050406030204" pitchFamily="18" charset="0"/>
                <a:ea typeface="맑은 고딕" panose="020B0503020000020004" pitchFamily="50" charset="-127"/>
                <a:cs typeface="Arial"/>
                <a:sym typeface="Wingdings" panose="05000000000000000000" pitchFamily="2" charset="2"/>
              </a:rPr>
              <a:t>공급망</a:t>
            </a:r>
            <a:r>
              <a:rPr kumimoji="0" lang="ko-KR" altLang="en-US" sz="1100" b="1" dirty="0" smtClean="0">
                <a:latin typeface="Cambria" panose="02040503050406030204" pitchFamily="18" charset="0"/>
                <a:ea typeface="맑은 고딕" panose="020B0503020000020004" pitchFamily="50" charset="-127"/>
                <a:cs typeface="Arial"/>
                <a:sym typeface="Wingdings" panose="05000000000000000000" pitchFamily="2" charset="2"/>
              </a:rPr>
              <a:t> </a:t>
            </a:r>
            <a:r>
              <a:rPr kumimoji="0" lang="ko-KR" altLang="en-US" sz="1100" b="1" dirty="0" smtClean="0">
                <a:latin typeface="Cambria" panose="02040503050406030204" pitchFamily="18" charset="0"/>
                <a:ea typeface="맑은 고딕" panose="020B0503020000020004" pitchFamily="50" charset="-127"/>
                <a:cs typeface="Arial"/>
                <a:sym typeface="Wingdings" panose="05000000000000000000" pitchFamily="2" charset="2"/>
              </a:rPr>
              <a:t>全 구간에 대한</a:t>
            </a:r>
            <a:r>
              <a:rPr kumimoji="0" lang="en-US" altLang="ko-KR" sz="1100" b="1" dirty="0" smtClean="0">
                <a:latin typeface="Cambria" panose="02040503050406030204" pitchFamily="18" charset="0"/>
                <a:ea typeface="맑은 고딕" panose="020B0503020000020004" pitchFamily="50" charset="-127"/>
                <a:cs typeface="Arial"/>
                <a:sym typeface="Wingdings" panose="05000000000000000000" pitchFamily="2" charset="2"/>
              </a:rPr>
              <a:t/>
            </a:r>
            <a:br>
              <a:rPr kumimoji="0" lang="en-US" altLang="ko-KR" sz="1100" b="1" dirty="0" smtClean="0">
                <a:latin typeface="Cambria" panose="02040503050406030204" pitchFamily="18" charset="0"/>
                <a:ea typeface="맑은 고딕" panose="020B0503020000020004" pitchFamily="50" charset="-127"/>
                <a:cs typeface="Arial"/>
                <a:sym typeface="Wingdings" panose="05000000000000000000" pitchFamily="2" charset="2"/>
              </a:rPr>
            </a:br>
            <a:r>
              <a:rPr kumimoji="0" lang="en-US" altLang="ko-KR" sz="1100" b="1" dirty="0" smtClean="0">
                <a:latin typeface="Cambria" panose="02040503050406030204" pitchFamily="18" charset="0"/>
                <a:ea typeface="맑은 고딕" panose="020B0503020000020004" pitchFamily="50" charset="-127"/>
                <a:cs typeface="Arial"/>
                <a:sym typeface="Wingdings" panose="05000000000000000000" pitchFamily="2" charset="2"/>
              </a:rPr>
              <a:t>“Seamless” </a:t>
            </a:r>
            <a:r>
              <a:rPr kumimoji="0" lang="ko-KR" altLang="en-US" sz="1100" b="1" dirty="0" smtClean="0">
                <a:latin typeface="Cambria" panose="02040503050406030204" pitchFamily="18" charset="0"/>
                <a:ea typeface="맑은 고딕" panose="020B0503020000020004" pitchFamily="50" charset="-127"/>
                <a:cs typeface="Arial"/>
                <a:sym typeface="Wingdings" panose="05000000000000000000" pitchFamily="2" charset="2"/>
              </a:rPr>
              <a:t>가시성 </a:t>
            </a:r>
            <a:r>
              <a:rPr kumimoji="0" lang="en-US" altLang="ko-KR" sz="1100" b="1" dirty="0" smtClean="0">
                <a:latin typeface="Cambria" panose="02040503050406030204" pitchFamily="18" charset="0"/>
                <a:ea typeface="맑은 고딕" panose="020B0503020000020004" pitchFamily="50" charset="-127"/>
                <a:cs typeface="Arial"/>
                <a:sym typeface="Wingdings" panose="05000000000000000000" pitchFamily="2" charset="2"/>
              </a:rPr>
              <a:t>Needs </a:t>
            </a:r>
            <a:r>
              <a:rPr kumimoji="0" lang="ko-KR" altLang="en-US" sz="1100" b="1" dirty="0" smtClean="0">
                <a:latin typeface="Cambria" panose="02040503050406030204" pitchFamily="18" charset="0"/>
                <a:ea typeface="맑은 고딕" panose="020B0503020000020004" pitchFamily="50" charset="-127"/>
                <a:cs typeface="Arial"/>
                <a:sym typeface="Wingdings" panose="05000000000000000000" pitchFamily="2" charset="2"/>
              </a:rPr>
              <a:t>확대</a:t>
            </a:r>
            <a:r>
              <a:rPr kumimoji="0" lang="en-US" altLang="ko-KR" sz="1100" b="1" dirty="0" smtClean="0">
                <a:latin typeface="Cambria" panose="02040503050406030204" pitchFamily="18" charset="0"/>
                <a:ea typeface="맑은 고딕" panose="020B0503020000020004" pitchFamily="50" charset="-127"/>
                <a:cs typeface="Arial"/>
                <a:sym typeface="Wingdings" panose="05000000000000000000" pitchFamily="2" charset="2"/>
              </a:rPr>
              <a:t/>
            </a:r>
            <a:br>
              <a:rPr kumimoji="0" lang="en-US" altLang="ko-KR" sz="1100" b="1" dirty="0" smtClean="0">
                <a:latin typeface="Cambria" panose="02040503050406030204" pitchFamily="18" charset="0"/>
                <a:ea typeface="맑은 고딕" panose="020B0503020000020004" pitchFamily="50" charset="-127"/>
                <a:cs typeface="Arial"/>
                <a:sym typeface="Wingdings" panose="05000000000000000000" pitchFamily="2" charset="2"/>
              </a:rPr>
            </a:br>
            <a:r>
              <a:rPr kumimoji="0" lang="en-US" altLang="ko-KR" sz="1100" dirty="0" smtClean="0">
                <a:latin typeface="Cambria" panose="02040503050406030204" pitchFamily="18" charset="0"/>
                <a:ea typeface="맑은 고딕" panose="020B0503020000020004" pitchFamily="50" charset="-127"/>
                <a:cs typeface="Arial"/>
                <a:sym typeface="Wingdings" panose="05000000000000000000" pitchFamily="2" charset="2"/>
              </a:rPr>
              <a:t>- Tracking &amp; Tracking </a:t>
            </a:r>
            <a:r>
              <a:rPr kumimoji="0" lang="ko-KR" altLang="en-US" sz="1100" dirty="0" smtClean="0">
                <a:latin typeface="Cambria" panose="02040503050406030204" pitchFamily="18" charset="0"/>
                <a:ea typeface="맑은 고딕" panose="020B0503020000020004" pitchFamily="50" charset="-127"/>
                <a:cs typeface="Arial"/>
                <a:sym typeface="Wingdings" panose="05000000000000000000" pitchFamily="2" charset="2"/>
              </a:rPr>
              <a:t>기능</a:t>
            </a:r>
            <a:r>
              <a:rPr kumimoji="0" lang="en-US" altLang="ko-KR" sz="1100" dirty="0" smtClean="0">
                <a:latin typeface="Cambria" panose="02040503050406030204" pitchFamily="18" charset="0"/>
                <a:ea typeface="맑은 고딕" panose="020B0503020000020004" pitchFamily="50" charset="-127"/>
                <a:cs typeface="Arial"/>
                <a:sym typeface="Wingdings" panose="05000000000000000000" pitchFamily="2" charset="2"/>
              </a:rPr>
              <a:t/>
            </a:r>
            <a:br>
              <a:rPr kumimoji="0" lang="en-US" altLang="ko-KR" sz="1100" dirty="0" smtClean="0">
                <a:latin typeface="Cambria" panose="02040503050406030204" pitchFamily="18" charset="0"/>
                <a:ea typeface="맑은 고딕" panose="020B0503020000020004" pitchFamily="50" charset="-127"/>
                <a:cs typeface="Arial"/>
                <a:sym typeface="Wingdings" panose="05000000000000000000" pitchFamily="2" charset="2"/>
              </a:rPr>
            </a:br>
            <a:r>
              <a:rPr kumimoji="0" lang="en-US" altLang="ko-KR" sz="1100" dirty="0" smtClean="0">
                <a:latin typeface="Cambria" panose="02040503050406030204" pitchFamily="18" charset="0"/>
                <a:ea typeface="맑은 고딕" panose="020B0503020000020004" pitchFamily="50" charset="-127"/>
                <a:cs typeface="Arial"/>
                <a:sym typeface="Wingdings" panose="05000000000000000000" pitchFamily="2" charset="2"/>
              </a:rPr>
              <a:t>- </a:t>
            </a:r>
            <a:r>
              <a:rPr kumimoji="0" lang="ko-KR" altLang="en-US" sz="1100" dirty="0" smtClean="0">
                <a:latin typeface="Cambria" panose="02040503050406030204" pitchFamily="18" charset="0"/>
                <a:ea typeface="맑은 고딕" panose="020B0503020000020004" pitchFamily="50" charset="-127"/>
                <a:cs typeface="Arial"/>
                <a:sym typeface="Wingdings" panose="05000000000000000000" pitchFamily="2" charset="2"/>
              </a:rPr>
              <a:t>실시간 예외상황 처리</a:t>
            </a:r>
            <a:r>
              <a:rPr kumimoji="0" lang="en-US" altLang="ko-KR" sz="1100" dirty="0" smtClean="0">
                <a:latin typeface="Cambria" panose="02040503050406030204" pitchFamily="18" charset="0"/>
                <a:ea typeface="맑은 고딕" panose="020B0503020000020004" pitchFamily="50" charset="-127"/>
                <a:cs typeface="Arial"/>
                <a:sym typeface="Wingdings" panose="05000000000000000000" pitchFamily="2" charset="2"/>
              </a:rPr>
              <a:t/>
            </a:r>
            <a:br>
              <a:rPr kumimoji="0" lang="en-US" altLang="ko-KR" sz="1100" dirty="0" smtClean="0">
                <a:latin typeface="Cambria" panose="02040503050406030204" pitchFamily="18" charset="0"/>
                <a:ea typeface="맑은 고딕" panose="020B0503020000020004" pitchFamily="50" charset="-127"/>
                <a:cs typeface="Arial"/>
                <a:sym typeface="Wingdings" panose="05000000000000000000" pitchFamily="2" charset="2"/>
              </a:rPr>
            </a:br>
            <a:r>
              <a:rPr kumimoji="0" lang="en-US" altLang="ko-KR" sz="1100" dirty="0" smtClean="0">
                <a:latin typeface="Cambria" panose="02040503050406030204" pitchFamily="18" charset="0"/>
                <a:ea typeface="맑은 고딕" panose="020B0503020000020004" pitchFamily="50" charset="-127"/>
                <a:cs typeface="Arial"/>
                <a:sym typeface="Wingdings" panose="05000000000000000000" pitchFamily="2" charset="2"/>
              </a:rPr>
              <a:t>- </a:t>
            </a:r>
            <a:r>
              <a:rPr kumimoji="0" lang="ko-KR" altLang="en-US" sz="1100" dirty="0" smtClean="0">
                <a:latin typeface="Cambria" panose="02040503050406030204" pitchFamily="18" charset="0"/>
                <a:ea typeface="맑은 고딕" panose="020B0503020000020004" pitchFamily="50" charset="-127"/>
                <a:cs typeface="Arial"/>
                <a:sym typeface="Wingdings" panose="05000000000000000000" pitchFamily="2" charset="2"/>
              </a:rPr>
              <a:t>물류 실행 </a:t>
            </a:r>
            <a:r>
              <a:rPr kumimoji="0" lang="en-US" altLang="ko-KR" sz="1100" dirty="0" smtClean="0">
                <a:latin typeface="Cambria" panose="02040503050406030204" pitchFamily="18" charset="0"/>
                <a:ea typeface="맑은 고딕" panose="020B0503020000020004" pitchFamily="50" charset="-127"/>
                <a:cs typeface="Arial"/>
                <a:sym typeface="Wingdings" panose="05000000000000000000" pitchFamily="2" charset="2"/>
              </a:rPr>
              <a:t>Performance </a:t>
            </a:r>
            <a:r>
              <a:rPr kumimoji="0" lang="ko-KR" altLang="en-US" sz="1100" dirty="0" smtClean="0">
                <a:latin typeface="Cambria" panose="02040503050406030204" pitchFamily="18" charset="0"/>
                <a:ea typeface="맑은 고딕" panose="020B0503020000020004" pitchFamily="50" charset="-127"/>
                <a:cs typeface="Arial"/>
                <a:sym typeface="Wingdings" panose="05000000000000000000" pitchFamily="2" charset="2"/>
              </a:rPr>
              <a:t>관리</a:t>
            </a:r>
            <a:r>
              <a:rPr kumimoji="0" lang="en-US" altLang="ko-KR" sz="1100" dirty="0" smtClean="0">
                <a:latin typeface="Cambria" panose="02040503050406030204" pitchFamily="18" charset="0"/>
                <a:ea typeface="맑은 고딕" panose="020B0503020000020004" pitchFamily="50" charset="-127"/>
                <a:cs typeface="Arial"/>
                <a:sym typeface="Wingdings" panose="05000000000000000000" pitchFamily="2" charset="2"/>
              </a:rPr>
              <a:t> </a:t>
            </a:r>
            <a:endParaRPr kumimoji="0" lang="ko-KR" altLang="en-US" sz="1100" dirty="0">
              <a:latin typeface="Cambria" panose="02040503050406030204" pitchFamily="18" charset="0"/>
              <a:ea typeface="맑은 고딕" panose="020B0503020000020004" pitchFamily="50" charset="-127"/>
              <a:cs typeface="Arial"/>
              <a:sym typeface="Wingdings" panose="05000000000000000000" pitchFamily="2" charset="2"/>
            </a:endParaRPr>
          </a:p>
        </p:txBody>
      </p:sp>
      <p:sp>
        <p:nvSpPr>
          <p:cNvPr id="229" name="Rounded Rectangle 60"/>
          <p:cNvSpPr/>
          <p:nvPr/>
        </p:nvSpPr>
        <p:spPr bwMode="gray">
          <a:xfrm rot="5400000">
            <a:off x="3885543" y="4027027"/>
            <a:ext cx="3834768" cy="360000"/>
          </a:xfrm>
          <a:prstGeom prst="roundRect">
            <a:avLst>
              <a:gd name="adj" fmla="val 50000"/>
            </a:avLst>
          </a:prstGeom>
          <a:solidFill>
            <a:srgbClr val="00B0F0">
              <a:alpha val="53000"/>
            </a:srgbClr>
          </a:solidFill>
          <a:ln w="12700" algn="ctr">
            <a:solidFill>
              <a:srgbClr val="777777"/>
            </a:solidFill>
            <a:round/>
            <a:headEnd/>
            <a:tailEnd/>
          </a:ln>
        </p:spPr>
        <p:txBody>
          <a:bodyPr wrap="none" tIns="72000" anchor="ctr"/>
          <a:lstStyle/>
          <a:p>
            <a:pPr algn="ctr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kumimoji="0" lang="en-US" altLang="ko-KR" sz="1300" b="1" kern="0" dirty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“Seamless”   Visibility</a:t>
            </a:r>
            <a:endParaRPr kumimoji="0" lang="ko-KR" altLang="en-US" sz="1300" b="1" kern="0" dirty="0">
              <a:solidFill>
                <a:prstClr val="black"/>
              </a:solidFill>
              <a:latin typeface="Cambria" panose="02040503050406030204" pitchFamily="18" charset="0"/>
              <a:ea typeface="맑은 고딕" panose="020B0503020000020004" pitchFamily="50" charset="-127"/>
            </a:endParaRPr>
          </a:p>
        </p:txBody>
      </p:sp>
      <p:sp>
        <p:nvSpPr>
          <p:cNvPr id="230" name="Rectangle 83"/>
          <p:cNvSpPr>
            <a:spLocks noChangeArrowheads="1"/>
          </p:cNvSpPr>
          <p:nvPr/>
        </p:nvSpPr>
        <p:spPr bwMode="auto">
          <a:xfrm>
            <a:off x="6160539" y="4679719"/>
            <a:ext cx="792000" cy="648000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777777"/>
            </a:solidFill>
            <a:round/>
            <a:headEnd/>
            <a:tailEnd/>
          </a:ln>
        </p:spPr>
        <p:txBody>
          <a:bodyPr wrap="none" tIns="72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100" b="1" kern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KPI</a:t>
            </a:r>
            <a:br>
              <a:rPr kumimoji="0" lang="en-US" altLang="ko-KR" sz="1100" b="1" kern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</a:br>
            <a:r>
              <a:rPr kumimoji="0" lang="en-US" altLang="ko-KR" sz="1100" b="1" kern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Report</a:t>
            </a:r>
          </a:p>
        </p:txBody>
      </p:sp>
      <p:sp>
        <p:nvSpPr>
          <p:cNvPr id="231" name="Rectangle 83"/>
          <p:cNvSpPr>
            <a:spLocks noChangeArrowheads="1"/>
          </p:cNvSpPr>
          <p:nvPr/>
        </p:nvSpPr>
        <p:spPr bwMode="auto">
          <a:xfrm>
            <a:off x="6160539" y="2289643"/>
            <a:ext cx="792000" cy="648000"/>
          </a:xfrm>
          <a:prstGeom prst="rect">
            <a:avLst/>
          </a:prstGeom>
          <a:solidFill>
            <a:srgbClr val="FFC000"/>
          </a:solidFill>
          <a:ln w="12700" algn="ctr">
            <a:solidFill>
              <a:srgbClr val="777777"/>
            </a:solidFill>
            <a:round/>
            <a:headEnd/>
            <a:tailEnd/>
          </a:ln>
        </p:spPr>
        <p:txBody>
          <a:bodyPr wrap="none" tIns="72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100" b="1" kern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Tracking</a:t>
            </a:r>
            <a:br>
              <a:rPr kumimoji="0" lang="en-US" altLang="ko-KR" sz="1100" b="1" kern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</a:br>
            <a:r>
              <a:rPr kumimoji="0" lang="en-US" altLang="ko-KR" sz="1100" b="1" kern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&amp; Tracing</a:t>
            </a:r>
          </a:p>
        </p:txBody>
      </p:sp>
      <p:sp>
        <p:nvSpPr>
          <p:cNvPr id="232" name="Rectangle 83"/>
          <p:cNvSpPr>
            <a:spLocks noChangeArrowheads="1"/>
          </p:cNvSpPr>
          <p:nvPr/>
        </p:nvSpPr>
        <p:spPr bwMode="auto">
          <a:xfrm>
            <a:off x="6160539" y="3086335"/>
            <a:ext cx="792000" cy="648000"/>
          </a:xfrm>
          <a:prstGeom prst="rect">
            <a:avLst/>
          </a:prstGeom>
          <a:solidFill>
            <a:srgbClr val="FFC000"/>
          </a:solidFill>
          <a:ln w="12700" algn="ctr">
            <a:solidFill>
              <a:srgbClr val="777777"/>
            </a:solidFill>
            <a:round/>
            <a:headEnd/>
            <a:tailEnd/>
          </a:ln>
        </p:spPr>
        <p:txBody>
          <a:bodyPr wrap="none" tIns="72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100" b="1" kern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Exception</a:t>
            </a:r>
            <a:br>
              <a:rPr kumimoji="0" lang="en-US" altLang="ko-KR" sz="1100" b="1" kern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</a:br>
            <a:r>
              <a:rPr kumimoji="0" lang="en-US" altLang="ko-KR" sz="1100" b="1" kern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(Alert)</a:t>
            </a:r>
          </a:p>
        </p:txBody>
      </p:sp>
      <p:sp>
        <p:nvSpPr>
          <p:cNvPr id="233" name="Rectangle 83"/>
          <p:cNvSpPr>
            <a:spLocks noChangeArrowheads="1"/>
          </p:cNvSpPr>
          <p:nvPr/>
        </p:nvSpPr>
        <p:spPr bwMode="auto">
          <a:xfrm>
            <a:off x="6160539" y="3883027"/>
            <a:ext cx="792000" cy="648000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777777"/>
            </a:solidFill>
            <a:round/>
            <a:headEnd/>
            <a:tailEnd/>
          </a:ln>
        </p:spPr>
        <p:txBody>
          <a:bodyPr wrap="none" tIns="72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100" b="1" kern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Dashboard</a:t>
            </a:r>
          </a:p>
        </p:txBody>
      </p:sp>
      <p:sp>
        <p:nvSpPr>
          <p:cNvPr id="234" name="Rectangle 83"/>
          <p:cNvSpPr>
            <a:spLocks noChangeArrowheads="1"/>
          </p:cNvSpPr>
          <p:nvPr/>
        </p:nvSpPr>
        <p:spPr bwMode="auto">
          <a:xfrm>
            <a:off x="6160539" y="5476411"/>
            <a:ext cx="792000" cy="648000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777777"/>
            </a:solidFill>
            <a:round/>
            <a:headEnd/>
            <a:tailEnd/>
          </a:ln>
        </p:spPr>
        <p:txBody>
          <a:bodyPr wrap="none" tIns="72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100" b="1" kern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Analysis</a:t>
            </a:r>
          </a:p>
        </p:txBody>
      </p:sp>
      <p:cxnSp>
        <p:nvCxnSpPr>
          <p:cNvPr id="235" name="직선 화살표 연결선 234"/>
          <p:cNvCxnSpPr>
            <a:stCxn id="229" idx="0"/>
            <a:endCxn id="231" idx="1"/>
          </p:cNvCxnSpPr>
          <p:nvPr/>
        </p:nvCxnSpPr>
        <p:spPr>
          <a:xfrm flipV="1">
            <a:off x="5982927" y="2613643"/>
            <a:ext cx="177612" cy="1593384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headEnd type="oval" w="med" len="med"/>
            <a:tailEnd type="none" w="med" len="med"/>
          </a:ln>
          <a:effectLst/>
        </p:spPr>
      </p:cxnSp>
      <p:cxnSp>
        <p:nvCxnSpPr>
          <p:cNvPr id="236" name="직선 화살표 연결선 235"/>
          <p:cNvCxnSpPr>
            <a:stCxn id="229" idx="0"/>
            <a:endCxn id="232" idx="1"/>
          </p:cNvCxnSpPr>
          <p:nvPr/>
        </p:nvCxnSpPr>
        <p:spPr>
          <a:xfrm flipV="1">
            <a:off x="5982927" y="3410335"/>
            <a:ext cx="177612" cy="796692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headEnd type="oval" w="med" len="med"/>
            <a:tailEnd type="none" w="med" len="med"/>
          </a:ln>
          <a:effectLst/>
        </p:spPr>
      </p:cxnSp>
      <p:cxnSp>
        <p:nvCxnSpPr>
          <p:cNvPr id="237" name="직선 화살표 연결선 236"/>
          <p:cNvCxnSpPr>
            <a:stCxn id="229" idx="0"/>
            <a:endCxn id="233" idx="1"/>
          </p:cNvCxnSpPr>
          <p:nvPr/>
        </p:nvCxnSpPr>
        <p:spPr>
          <a:xfrm>
            <a:off x="5982927" y="4207027"/>
            <a:ext cx="177612" cy="0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headEnd type="oval" w="med" len="med"/>
            <a:tailEnd type="none" w="med" len="med"/>
          </a:ln>
          <a:effectLst/>
        </p:spPr>
      </p:cxnSp>
      <p:cxnSp>
        <p:nvCxnSpPr>
          <p:cNvPr id="238" name="직선 화살표 연결선 237"/>
          <p:cNvCxnSpPr>
            <a:stCxn id="229" idx="0"/>
            <a:endCxn id="230" idx="1"/>
          </p:cNvCxnSpPr>
          <p:nvPr/>
        </p:nvCxnSpPr>
        <p:spPr>
          <a:xfrm>
            <a:off x="5982927" y="4207027"/>
            <a:ext cx="177612" cy="796692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headEnd type="oval" w="med" len="med"/>
            <a:tailEnd type="none" w="med" len="med"/>
          </a:ln>
          <a:effectLst/>
        </p:spPr>
      </p:cxnSp>
      <p:cxnSp>
        <p:nvCxnSpPr>
          <p:cNvPr id="239" name="직선 화살표 연결선 238"/>
          <p:cNvCxnSpPr>
            <a:stCxn id="229" idx="0"/>
            <a:endCxn id="234" idx="1"/>
          </p:cNvCxnSpPr>
          <p:nvPr/>
        </p:nvCxnSpPr>
        <p:spPr>
          <a:xfrm>
            <a:off x="5982927" y="4207027"/>
            <a:ext cx="177612" cy="1593384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headEnd type="oval" w="med" len="med"/>
            <a:tailEnd type="none" w="med" len="med"/>
          </a:ln>
          <a:effectLst/>
        </p:spPr>
      </p:cxnSp>
      <p:cxnSp>
        <p:nvCxnSpPr>
          <p:cNvPr id="240" name="직선 연결선 239"/>
          <p:cNvCxnSpPr/>
          <p:nvPr/>
        </p:nvCxnSpPr>
        <p:spPr bwMode="auto">
          <a:xfrm>
            <a:off x="395230" y="5199919"/>
            <a:ext cx="5112000" cy="0"/>
          </a:xfrm>
          <a:prstGeom prst="line">
            <a:avLst/>
          </a:prstGeom>
          <a:noFill/>
          <a:ln w="6350" cap="flat" cmpd="sng" algn="ctr">
            <a:solidFill>
              <a:srgbClr val="777777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- </a:t>
            </a:r>
            <a:fld id="{EE975AF4-B1F3-41E4-B19A-4F6D78AFBDB1}" type="slidenum">
              <a:rPr lang="en-US" altLang="ko-KR" smtClean="0"/>
              <a:pPr>
                <a:defRPr/>
              </a:pPr>
              <a:t>4</a:t>
            </a:fld>
            <a:r>
              <a:rPr lang="en-US" altLang="ko-KR" smtClean="0"/>
              <a:t> -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3302088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6"/>
          <p:cNvSpPr txBox="1">
            <a:spLocks noChangeArrowheads="1"/>
          </p:cNvSpPr>
          <p:nvPr/>
        </p:nvSpPr>
        <p:spPr bwMode="auto">
          <a:xfrm>
            <a:off x="344488" y="142875"/>
            <a:ext cx="44656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ko-KR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KEROL - Global Trading </a:t>
            </a:r>
            <a:r>
              <a:rPr kumimoji="0" lang="ko-KR" altLang="en-US" b="1" dirty="0" smtClean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주요기능</a:t>
            </a:r>
            <a:r>
              <a:rPr kumimoji="0" lang="en-US" altLang="ko-KR" b="1" dirty="0" smtClean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[1/3]</a:t>
            </a:r>
            <a:endParaRPr kumimoji="0" lang="ko-KR" altLang="en-US" b="1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948236" y="116632"/>
            <a:ext cx="17643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114300" indent="-114300" algn="r">
              <a:buFont typeface="+mj-lt"/>
              <a:buAutoNum type="romanUcPeriod"/>
            </a:lvl1pPr>
          </a:lstStyle>
          <a:p>
            <a:pPr marL="0" indent="0">
              <a:buNone/>
              <a:defRPr/>
            </a:pPr>
            <a:r>
              <a:rPr lang="en-US" altLang="ko-KR" dirty="0">
                <a:latin typeface="Cambria" panose="02040503050406030204" pitchFamily="18" charset="0"/>
              </a:rPr>
              <a:t>Ⅱ</a:t>
            </a:r>
            <a:r>
              <a:rPr lang="en-US" altLang="ko-KR" dirty="0" smtClean="0">
                <a:solidFill>
                  <a:srgbClr val="000000"/>
                </a:solidFill>
                <a:latin typeface="Cambria" panose="02040503050406030204" pitchFamily="18" charset="0"/>
              </a:rPr>
              <a:t>. </a:t>
            </a:r>
            <a:r>
              <a:rPr lang="en-US" altLang="ko-KR" dirty="0" smtClean="0">
                <a:solidFill>
                  <a:srgbClr val="000000"/>
                </a:solidFill>
                <a:latin typeface="Cambria" panose="02040503050406030204" pitchFamily="18" charset="0"/>
              </a:rPr>
              <a:t>Global Trading</a:t>
            </a:r>
            <a:endParaRPr lang="ko-KR" altLang="en-US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91" name="오각형 90"/>
          <p:cNvSpPr/>
          <p:nvPr/>
        </p:nvSpPr>
        <p:spPr>
          <a:xfrm>
            <a:off x="1659349" y="1477108"/>
            <a:ext cx="7758147" cy="4575523"/>
          </a:xfrm>
          <a:prstGeom prst="homePlate">
            <a:avLst>
              <a:gd name="adj" fmla="val 10117"/>
            </a:avLst>
          </a:prstGeom>
          <a:solidFill>
            <a:srgbClr val="FFFFFF"/>
          </a:solidFill>
          <a:ln>
            <a:solidFill>
              <a:srgbClr val="00759E"/>
            </a:solidFill>
          </a:ln>
          <a:effectLst>
            <a:glow rad="139700">
              <a:srgbClr val="BBE0E3">
                <a:satMod val="175000"/>
                <a:alpha val="40000"/>
              </a:srgbClr>
            </a:glow>
          </a:effectLst>
        </p:spPr>
        <p:txBody>
          <a:bodyPr wrap="none" rtlCol="0" anchor="ctr">
            <a:noAutofit/>
          </a:bodyPr>
          <a:lstStyle/>
          <a:p>
            <a:pPr marL="171450" indent="-171450" fontAlgn="auto" latinLnBrk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Font typeface="Arial" pitchFamily="34" charset="0"/>
              <a:buChar char="•"/>
              <a:defRPr/>
            </a:pPr>
            <a:endParaRPr lang="ko-KR" altLang="en-US" sz="1050" kern="0" dirty="0" smtClean="0">
              <a:latin typeface="맑은 고딕" panose="020B0503020000020004" pitchFamily="50" charset="-127"/>
              <a:ea typeface="맑은 고딕" pitchFamily="50" charset="-127"/>
            </a:endParaRPr>
          </a:p>
        </p:txBody>
      </p:sp>
      <p:grpSp>
        <p:nvGrpSpPr>
          <p:cNvPr id="92" name="그룹 91"/>
          <p:cNvGrpSpPr/>
          <p:nvPr/>
        </p:nvGrpSpPr>
        <p:grpSpPr>
          <a:xfrm>
            <a:off x="3487469" y="4064486"/>
            <a:ext cx="4788743" cy="1037479"/>
            <a:chOff x="1565497" y="4845042"/>
            <a:chExt cx="7612914" cy="1536286"/>
          </a:xfrm>
        </p:grpSpPr>
        <p:pic>
          <p:nvPicPr>
            <p:cNvPr id="93" name="Picture 5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7184"/>
            <a:stretch/>
          </p:blipFill>
          <p:spPr bwMode="auto">
            <a:xfrm>
              <a:off x="1565497" y="4845042"/>
              <a:ext cx="7612914" cy="7530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4" name="Picture 3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65497" y="5628825"/>
              <a:ext cx="7612914" cy="7525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95" name="Picture 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7469" y="3140395"/>
            <a:ext cx="4578118" cy="788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" name="TextBox 95"/>
          <p:cNvSpPr txBox="1"/>
          <p:nvPr/>
        </p:nvSpPr>
        <p:spPr>
          <a:xfrm>
            <a:off x="8070939" y="3140395"/>
            <a:ext cx="808805" cy="580765"/>
          </a:xfrm>
          <a:prstGeom prst="rect">
            <a:avLst/>
          </a:prstGeom>
          <a:noFill/>
        </p:spPr>
        <p:txBody>
          <a:bodyPr wrap="none" lIns="95088" tIns="47544" rIns="95088" bIns="47544" rtlCol="0">
            <a:spAutoFit/>
          </a:bodyPr>
          <a:lstStyle/>
          <a:p>
            <a:pPr defTabSz="950881">
              <a:lnSpc>
                <a:spcPct val="100000"/>
              </a:lnSpc>
              <a:buFontTx/>
              <a:buNone/>
            </a:pPr>
            <a:r>
              <a:rPr lang="en-US" altLang="ko-KR" sz="14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itchFamily="50" charset="-127"/>
              </a:rPr>
              <a:t>Cargo</a:t>
            </a:r>
          </a:p>
          <a:p>
            <a:pPr defTabSz="950881">
              <a:lnSpc>
                <a:spcPct val="100000"/>
              </a:lnSpc>
              <a:buFontTx/>
              <a:buNone/>
            </a:pPr>
            <a:r>
              <a:rPr lang="en-US" altLang="ko-KR" sz="14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itchFamily="50" charset="-127"/>
              </a:rPr>
              <a:t>Tracing</a:t>
            </a:r>
            <a:endParaRPr lang="ko-KR" altLang="en-US" sz="1400" b="1" dirty="0">
              <a:solidFill>
                <a:prstClr val="black"/>
              </a:solidFill>
              <a:latin typeface="맑은 고딕" panose="020B0503020000020004" pitchFamily="50" charset="-127"/>
              <a:ea typeface="맑은 고딕" pitchFamily="50" charset="-127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8070939" y="4072082"/>
            <a:ext cx="648633" cy="580765"/>
          </a:xfrm>
          <a:prstGeom prst="rect">
            <a:avLst/>
          </a:prstGeom>
          <a:noFill/>
        </p:spPr>
        <p:txBody>
          <a:bodyPr wrap="none" lIns="95088" tIns="47544" rIns="95088" bIns="47544" rtlCol="0">
            <a:spAutoFit/>
          </a:bodyPr>
          <a:lstStyle/>
          <a:p>
            <a:pPr defTabSz="950881">
              <a:lnSpc>
                <a:spcPct val="100000"/>
              </a:lnSpc>
              <a:buFontTx/>
              <a:buNone/>
            </a:pPr>
            <a:r>
              <a:rPr lang="en-US" altLang="ko-KR" sz="14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itchFamily="50" charset="-127"/>
              </a:rPr>
              <a:t>Work</a:t>
            </a:r>
          </a:p>
          <a:p>
            <a:pPr defTabSz="950881">
              <a:lnSpc>
                <a:spcPct val="100000"/>
              </a:lnSpc>
              <a:buFontTx/>
              <a:buNone/>
            </a:pPr>
            <a:r>
              <a:rPr lang="en-US" altLang="ko-KR" sz="14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itchFamily="50" charset="-127"/>
              </a:rPr>
              <a:t>Flow</a:t>
            </a:r>
            <a:endParaRPr lang="ko-KR" altLang="en-US" sz="1400" b="1" dirty="0">
              <a:solidFill>
                <a:prstClr val="black"/>
              </a:solidFill>
              <a:latin typeface="맑은 고딕" panose="020B0503020000020004" pitchFamily="50" charset="-127"/>
              <a:ea typeface="맑은 고딕" pitchFamily="50" charset="-127"/>
            </a:endParaRPr>
          </a:p>
        </p:txBody>
      </p:sp>
      <p:sp>
        <p:nvSpPr>
          <p:cNvPr id="98" name="오른쪽 화살표 97"/>
          <p:cNvSpPr/>
          <p:nvPr/>
        </p:nvSpPr>
        <p:spPr>
          <a:xfrm>
            <a:off x="4667489" y="2126453"/>
            <a:ext cx="380181" cy="408156"/>
          </a:xfrm>
          <a:prstGeom prst="rightArrow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50881" fontAlgn="auto" latinLnBrk="0">
              <a:spcAft>
                <a:spcPts val="0"/>
              </a:spcAft>
              <a:buFontTx/>
              <a:buNone/>
              <a:defRPr/>
            </a:pPr>
            <a:endParaRPr kumimoji="0" lang="ko-KR" altLang="en-US" sz="1900" kern="0" smtClean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pic>
        <p:nvPicPr>
          <p:cNvPr id="99" name="Picture 9" descr="\\Client\C$\Users\09525\Desktop\윤진호\computer-1331579_1280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9305" y="1850884"/>
            <a:ext cx="890868" cy="956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" name="모서리가 둥근 직사각형 99"/>
          <p:cNvSpPr/>
          <p:nvPr/>
        </p:nvSpPr>
        <p:spPr>
          <a:xfrm>
            <a:off x="6558771" y="3744911"/>
            <a:ext cx="1330632" cy="167997"/>
          </a:xfrm>
          <a:prstGeom prst="roundRect">
            <a:avLst>
              <a:gd name="adj" fmla="val 50000"/>
            </a:avLst>
          </a:prstGeom>
          <a:solidFill>
            <a:srgbClr val="E2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50881" fontAlgn="auto" latinLnBrk="0">
              <a:spcAft>
                <a:spcPts val="0"/>
              </a:spcAft>
              <a:buFontTx/>
              <a:buNone/>
              <a:defRPr/>
            </a:pPr>
            <a:r>
              <a:rPr kumimoji="0" lang="en-US" altLang="ko-KR" sz="1100" kern="0" dirty="0" smtClean="0">
                <a:solidFill>
                  <a:prstClr val="white"/>
                </a:solidFill>
                <a:latin typeface="맑은 고딕"/>
                <a:ea typeface="맑은 고딕"/>
              </a:rPr>
              <a:t>Origin ~ </a:t>
            </a:r>
            <a:r>
              <a:rPr kumimoji="0" lang="en-US" altLang="ko-KR" sz="1100" kern="0" dirty="0" err="1" smtClean="0">
                <a:solidFill>
                  <a:prstClr val="white"/>
                </a:solidFill>
                <a:latin typeface="맑은 고딕"/>
                <a:ea typeface="맑은 고딕"/>
              </a:rPr>
              <a:t>Deation</a:t>
            </a:r>
            <a:endParaRPr kumimoji="0" lang="ko-KR" altLang="en-US" sz="1100" kern="0" dirty="0" smtClean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101" name="모서리가 둥근 직사각형 100"/>
          <p:cNvSpPr/>
          <p:nvPr/>
        </p:nvSpPr>
        <p:spPr>
          <a:xfrm>
            <a:off x="6558771" y="4405049"/>
            <a:ext cx="1330632" cy="167997"/>
          </a:xfrm>
          <a:prstGeom prst="roundRect">
            <a:avLst>
              <a:gd name="adj" fmla="val 50000"/>
            </a:avLst>
          </a:prstGeom>
          <a:solidFill>
            <a:srgbClr val="E2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50881" fontAlgn="auto" latinLnBrk="0">
              <a:spcAft>
                <a:spcPts val="0"/>
              </a:spcAft>
              <a:buFontTx/>
              <a:buNone/>
              <a:defRPr/>
            </a:pPr>
            <a:r>
              <a:rPr kumimoji="0" lang="en-US" altLang="ko-KR" sz="1100" kern="0" dirty="0" smtClean="0">
                <a:solidFill>
                  <a:prstClr val="white"/>
                </a:solidFill>
                <a:latin typeface="맑은 고딕"/>
                <a:ea typeface="맑은 고딕"/>
              </a:rPr>
              <a:t>Export Process</a:t>
            </a:r>
            <a:endParaRPr kumimoji="0" lang="ko-KR" altLang="en-US" sz="1100" kern="0" dirty="0" smtClean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102" name="모서리가 둥근 직사각형 101"/>
          <p:cNvSpPr/>
          <p:nvPr/>
        </p:nvSpPr>
        <p:spPr>
          <a:xfrm>
            <a:off x="6558771" y="4933968"/>
            <a:ext cx="1330632" cy="167997"/>
          </a:xfrm>
          <a:prstGeom prst="roundRect">
            <a:avLst>
              <a:gd name="adj" fmla="val 50000"/>
            </a:avLst>
          </a:prstGeom>
          <a:solidFill>
            <a:srgbClr val="E2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50881" fontAlgn="auto" latinLnBrk="0">
              <a:spcAft>
                <a:spcPts val="0"/>
              </a:spcAft>
              <a:buFontTx/>
              <a:buNone/>
              <a:defRPr/>
            </a:pPr>
            <a:r>
              <a:rPr kumimoji="0" lang="en-US" altLang="ko-KR" sz="1100" kern="0" dirty="0" smtClean="0">
                <a:solidFill>
                  <a:prstClr val="white"/>
                </a:solidFill>
                <a:latin typeface="맑은 고딕"/>
                <a:ea typeface="맑은 고딕"/>
              </a:rPr>
              <a:t>Import Process</a:t>
            </a:r>
            <a:endParaRPr kumimoji="0" lang="ko-KR" altLang="en-US" sz="1100" kern="0" dirty="0" smtClean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grpSp>
        <p:nvGrpSpPr>
          <p:cNvPr id="103" name="그룹 102"/>
          <p:cNvGrpSpPr/>
          <p:nvPr/>
        </p:nvGrpSpPr>
        <p:grpSpPr>
          <a:xfrm>
            <a:off x="5142714" y="1645581"/>
            <a:ext cx="2386236" cy="1415602"/>
            <a:chOff x="4073588" y="1431048"/>
            <a:chExt cx="3615716" cy="1997952"/>
          </a:xfrm>
        </p:grpSpPr>
        <p:pic>
          <p:nvPicPr>
            <p:cNvPr id="104" name="Picture 7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73588" y="1431048"/>
              <a:ext cx="3615716" cy="1997952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pic>
          <p:nvPicPr>
            <p:cNvPr id="105" name="Picture 2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77992" y="1446965"/>
              <a:ext cx="242317" cy="770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106" name="직선 화살표 연결선 105"/>
          <p:cNvCxnSpPr>
            <a:endCxn id="124" idx="7"/>
          </p:cNvCxnSpPr>
          <p:nvPr/>
        </p:nvCxnSpPr>
        <p:spPr bwMode="auto">
          <a:xfrm flipH="1">
            <a:off x="991025" y="3746614"/>
            <a:ext cx="603894" cy="857709"/>
          </a:xfrm>
          <a:prstGeom prst="straightConnector1">
            <a:avLst/>
          </a:prstGeom>
          <a:noFill/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07" name="직선 화살표 연결선 106"/>
          <p:cNvCxnSpPr>
            <a:endCxn id="125" idx="5"/>
          </p:cNvCxnSpPr>
          <p:nvPr/>
        </p:nvCxnSpPr>
        <p:spPr bwMode="auto">
          <a:xfrm flipH="1" flipV="1">
            <a:off x="955332" y="2804794"/>
            <a:ext cx="657173" cy="951345"/>
          </a:xfrm>
          <a:prstGeom prst="straightConnector1">
            <a:avLst/>
          </a:prstGeom>
          <a:noFill/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108" name="원호 107"/>
          <p:cNvSpPr/>
          <p:nvPr/>
        </p:nvSpPr>
        <p:spPr bwMode="auto">
          <a:xfrm>
            <a:off x="678936" y="1557401"/>
            <a:ext cx="1724677" cy="4420800"/>
          </a:xfrm>
          <a:prstGeom prst="arc">
            <a:avLst>
              <a:gd name="adj1" fmla="val 16137095"/>
              <a:gd name="adj2" fmla="val 17169319"/>
            </a:avLst>
          </a:prstGeom>
          <a:noFill/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lang="ko-KR" altLang="en-US" sz="1400" kern="0" smtClean="0">
              <a:solidFill>
                <a:srgbClr val="666666"/>
              </a:solidFill>
              <a:latin typeface="Cambria" panose="02040503050406030204" pitchFamily="18" charset="0"/>
              <a:ea typeface="맑은 고딕" pitchFamily="50" charset="-127"/>
            </a:endParaRPr>
          </a:p>
        </p:txBody>
      </p:sp>
      <p:sp>
        <p:nvSpPr>
          <p:cNvPr id="109" name="원호 108"/>
          <p:cNvSpPr/>
          <p:nvPr/>
        </p:nvSpPr>
        <p:spPr bwMode="auto">
          <a:xfrm>
            <a:off x="676841" y="1561402"/>
            <a:ext cx="1724677" cy="4420800"/>
          </a:xfrm>
          <a:prstGeom prst="arc">
            <a:avLst>
              <a:gd name="adj1" fmla="val 14081265"/>
              <a:gd name="adj2" fmla="val 15823967"/>
            </a:avLst>
          </a:prstGeom>
          <a:noFill/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lang="ko-KR" altLang="en-US" sz="1400" kern="0" smtClean="0">
              <a:solidFill>
                <a:srgbClr val="666666"/>
              </a:solidFill>
              <a:latin typeface="Cambria" panose="02040503050406030204" pitchFamily="18" charset="0"/>
              <a:ea typeface="맑은 고딕" pitchFamily="50" charset="-127"/>
            </a:endParaRPr>
          </a:p>
        </p:txBody>
      </p:sp>
      <p:sp>
        <p:nvSpPr>
          <p:cNvPr id="110" name="원호 109"/>
          <p:cNvSpPr/>
          <p:nvPr/>
        </p:nvSpPr>
        <p:spPr bwMode="auto">
          <a:xfrm>
            <a:off x="670535" y="1548300"/>
            <a:ext cx="1724677" cy="4420800"/>
          </a:xfrm>
          <a:prstGeom prst="arc">
            <a:avLst>
              <a:gd name="adj1" fmla="val 5413940"/>
              <a:gd name="adj2" fmla="val 7252910"/>
            </a:avLst>
          </a:prstGeom>
          <a:noFill/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lang="ko-KR" altLang="en-US" sz="1400" kern="0" smtClean="0">
              <a:solidFill>
                <a:srgbClr val="666666"/>
              </a:solidFill>
              <a:latin typeface="Cambria" panose="02040503050406030204" pitchFamily="18" charset="0"/>
              <a:ea typeface="맑은 고딕" pitchFamily="50" charset="-127"/>
            </a:endParaRPr>
          </a:p>
        </p:txBody>
      </p:sp>
      <p:sp>
        <p:nvSpPr>
          <p:cNvPr id="111" name="원호 110"/>
          <p:cNvSpPr/>
          <p:nvPr/>
        </p:nvSpPr>
        <p:spPr bwMode="auto">
          <a:xfrm>
            <a:off x="681033" y="1559673"/>
            <a:ext cx="1724677" cy="4420800"/>
          </a:xfrm>
          <a:prstGeom prst="arc">
            <a:avLst>
              <a:gd name="adj1" fmla="val 3920635"/>
              <a:gd name="adj2" fmla="val 4923003"/>
            </a:avLst>
          </a:prstGeom>
          <a:noFill/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lang="ko-KR" altLang="en-US" sz="1400" kern="0" smtClean="0">
              <a:solidFill>
                <a:srgbClr val="666666"/>
              </a:solidFill>
              <a:latin typeface="Cambria" panose="02040503050406030204" pitchFamily="18" charset="0"/>
              <a:ea typeface="맑은 고딕" pitchFamily="50" charset="-127"/>
            </a:endParaRPr>
          </a:p>
        </p:txBody>
      </p:sp>
      <p:sp>
        <p:nvSpPr>
          <p:cNvPr id="112" name="타원 111"/>
          <p:cNvSpPr/>
          <p:nvPr/>
        </p:nvSpPr>
        <p:spPr>
          <a:xfrm>
            <a:off x="1353561" y="1340768"/>
            <a:ext cx="498462" cy="540000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solidFill>
              <a:srgbClr val="666666">
                <a:lumMod val="75000"/>
              </a:srgbClr>
            </a:solidFill>
          </a:ln>
        </p:spPr>
        <p:txBody>
          <a:bodyPr wrap="none" rtlCol="0" anchor="ctr">
            <a:noAutofit/>
          </a:bodyPr>
          <a:lstStyle/>
          <a:p>
            <a:pPr algn="ctr" latinLnBrk="0">
              <a:lnSpc>
                <a:spcPts val="1200"/>
              </a:lnSpc>
              <a:spcBef>
                <a:spcPct val="0"/>
              </a:spcBef>
              <a:buClrTx/>
              <a:buFontTx/>
              <a:buNone/>
            </a:pPr>
            <a:r>
              <a:rPr lang="ko-KR" altLang="en-US" sz="1000" b="1" kern="0" dirty="0">
                <a:latin typeface="Cambria" panose="02040503050406030204" pitchFamily="18" charset="0"/>
                <a:ea typeface="맑은 고딕" pitchFamily="50" charset="-127"/>
              </a:rPr>
              <a:t>물류</a:t>
            </a:r>
            <a:endParaRPr lang="en-US" altLang="ko-KR" sz="1000" b="1" kern="0" dirty="0">
              <a:latin typeface="Cambria" panose="02040503050406030204" pitchFamily="18" charset="0"/>
              <a:ea typeface="맑은 고딕" pitchFamily="50" charset="-127"/>
            </a:endParaRPr>
          </a:p>
          <a:p>
            <a:pPr algn="ctr" latinLnBrk="0">
              <a:lnSpc>
                <a:spcPts val="1200"/>
              </a:lnSpc>
              <a:spcBef>
                <a:spcPct val="0"/>
              </a:spcBef>
              <a:buClrTx/>
              <a:buFontTx/>
              <a:buNone/>
            </a:pPr>
            <a:r>
              <a:rPr lang="ko-KR" altLang="en-US" sz="1000" b="1" kern="0" dirty="0">
                <a:latin typeface="Cambria" panose="02040503050406030204" pitchFamily="18" charset="0"/>
                <a:ea typeface="맑은 고딕" pitchFamily="50" charset="-127"/>
              </a:rPr>
              <a:t>계약</a:t>
            </a:r>
          </a:p>
        </p:txBody>
      </p:sp>
      <p:sp>
        <p:nvSpPr>
          <p:cNvPr id="113" name="타원 112"/>
          <p:cNvSpPr/>
          <p:nvPr/>
        </p:nvSpPr>
        <p:spPr>
          <a:xfrm>
            <a:off x="1924045" y="1957187"/>
            <a:ext cx="299077" cy="324000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solidFill>
              <a:srgbClr val="666666">
                <a:lumMod val="75000"/>
              </a:srgbClr>
            </a:solidFill>
          </a:ln>
        </p:spPr>
        <p:txBody>
          <a:bodyPr wrap="none" rtlCol="0" anchor="ctr">
            <a:noAutofit/>
          </a:bodyPr>
          <a:lstStyle/>
          <a:p>
            <a:pPr algn="ctr" latinLnBrk="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ko-KR" sz="1000" b="1" kern="0" dirty="0" smtClean="0">
                <a:latin typeface="Cambria" panose="02040503050406030204" pitchFamily="18" charset="0"/>
                <a:ea typeface="맑은 고딕" pitchFamily="50" charset="-127"/>
              </a:rPr>
              <a:t>B/R</a:t>
            </a:r>
          </a:p>
          <a:p>
            <a:pPr algn="ctr" latinLnBrk="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ko-KR" sz="1000" b="1" kern="0" dirty="0" smtClean="0">
                <a:latin typeface="Cambria" panose="02040503050406030204" pitchFamily="18" charset="0"/>
                <a:ea typeface="맑은 고딕" pitchFamily="50" charset="-127"/>
              </a:rPr>
              <a:t>B/C</a:t>
            </a:r>
            <a:endParaRPr lang="ko-KR" altLang="en-US" sz="1000" b="1" kern="0" dirty="0" smtClean="0">
              <a:latin typeface="Cambria" panose="02040503050406030204" pitchFamily="18" charset="0"/>
              <a:ea typeface="맑은 고딕" pitchFamily="50" charset="-127"/>
            </a:endParaRPr>
          </a:p>
        </p:txBody>
      </p:sp>
      <p:sp>
        <p:nvSpPr>
          <p:cNvPr id="114" name="타원 113"/>
          <p:cNvSpPr/>
          <p:nvPr/>
        </p:nvSpPr>
        <p:spPr>
          <a:xfrm>
            <a:off x="2039524" y="2287007"/>
            <a:ext cx="299077" cy="324000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solidFill>
              <a:srgbClr val="666666">
                <a:lumMod val="75000"/>
              </a:srgbClr>
            </a:solidFill>
          </a:ln>
        </p:spPr>
        <p:txBody>
          <a:bodyPr wrap="none" rtlCol="0" anchor="ctr">
            <a:noAutofit/>
          </a:bodyPr>
          <a:lstStyle/>
          <a:p>
            <a:pPr algn="ctr" latinLnBrk="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ko-KR" sz="1000" b="1" kern="0" dirty="0" smtClean="0">
                <a:latin typeface="Cambria" panose="02040503050406030204" pitchFamily="18" charset="0"/>
                <a:ea typeface="맑은 고딕" pitchFamily="50" charset="-127"/>
              </a:rPr>
              <a:t>S/R</a:t>
            </a:r>
            <a:endParaRPr lang="ko-KR" altLang="en-US" sz="1000" b="1" kern="0" dirty="0" smtClean="0">
              <a:latin typeface="Cambria" panose="02040503050406030204" pitchFamily="18" charset="0"/>
              <a:ea typeface="맑은 고딕" pitchFamily="50" charset="-127"/>
            </a:endParaRPr>
          </a:p>
        </p:txBody>
      </p:sp>
      <p:sp>
        <p:nvSpPr>
          <p:cNvPr id="115" name="타원 114"/>
          <p:cNvSpPr/>
          <p:nvPr/>
        </p:nvSpPr>
        <p:spPr>
          <a:xfrm>
            <a:off x="2142407" y="2616828"/>
            <a:ext cx="299077" cy="324000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solidFill>
              <a:srgbClr val="666666">
                <a:lumMod val="75000"/>
              </a:srgbClr>
            </a:solidFill>
          </a:ln>
        </p:spPr>
        <p:txBody>
          <a:bodyPr wrap="none" rtlCol="0" anchor="ctr">
            <a:noAutofit/>
          </a:bodyPr>
          <a:lstStyle/>
          <a:p>
            <a:pPr algn="ctr" latinLnBrk="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ko-KR" sz="1000" b="1" kern="0" dirty="0" smtClean="0">
                <a:latin typeface="Cambria" panose="02040503050406030204" pitchFamily="18" charset="0"/>
                <a:ea typeface="맑은 고딕" pitchFamily="50" charset="-127"/>
              </a:rPr>
              <a:t>B/L</a:t>
            </a:r>
            <a:endParaRPr lang="ko-KR" altLang="en-US" sz="1000" b="1" kern="0" dirty="0" smtClean="0">
              <a:latin typeface="Cambria" panose="02040503050406030204" pitchFamily="18" charset="0"/>
              <a:ea typeface="맑은 고딕" pitchFamily="50" charset="-127"/>
            </a:endParaRPr>
          </a:p>
        </p:txBody>
      </p:sp>
      <p:sp>
        <p:nvSpPr>
          <p:cNvPr id="116" name="타원 115"/>
          <p:cNvSpPr/>
          <p:nvPr/>
        </p:nvSpPr>
        <p:spPr>
          <a:xfrm>
            <a:off x="2220103" y="3260539"/>
            <a:ext cx="356931" cy="632356"/>
          </a:xfrm>
          <a:prstGeom prst="ellipse">
            <a:avLst/>
          </a:prstGeom>
          <a:solidFill>
            <a:srgbClr val="666666"/>
          </a:solidFill>
          <a:ln>
            <a:solidFill>
              <a:srgbClr val="666666">
                <a:lumMod val="75000"/>
              </a:srgbClr>
            </a:solidFill>
          </a:ln>
        </p:spPr>
        <p:txBody>
          <a:bodyPr wrap="none" rtlCol="0" anchor="ctr">
            <a:noAutofit/>
          </a:bodyPr>
          <a:lstStyle/>
          <a:p>
            <a:pPr algn="ctr" latinLnBrk="0">
              <a:lnSpc>
                <a:spcPts val="12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ko-KR" altLang="en-US" sz="1000" b="1" kern="0" dirty="0" smtClean="0">
                <a:solidFill>
                  <a:srgbClr val="FFFFFF"/>
                </a:solidFill>
                <a:latin typeface="Cambria" panose="02040503050406030204" pitchFamily="18" charset="0"/>
                <a:ea typeface="맑은 고딕" pitchFamily="50" charset="-127"/>
              </a:rPr>
              <a:t>입고</a:t>
            </a:r>
            <a:r>
              <a:rPr lang="en-US" altLang="ko-KR" sz="1000" b="1" kern="0" dirty="0" smtClean="0">
                <a:solidFill>
                  <a:srgbClr val="FFFFFF"/>
                </a:solidFill>
                <a:latin typeface="Cambria" panose="02040503050406030204" pitchFamily="18" charset="0"/>
                <a:ea typeface="맑은 고딕" pitchFamily="50" charset="-127"/>
              </a:rPr>
              <a:t>/</a:t>
            </a:r>
            <a:br>
              <a:rPr lang="en-US" altLang="ko-KR" sz="1000" b="1" kern="0" dirty="0" smtClean="0">
                <a:solidFill>
                  <a:srgbClr val="FFFFFF"/>
                </a:solidFill>
                <a:latin typeface="Cambria" panose="02040503050406030204" pitchFamily="18" charset="0"/>
                <a:ea typeface="맑은 고딕" pitchFamily="50" charset="-127"/>
              </a:rPr>
            </a:br>
            <a:r>
              <a:rPr lang="ko-KR" altLang="en-US" sz="1000" b="1" kern="0" dirty="0" smtClean="0">
                <a:solidFill>
                  <a:srgbClr val="FFFFFF"/>
                </a:solidFill>
                <a:latin typeface="Cambria" panose="02040503050406030204" pitchFamily="18" charset="0"/>
                <a:ea typeface="맑은 고딕" pitchFamily="50" charset="-127"/>
              </a:rPr>
              <a:t>출고</a:t>
            </a:r>
          </a:p>
        </p:txBody>
      </p:sp>
      <p:sp>
        <p:nvSpPr>
          <p:cNvPr id="117" name="타원 116"/>
          <p:cNvSpPr/>
          <p:nvPr/>
        </p:nvSpPr>
        <p:spPr>
          <a:xfrm>
            <a:off x="2222199" y="4218171"/>
            <a:ext cx="299077" cy="324000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solidFill>
              <a:srgbClr val="666666">
                <a:lumMod val="75000"/>
              </a:srgbClr>
            </a:solidFill>
          </a:ln>
        </p:spPr>
        <p:txBody>
          <a:bodyPr wrap="none" rtlCol="0" anchor="ctr">
            <a:noAutofit/>
          </a:bodyPr>
          <a:lstStyle/>
          <a:p>
            <a:pPr algn="ctr" latinLnBrk="0">
              <a:lnSpc>
                <a:spcPts val="12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ko-KR" sz="1000" b="1" kern="0" dirty="0" smtClean="0">
                <a:latin typeface="Cambria" panose="02040503050406030204" pitchFamily="18" charset="0"/>
                <a:ea typeface="맑은 고딕" pitchFamily="50" charset="-127"/>
              </a:rPr>
              <a:t>C/C</a:t>
            </a:r>
            <a:endParaRPr lang="ko-KR" altLang="en-US" sz="1000" b="1" kern="0" dirty="0" smtClean="0">
              <a:latin typeface="Cambria" panose="02040503050406030204" pitchFamily="18" charset="0"/>
              <a:ea typeface="맑은 고딕" pitchFamily="50" charset="-127"/>
            </a:endParaRPr>
          </a:p>
        </p:txBody>
      </p:sp>
      <p:sp>
        <p:nvSpPr>
          <p:cNvPr id="118" name="타원 117"/>
          <p:cNvSpPr/>
          <p:nvPr/>
        </p:nvSpPr>
        <p:spPr>
          <a:xfrm>
            <a:off x="2249496" y="3906548"/>
            <a:ext cx="299077" cy="324000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solidFill>
              <a:srgbClr val="666666">
                <a:lumMod val="75000"/>
              </a:srgbClr>
            </a:solidFill>
          </a:ln>
        </p:spPr>
        <p:txBody>
          <a:bodyPr wrap="none" rtlCol="0" anchor="ctr">
            <a:noAutofit/>
          </a:bodyPr>
          <a:lstStyle/>
          <a:p>
            <a:pPr algn="ctr" latinLnBrk="0">
              <a:lnSpc>
                <a:spcPts val="12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ko-KR" sz="1000" b="1" kern="0" dirty="0" smtClean="0">
                <a:latin typeface="Cambria" panose="02040503050406030204" pitchFamily="18" charset="0"/>
                <a:ea typeface="맑은 고딕" pitchFamily="50" charset="-127"/>
              </a:rPr>
              <a:t>A/N</a:t>
            </a:r>
            <a:endParaRPr lang="ko-KR" altLang="en-US" sz="1000" b="1" kern="0" dirty="0" smtClean="0">
              <a:latin typeface="Cambria" panose="02040503050406030204" pitchFamily="18" charset="0"/>
              <a:ea typeface="맑은 고딕" pitchFamily="50" charset="-127"/>
            </a:endParaRPr>
          </a:p>
        </p:txBody>
      </p:sp>
      <p:sp>
        <p:nvSpPr>
          <p:cNvPr id="119" name="타원 118"/>
          <p:cNvSpPr/>
          <p:nvPr/>
        </p:nvSpPr>
        <p:spPr>
          <a:xfrm>
            <a:off x="2173908" y="4561641"/>
            <a:ext cx="299077" cy="324000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solidFill>
              <a:srgbClr val="666666">
                <a:lumMod val="75000"/>
              </a:srgbClr>
            </a:solidFill>
          </a:ln>
        </p:spPr>
        <p:txBody>
          <a:bodyPr wrap="none" rtlCol="0" anchor="ctr">
            <a:noAutofit/>
          </a:bodyPr>
          <a:lstStyle/>
          <a:p>
            <a:pPr algn="ctr" latinLnBrk="0">
              <a:lnSpc>
                <a:spcPts val="12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ko-KR" sz="1000" b="1" kern="0" dirty="0" smtClean="0">
                <a:latin typeface="Cambria" panose="02040503050406030204" pitchFamily="18" charset="0"/>
                <a:ea typeface="맑은 고딕" pitchFamily="50" charset="-127"/>
              </a:rPr>
              <a:t>IDR</a:t>
            </a:r>
            <a:endParaRPr lang="ko-KR" altLang="en-US" sz="1000" b="1" kern="0" dirty="0" smtClean="0">
              <a:latin typeface="Cambria" panose="02040503050406030204" pitchFamily="18" charset="0"/>
              <a:ea typeface="맑은 고딕" pitchFamily="50" charset="-127"/>
            </a:endParaRPr>
          </a:p>
        </p:txBody>
      </p:sp>
      <p:sp>
        <p:nvSpPr>
          <p:cNvPr id="120" name="타원 119"/>
          <p:cNvSpPr/>
          <p:nvPr/>
        </p:nvSpPr>
        <p:spPr>
          <a:xfrm>
            <a:off x="2113019" y="4891464"/>
            <a:ext cx="299077" cy="324000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solidFill>
              <a:srgbClr val="666666">
                <a:lumMod val="75000"/>
              </a:srgbClr>
            </a:solidFill>
          </a:ln>
        </p:spPr>
        <p:txBody>
          <a:bodyPr wrap="none" rtlCol="0" anchor="ctr">
            <a:noAutofit/>
          </a:bodyPr>
          <a:lstStyle/>
          <a:p>
            <a:pPr algn="ctr" latinLnBrk="0">
              <a:lnSpc>
                <a:spcPts val="12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ko-KR" sz="1000" b="1" kern="0" dirty="0" smtClean="0">
                <a:latin typeface="Cambria" panose="02040503050406030204" pitchFamily="18" charset="0"/>
                <a:ea typeface="맑은 고딕" pitchFamily="50" charset="-127"/>
              </a:rPr>
              <a:t>DO</a:t>
            </a:r>
            <a:endParaRPr lang="ko-KR" altLang="en-US" sz="1000" b="1" kern="0" dirty="0" smtClean="0">
              <a:latin typeface="Cambria" panose="02040503050406030204" pitchFamily="18" charset="0"/>
              <a:ea typeface="맑은 고딕" pitchFamily="50" charset="-127"/>
            </a:endParaRPr>
          </a:p>
        </p:txBody>
      </p:sp>
      <p:sp>
        <p:nvSpPr>
          <p:cNvPr id="121" name="타원 120"/>
          <p:cNvSpPr/>
          <p:nvPr/>
        </p:nvSpPr>
        <p:spPr>
          <a:xfrm>
            <a:off x="1963945" y="5193987"/>
            <a:ext cx="323337" cy="363938"/>
          </a:xfrm>
          <a:prstGeom prst="ellipse">
            <a:avLst/>
          </a:prstGeom>
          <a:solidFill>
            <a:srgbClr val="666666"/>
          </a:solidFill>
          <a:ln>
            <a:solidFill>
              <a:srgbClr val="666666">
                <a:lumMod val="75000"/>
              </a:srgbClr>
            </a:solidFill>
          </a:ln>
        </p:spPr>
        <p:txBody>
          <a:bodyPr wrap="none" rtlCol="0" anchor="ctr">
            <a:noAutofit/>
          </a:bodyPr>
          <a:lstStyle/>
          <a:p>
            <a:pPr algn="ctr" latinLnBrk="0">
              <a:lnSpc>
                <a:spcPts val="12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ko-KR" sz="1000" b="1" kern="0" dirty="0" smtClean="0">
                <a:latin typeface="Cambria" panose="02040503050406030204" pitchFamily="18" charset="0"/>
                <a:ea typeface="맑은 고딕" pitchFamily="50" charset="-127"/>
              </a:rPr>
              <a:t>Inland</a:t>
            </a:r>
          </a:p>
          <a:p>
            <a:pPr algn="ctr" latinLnBrk="0">
              <a:lnSpc>
                <a:spcPts val="12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ko-KR" sz="1000" b="1" kern="0" dirty="0" smtClean="0">
                <a:latin typeface="Cambria" panose="02040503050406030204" pitchFamily="18" charset="0"/>
                <a:ea typeface="맑은 고딕" pitchFamily="50" charset="-127"/>
              </a:rPr>
              <a:t>Truck</a:t>
            </a:r>
            <a:endParaRPr lang="ko-KR" altLang="en-US" sz="1000" b="1" kern="0" dirty="0" smtClean="0">
              <a:latin typeface="Cambria" panose="02040503050406030204" pitchFamily="18" charset="0"/>
              <a:ea typeface="맑은 고딕" pitchFamily="50" charset="-127"/>
            </a:endParaRPr>
          </a:p>
        </p:txBody>
      </p:sp>
      <p:sp>
        <p:nvSpPr>
          <p:cNvPr id="122" name="타원 121"/>
          <p:cNvSpPr/>
          <p:nvPr/>
        </p:nvSpPr>
        <p:spPr>
          <a:xfrm>
            <a:off x="2207496" y="2946648"/>
            <a:ext cx="299077" cy="324000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solidFill>
              <a:srgbClr val="666666">
                <a:lumMod val="75000"/>
              </a:srgbClr>
            </a:solidFill>
          </a:ln>
        </p:spPr>
        <p:txBody>
          <a:bodyPr wrap="none" rtlCol="0" anchor="ctr">
            <a:noAutofit/>
          </a:bodyPr>
          <a:lstStyle/>
          <a:p>
            <a:pPr algn="ctr" latinLnBrk="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ko-KR" sz="1000" b="1" kern="0" dirty="0" smtClean="0">
                <a:latin typeface="Cambria" panose="02040503050406030204" pitchFamily="18" charset="0"/>
                <a:ea typeface="맑은 고딕" pitchFamily="50" charset="-127"/>
              </a:rPr>
              <a:t>S/N</a:t>
            </a:r>
            <a:endParaRPr lang="ko-KR" altLang="en-US" sz="1000" b="1" kern="0" dirty="0" smtClean="0">
              <a:latin typeface="Cambria" panose="02040503050406030204" pitchFamily="18" charset="0"/>
              <a:ea typeface="맑은 고딕" pitchFamily="50" charset="-127"/>
            </a:endParaRPr>
          </a:p>
        </p:txBody>
      </p:sp>
      <p:sp>
        <p:nvSpPr>
          <p:cNvPr id="123" name="타원 122"/>
          <p:cNvSpPr/>
          <p:nvPr/>
        </p:nvSpPr>
        <p:spPr>
          <a:xfrm>
            <a:off x="1353561" y="5642085"/>
            <a:ext cx="498462" cy="540000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solidFill>
              <a:srgbClr val="666666">
                <a:lumMod val="75000"/>
              </a:srgbClr>
            </a:solidFill>
          </a:ln>
        </p:spPr>
        <p:txBody>
          <a:bodyPr wrap="none" rtlCol="0" anchor="ctr">
            <a:noAutofit/>
          </a:bodyPr>
          <a:lstStyle/>
          <a:p>
            <a:pPr algn="ctr" latinLnBrk="0">
              <a:lnSpc>
                <a:spcPts val="1200"/>
              </a:lnSpc>
              <a:spcBef>
                <a:spcPct val="0"/>
              </a:spcBef>
              <a:buClrTx/>
              <a:buFontTx/>
              <a:buNone/>
            </a:pPr>
            <a:r>
              <a:rPr lang="ko-KR" altLang="en-US" sz="1000" b="1" kern="0" dirty="0" smtClean="0">
                <a:latin typeface="Cambria" panose="02040503050406030204" pitchFamily="18" charset="0"/>
                <a:ea typeface="맑은 고딕" pitchFamily="50" charset="-127"/>
              </a:rPr>
              <a:t>실적</a:t>
            </a:r>
            <a:r>
              <a:rPr lang="en-US" altLang="ko-KR" sz="1000" b="1" kern="0" dirty="0" smtClean="0">
                <a:latin typeface="Cambria" panose="02040503050406030204" pitchFamily="18" charset="0"/>
                <a:ea typeface="맑은 고딕" pitchFamily="50" charset="-127"/>
              </a:rPr>
              <a:t/>
            </a:r>
            <a:br>
              <a:rPr lang="en-US" altLang="ko-KR" sz="1000" b="1" kern="0" dirty="0" smtClean="0">
                <a:latin typeface="Cambria" panose="02040503050406030204" pitchFamily="18" charset="0"/>
                <a:ea typeface="맑은 고딕" pitchFamily="50" charset="-127"/>
              </a:rPr>
            </a:br>
            <a:r>
              <a:rPr lang="ko-KR" altLang="en-US" sz="1000" b="1" kern="0" dirty="0" smtClean="0">
                <a:latin typeface="Cambria" panose="02040503050406030204" pitchFamily="18" charset="0"/>
                <a:ea typeface="맑은 고딕" pitchFamily="50" charset="-127"/>
              </a:rPr>
              <a:t>관리</a:t>
            </a:r>
            <a:endParaRPr lang="ko-KR" altLang="en-US" sz="1000" b="1" kern="0" dirty="0">
              <a:latin typeface="Cambria" panose="02040503050406030204" pitchFamily="18" charset="0"/>
              <a:ea typeface="맑은 고딕" pitchFamily="50" charset="-127"/>
            </a:endParaRPr>
          </a:p>
        </p:txBody>
      </p:sp>
      <p:sp>
        <p:nvSpPr>
          <p:cNvPr id="124" name="타원 123"/>
          <p:cNvSpPr/>
          <p:nvPr/>
        </p:nvSpPr>
        <p:spPr>
          <a:xfrm>
            <a:off x="565561" y="4525239"/>
            <a:ext cx="498462" cy="540000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solidFill>
              <a:srgbClr val="666666">
                <a:lumMod val="75000"/>
              </a:srgbClr>
            </a:solidFill>
          </a:ln>
        </p:spPr>
        <p:txBody>
          <a:bodyPr wrap="none" rtlCol="0" anchor="ctr">
            <a:noAutofit/>
          </a:bodyPr>
          <a:lstStyle/>
          <a:p>
            <a:pPr algn="ctr" latinLnBrk="0">
              <a:lnSpc>
                <a:spcPts val="1200"/>
              </a:lnSpc>
              <a:spcBef>
                <a:spcPct val="0"/>
              </a:spcBef>
              <a:buClrTx/>
              <a:buFontTx/>
              <a:buNone/>
            </a:pPr>
            <a:r>
              <a:rPr lang="ko-KR" altLang="en-US" sz="1000" b="1" kern="0" dirty="0">
                <a:latin typeface="Cambria" panose="02040503050406030204" pitchFamily="18" charset="0"/>
                <a:ea typeface="맑은 고딕" pitchFamily="50" charset="-127"/>
              </a:rPr>
              <a:t>물류</a:t>
            </a:r>
            <a:endParaRPr lang="en-US" altLang="ko-KR" sz="1000" b="1" kern="0" dirty="0">
              <a:latin typeface="Cambria" panose="02040503050406030204" pitchFamily="18" charset="0"/>
              <a:ea typeface="맑은 고딕" pitchFamily="50" charset="-127"/>
            </a:endParaRPr>
          </a:p>
          <a:p>
            <a:pPr algn="ctr" latinLnBrk="0">
              <a:lnSpc>
                <a:spcPts val="1200"/>
              </a:lnSpc>
              <a:spcBef>
                <a:spcPct val="0"/>
              </a:spcBef>
              <a:buClrTx/>
              <a:buFontTx/>
              <a:buNone/>
            </a:pPr>
            <a:r>
              <a:rPr lang="ko-KR" altLang="en-US" sz="1000" b="1" kern="0" dirty="0" smtClean="0">
                <a:latin typeface="Cambria" panose="02040503050406030204" pitchFamily="18" charset="0"/>
                <a:ea typeface="맑은 고딕" pitchFamily="50" charset="-127"/>
              </a:rPr>
              <a:t>성과</a:t>
            </a:r>
            <a:endParaRPr lang="ko-KR" altLang="en-US" sz="1000" b="1" kern="0" dirty="0">
              <a:latin typeface="Cambria" panose="02040503050406030204" pitchFamily="18" charset="0"/>
              <a:ea typeface="맑은 고딕" pitchFamily="50" charset="-127"/>
            </a:endParaRPr>
          </a:p>
        </p:txBody>
      </p:sp>
      <p:sp>
        <p:nvSpPr>
          <p:cNvPr id="125" name="타원 124"/>
          <p:cNvSpPr/>
          <p:nvPr/>
        </p:nvSpPr>
        <p:spPr>
          <a:xfrm>
            <a:off x="529868" y="2343872"/>
            <a:ext cx="498462" cy="540000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solidFill>
              <a:srgbClr val="666666">
                <a:lumMod val="75000"/>
              </a:srgbClr>
            </a:solidFill>
          </a:ln>
        </p:spPr>
        <p:txBody>
          <a:bodyPr wrap="none" rtlCol="0" anchor="ctr">
            <a:noAutofit/>
          </a:bodyPr>
          <a:lstStyle/>
          <a:p>
            <a:pPr algn="ctr" latinLnBrk="0">
              <a:lnSpc>
                <a:spcPts val="1200"/>
              </a:lnSpc>
              <a:spcBef>
                <a:spcPct val="0"/>
              </a:spcBef>
              <a:buClrTx/>
              <a:buFontTx/>
              <a:buNone/>
            </a:pPr>
            <a:r>
              <a:rPr lang="ko-KR" altLang="en-US" sz="1000" b="1" kern="0" dirty="0">
                <a:latin typeface="Cambria" panose="02040503050406030204" pitchFamily="18" charset="0"/>
                <a:ea typeface="맑은 고딕" pitchFamily="50" charset="-127"/>
              </a:rPr>
              <a:t>물류</a:t>
            </a:r>
            <a:endParaRPr lang="en-US" altLang="ko-KR" sz="1000" b="1" kern="0" dirty="0">
              <a:latin typeface="Cambria" panose="02040503050406030204" pitchFamily="18" charset="0"/>
              <a:ea typeface="맑은 고딕" pitchFamily="50" charset="-127"/>
            </a:endParaRPr>
          </a:p>
          <a:p>
            <a:pPr algn="ctr" latinLnBrk="0">
              <a:lnSpc>
                <a:spcPts val="1200"/>
              </a:lnSpc>
              <a:spcBef>
                <a:spcPct val="0"/>
              </a:spcBef>
              <a:buClrTx/>
              <a:buFontTx/>
              <a:buNone/>
            </a:pPr>
            <a:r>
              <a:rPr lang="ko-KR" altLang="en-US" sz="1000" b="1" kern="0" dirty="0">
                <a:latin typeface="Cambria" panose="02040503050406030204" pitchFamily="18" charset="0"/>
                <a:ea typeface="맑은 고딕" pitchFamily="50" charset="-127"/>
              </a:rPr>
              <a:t>개선</a:t>
            </a:r>
          </a:p>
        </p:txBody>
      </p:sp>
      <p:cxnSp>
        <p:nvCxnSpPr>
          <p:cNvPr id="126" name="직선 연결선 125"/>
          <p:cNvCxnSpPr>
            <a:stCxn id="113" idx="3"/>
          </p:cNvCxnSpPr>
          <p:nvPr/>
        </p:nvCxnSpPr>
        <p:spPr bwMode="auto">
          <a:xfrm flipH="1">
            <a:off x="1619589" y="2233741"/>
            <a:ext cx="348254" cy="1372557"/>
          </a:xfrm>
          <a:prstGeom prst="line">
            <a:avLst/>
          </a:prstGeom>
          <a:noFill/>
          <a:ln w="9525" cap="flat" cmpd="sng" algn="ctr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7" name="직선 연결선 126"/>
          <p:cNvCxnSpPr>
            <a:stCxn id="114" idx="3"/>
          </p:cNvCxnSpPr>
          <p:nvPr/>
        </p:nvCxnSpPr>
        <p:spPr bwMode="auto">
          <a:xfrm flipH="1">
            <a:off x="1619591" y="2563558"/>
            <a:ext cx="463734" cy="1083680"/>
          </a:xfrm>
          <a:prstGeom prst="line">
            <a:avLst/>
          </a:prstGeom>
          <a:noFill/>
          <a:ln w="9525" cap="flat" cmpd="sng" algn="ctr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8" name="직선 연결선 127"/>
          <p:cNvCxnSpPr>
            <a:stCxn id="115" idx="3"/>
          </p:cNvCxnSpPr>
          <p:nvPr/>
        </p:nvCxnSpPr>
        <p:spPr bwMode="auto">
          <a:xfrm flipH="1">
            <a:off x="1682579" y="2893379"/>
            <a:ext cx="503626" cy="712916"/>
          </a:xfrm>
          <a:prstGeom prst="line">
            <a:avLst/>
          </a:prstGeom>
          <a:noFill/>
          <a:ln w="9525" cap="flat" cmpd="sng" algn="ctr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9" name="직선 연결선 128"/>
          <p:cNvCxnSpPr>
            <a:stCxn id="122" idx="2"/>
          </p:cNvCxnSpPr>
          <p:nvPr/>
        </p:nvCxnSpPr>
        <p:spPr bwMode="auto">
          <a:xfrm flipH="1">
            <a:off x="1695177" y="3108648"/>
            <a:ext cx="512319" cy="538590"/>
          </a:xfrm>
          <a:prstGeom prst="line">
            <a:avLst/>
          </a:prstGeom>
          <a:noFill/>
          <a:ln w="9525" cap="flat" cmpd="sng" algn="ctr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0" name="직선 연결선 129"/>
          <p:cNvCxnSpPr>
            <a:stCxn id="116" idx="2"/>
          </p:cNvCxnSpPr>
          <p:nvPr/>
        </p:nvCxnSpPr>
        <p:spPr bwMode="auto">
          <a:xfrm flipH="1">
            <a:off x="1644784" y="3576720"/>
            <a:ext cx="575317" cy="84169"/>
          </a:xfrm>
          <a:prstGeom prst="line">
            <a:avLst/>
          </a:prstGeom>
          <a:noFill/>
          <a:ln w="9525" cap="flat" cmpd="sng" algn="ctr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1" name="직선 연결선 130"/>
          <p:cNvCxnSpPr>
            <a:stCxn id="118" idx="2"/>
          </p:cNvCxnSpPr>
          <p:nvPr/>
        </p:nvCxnSpPr>
        <p:spPr bwMode="auto">
          <a:xfrm flipH="1" flipV="1">
            <a:off x="1644785" y="3660886"/>
            <a:ext cx="604710" cy="407662"/>
          </a:xfrm>
          <a:prstGeom prst="line">
            <a:avLst/>
          </a:prstGeom>
          <a:noFill/>
          <a:ln w="9525" cap="flat" cmpd="sng" algn="ctr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2" name="직선 연결선 131"/>
          <p:cNvCxnSpPr>
            <a:stCxn id="117" idx="2"/>
          </p:cNvCxnSpPr>
          <p:nvPr/>
        </p:nvCxnSpPr>
        <p:spPr bwMode="auto">
          <a:xfrm flipH="1" flipV="1">
            <a:off x="1632190" y="3674535"/>
            <a:ext cx="590011" cy="705636"/>
          </a:xfrm>
          <a:prstGeom prst="line">
            <a:avLst/>
          </a:prstGeom>
          <a:noFill/>
          <a:ln w="9525" cap="flat" cmpd="sng" algn="ctr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3" name="직선 연결선 132"/>
          <p:cNvCxnSpPr>
            <a:stCxn id="119" idx="2"/>
          </p:cNvCxnSpPr>
          <p:nvPr/>
        </p:nvCxnSpPr>
        <p:spPr bwMode="auto">
          <a:xfrm flipH="1" flipV="1">
            <a:off x="1682579" y="3674535"/>
            <a:ext cx="491328" cy="1049106"/>
          </a:xfrm>
          <a:prstGeom prst="line">
            <a:avLst/>
          </a:prstGeom>
          <a:noFill/>
          <a:ln w="9525" cap="flat" cmpd="sng" algn="ctr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4" name="직선 연결선 133"/>
          <p:cNvCxnSpPr>
            <a:stCxn id="120" idx="2"/>
          </p:cNvCxnSpPr>
          <p:nvPr/>
        </p:nvCxnSpPr>
        <p:spPr bwMode="auto">
          <a:xfrm flipH="1" flipV="1">
            <a:off x="1669982" y="3674538"/>
            <a:ext cx="443037" cy="1378929"/>
          </a:xfrm>
          <a:prstGeom prst="line">
            <a:avLst/>
          </a:prstGeom>
          <a:noFill/>
          <a:ln w="9525" cap="flat" cmpd="sng" algn="ctr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5" name="직선 연결선 134"/>
          <p:cNvCxnSpPr>
            <a:stCxn id="121" idx="1"/>
          </p:cNvCxnSpPr>
          <p:nvPr/>
        </p:nvCxnSpPr>
        <p:spPr bwMode="auto">
          <a:xfrm flipH="1" flipV="1">
            <a:off x="1644786" y="3688182"/>
            <a:ext cx="366511" cy="1559102"/>
          </a:xfrm>
          <a:prstGeom prst="line">
            <a:avLst/>
          </a:prstGeom>
          <a:noFill/>
          <a:ln w="9525" cap="flat" cmpd="sng" algn="ctr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6" name="타원 135"/>
          <p:cNvSpPr/>
          <p:nvPr/>
        </p:nvSpPr>
        <p:spPr>
          <a:xfrm>
            <a:off x="1170262" y="2751034"/>
            <a:ext cx="865058" cy="1906139"/>
          </a:xfrm>
          <a:prstGeom prst="ellipse">
            <a:avLst/>
          </a:prstGeom>
          <a:solidFill>
            <a:srgbClr val="FFC000">
              <a:alpha val="55000"/>
            </a:srgbClr>
          </a:solidFill>
          <a:ln>
            <a:solidFill>
              <a:srgbClr val="666666">
                <a:lumMod val="75000"/>
              </a:srgbClr>
            </a:solidFill>
          </a:ln>
        </p:spPr>
        <p:txBody>
          <a:bodyPr wrap="none" rtlCol="0" anchor="ctr">
            <a:noAutofit/>
          </a:bodyPr>
          <a:lstStyle/>
          <a:p>
            <a:pPr algn="ctr" latinLnBrk="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endParaRPr lang="ko-KR" altLang="en-US" sz="1200" b="1" kern="0" dirty="0" smtClean="0">
              <a:solidFill>
                <a:srgbClr val="666666"/>
              </a:solidFill>
              <a:latin typeface="Cambria" panose="02040503050406030204" pitchFamily="18" charset="0"/>
              <a:ea typeface="맑은 고딕" pitchFamily="50" charset="-127"/>
            </a:endParaRPr>
          </a:p>
        </p:txBody>
      </p:sp>
      <p:sp>
        <p:nvSpPr>
          <p:cNvPr id="137" name="타원 136"/>
          <p:cNvSpPr/>
          <p:nvPr/>
        </p:nvSpPr>
        <p:spPr>
          <a:xfrm>
            <a:off x="1353561" y="2969392"/>
            <a:ext cx="498462" cy="540000"/>
          </a:xfrm>
          <a:prstGeom prst="ellipse">
            <a:avLst/>
          </a:prstGeom>
          <a:solidFill>
            <a:srgbClr val="666666"/>
          </a:solidFill>
          <a:ln>
            <a:solidFill>
              <a:srgbClr val="666666">
                <a:lumMod val="75000"/>
              </a:srgbClr>
            </a:solidFill>
          </a:ln>
        </p:spPr>
        <p:txBody>
          <a:bodyPr wrap="none" rtlCol="0" anchor="ctr">
            <a:noAutofit/>
          </a:bodyPr>
          <a:lstStyle/>
          <a:p>
            <a:pPr algn="ctr" latinLnBrk="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ko-KR" altLang="en-US" sz="1200" b="1" kern="0" dirty="0" smtClean="0">
                <a:solidFill>
                  <a:srgbClr val="FFFFFF"/>
                </a:solidFill>
                <a:latin typeface="Cambria" panose="02040503050406030204" pitchFamily="18" charset="0"/>
                <a:ea typeface="맑은 고딕" pitchFamily="50" charset="-127"/>
              </a:rPr>
              <a:t>물류</a:t>
            </a:r>
            <a:endParaRPr lang="en-US" altLang="ko-KR" sz="1200" b="1" kern="0" dirty="0" smtClean="0">
              <a:solidFill>
                <a:srgbClr val="FFFFFF"/>
              </a:solidFill>
              <a:latin typeface="Cambria" panose="02040503050406030204" pitchFamily="18" charset="0"/>
              <a:ea typeface="맑은 고딕" pitchFamily="50" charset="-127"/>
            </a:endParaRPr>
          </a:p>
          <a:p>
            <a:pPr algn="ctr" latinLnBrk="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ko-KR" altLang="en-US" sz="1200" b="1" kern="0" dirty="0" smtClean="0">
                <a:solidFill>
                  <a:srgbClr val="FFFFFF"/>
                </a:solidFill>
                <a:latin typeface="Cambria" panose="02040503050406030204" pitchFamily="18" charset="0"/>
                <a:ea typeface="맑은 고딕" pitchFamily="50" charset="-127"/>
              </a:rPr>
              <a:t>실행</a:t>
            </a:r>
          </a:p>
        </p:txBody>
      </p:sp>
      <p:sp>
        <p:nvSpPr>
          <p:cNvPr id="138" name="타원 137"/>
          <p:cNvSpPr/>
          <p:nvPr/>
        </p:nvSpPr>
        <p:spPr>
          <a:xfrm>
            <a:off x="1353561" y="3913376"/>
            <a:ext cx="498462" cy="540000"/>
          </a:xfrm>
          <a:prstGeom prst="ellipse">
            <a:avLst/>
          </a:prstGeom>
          <a:solidFill>
            <a:srgbClr val="666666"/>
          </a:solidFill>
          <a:ln>
            <a:solidFill>
              <a:srgbClr val="666666">
                <a:lumMod val="75000"/>
              </a:srgbClr>
            </a:solidFill>
          </a:ln>
        </p:spPr>
        <p:txBody>
          <a:bodyPr wrap="none" rtlCol="0" anchor="ctr">
            <a:noAutofit/>
          </a:bodyPr>
          <a:lstStyle/>
          <a:p>
            <a:pPr algn="ctr" latinLnBrk="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ko-KR" altLang="en-US" sz="1200" b="1" kern="0" dirty="0" smtClean="0">
                <a:solidFill>
                  <a:srgbClr val="FFFFFF"/>
                </a:solidFill>
                <a:latin typeface="Cambria" panose="02040503050406030204" pitchFamily="18" charset="0"/>
                <a:ea typeface="맑은 고딕" pitchFamily="50" charset="-127"/>
              </a:rPr>
              <a:t>물류</a:t>
            </a:r>
            <a:r>
              <a:rPr lang="en-US" altLang="ko-KR" sz="1200" b="1" kern="0" dirty="0" smtClean="0">
                <a:solidFill>
                  <a:srgbClr val="FFFFFF"/>
                </a:solidFill>
                <a:latin typeface="Cambria" panose="02040503050406030204" pitchFamily="18" charset="0"/>
                <a:ea typeface="맑은 고딕" pitchFamily="50" charset="-127"/>
              </a:rPr>
              <a:t/>
            </a:r>
            <a:br>
              <a:rPr lang="en-US" altLang="ko-KR" sz="1200" b="1" kern="0" dirty="0" smtClean="0">
                <a:solidFill>
                  <a:srgbClr val="FFFFFF"/>
                </a:solidFill>
                <a:latin typeface="Cambria" panose="02040503050406030204" pitchFamily="18" charset="0"/>
                <a:ea typeface="맑은 고딕" pitchFamily="50" charset="-127"/>
              </a:rPr>
            </a:br>
            <a:r>
              <a:rPr lang="ko-KR" altLang="en-US" sz="1200" b="1" kern="0" dirty="0" smtClean="0">
                <a:solidFill>
                  <a:srgbClr val="FFFFFF"/>
                </a:solidFill>
                <a:latin typeface="Cambria" panose="02040503050406030204" pitchFamily="18" charset="0"/>
                <a:ea typeface="맑은 고딕" pitchFamily="50" charset="-127"/>
              </a:rPr>
              <a:t>정산</a:t>
            </a:r>
          </a:p>
        </p:txBody>
      </p:sp>
      <p:sp>
        <p:nvSpPr>
          <p:cNvPr id="139" name="원호 138"/>
          <p:cNvSpPr/>
          <p:nvPr/>
        </p:nvSpPr>
        <p:spPr bwMode="auto">
          <a:xfrm>
            <a:off x="674745" y="1559130"/>
            <a:ext cx="1724677" cy="4420800"/>
          </a:xfrm>
          <a:prstGeom prst="arc">
            <a:avLst>
              <a:gd name="adj1" fmla="val 8321159"/>
              <a:gd name="adj2" fmla="val 13491977"/>
            </a:avLst>
          </a:prstGeom>
          <a:noFill/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lang="ko-KR" altLang="en-US" sz="1400" kern="0" smtClean="0">
              <a:solidFill>
                <a:srgbClr val="666666"/>
              </a:solidFill>
              <a:latin typeface="Cambria" panose="02040503050406030204" pitchFamily="18" charset="0"/>
              <a:ea typeface="맑은 고딕" pitchFamily="50" charset="-127"/>
            </a:endParaRPr>
          </a:p>
        </p:txBody>
      </p:sp>
      <p:sp>
        <p:nvSpPr>
          <p:cNvPr id="140" name="원호 139"/>
          <p:cNvSpPr/>
          <p:nvPr/>
        </p:nvSpPr>
        <p:spPr bwMode="auto">
          <a:xfrm>
            <a:off x="1503098" y="3698986"/>
            <a:ext cx="199385" cy="216000"/>
          </a:xfrm>
          <a:prstGeom prst="arc">
            <a:avLst>
              <a:gd name="adj1" fmla="val 21581726"/>
              <a:gd name="adj2" fmla="val 10800000"/>
            </a:avLst>
          </a:prstGeom>
          <a:noFill/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lang="ko-KR" altLang="en-US" sz="1400" kern="0" smtClean="0">
              <a:solidFill>
                <a:srgbClr val="666666"/>
              </a:solidFill>
              <a:latin typeface="Cambria" panose="02040503050406030204" pitchFamily="18" charset="0"/>
              <a:ea typeface="맑은 고딕" pitchFamily="50" charset="-127"/>
            </a:endParaRPr>
          </a:p>
        </p:txBody>
      </p:sp>
      <p:sp>
        <p:nvSpPr>
          <p:cNvPr id="141" name="원호 140"/>
          <p:cNvSpPr/>
          <p:nvPr/>
        </p:nvSpPr>
        <p:spPr bwMode="auto">
          <a:xfrm flipV="1">
            <a:off x="1503098" y="3518011"/>
            <a:ext cx="199385" cy="216000"/>
          </a:xfrm>
          <a:prstGeom prst="arc">
            <a:avLst>
              <a:gd name="adj1" fmla="val 21581726"/>
              <a:gd name="adj2" fmla="val 10800000"/>
            </a:avLst>
          </a:prstGeom>
          <a:noFill/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lang="ko-KR" altLang="en-US" sz="1400" kern="0" smtClean="0">
              <a:solidFill>
                <a:srgbClr val="666666"/>
              </a:solidFill>
              <a:latin typeface="Cambria" panose="02040503050406030204" pitchFamily="18" charset="0"/>
              <a:ea typeface="맑은 고딕" pitchFamily="50" charset="-127"/>
            </a:endParaRPr>
          </a:p>
        </p:txBody>
      </p:sp>
      <p:cxnSp>
        <p:nvCxnSpPr>
          <p:cNvPr id="142" name="직선 화살표 연결선 141"/>
          <p:cNvCxnSpPr>
            <a:stCxn id="141" idx="0"/>
            <a:endCxn id="140" idx="0"/>
          </p:cNvCxnSpPr>
          <p:nvPr/>
        </p:nvCxnSpPr>
        <p:spPr bwMode="auto">
          <a:xfrm>
            <a:off x="1702481" y="3626587"/>
            <a:ext cx="0" cy="179827"/>
          </a:xfrm>
          <a:prstGeom prst="straightConnector1">
            <a:avLst/>
          </a:prstGeom>
          <a:noFill/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43" name="직선 화살표 연결선 142"/>
          <p:cNvCxnSpPr>
            <a:stCxn id="140" idx="2"/>
            <a:endCxn id="141" idx="2"/>
          </p:cNvCxnSpPr>
          <p:nvPr/>
        </p:nvCxnSpPr>
        <p:spPr bwMode="auto">
          <a:xfrm flipV="1">
            <a:off x="1503099" y="3626013"/>
            <a:ext cx="0" cy="180975"/>
          </a:xfrm>
          <a:prstGeom prst="straightConnector1">
            <a:avLst/>
          </a:prstGeom>
          <a:noFill/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44" name="직선 화살표 연결선 143"/>
          <p:cNvCxnSpPr>
            <a:stCxn id="112" idx="4"/>
            <a:endCxn id="136" idx="0"/>
          </p:cNvCxnSpPr>
          <p:nvPr/>
        </p:nvCxnSpPr>
        <p:spPr bwMode="auto">
          <a:xfrm>
            <a:off x="1602791" y="1880768"/>
            <a:ext cx="0" cy="870266"/>
          </a:xfrm>
          <a:prstGeom prst="straightConnector1">
            <a:avLst/>
          </a:prstGeom>
          <a:noFill/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45" name="직선 화살표 연결선 144"/>
          <p:cNvCxnSpPr>
            <a:stCxn id="136" idx="4"/>
            <a:endCxn id="123" idx="0"/>
          </p:cNvCxnSpPr>
          <p:nvPr/>
        </p:nvCxnSpPr>
        <p:spPr bwMode="auto">
          <a:xfrm>
            <a:off x="1602791" y="4657173"/>
            <a:ext cx="0" cy="984912"/>
          </a:xfrm>
          <a:prstGeom prst="straightConnector1">
            <a:avLst/>
          </a:prstGeom>
          <a:noFill/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146" name="원호 145"/>
          <p:cNvSpPr/>
          <p:nvPr/>
        </p:nvSpPr>
        <p:spPr bwMode="auto">
          <a:xfrm rot="10800000">
            <a:off x="1050921" y="1461119"/>
            <a:ext cx="1724677" cy="4420800"/>
          </a:xfrm>
          <a:prstGeom prst="arc">
            <a:avLst>
              <a:gd name="adj1" fmla="val 5955136"/>
              <a:gd name="adj2" fmla="val 15568502"/>
            </a:avLst>
          </a:prstGeom>
          <a:noFill/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 latinLnBrk="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endParaRPr lang="ko-KR" altLang="en-US" sz="1400" b="1" kern="0" smtClean="0">
              <a:solidFill>
                <a:srgbClr val="666666"/>
              </a:solidFill>
              <a:latin typeface="Cambria" panose="02040503050406030204" pitchFamily="18" charset="0"/>
              <a:ea typeface="맑은 고딕" pitchFamily="50" charset="-127"/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2601601" y="3230494"/>
            <a:ext cx="730642" cy="742347"/>
          </a:xfrm>
          <a:prstGeom prst="rect">
            <a:avLst/>
          </a:prstGeom>
          <a:noFill/>
        </p:spPr>
        <p:txBody>
          <a:bodyPr wrap="none" lIns="95088" tIns="47544" rIns="95088" bIns="47544" rtlCol="0">
            <a:spAutoFit/>
          </a:bodyPr>
          <a:lstStyle/>
          <a:p>
            <a:pPr defTabSz="950881">
              <a:lnSpc>
                <a:spcPct val="100000"/>
              </a:lnSpc>
              <a:buFontTx/>
              <a:buNone/>
            </a:pPr>
            <a:r>
              <a:rPr lang="ko-KR" altLang="en-US" sz="14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itchFamily="50" charset="-127"/>
              </a:rPr>
              <a:t>운영</a:t>
            </a:r>
            <a:r>
              <a:rPr lang="en-US" altLang="ko-KR" sz="14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itchFamily="50" charset="-127"/>
              </a:rPr>
              <a:t/>
            </a:r>
            <a:br>
              <a:rPr lang="en-US" altLang="ko-KR" sz="14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itchFamily="50" charset="-127"/>
              </a:rPr>
            </a:br>
            <a:r>
              <a:rPr lang="ko-KR" altLang="en-US" sz="14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itchFamily="50" charset="-127"/>
              </a:rPr>
              <a:t>가시성</a:t>
            </a:r>
            <a:r>
              <a:rPr lang="en-US" altLang="ko-KR" sz="14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itchFamily="50" charset="-127"/>
              </a:rPr>
              <a:t/>
            </a:r>
            <a:br>
              <a:rPr lang="en-US" altLang="ko-KR" sz="14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itchFamily="50" charset="-127"/>
              </a:rPr>
            </a:br>
            <a:r>
              <a:rPr lang="ko-KR" altLang="en-US" sz="14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itchFamily="50" charset="-127"/>
              </a:rPr>
              <a:t>확보</a:t>
            </a:r>
            <a:endParaRPr lang="ko-KR" altLang="en-US" sz="1400" b="1" baseline="30000" dirty="0">
              <a:solidFill>
                <a:prstClr val="black"/>
              </a:solidFill>
              <a:latin typeface="맑은 고딕" panose="020B0503020000020004" pitchFamily="50" charset="-127"/>
              <a:ea typeface="맑은 고딕" pitchFamily="50" charset="-127"/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3368824" y="5245981"/>
            <a:ext cx="5479500" cy="594529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lIns="72000" tIns="36000" rIns="36000" bIns="36000" rtlCol="0" anchor="t" anchorCtr="0">
            <a:noAutofit/>
          </a:bodyPr>
          <a:lstStyle>
            <a:defPPr>
              <a:defRPr lang="ko-KR"/>
            </a:defPPr>
            <a:lvl1pPr marL="126000" indent="-126000" fontAlgn="auto" latinLnBrk="0"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sz="1300" b="0" kern="0">
                <a:latin typeface="맑은 고딕"/>
                <a:ea typeface="맑은 고딕"/>
              </a:defRPr>
            </a:lvl1pPr>
          </a:lstStyle>
          <a:p>
            <a:pPr>
              <a:lnSpc>
                <a:spcPct val="100000"/>
              </a:lnSpc>
              <a:buClrTx/>
              <a:defRPr/>
            </a:pPr>
            <a:r>
              <a:rPr lang="en-US" altLang="ko-KR" sz="1400" b="1" dirty="0" smtClean="0">
                <a:latin typeface="Cambria" panose="02040503050406030204" pitchFamily="18" charset="0"/>
                <a:sym typeface="Wingdings" panose="05000000000000000000" pitchFamily="2" charset="2"/>
              </a:rPr>
              <a:t>KEROL </a:t>
            </a:r>
            <a:r>
              <a:rPr lang="ko-KR" altLang="en-US" sz="1400" b="1" dirty="0" smtClean="0">
                <a:latin typeface="Cambria" panose="02040503050406030204" pitchFamily="18" charset="0"/>
                <a:sym typeface="Wingdings" panose="05000000000000000000" pitchFamily="2" charset="2"/>
              </a:rPr>
              <a:t>기반 물동</a:t>
            </a:r>
            <a:r>
              <a:rPr lang="en-US" altLang="ko-KR" sz="1400" b="1" dirty="0" smtClean="0">
                <a:latin typeface="Cambria" panose="02040503050406030204" pitchFamily="18" charset="0"/>
                <a:sym typeface="Wingdings" panose="05000000000000000000" pitchFamily="2" charset="2"/>
              </a:rPr>
              <a:t>/</a:t>
            </a:r>
            <a:r>
              <a:rPr lang="ko-KR" altLang="en-US" sz="1400" b="1" dirty="0" smtClean="0">
                <a:latin typeface="Cambria" panose="02040503050406030204" pitchFamily="18" charset="0"/>
                <a:sym typeface="Wingdings" panose="05000000000000000000" pitchFamily="2" charset="2"/>
              </a:rPr>
              <a:t>작업 가시성 확보를 통한 對 고객 서비스 대응력</a:t>
            </a:r>
            <a:r>
              <a:rPr lang="en-US" altLang="ko-KR" sz="1400" b="1" dirty="0" smtClean="0">
                <a:latin typeface="Cambria" panose="02040503050406030204" pitchFamily="18" charset="0"/>
                <a:sym typeface="Wingdings" panose="05000000000000000000" pitchFamily="2" charset="2"/>
              </a:rPr>
              <a:t/>
            </a:r>
            <a:br>
              <a:rPr lang="en-US" altLang="ko-KR" sz="1400" b="1" dirty="0" smtClean="0">
                <a:latin typeface="Cambria" panose="02040503050406030204" pitchFamily="18" charset="0"/>
                <a:sym typeface="Wingdings" panose="05000000000000000000" pitchFamily="2" charset="2"/>
              </a:rPr>
            </a:br>
            <a:r>
              <a:rPr lang="ko-KR" altLang="en-US" sz="1400" b="1" dirty="0" smtClean="0">
                <a:latin typeface="Cambria" panose="02040503050406030204" pitchFamily="18" charset="0"/>
                <a:sym typeface="Wingdings" panose="05000000000000000000" pitchFamily="2" charset="2"/>
              </a:rPr>
              <a:t>확보</a:t>
            </a:r>
            <a:endParaRPr lang="en-US" altLang="ko-KR" sz="1400" b="1" dirty="0">
              <a:latin typeface="Cambria" panose="02040503050406030204" pitchFamily="18" charset="0"/>
              <a:sym typeface="Wingdings" panose="05000000000000000000" pitchFamily="2" charset="2"/>
            </a:endParaRPr>
          </a:p>
          <a:p>
            <a:pPr>
              <a:lnSpc>
                <a:spcPct val="100000"/>
              </a:lnSpc>
              <a:buClrTx/>
              <a:defRPr/>
            </a:pPr>
            <a:r>
              <a:rPr lang="ko-KR" altLang="en-US" sz="1400" b="1" dirty="0" smtClean="0">
                <a:latin typeface="Cambria" panose="02040503050406030204" pitchFamily="18" charset="0"/>
                <a:sym typeface="Wingdings" panose="05000000000000000000" pitchFamily="2" charset="2"/>
              </a:rPr>
              <a:t>운영 가시성 확보를 위한 </a:t>
            </a:r>
            <a:r>
              <a:rPr lang="en-US" altLang="ko-KR" sz="1400" b="1" dirty="0" smtClean="0">
                <a:latin typeface="Cambria" panose="02040503050406030204" pitchFamily="18" charset="0"/>
                <a:sym typeface="Wingdings" panose="05000000000000000000" pitchFamily="2" charset="2"/>
              </a:rPr>
              <a:t>Mobile/Exception Alerting </a:t>
            </a:r>
            <a:r>
              <a:rPr lang="ko-KR" altLang="en-US" sz="1400" b="1" dirty="0" smtClean="0">
                <a:latin typeface="Cambria" panose="02040503050406030204" pitchFamily="18" charset="0"/>
                <a:sym typeface="Wingdings" panose="05000000000000000000" pitchFamily="2" charset="2"/>
              </a:rPr>
              <a:t>등 지원</a:t>
            </a:r>
            <a:endParaRPr lang="en-US" altLang="ko-KR" sz="1400" b="1" dirty="0" smtClean="0">
              <a:latin typeface="Cambria" panose="02040503050406030204" pitchFamily="18" charset="0"/>
              <a:sym typeface="Wingdings" panose="05000000000000000000" pitchFamily="2" charset="2"/>
            </a:endParaRPr>
          </a:p>
        </p:txBody>
      </p:sp>
      <p:sp>
        <p:nvSpPr>
          <p:cNvPr id="150" name="Content Placeholder 1"/>
          <p:cNvSpPr txBox="1">
            <a:spLocks/>
          </p:cNvSpPr>
          <p:nvPr/>
        </p:nvSpPr>
        <p:spPr bwMode="auto">
          <a:xfrm>
            <a:off x="276252" y="692696"/>
            <a:ext cx="9356698" cy="255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 algn="just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Font typeface="Wingdings" pitchFamily="2" charset="2"/>
              <a:defRPr sz="1600" b="1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latinLnBrk="1" hangingPunct="0">
              <a:spcBef>
                <a:spcPct val="25000"/>
              </a:spcBef>
              <a:spcAft>
                <a:spcPct val="15000"/>
              </a:spcAft>
              <a:buClr>
                <a:schemeClr val="accent2"/>
              </a:buClr>
              <a:buFont typeface="Arial" charset="0"/>
              <a:buChar char="–"/>
              <a:defRPr kumimoji="1">
                <a:solidFill>
                  <a:schemeClr val="tx1"/>
                </a:solidFill>
                <a:latin typeface="굴림" charset="-127"/>
                <a:ea typeface="굴림" charset="-127"/>
                <a:cs typeface="굴림" charset="-127"/>
              </a:defRPr>
            </a:lvl2pPr>
            <a:lvl3pPr marL="9144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굴림" charset="-127"/>
                <a:ea typeface="굴림" charset="-127"/>
                <a:cs typeface="굴림" charset="-127"/>
              </a:defRPr>
            </a:lvl3pPr>
            <a:lvl4pPr marL="1371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charset="0"/>
              <a:buChar char="–"/>
              <a:defRPr kumimoji="1">
                <a:solidFill>
                  <a:schemeClr val="tx1"/>
                </a:solidFill>
                <a:latin typeface="굴림" charset="-127"/>
                <a:ea typeface="굴림" charset="-127"/>
                <a:cs typeface="굴림" charset="-127"/>
              </a:defRPr>
            </a:lvl4pPr>
            <a:lvl5pPr marL="18288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charset="0"/>
              <a:buChar char="&gt;"/>
              <a:defRPr kumimoji="1">
                <a:solidFill>
                  <a:schemeClr val="tx1"/>
                </a:solidFill>
                <a:latin typeface="굴림" charset="-127"/>
                <a:ea typeface="굴림" charset="-127"/>
                <a:cs typeface="굴림" charset="-127"/>
              </a:defRPr>
            </a:lvl5pPr>
            <a:lvl6pPr marL="22860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charset="0"/>
              <a:buChar char="&gt;"/>
              <a:defRPr kumimoji="1">
                <a:solidFill>
                  <a:schemeClr val="tx1"/>
                </a:solidFill>
                <a:latin typeface="굴림" charset="-127"/>
                <a:ea typeface="굴림" charset="-127"/>
                <a:cs typeface="굴림" charset="-127"/>
              </a:defRPr>
            </a:lvl6pPr>
            <a:lvl7pPr marL="27432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charset="0"/>
              <a:buChar char="&gt;"/>
              <a:defRPr kumimoji="1">
                <a:solidFill>
                  <a:schemeClr val="tx1"/>
                </a:solidFill>
                <a:latin typeface="굴림" charset="-127"/>
                <a:ea typeface="굴림" charset="-127"/>
                <a:cs typeface="굴림" charset="-127"/>
              </a:defRPr>
            </a:lvl7pPr>
            <a:lvl8pPr marL="32004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charset="0"/>
              <a:buChar char="&gt;"/>
              <a:defRPr kumimoji="1">
                <a:solidFill>
                  <a:schemeClr val="tx1"/>
                </a:solidFill>
                <a:latin typeface="굴림" charset="-127"/>
                <a:ea typeface="굴림" charset="-127"/>
                <a:cs typeface="굴림" charset="-127"/>
              </a:defRPr>
            </a:lvl8pPr>
            <a:lvl9pPr marL="3657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charset="0"/>
              <a:buChar char="&gt;"/>
              <a:defRPr kumimoji="1">
                <a:solidFill>
                  <a:schemeClr val="tx1"/>
                </a:solidFill>
                <a:latin typeface="굴림" charset="-127"/>
                <a:ea typeface="굴림" charset="-127"/>
                <a:cs typeface="굴림" charset="-127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ko-KR" altLang="en-US" sz="1600" b="1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운영 가시성 확보</a:t>
            </a:r>
            <a:endParaRPr kumimoji="0" lang="en-US" altLang="ko-KR" sz="16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- </a:t>
            </a:r>
            <a:fld id="{EE975AF4-B1F3-41E4-B19A-4F6D78AFBDB1}" type="slidenum">
              <a:rPr lang="en-US" altLang="ko-KR" smtClean="0"/>
              <a:pPr>
                <a:defRPr/>
              </a:pPr>
              <a:t>5</a:t>
            </a:fld>
            <a:r>
              <a:rPr lang="en-US" altLang="ko-KR" smtClean="0"/>
              <a:t> -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9429241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6"/>
          <p:cNvSpPr txBox="1">
            <a:spLocks noChangeArrowheads="1"/>
          </p:cNvSpPr>
          <p:nvPr/>
        </p:nvSpPr>
        <p:spPr bwMode="auto">
          <a:xfrm>
            <a:off x="344488" y="142875"/>
            <a:ext cx="44656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ko-KR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KEROL - Global Trading </a:t>
            </a:r>
            <a:r>
              <a:rPr kumimoji="0" lang="ko-KR" altLang="en-US" b="1" dirty="0" smtClean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주요기능</a:t>
            </a:r>
            <a:r>
              <a:rPr kumimoji="0" lang="en-US" altLang="ko-KR" b="1" dirty="0" smtClean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[2/3]</a:t>
            </a:r>
            <a:endParaRPr kumimoji="0" lang="ko-KR" altLang="en-US" b="1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948236" y="116632"/>
            <a:ext cx="17643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114300" indent="-114300" algn="r">
              <a:buFont typeface="+mj-lt"/>
              <a:buAutoNum type="romanUcPeriod"/>
            </a:lvl1pPr>
          </a:lstStyle>
          <a:p>
            <a:pPr marL="0" indent="0">
              <a:buNone/>
              <a:defRPr/>
            </a:pPr>
            <a:r>
              <a:rPr lang="en-US" altLang="ko-KR" dirty="0">
                <a:latin typeface="Cambria" panose="02040503050406030204" pitchFamily="18" charset="0"/>
              </a:rPr>
              <a:t>Ⅱ</a:t>
            </a:r>
            <a:r>
              <a:rPr lang="en-US" altLang="ko-KR" dirty="0" smtClean="0">
                <a:solidFill>
                  <a:srgbClr val="000000"/>
                </a:solidFill>
                <a:latin typeface="Cambria" panose="02040503050406030204" pitchFamily="18" charset="0"/>
              </a:rPr>
              <a:t>. </a:t>
            </a:r>
            <a:r>
              <a:rPr lang="en-US" altLang="ko-KR" dirty="0" smtClean="0">
                <a:solidFill>
                  <a:srgbClr val="000000"/>
                </a:solidFill>
                <a:latin typeface="Cambria" panose="02040503050406030204" pitchFamily="18" charset="0"/>
              </a:rPr>
              <a:t>Global Trading</a:t>
            </a:r>
            <a:endParaRPr lang="ko-KR" altLang="en-US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150" name="Content Placeholder 1"/>
          <p:cNvSpPr txBox="1">
            <a:spLocks/>
          </p:cNvSpPr>
          <p:nvPr/>
        </p:nvSpPr>
        <p:spPr bwMode="auto">
          <a:xfrm>
            <a:off x="276252" y="692696"/>
            <a:ext cx="9356698" cy="270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 algn="just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Font typeface="Wingdings" pitchFamily="2" charset="2"/>
              <a:defRPr sz="1600" b="1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latinLnBrk="1" hangingPunct="0">
              <a:spcBef>
                <a:spcPct val="25000"/>
              </a:spcBef>
              <a:spcAft>
                <a:spcPct val="15000"/>
              </a:spcAft>
              <a:buClr>
                <a:schemeClr val="accent2"/>
              </a:buClr>
              <a:buFont typeface="Arial" charset="0"/>
              <a:buChar char="–"/>
              <a:defRPr kumimoji="1">
                <a:solidFill>
                  <a:schemeClr val="tx1"/>
                </a:solidFill>
                <a:latin typeface="굴림" charset="-127"/>
                <a:ea typeface="굴림" charset="-127"/>
                <a:cs typeface="굴림" charset="-127"/>
              </a:defRPr>
            </a:lvl2pPr>
            <a:lvl3pPr marL="9144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굴림" charset="-127"/>
                <a:ea typeface="굴림" charset="-127"/>
                <a:cs typeface="굴림" charset="-127"/>
              </a:defRPr>
            </a:lvl3pPr>
            <a:lvl4pPr marL="1371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charset="0"/>
              <a:buChar char="–"/>
              <a:defRPr kumimoji="1">
                <a:solidFill>
                  <a:schemeClr val="tx1"/>
                </a:solidFill>
                <a:latin typeface="굴림" charset="-127"/>
                <a:ea typeface="굴림" charset="-127"/>
                <a:cs typeface="굴림" charset="-127"/>
              </a:defRPr>
            </a:lvl4pPr>
            <a:lvl5pPr marL="18288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charset="0"/>
              <a:buChar char="&gt;"/>
              <a:defRPr kumimoji="1">
                <a:solidFill>
                  <a:schemeClr val="tx1"/>
                </a:solidFill>
                <a:latin typeface="굴림" charset="-127"/>
                <a:ea typeface="굴림" charset="-127"/>
                <a:cs typeface="굴림" charset="-127"/>
              </a:defRPr>
            </a:lvl5pPr>
            <a:lvl6pPr marL="22860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charset="0"/>
              <a:buChar char="&gt;"/>
              <a:defRPr kumimoji="1">
                <a:solidFill>
                  <a:schemeClr val="tx1"/>
                </a:solidFill>
                <a:latin typeface="굴림" charset="-127"/>
                <a:ea typeface="굴림" charset="-127"/>
                <a:cs typeface="굴림" charset="-127"/>
              </a:defRPr>
            </a:lvl6pPr>
            <a:lvl7pPr marL="27432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charset="0"/>
              <a:buChar char="&gt;"/>
              <a:defRPr kumimoji="1">
                <a:solidFill>
                  <a:schemeClr val="tx1"/>
                </a:solidFill>
                <a:latin typeface="굴림" charset="-127"/>
                <a:ea typeface="굴림" charset="-127"/>
                <a:cs typeface="굴림" charset="-127"/>
              </a:defRPr>
            </a:lvl7pPr>
            <a:lvl8pPr marL="32004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charset="0"/>
              <a:buChar char="&gt;"/>
              <a:defRPr kumimoji="1">
                <a:solidFill>
                  <a:schemeClr val="tx1"/>
                </a:solidFill>
                <a:latin typeface="굴림" charset="-127"/>
                <a:ea typeface="굴림" charset="-127"/>
                <a:cs typeface="굴림" charset="-127"/>
              </a:defRPr>
            </a:lvl8pPr>
            <a:lvl9pPr marL="3657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charset="0"/>
              <a:buChar char="&gt;"/>
              <a:defRPr kumimoji="1">
                <a:solidFill>
                  <a:schemeClr val="tx1"/>
                </a:solidFill>
                <a:latin typeface="굴림" charset="-127"/>
                <a:ea typeface="굴림" charset="-127"/>
                <a:cs typeface="굴림" charset="-127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ko-KR" altLang="en-US" kern="0" dirty="0">
                <a:latin typeface="Calibri" panose="020F0502020204030204"/>
                <a:ea typeface="맑은 고딕" panose="020B0503020000020004" pitchFamily="50" charset="-127"/>
              </a:rPr>
              <a:t>주</a:t>
            </a:r>
            <a:r>
              <a:rPr kumimoji="0" lang="ko-KR" altLang="en-US" kern="0" dirty="0" smtClean="0">
                <a:latin typeface="Calibri" panose="020F0502020204030204"/>
                <a:ea typeface="맑은 고딕" panose="020B0503020000020004" pitchFamily="50" charset="-127"/>
              </a:rPr>
              <a:t>요 업무 효율성 강화</a:t>
            </a:r>
            <a:endParaRPr kumimoji="0" lang="en-US" altLang="ko-KR" sz="16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276252" y="1542592"/>
            <a:ext cx="3380604" cy="1856046"/>
            <a:chOff x="276252" y="1159643"/>
            <a:chExt cx="4028676" cy="2058810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6252" y="1159643"/>
              <a:ext cx="4028676" cy="104522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76252" y="2204864"/>
              <a:ext cx="4028676" cy="101358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sp>
        <p:nvSpPr>
          <p:cNvPr id="67" name="Rectangle 224"/>
          <p:cNvSpPr>
            <a:spLocks noChangeArrowheads="1"/>
          </p:cNvSpPr>
          <p:nvPr/>
        </p:nvSpPr>
        <p:spPr bwMode="gray">
          <a:xfrm>
            <a:off x="272480" y="1355000"/>
            <a:ext cx="3384376" cy="187592"/>
          </a:xfrm>
          <a:prstGeom prst="rect">
            <a:avLst/>
          </a:prstGeom>
          <a:solidFill>
            <a:srgbClr val="7F7F7F"/>
          </a:solidFill>
          <a:ln w="9525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33993" tIns="43171" rIns="36000" bIns="43171" numCol="1" anchor="ctr" anchorCtr="0" compatLnSpc="1">
            <a:prstTxWarp prst="textNoShape">
              <a:avLst/>
            </a:prstTxWarp>
          </a:bodyPr>
          <a:lstStyle/>
          <a:p>
            <a:pPr algn="ctr" defTabSz="788988">
              <a:buNone/>
            </a:pPr>
            <a:r>
              <a:rPr lang="ko-KR" altLang="en-US" sz="1200" dirty="0" smtClean="0">
                <a:solidFill>
                  <a:srgbClr val="FFFFFF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주문 진행 현황</a:t>
            </a:r>
            <a:r>
              <a:rPr lang="en-US" altLang="ko-KR" sz="1200" dirty="0" smtClean="0">
                <a:solidFill>
                  <a:srgbClr val="FFFFFF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/</a:t>
            </a:r>
            <a:r>
              <a:rPr lang="en-US" altLang="ko-KR" sz="1200" dirty="0" smtClean="0">
                <a:solidFill>
                  <a:srgbClr val="FFFFFF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Issue </a:t>
            </a:r>
            <a:r>
              <a:rPr lang="ko-KR" altLang="en-US" sz="1200" dirty="0" smtClean="0">
                <a:solidFill>
                  <a:srgbClr val="FFFFFF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확인</a:t>
            </a:r>
            <a:endParaRPr lang="ko-KR" altLang="en-US" sz="1200" dirty="0">
              <a:solidFill>
                <a:srgbClr val="FFFFFF"/>
              </a:solidFill>
              <a:latin typeface="Cambria" panose="02040503050406030204" pitchFamily="18" charset="0"/>
              <a:ea typeface="맑은 고딕" panose="020B0503020000020004" pitchFamily="50" charset="-127"/>
            </a:endParaRPr>
          </a:p>
        </p:txBody>
      </p:sp>
      <p:sp>
        <p:nvSpPr>
          <p:cNvPr id="76" name="Rectangle 224"/>
          <p:cNvSpPr>
            <a:spLocks noChangeArrowheads="1"/>
          </p:cNvSpPr>
          <p:nvPr/>
        </p:nvSpPr>
        <p:spPr bwMode="gray">
          <a:xfrm>
            <a:off x="3783696" y="1355000"/>
            <a:ext cx="3384376" cy="187592"/>
          </a:xfrm>
          <a:prstGeom prst="rect">
            <a:avLst/>
          </a:prstGeom>
          <a:solidFill>
            <a:srgbClr val="7F7F7F"/>
          </a:solidFill>
          <a:ln w="9525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33993" tIns="43171" rIns="36000" bIns="43171" numCol="1" anchor="ctr" anchorCtr="0" compatLnSpc="1">
            <a:prstTxWarp prst="textNoShape">
              <a:avLst/>
            </a:prstTxWarp>
          </a:bodyPr>
          <a:lstStyle/>
          <a:p>
            <a:pPr algn="ctr" defTabSz="788988">
              <a:buNone/>
            </a:pPr>
            <a:r>
              <a:rPr lang="ko-KR" altLang="en-US" sz="1200" dirty="0" smtClean="0">
                <a:solidFill>
                  <a:srgbClr val="FFFFFF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정보</a:t>
            </a:r>
            <a:r>
              <a:rPr lang="en-US" altLang="ko-KR" sz="1200" dirty="0" smtClean="0">
                <a:solidFill>
                  <a:srgbClr val="FFFFFF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/</a:t>
            </a:r>
            <a:r>
              <a:rPr lang="ko-KR" altLang="en-US" sz="1200" dirty="0" smtClean="0">
                <a:solidFill>
                  <a:srgbClr val="FFFFFF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문서 통합관리</a:t>
            </a:r>
            <a:endParaRPr lang="ko-KR" altLang="en-US" sz="1200" dirty="0">
              <a:solidFill>
                <a:srgbClr val="FFFFFF"/>
              </a:solidFill>
              <a:latin typeface="Cambria" panose="02040503050406030204" pitchFamily="18" charset="0"/>
              <a:ea typeface="맑은 고딕" panose="020B0503020000020004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787255" y="1549243"/>
            <a:ext cx="3384376" cy="183742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rtlCol="0" anchor="ctr">
            <a:spAutoFit/>
          </a:bodyPr>
          <a:lstStyle/>
          <a:p>
            <a:pPr algn="ctr">
              <a:buNone/>
            </a:pPr>
            <a:endParaRPr lang="ko-KR" altLang="en-US" sz="1200" dirty="0" smtClean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8" name="순서도: 다중 문서 352">
            <a:extLst>
              <a:ext uri="{FF2B5EF4-FFF2-40B4-BE49-F238E27FC236}">
                <a16:creationId xmlns:a16="http://schemas.microsoft.com/office/drawing/2014/main" id="{9D311905-B64E-4F4B-9419-400FAE59BB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3080" y="1678472"/>
            <a:ext cx="1296144" cy="1318480"/>
          </a:xfrm>
          <a:prstGeom prst="flowChartMultidocument">
            <a:avLst/>
          </a:prstGeom>
          <a:solidFill>
            <a:srgbClr val="DCE6F2"/>
          </a:solidFill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1" hangingPunct="1">
              <a:buNone/>
            </a:pPr>
            <a:r>
              <a:rPr lang="en-US" altLang="ko-KR" sz="1000" dirty="0" smtClean="0">
                <a:latin typeface="맑은 고딕" panose="020B0503020000020004" pitchFamily="50" charset="-127"/>
              </a:rPr>
              <a:t>CI, PL, BL,</a:t>
            </a:r>
          </a:p>
          <a:p>
            <a:pPr algn="ctr" eaLnBrk="1" latinLnBrk="1" hangingPunct="1">
              <a:buNone/>
            </a:pPr>
            <a:r>
              <a:rPr lang="ko-KR" altLang="en-US" sz="1000" dirty="0" smtClean="0">
                <a:latin typeface="맑은 고딕" panose="020B0503020000020004" pitchFamily="50" charset="-127"/>
              </a:rPr>
              <a:t>원산지증명서</a:t>
            </a:r>
            <a:r>
              <a:rPr lang="en-US" altLang="ko-KR" sz="1000" dirty="0" smtClean="0">
                <a:latin typeface="맑은 고딕" panose="020B0503020000020004" pitchFamily="50" charset="-127"/>
              </a:rPr>
              <a:t>,</a:t>
            </a:r>
          </a:p>
          <a:p>
            <a:pPr algn="ctr" eaLnBrk="1" latinLnBrk="1" hangingPunct="1">
              <a:buNone/>
            </a:pPr>
            <a:r>
              <a:rPr lang="ko-KR" altLang="en-US" sz="1000" dirty="0" smtClean="0">
                <a:latin typeface="맑은 고딕" panose="020B0503020000020004" pitchFamily="50" charset="-127"/>
              </a:rPr>
              <a:t>수출입통관문서 등</a:t>
            </a:r>
            <a:endParaRPr lang="ko-KR" altLang="en-US" sz="1000" dirty="0">
              <a:latin typeface="맑은 고딕" panose="020B0503020000020004" pitchFamily="50" charset="-127"/>
            </a:endParaRPr>
          </a:p>
        </p:txBody>
      </p:sp>
      <p:sp>
        <p:nvSpPr>
          <p:cNvPr id="79" name="순서도: 다중 문서 352">
            <a:extLst>
              <a:ext uri="{FF2B5EF4-FFF2-40B4-BE49-F238E27FC236}">
                <a16:creationId xmlns:a16="http://schemas.microsoft.com/office/drawing/2014/main" id="{9D311905-B64E-4F4B-9419-400FAE59BB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2096" y="1678472"/>
            <a:ext cx="1296144" cy="1318480"/>
          </a:xfrm>
          <a:prstGeom prst="flowChartMultidocument">
            <a:avLst/>
          </a:prstGeom>
          <a:solidFill>
            <a:srgbClr val="DCE6F2"/>
          </a:solidFill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1" hangingPunct="1">
              <a:buNone/>
            </a:pPr>
            <a:r>
              <a:rPr lang="en-US" altLang="ko-KR" sz="1000" dirty="0" smtClean="0">
                <a:latin typeface="맑은 고딕" panose="020B0503020000020004" pitchFamily="50" charset="-127"/>
              </a:rPr>
              <a:t>DO No., PO No.,</a:t>
            </a:r>
          </a:p>
          <a:p>
            <a:pPr algn="ctr" eaLnBrk="1" latinLnBrk="1" hangingPunct="1">
              <a:buNone/>
            </a:pPr>
            <a:r>
              <a:rPr lang="en-US" altLang="ko-KR" sz="1000" dirty="0" smtClean="0">
                <a:latin typeface="맑은 고딕" panose="020B0503020000020004" pitchFamily="50" charset="-127"/>
              </a:rPr>
              <a:t>BK No., HBL No., MBL No. </a:t>
            </a:r>
            <a:r>
              <a:rPr lang="ko-KR" altLang="en-US" sz="1000" dirty="0" smtClean="0">
                <a:latin typeface="맑은 고딕" panose="020B0503020000020004" pitchFamily="50" charset="-127"/>
              </a:rPr>
              <a:t>등</a:t>
            </a:r>
            <a:endParaRPr lang="en-US" altLang="ko-KR" sz="1000" dirty="0" smtClean="0">
              <a:latin typeface="맑은 고딕" panose="020B0503020000020004" pitchFamily="50" charset="-127"/>
            </a:endParaRPr>
          </a:p>
          <a:p>
            <a:pPr algn="ctr" eaLnBrk="1" latinLnBrk="1" hangingPunct="1">
              <a:buNone/>
            </a:pPr>
            <a:endParaRPr lang="ko-KR" altLang="en-US" sz="1000" dirty="0">
              <a:latin typeface="맑은 고딕" panose="020B0503020000020004" pitchFamily="50" charset="-127"/>
            </a:endParaRPr>
          </a:p>
        </p:txBody>
      </p:sp>
      <p:sp>
        <p:nvSpPr>
          <p:cNvPr id="80" name="Rectangle 224"/>
          <p:cNvSpPr>
            <a:spLocks noChangeArrowheads="1"/>
          </p:cNvSpPr>
          <p:nvPr/>
        </p:nvSpPr>
        <p:spPr bwMode="gray">
          <a:xfrm>
            <a:off x="277388" y="3669333"/>
            <a:ext cx="3384376" cy="187592"/>
          </a:xfrm>
          <a:prstGeom prst="rect">
            <a:avLst/>
          </a:prstGeom>
          <a:solidFill>
            <a:srgbClr val="7F7F7F"/>
          </a:solidFill>
          <a:ln w="9525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33993" tIns="43171" rIns="36000" bIns="43171" numCol="1" anchor="ctr" anchorCtr="0" compatLnSpc="1">
            <a:prstTxWarp prst="textNoShape">
              <a:avLst/>
            </a:prstTxWarp>
          </a:bodyPr>
          <a:lstStyle/>
          <a:p>
            <a:pPr algn="ctr" defTabSz="788988">
              <a:buNone/>
            </a:pPr>
            <a:r>
              <a:rPr lang="ko-KR" altLang="en-US" sz="1200" dirty="0" smtClean="0">
                <a:solidFill>
                  <a:srgbClr val="FFFFFF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법인</a:t>
            </a:r>
            <a:r>
              <a:rPr lang="en-US" altLang="ko-KR" sz="1200" dirty="0" smtClean="0">
                <a:solidFill>
                  <a:srgbClr val="FFFFFF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/</a:t>
            </a:r>
            <a:r>
              <a:rPr lang="ko-KR" altLang="en-US" sz="1200" dirty="0" smtClean="0">
                <a:solidFill>
                  <a:srgbClr val="FFFFFF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지점간 연계 업무 강화</a:t>
            </a:r>
            <a:endParaRPr lang="ko-KR" altLang="en-US" sz="1200" dirty="0">
              <a:solidFill>
                <a:srgbClr val="FFFFFF"/>
              </a:solidFill>
              <a:latin typeface="Cambria" panose="02040503050406030204" pitchFamily="18" charset="0"/>
              <a:ea typeface="맑은 고딕" panose="020B0503020000020004" pitchFamily="50" charset="-127"/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272480" y="3852581"/>
            <a:ext cx="3384376" cy="202116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rtlCol="0" anchor="ctr">
            <a:spAutoFit/>
          </a:bodyPr>
          <a:lstStyle/>
          <a:p>
            <a:pPr algn="ctr">
              <a:buNone/>
            </a:pPr>
            <a:endParaRPr lang="ko-KR" altLang="en-US" sz="1200" dirty="0" smtClean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4" name="Rectangle 74"/>
          <p:cNvSpPr>
            <a:spLocks noChangeArrowheads="1"/>
          </p:cNvSpPr>
          <p:nvPr/>
        </p:nvSpPr>
        <p:spPr bwMode="auto">
          <a:xfrm>
            <a:off x="344488" y="3969537"/>
            <a:ext cx="774440" cy="79113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auto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900" kern="0" dirty="0" smtClean="0">
                <a:latin typeface="Cambria" panose="02040503050406030204" pitchFamily="18" charset="0"/>
                <a:ea typeface="맑은 고딕" pitchFamily="50" charset="-127"/>
              </a:rPr>
              <a:t>Notification</a:t>
            </a:r>
          </a:p>
          <a:p>
            <a:pPr algn="ctr" fontAlgn="auto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900" b="0" kern="0" dirty="0" smtClean="0">
                <a:latin typeface="Cambria" panose="02040503050406030204" pitchFamily="18" charset="0"/>
                <a:ea typeface="맑은 고딕" pitchFamily="50" charset="-127"/>
              </a:rPr>
              <a:t>: </a:t>
            </a:r>
            <a:r>
              <a:rPr kumimoji="0" lang="ko-KR" altLang="en-US" sz="900" b="0" kern="0" dirty="0" err="1" smtClean="0">
                <a:latin typeface="Cambria" panose="02040503050406030204" pitchFamily="18" charset="0"/>
                <a:ea typeface="맑은 고딕" pitchFamily="50" charset="-127"/>
              </a:rPr>
              <a:t>법인간</a:t>
            </a:r>
            <a:r>
              <a:rPr kumimoji="0" lang="ko-KR" altLang="en-US" sz="900" b="0" kern="0" dirty="0" smtClean="0">
                <a:latin typeface="Cambria" panose="02040503050406030204" pitchFamily="18" charset="0"/>
                <a:ea typeface="맑은 고딕" pitchFamily="50" charset="-127"/>
              </a:rPr>
              <a:t> </a:t>
            </a:r>
            <a:endParaRPr kumimoji="0" lang="en-US" altLang="ko-KR" sz="900" b="0" kern="0" dirty="0" smtClean="0">
              <a:latin typeface="Cambria" panose="02040503050406030204" pitchFamily="18" charset="0"/>
              <a:ea typeface="맑은 고딕" pitchFamily="50" charset="-127"/>
            </a:endParaRPr>
          </a:p>
          <a:p>
            <a:pPr algn="ctr" fontAlgn="auto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900" b="0" kern="0" dirty="0" smtClean="0">
                <a:latin typeface="Cambria" panose="02040503050406030204" pitchFamily="18" charset="0"/>
                <a:ea typeface="맑은 고딕" pitchFamily="50" charset="-127"/>
              </a:rPr>
              <a:t>정보공유</a:t>
            </a:r>
            <a:endParaRPr kumimoji="0" lang="ko-KR" altLang="en-US" sz="900" b="0" kern="0" dirty="0" smtClean="0">
              <a:latin typeface="Cambria" panose="02040503050406030204" pitchFamily="18" charset="0"/>
              <a:ea typeface="맑은 고딕" pitchFamily="50" charset="-127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1502567" y="3972613"/>
            <a:ext cx="774440" cy="791135"/>
            <a:chOff x="4112292" y="4293096"/>
            <a:chExt cx="774440" cy="870248"/>
          </a:xfrm>
        </p:grpSpPr>
        <p:sp>
          <p:nvSpPr>
            <p:cNvPr id="87" name="Rectangle 74"/>
            <p:cNvSpPr>
              <a:spLocks noChangeArrowheads="1"/>
            </p:cNvSpPr>
            <p:nvPr/>
          </p:nvSpPr>
          <p:spPr bwMode="auto">
            <a:xfrm>
              <a:off x="4112292" y="4293096"/>
              <a:ext cx="774440" cy="76992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rgbClr val="CFD0CE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600" b="0" kern="0" smtClean="0">
                <a:solidFill>
                  <a:srgbClr val="000000"/>
                </a:solidFill>
                <a:latin typeface="Cambria" panose="02040503050406030204" pitchFamily="18" charset="0"/>
                <a:ea typeface="나눔고딕OTF Bold"/>
                <a:cs typeface="나눔고딕OTF Bold"/>
              </a:endParaRPr>
            </a:p>
          </p:txBody>
        </p:sp>
        <p:sp>
          <p:nvSpPr>
            <p:cNvPr id="88" name="Rectangle 74"/>
            <p:cNvSpPr>
              <a:spLocks noChangeArrowheads="1"/>
            </p:cNvSpPr>
            <p:nvPr/>
          </p:nvSpPr>
          <p:spPr bwMode="auto">
            <a:xfrm>
              <a:off x="4112292" y="4293096"/>
              <a:ext cx="774440" cy="2457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fontAlgn="auto" latinLnBrk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kumimoji="0" lang="ko-KR" altLang="en-US" sz="900" kern="0" dirty="0" smtClean="0">
                  <a:latin typeface="Cambria" panose="02040503050406030204" pitchFamily="18" charset="0"/>
                  <a:ea typeface="맑은 고딕" pitchFamily="50" charset="-127"/>
                </a:rPr>
                <a:t>수출</a:t>
              </a:r>
              <a:endParaRPr kumimoji="0" lang="ko-KR" altLang="en-US" sz="900" b="0" kern="0" dirty="0" smtClean="0">
                <a:latin typeface="Cambria" panose="02040503050406030204" pitchFamily="18" charset="0"/>
                <a:ea typeface="맑은 고딕" pitchFamily="50" charset="-127"/>
              </a:endParaRPr>
            </a:p>
          </p:txBody>
        </p:sp>
        <p:pic>
          <p:nvPicPr>
            <p:cNvPr id="89" name="그림 8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flipV="1">
              <a:off x="4112292" y="4549890"/>
              <a:ext cx="774440" cy="613454"/>
            </a:xfrm>
            <a:prstGeom prst="rect">
              <a:avLst/>
            </a:prstGeom>
          </p:spPr>
        </p:pic>
      </p:grpSp>
      <p:grpSp>
        <p:nvGrpSpPr>
          <p:cNvPr id="10" name="그룹 9"/>
          <p:cNvGrpSpPr/>
          <p:nvPr/>
        </p:nvGrpSpPr>
        <p:grpSpPr>
          <a:xfrm>
            <a:off x="2674749" y="3969537"/>
            <a:ext cx="774440" cy="791135"/>
            <a:chOff x="5474704" y="4445496"/>
            <a:chExt cx="774440" cy="870248"/>
          </a:xfrm>
        </p:grpSpPr>
        <p:sp>
          <p:nvSpPr>
            <p:cNvPr id="90" name="Rectangle 74"/>
            <p:cNvSpPr>
              <a:spLocks noChangeArrowheads="1"/>
            </p:cNvSpPr>
            <p:nvPr/>
          </p:nvSpPr>
          <p:spPr bwMode="auto">
            <a:xfrm>
              <a:off x="5474704" y="4445496"/>
              <a:ext cx="774440" cy="76992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rgbClr val="CFD0CE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600" b="0" kern="0" smtClean="0">
                <a:solidFill>
                  <a:srgbClr val="000000"/>
                </a:solidFill>
                <a:latin typeface="Cambria" panose="02040503050406030204" pitchFamily="18" charset="0"/>
                <a:ea typeface="나눔고딕OTF Bold"/>
                <a:cs typeface="나눔고딕OTF Bold"/>
              </a:endParaRPr>
            </a:p>
          </p:txBody>
        </p:sp>
        <p:sp>
          <p:nvSpPr>
            <p:cNvPr id="149" name="Rectangle 74"/>
            <p:cNvSpPr>
              <a:spLocks noChangeArrowheads="1"/>
            </p:cNvSpPr>
            <p:nvPr/>
          </p:nvSpPr>
          <p:spPr bwMode="auto">
            <a:xfrm>
              <a:off x="5474704" y="4445496"/>
              <a:ext cx="774440" cy="2457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fontAlgn="auto" latinLnBrk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kumimoji="0" lang="ko-KR" altLang="en-US" sz="900" kern="0" dirty="0" smtClean="0">
                  <a:latin typeface="Cambria" panose="02040503050406030204" pitchFamily="18" charset="0"/>
                  <a:ea typeface="맑은 고딕" pitchFamily="50" charset="-127"/>
                </a:rPr>
                <a:t>수입</a:t>
              </a:r>
              <a:endParaRPr kumimoji="0" lang="ko-KR" altLang="en-US" sz="900" b="0" kern="0" dirty="0" smtClean="0">
                <a:latin typeface="Cambria" panose="02040503050406030204" pitchFamily="18" charset="0"/>
                <a:ea typeface="맑은 고딕" pitchFamily="50" charset="-127"/>
              </a:endParaRPr>
            </a:p>
          </p:txBody>
        </p:sp>
        <p:pic>
          <p:nvPicPr>
            <p:cNvPr id="151" name="그림 15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flipV="1">
              <a:off x="5474704" y="4702290"/>
              <a:ext cx="774440" cy="613454"/>
            </a:xfrm>
            <a:prstGeom prst="rect">
              <a:avLst/>
            </a:prstGeom>
          </p:spPr>
        </p:pic>
      </p:grpSp>
      <p:cxnSp>
        <p:nvCxnSpPr>
          <p:cNvPr id="153" name="꺾인 연결선 50"/>
          <p:cNvCxnSpPr/>
          <p:nvPr/>
        </p:nvCxnSpPr>
        <p:spPr bwMode="auto">
          <a:xfrm>
            <a:off x="2306230" y="4365104"/>
            <a:ext cx="342514" cy="0"/>
          </a:xfrm>
          <a:prstGeom prst="straightConnector1">
            <a:avLst/>
          </a:prstGeom>
          <a:noFill/>
          <a:ln w="9525" cap="flat" cmpd="sng" algn="ctr">
            <a:solidFill>
              <a:srgbClr val="777777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55" name="Rectangle 74"/>
          <p:cNvSpPr>
            <a:spLocks noChangeArrowheads="1"/>
          </p:cNvSpPr>
          <p:nvPr/>
        </p:nvSpPr>
        <p:spPr bwMode="auto">
          <a:xfrm>
            <a:off x="344488" y="4860502"/>
            <a:ext cx="774440" cy="79113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auto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900" b="0" kern="0" dirty="0" smtClean="0">
                <a:latin typeface="Cambria" panose="02040503050406030204" pitchFamily="18" charset="0"/>
                <a:ea typeface="맑은 고딕" pitchFamily="50" charset="-127"/>
              </a:rPr>
              <a:t>Pre Alert</a:t>
            </a:r>
          </a:p>
          <a:p>
            <a:pPr algn="ctr" fontAlgn="auto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900" kern="0" dirty="0" smtClean="0">
                <a:latin typeface="Cambria" panose="02040503050406030204" pitchFamily="18" charset="0"/>
                <a:ea typeface="맑은 고딕" pitchFamily="50" charset="-127"/>
              </a:rPr>
              <a:t>: </a:t>
            </a:r>
            <a:r>
              <a:rPr kumimoji="0" lang="ko-KR" altLang="en-US" sz="900" kern="0" dirty="0" err="1" smtClean="0">
                <a:latin typeface="Cambria" panose="02040503050406030204" pitchFamily="18" charset="0"/>
                <a:ea typeface="맑은 고딕" pitchFamily="50" charset="-127"/>
              </a:rPr>
              <a:t>문서공유</a:t>
            </a:r>
            <a:endParaRPr kumimoji="0" lang="ko-KR" altLang="en-US" sz="900" b="0" kern="0" dirty="0" smtClean="0">
              <a:latin typeface="Cambria" panose="02040503050406030204" pitchFamily="18" charset="0"/>
              <a:ea typeface="맑은 고딕" pitchFamily="50" charset="-127"/>
            </a:endParaRPr>
          </a:p>
        </p:txBody>
      </p:sp>
      <p:grpSp>
        <p:nvGrpSpPr>
          <p:cNvPr id="156" name="그룹 155"/>
          <p:cNvGrpSpPr/>
          <p:nvPr/>
        </p:nvGrpSpPr>
        <p:grpSpPr>
          <a:xfrm>
            <a:off x="1502567" y="4863578"/>
            <a:ext cx="774440" cy="791135"/>
            <a:chOff x="4112292" y="4293096"/>
            <a:chExt cx="774440" cy="870248"/>
          </a:xfrm>
        </p:grpSpPr>
        <p:sp>
          <p:nvSpPr>
            <p:cNvPr id="157" name="Rectangle 74"/>
            <p:cNvSpPr>
              <a:spLocks noChangeArrowheads="1"/>
            </p:cNvSpPr>
            <p:nvPr/>
          </p:nvSpPr>
          <p:spPr bwMode="auto">
            <a:xfrm>
              <a:off x="4112292" y="4293096"/>
              <a:ext cx="774440" cy="76992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rgbClr val="CFD0CE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600" b="0" kern="0" smtClean="0">
                <a:solidFill>
                  <a:srgbClr val="000000"/>
                </a:solidFill>
                <a:latin typeface="Cambria" panose="02040503050406030204" pitchFamily="18" charset="0"/>
                <a:ea typeface="나눔고딕OTF Bold"/>
                <a:cs typeface="나눔고딕OTF Bold"/>
              </a:endParaRPr>
            </a:p>
          </p:txBody>
        </p:sp>
        <p:sp>
          <p:nvSpPr>
            <p:cNvPr id="158" name="Rectangle 74"/>
            <p:cNvSpPr>
              <a:spLocks noChangeArrowheads="1"/>
            </p:cNvSpPr>
            <p:nvPr/>
          </p:nvSpPr>
          <p:spPr bwMode="auto">
            <a:xfrm>
              <a:off x="4112292" y="4293096"/>
              <a:ext cx="774440" cy="2457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fontAlgn="auto" latinLnBrk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kumimoji="0" lang="ko-KR" altLang="en-US" sz="900" kern="0" dirty="0" smtClean="0">
                  <a:latin typeface="Cambria" panose="02040503050406030204" pitchFamily="18" charset="0"/>
                  <a:ea typeface="맑은 고딕" pitchFamily="50" charset="-127"/>
                </a:rPr>
                <a:t>수출</a:t>
              </a:r>
              <a:endParaRPr kumimoji="0" lang="ko-KR" altLang="en-US" sz="900" b="0" kern="0" dirty="0" smtClean="0">
                <a:latin typeface="Cambria" panose="02040503050406030204" pitchFamily="18" charset="0"/>
                <a:ea typeface="맑은 고딕" pitchFamily="50" charset="-127"/>
              </a:endParaRPr>
            </a:p>
          </p:txBody>
        </p:sp>
        <p:pic>
          <p:nvPicPr>
            <p:cNvPr id="159" name="그림 15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flipV="1">
              <a:off x="4112292" y="4549890"/>
              <a:ext cx="774440" cy="613454"/>
            </a:xfrm>
            <a:prstGeom prst="rect">
              <a:avLst/>
            </a:prstGeom>
          </p:spPr>
        </p:pic>
      </p:grpSp>
      <p:grpSp>
        <p:nvGrpSpPr>
          <p:cNvPr id="160" name="그룹 159"/>
          <p:cNvGrpSpPr/>
          <p:nvPr/>
        </p:nvGrpSpPr>
        <p:grpSpPr>
          <a:xfrm>
            <a:off x="2674749" y="4860502"/>
            <a:ext cx="774440" cy="791135"/>
            <a:chOff x="5474704" y="4445496"/>
            <a:chExt cx="774440" cy="870248"/>
          </a:xfrm>
        </p:grpSpPr>
        <p:sp>
          <p:nvSpPr>
            <p:cNvPr id="161" name="Rectangle 74"/>
            <p:cNvSpPr>
              <a:spLocks noChangeArrowheads="1"/>
            </p:cNvSpPr>
            <p:nvPr/>
          </p:nvSpPr>
          <p:spPr bwMode="auto">
            <a:xfrm>
              <a:off x="5474704" y="4445496"/>
              <a:ext cx="774440" cy="76992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rgbClr val="CFD0CE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600" b="0" kern="0" smtClean="0">
                <a:solidFill>
                  <a:srgbClr val="000000"/>
                </a:solidFill>
                <a:latin typeface="Cambria" panose="02040503050406030204" pitchFamily="18" charset="0"/>
                <a:ea typeface="나눔고딕OTF Bold"/>
                <a:cs typeface="나눔고딕OTF Bold"/>
              </a:endParaRPr>
            </a:p>
          </p:txBody>
        </p:sp>
        <p:sp>
          <p:nvSpPr>
            <p:cNvPr id="162" name="Rectangle 74"/>
            <p:cNvSpPr>
              <a:spLocks noChangeArrowheads="1"/>
            </p:cNvSpPr>
            <p:nvPr/>
          </p:nvSpPr>
          <p:spPr bwMode="auto">
            <a:xfrm>
              <a:off x="5474704" y="4445496"/>
              <a:ext cx="774440" cy="2457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fontAlgn="auto" latinLnBrk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kumimoji="0" lang="ko-KR" altLang="en-US" sz="900" kern="0" dirty="0" smtClean="0">
                  <a:latin typeface="Cambria" panose="02040503050406030204" pitchFamily="18" charset="0"/>
                  <a:ea typeface="맑은 고딕" pitchFamily="50" charset="-127"/>
                </a:rPr>
                <a:t>수입</a:t>
              </a:r>
              <a:endParaRPr kumimoji="0" lang="ko-KR" altLang="en-US" sz="900" b="0" kern="0" dirty="0" smtClean="0">
                <a:latin typeface="Cambria" panose="02040503050406030204" pitchFamily="18" charset="0"/>
                <a:ea typeface="맑은 고딕" pitchFamily="50" charset="-127"/>
              </a:endParaRPr>
            </a:p>
          </p:txBody>
        </p:sp>
        <p:pic>
          <p:nvPicPr>
            <p:cNvPr id="163" name="그림 16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flipV="1">
              <a:off x="5474704" y="4702290"/>
              <a:ext cx="774440" cy="613454"/>
            </a:xfrm>
            <a:prstGeom prst="rect">
              <a:avLst/>
            </a:prstGeom>
          </p:spPr>
        </p:pic>
      </p:grpSp>
      <p:cxnSp>
        <p:nvCxnSpPr>
          <p:cNvPr id="164" name="꺾인 연결선 50"/>
          <p:cNvCxnSpPr/>
          <p:nvPr/>
        </p:nvCxnSpPr>
        <p:spPr bwMode="auto">
          <a:xfrm>
            <a:off x="2306230" y="5229200"/>
            <a:ext cx="342514" cy="0"/>
          </a:xfrm>
          <a:prstGeom prst="straightConnector1">
            <a:avLst/>
          </a:prstGeom>
          <a:noFill/>
          <a:ln w="9525" cap="flat" cmpd="sng" algn="ctr">
            <a:solidFill>
              <a:srgbClr val="777777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165" name="Picture 3" descr="C:\Users\CEHong\AppData\Local\Microsoft\Windows\Temporary Internet Files\Content.IE5\3XOTVWZ5\MC900441455[1].png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4" t="22980" r="8606" b="41413"/>
          <a:stretch/>
        </p:blipFill>
        <p:spPr bwMode="auto">
          <a:xfrm>
            <a:off x="2324735" y="5101303"/>
            <a:ext cx="252001" cy="101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Picture 2" descr="C:\Users\CEHong\AppData\Local\Microsoft\Windows\Temporary Internet Files\Content.IE5\3XOTVWZ5\MC900441490[1]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0712" y="4185104"/>
            <a:ext cx="180000" cy="1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7" name="Rectangle 224"/>
          <p:cNvSpPr>
            <a:spLocks noChangeArrowheads="1"/>
          </p:cNvSpPr>
          <p:nvPr/>
        </p:nvSpPr>
        <p:spPr bwMode="gray">
          <a:xfrm>
            <a:off x="3778788" y="3669333"/>
            <a:ext cx="3384376" cy="187592"/>
          </a:xfrm>
          <a:prstGeom prst="rect">
            <a:avLst/>
          </a:prstGeom>
          <a:solidFill>
            <a:srgbClr val="7F7F7F"/>
          </a:solidFill>
          <a:ln w="9525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33993" tIns="43171" rIns="36000" bIns="43171" numCol="1" anchor="ctr" anchorCtr="0" compatLnSpc="1">
            <a:prstTxWarp prst="textNoShape">
              <a:avLst/>
            </a:prstTxWarp>
          </a:bodyPr>
          <a:lstStyle/>
          <a:p>
            <a:pPr algn="ctr" defTabSz="788988">
              <a:buNone/>
            </a:pPr>
            <a:r>
              <a:rPr lang="ko-KR" altLang="en-US" sz="1200" dirty="0" err="1" smtClean="0">
                <a:solidFill>
                  <a:srgbClr val="FFFFFF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내륙운송</a:t>
            </a:r>
            <a:r>
              <a:rPr lang="ko-KR" altLang="en-US" sz="1200" dirty="0" smtClean="0">
                <a:solidFill>
                  <a:srgbClr val="FFFFFF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  관리</a:t>
            </a:r>
            <a:endParaRPr lang="ko-KR" altLang="en-US" sz="1200" dirty="0">
              <a:solidFill>
                <a:srgbClr val="FFFFFF"/>
              </a:solidFill>
              <a:latin typeface="Cambria" panose="02040503050406030204" pitchFamily="18" charset="0"/>
              <a:ea typeface="맑은 고딕" panose="020B0503020000020004" pitchFamily="50" charset="-127"/>
            </a:endParaRPr>
          </a:p>
        </p:txBody>
      </p:sp>
      <p:sp>
        <p:nvSpPr>
          <p:cNvPr id="168" name="직사각형 167"/>
          <p:cNvSpPr/>
          <p:nvPr/>
        </p:nvSpPr>
        <p:spPr>
          <a:xfrm>
            <a:off x="3782347" y="3852581"/>
            <a:ext cx="3384376" cy="202116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rtlCol="0" anchor="ctr">
            <a:spAutoFit/>
          </a:bodyPr>
          <a:lstStyle/>
          <a:p>
            <a:pPr algn="ctr">
              <a:buNone/>
            </a:pPr>
            <a:endParaRPr lang="ko-KR" altLang="en-US" sz="1200" dirty="0" smtClean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9" name="Rectangle 74"/>
          <p:cNvSpPr>
            <a:spLocks noChangeArrowheads="1"/>
          </p:cNvSpPr>
          <p:nvPr/>
        </p:nvSpPr>
        <p:spPr bwMode="auto">
          <a:xfrm>
            <a:off x="3854355" y="3969537"/>
            <a:ext cx="774440" cy="16821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auto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900" kern="0" dirty="0" err="1" smtClean="0">
                <a:latin typeface="Cambria" panose="02040503050406030204" pitchFamily="18" charset="0"/>
                <a:ea typeface="맑은 고딕" pitchFamily="50" charset="-127"/>
              </a:rPr>
              <a:t>내륙운송</a:t>
            </a:r>
            <a:endParaRPr kumimoji="0" lang="en-US" altLang="ko-KR" sz="900" kern="0" dirty="0" smtClean="0">
              <a:latin typeface="Cambria" panose="02040503050406030204" pitchFamily="18" charset="0"/>
              <a:ea typeface="맑은 고딕" pitchFamily="50" charset="-127"/>
            </a:endParaRPr>
          </a:p>
          <a:p>
            <a:pPr algn="ctr" fontAlgn="auto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900" b="0" kern="0" dirty="0" smtClean="0">
                <a:latin typeface="Cambria" panose="02040503050406030204" pitchFamily="18" charset="0"/>
                <a:ea typeface="맑은 고딕" pitchFamily="50" charset="-127"/>
              </a:rPr>
              <a:t>Multi-Modal</a:t>
            </a:r>
            <a:endParaRPr kumimoji="0" lang="ko-KR" altLang="en-US" sz="900" b="0" kern="0" dirty="0" smtClean="0">
              <a:latin typeface="Cambria" panose="02040503050406030204" pitchFamily="18" charset="0"/>
              <a:ea typeface="맑은 고딕" pitchFamily="50" charset="-127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6976" y="4139895"/>
            <a:ext cx="2359364" cy="1305329"/>
          </a:xfrm>
          <a:prstGeom prst="rect">
            <a:avLst/>
          </a:prstGeom>
        </p:spPr>
      </p:pic>
      <p:sp>
        <p:nvSpPr>
          <p:cNvPr id="207" name="AutoShape 315"/>
          <p:cNvSpPr>
            <a:spLocks noChangeArrowheads="1"/>
          </p:cNvSpPr>
          <p:nvPr/>
        </p:nvSpPr>
        <p:spPr bwMode="auto">
          <a:xfrm rot="16200000" flipH="1" flipV="1">
            <a:off x="5074885" y="3623688"/>
            <a:ext cx="4603935" cy="88900"/>
          </a:xfrm>
          <a:custGeom>
            <a:avLst/>
            <a:gdLst>
              <a:gd name="T0" fmla="*/ 10567836 w 21600"/>
              <a:gd name="T1" fmla="*/ 2 h 21600"/>
              <a:gd name="T2" fmla="*/ 10567836 w 21600"/>
              <a:gd name="T3" fmla="*/ 4 h 21600"/>
              <a:gd name="T4" fmla="*/ 10567836 w 21600"/>
              <a:gd name="T5" fmla="*/ 2 h 21600"/>
              <a:gd name="T6" fmla="*/ 1056783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622 w 21600"/>
              <a:gd name="T13" fmla="*/ 2700 h 21600"/>
              <a:gd name="T14" fmla="*/ 18978 w 21600"/>
              <a:gd name="T15" fmla="*/ 189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649" y="21600"/>
                </a:lnTo>
                <a:lnTo>
                  <a:pt x="19951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C0C0C0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 smtClean="0">
              <a:latin typeface="Cambria" panose="02040503050406030204" pitchFamily="18" charset="0"/>
              <a:ea typeface="맑은 고딕" pitchFamily="50" charset="-127"/>
            </a:endParaRPr>
          </a:p>
        </p:txBody>
      </p:sp>
      <p:sp>
        <p:nvSpPr>
          <p:cNvPr id="208" name="Line 274"/>
          <p:cNvSpPr>
            <a:spLocks noChangeShapeType="1"/>
          </p:cNvSpPr>
          <p:nvPr/>
        </p:nvSpPr>
        <p:spPr bwMode="auto">
          <a:xfrm flipH="1">
            <a:off x="7424029" y="1366169"/>
            <a:ext cx="2268000" cy="0"/>
          </a:xfrm>
          <a:prstGeom prst="line">
            <a:avLst/>
          </a:prstGeom>
          <a:noFill/>
          <a:ln w="28575">
            <a:solidFill>
              <a:srgbClr val="3C8ECD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 smtClean="0">
              <a:latin typeface="Cambria" panose="02040503050406030204" pitchFamily="18" charset="0"/>
              <a:ea typeface="맑은 고딕" pitchFamily="50" charset="-127"/>
            </a:endParaRPr>
          </a:p>
        </p:txBody>
      </p:sp>
      <p:sp>
        <p:nvSpPr>
          <p:cNvPr id="209" name="AutoShape 292"/>
          <p:cNvSpPr>
            <a:spLocks noChangeArrowheads="1"/>
          </p:cNvSpPr>
          <p:nvPr/>
        </p:nvSpPr>
        <p:spPr bwMode="auto">
          <a:xfrm>
            <a:off x="7424029" y="1484784"/>
            <a:ext cx="2273799" cy="423524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latin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ko-KR" altLang="ko-KR" sz="1200" baseline="-25000">
              <a:latin typeface="Cambria" panose="02040503050406030204" pitchFamily="18" charset="0"/>
              <a:ea typeface="산돌고딕 L" pitchFamily="18" charset="-127"/>
            </a:endParaRPr>
          </a:p>
        </p:txBody>
      </p:sp>
      <p:sp>
        <p:nvSpPr>
          <p:cNvPr id="210" name="AutoShape 292"/>
          <p:cNvSpPr>
            <a:spLocks noChangeArrowheads="1"/>
          </p:cNvSpPr>
          <p:nvPr/>
        </p:nvSpPr>
        <p:spPr bwMode="auto">
          <a:xfrm>
            <a:off x="7426673" y="2799990"/>
            <a:ext cx="2273799" cy="420302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latin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ko-KR" altLang="ko-KR" sz="1200" baseline="-25000">
              <a:latin typeface="Cambria" panose="02040503050406030204" pitchFamily="18" charset="0"/>
              <a:ea typeface="산돌고딕 L" pitchFamily="18" charset="-127"/>
            </a:endParaRPr>
          </a:p>
        </p:txBody>
      </p:sp>
      <p:sp>
        <p:nvSpPr>
          <p:cNvPr id="211" name="Rectangle 18"/>
          <p:cNvSpPr>
            <a:spLocks noChangeArrowheads="1"/>
          </p:cNvSpPr>
          <p:nvPr/>
        </p:nvSpPr>
        <p:spPr bwMode="auto">
          <a:xfrm>
            <a:off x="7467179" y="1614545"/>
            <a:ext cx="2232000" cy="164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noAutofit/>
          </a:bodyPr>
          <a:lstStyle>
            <a:lvl1pPr eaLnBrk="0" hangingPunct="0">
              <a:defRPr kumimoji="1" baseline="-25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aseline="-25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aseline="-25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aseline="-25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aseline="-25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aseline="-25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aseline="-25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aseline="-25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aseline="-25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latinLnBrk="0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ko-KR" altLang="en-US" sz="1300" b="1" baseline="0" dirty="0" smtClean="0">
                <a:solidFill>
                  <a:srgbClr val="000000"/>
                </a:solidFill>
                <a:latin typeface="Cambria" panose="02040503050406030204" pitchFamily="18" charset="0"/>
                <a:ea typeface="맑은 고딕" panose="020B0503020000020004" pitchFamily="50" charset="-127"/>
                <a:sym typeface="Monotype Sorts" pitchFamily="2" charset="2"/>
              </a:rPr>
              <a:t>실시간 업무 처리 지원</a:t>
            </a:r>
            <a:endParaRPr lang="ko-KR" altLang="en-US" sz="1300" b="1" baseline="0" dirty="0">
              <a:solidFill>
                <a:srgbClr val="000000"/>
              </a:solidFill>
              <a:latin typeface="Cambria" panose="02040503050406030204" pitchFamily="18" charset="0"/>
              <a:ea typeface="맑은 고딕" panose="020B0503020000020004" pitchFamily="50" charset="-127"/>
              <a:sym typeface="Monotype Sorts" pitchFamily="2" charset="2"/>
            </a:endParaRPr>
          </a:p>
        </p:txBody>
      </p:sp>
      <p:sp>
        <p:nvSpPr>
          <p:cNvPr id="212" name="Rectangle 18"/>
          <p:cNvSpPr>
            <a:spLocks noChangeArrowheads="1"/>
          </p:cNvSpPr>
          <p:nvPr/>
        </p:nvSpPr>
        <p:spPr bwMode="auto">
          <a:xfrm>
            <a:off x="7476172" y="2896941"/>
            <a:ext cx="2232000" cy="328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noAutofit/>
          </a:bodyPr>
          <a:lstStyle>
            <a:lvl1pPr eaLnBrk="0" hangingPunct="0">
              <a:defRPr kumimoji="1" baseline="-25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aseline="-25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aseline="-25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aseline="-25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aseline="-25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aseline="-25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aseline="-25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aseline="-25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aseline="-25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latinLnBrk="0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ko-KR" altLang="en-US" sz="1300" b="1" baseline="0" dirty="0" smtClean="0">
                <a:solidFill>
                  <a:srgbClr val="000000"/>
                </a:solidFill>
                <a:latin typeface="Cambria" panose="02040503050406030204" pitchFamily="18" charset="0"/>
                <a:ea typeface="맑은 고딕" panose="020B0503020000020004" pitchFamily="50" charset="-127"/>
                <a:sym typeface="Monotype Sorts" pitchFamily="2" charset="2"/>
              </a:rPr>
              <a:t>법인</a:t>
            </a:r>
            <a:r>
              <a:rPr lang="en-US" altLang="ko-KR" sz="1300" b="1" baseline="0" dirty="0" smtClean="0">
                <a:solidFill>
                  <a:srgbClr val="000000"/>
                </a:solidFill>
                <a:latin typeface="Cambria" panose="02040503050406030204" pitchFamily="18" charset="0"/>
                <a:ea typeface="맑은 고딕" panose="020B0503020000020004" pitchFamily="50" charset="-127"/>
                <a:sym typeface="Monotype Sorts" pitchFamily="2" charset="2"/>
              </a:rPr>
              <a:t>/</a:t>
            </a:r>
            <a:r>
              <a:rPr lang="ko-KR" altLang="en-US" sz="1300" b="1" baseline="0" dirty="0" smtClean="0">
                <a:solidFill>
                  <a:srgbClr val="000000"/>
                </a:solidFill>
                <a:latin typeface="Cambria" panose="02040503050406030204" pitchFamily="18" charset="0"/>
                <a:ea typeface="맑은 고딕" panose="020B0503020000020004" pitchFamily="50" charset="-127"/>
                <a:sym typeface="Monotype Sorts" pitchFamily="2" charset="2"/>
              </a:rPr>
              <a:t>지점간 업무 효율성 강화</a:t>
            </a:r>
            <a:endParaRPr lang="ko-KR" altLang="en-US" sz="1300" b="1" baseline="0" dirty="0">
              <a:solidFill>
                <a:srgbClr val="000000"/>
              </a:solidFill>
              <a:latin typeface="Cambria" panose="02040503050406030204" pitchFamily="18" charset="0"/>
              <a:ea typeface="맑은 고딕" panose="020B0503020000020004" pitchFamily="50" charset="-127"/>
              <a:sym typeface="Monotype Sorts" pitchFamily="2" charset="2"/>
            </a:endParaRPr>
          </a:p>
        </p:txBody>
      </p:sp>
      <p:sp>
        <p:nvSpPr>
          <p:cNvPr id="213" name="AutoShape 83"/>
          <p:cNvSpPr>
            <a:spLocks noChangeArrowheads="1"/>
          </p:cNvSpPr>
          <p:nvPr/>
        </p:nvSpPr>
        <p:spPr bwMode="gray">
          <a:xfrm>
            <a:off x="7463137" y="1952803"/>
            <a:ext cx="2242391" cy="5924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prstDash val="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marL="95250" indent="-95250" eaLnBrk="0" hangingPunct="0">
              <a:defRPr kumimoji="1" baseline="-25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aseline="-25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aseline="-25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aseline="-25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aseline="-25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aseline="-25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aseline="-25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aseline="-25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aseline="-25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latinLnBrk="0" hangingPunct="1">
              <a:lnSpc>
                <a:spcPct val="110000"/>
              </a:lnSpc>
              <a:spcBef>
                <a:spcPct val="20000"/>
              </a:spcBef>
              <a:buClrTx/>
              <a:buFontTx/>
              <a:buChar char="•"/>
            </a:pPr>
            <a:r>
              <a:rPr lang="ko-KR" altLang="en-US" sz="1100" baseline="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실시간 </a:t>
            </a:r>
            <a:r>
              <a:rPr lang="ko-KR" altLang="en-US" sz="1100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업무 처리 기반 물류 </a:t>
            </a:r>
            <a:r>
              <a:rPr lang="ko-KR" altLang="en-US" sz="1100" baseline="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</a:t>
            </a:r>
            <a:r>
              <a:rPr lang="en-US" altLang="ko-KR" sz="1100" baseline="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en-US" altLang="ko-KR" sz="1100" baseline="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100" baseline="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상황 </a:t>
            </a:r>
            <a:r>
              <a:rPr lang="ko-KR" altLang="en-US" sz="1100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적시 파악 및 추적</a:t>
            </a:r>
          </a:p>
          <a:p>
            <a:pPr eaLnBrk="1" latinLnBrk="0" hangingPunct="1">
              <a:lnSpc>
                <a:spcPct val="110000"/>
              </a:lnSpc>
              <a:spcBef>
                <a:spcPct val="20000"/>
              </a:spcBef>
              <a:buClrTx/>
              <a:buFontTx/>
              <a:buChar char="•"/>
            </a:pPr>
            <a:r>
              <a:rPr lang="en-US" altLang="ko-KR" sz="1100" baseline="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Exception </a:t>
            </a:r>
            <a:r>
              <a:rPr lang="ko-KR" altLang="en-US" sz="1100" baseline="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현황 파악</a:t>
            </a:r>
            <a:endParaRPr lang="ko-KR" altLang="en-US" sz="1100" b="1" baseline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4" name="AutoShape 83"/>
          <p:cNvSpPr>
            <a:spLocks noChangeArrowheads="1"/>
          </p:cNvSpPr>
          <p:nvPr/>
        </p:nvSpPr>
        <p:spPr bwMode="gray">
          <a:xfrm>
            <a:off x="7473280" y="3282273"/>
            <a:ext cx="2228892" cy="1032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prstDash val="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marL="95250" indent="-95250" eaLnBrk="0" latinLnBrk="0" hangingPunct="0">
              <a:lnSpc>
                <a:spcPct val="110000"/>
              </a:lnSpc>
              <a:spcBef>
                <a:spcPct val="20000"/>
              </a:spcBef>
              <a:buClrTx/>
              <a:buFontTx/>
              <a:buChar char="•"/>
            </a:pPr>
            <a:r>
              <a:rPr kumimoji="0" lang="en-US" altLang="ko-KR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BL </a:t>
            </a:r>
            <a:r>
              <a:rPr kumimoji="0"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기준 관련 문서 번호 및 각 종 문서를 시스템 내에서 통합관리</a:t>
            </a:r>
            <a:endParaRPr kumimoji="0"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95250" indent="-95250" eaLnBrk="0" latinLnBrk="0" hangingPunct="0">
              <a:lnSpc>
                <a:spcPct val="110000"/>
              </a:lnSpc>
              <a:spcBef>
                <a:spcPct val="20000"/>
              </a:spcBef>
              <a:buClrTx/>
              <a:buFontTx/>
              <a:buChar char="•"/>
            </a:pPr>
            <a:r>
              <a:rPr kumimoji="0"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법인</a:t>
            </a:r>
            <a:r>
              <a:rPr kumimoji="0" lang="en-US" altLang="ko-KR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kumimoji="0"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지점간 정보 연계 관리</a:t>
            </a:r>
            <a:endParaRPr kumimoji="0" lang="en-US" altLang="ko-KR" sz="11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95250" indent="-95250" eaLnBrk="0" latinLnBrk="0" hangingPunct="0">
              <a:lnSpc>
                <a:spcPct val="110000"/>
              </a:lnSpc>
              <a:spcBef>
                <a:spcPct val="20000"/>
              </a:spcBef>
              <a:buClrTx/>
              <a:buFontTx/>
              <a:buChar char="•"/>
            </a:pPr>
            <a:r>
              <a:rPr kumimoji="0"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법인</a:t>
            </a:r>
            <a:r>
              <a:rPr kumimoji="0" lang="en-US" altLang="ko-KR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kumimoji="0"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지점</a:t>
            </a:r>
            <a:r>
              <a:rPr kumimoji="0" lang="en-US" altLang="ko-KR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kumimoji="0" lang="ko-KR" altLang="en-US" sz="11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관계사간</a:t>
            </a:r>
            <a:r>
              <a:rPr kumimoji="0"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11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선적문서</a:t>
            </a:r>
            <a:endParaRPr kumimoji="0" lang="en-US" altLang="ko-KR" sz="11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0" latinLnBrk="0" hangingPunct="0">
              <a:lnSpc>
                <a:spcPct val="110000"/>
              </a:lnSpc>
              <a:spcBef>
                <a:spcPct val="20000"/>
              </a:spcBef>
              <a:buClrTx/>
              <a:buNone/>
            </a:pPr>
            <a:r>
              <a:rPr kumimoji="0"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e-Mail </a:t>
            </a:r>
            <a:r>
              <a:rPr kumimoji="0"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발송 자동화</a:t>
            </a:r>
            <a:r>
              <a:rPr kumimoji="0" lang="en-US" altLang="ko-KR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kumimoji="0"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7" name="AutoShape 83"/>
          <p:cNvSpPr>
            <a:spLocks noChangeArrowheads="1"/>
          </p:cNvSpPr>
          <p:nvPr/>
        </p:nvSpPr>
        <p:spPr bwMode="gray">
          <a:xfrm>
            <a:off x="7463137" y="5110967"/>
            <a:ext cx="2242391" cy="406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prstDash val="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marL="95250" indent="-95250" eaLnBrk="0" hangingPunct="0">
              <a:defRPr kumimoji="1" baseline="-25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aseline="-25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aseline="-25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aseline="-25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aseline="-25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aseline="-25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aseline="-25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aseline="-25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aseline="-25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latinLnBrk="0" hangingPunct="1">
              <a:lnSpc>
                <a:spcPct val="110000"/>
              </a:lnSpc>
              <a:spcBef>
                <a:spcPct val="20000"/>
              </a:spcBef>
              <a:buClrTx/>
              <a:buFontTx/>
              <a:buChar char="•"/>
            </a:pPr>
            <a:r>
              <a:rPr lang="en-US" altLang="ko-KR" sz="1100" baseline="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Multi-Modal </a:t>
            </a:r>
            <a:r>
              <a:rPr lang="ko-KR" altLang="en-US" sz="1100" baseline="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운송 관리</a:t>
            </a:r>
            <a:endParaRPr lang="ko-KR" altLang="en-US" sz="1100" baseline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0" hangingPunct="1">
              <a:lnSpc>
                <a:spcPct val="110000"/>
              </a:lnSpc>
              <a:spcBef>
                <a:spcPct val="20000"/>
              </a:spcBef>
              <a:buClrTx/>
              <a:buFontTx/>
              <a:buChar char="•"/>
            </a:pPr>
            <a:r>
              <a:rPr lang="ko-KR" altLang="en-US" sz="1100" baseline="0" dirty="0" err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내륙운송</a:t>
            </a:r>
            <a:r>
              <a:rPr lang="ko-KR" altLang="en-US" sz="1100" baseline="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100" baseline="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Route Map </a:t>
            </a:r>
            <a:r>
              <a:rPr lang="ko-KR" altLang="en-US" sz="1100" baseline="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관리</a:t>
            </a:r>
            <a:endParaRPr lang="ko-KR" altLang="en-US" sz="1100" b="1" baseline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0" name="AutoShape 292"/>
          <p:cNvSpPr>
            <a:spLocks noChangeArrowheads="1"/>
          </p:cNvSpPr>
          <p:nvPr/>
        </p:nvSpPr>
        <p:spPr bwMode="auto">
          <a:xfrm>
            <a:off x="7421911" y="4585897"/>
            <a:ext cx="2273799" cy="423524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latin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ko-KR" altLang="ko-KR" sz="1200" baseline="-25000">
              <a:latin typeface="Cambria" panose="02040503050406030204" pitchFamily="18" charset="0"/>
              <a:ea typeface="산돌고딕 L" pitchFamily="18" charset="-127"/>
            </a:endParaRPr>
          </a:p>
        </p:txBody>
      </p:sp>
      <p:sp>
        <p:nvSpPr>
          <p:cNvPr id="221" name="Rectangle 18"/>
          <p:cNvSpPr>
            <a:spLocks noChangeArrowheads="1"/>
          </p:cNvSpPr>
          <p:nvPr/>
        </p:nvSpPr>
        <p:spPr bwMode="auto">
          <a:xfrm>
            <a:off x="7465061" y="4715658"/>
            <a:ext cx="2232000" cy="164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noAutofit/>
          </a:bodyPr>
          <a:lstStyle>
            <a:lvl1pPr eaLnBrk="0" hangingPunct="0">
              <a:defRPr kumimoji="1" baseline="-25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aseline="-25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aseline="-25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aseline="-25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aseline="-25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aseline="-25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aseline="-25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aseline="-25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aseline="-25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latinLnBrk="0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ko-KR" altLang="en-US" sz="1300" b="1" baseline="0" dirty="0" err="1" smtClean="0">
                <a:solidFill>
                  <a:srgbClr val="000000"/>
                </a:solidFill>
                <a:latin typeface="Cambria" panose="02040503050406030204" pitchFamily="18" charset="0"/>
                <a:ea typeface="맑은 고딕" panose="020B0503020000020004" pitchFamily="50" charset="-127"/>
                <a:sym typeface="Monotype Sorts" pitchFamily="2" charset="2"/>
              </a:rPr>
              <a:t>내륙운송</a:t>
            </a:r>
            <a:r>
              <a:rPr lang="ko-KR" altLang="en-US" sz="1300" b="1" baseline="0" dirty="0" smtClean="0">
                <a:solidFill>
                  <a:srgbClr val="000000"/>
                </a:solidFill>
                <a:latin typeface="Cambria" panose="02040503050406030204" pitchFamily="18" charset="0"/>
                <a:ea typeface="맑은 고딕" panose="020B0503020000020004" pitchFamily="50" charset="-127"/>
                <a:sym typeface="Monotype Sorts" pitchFamily="2" charset="2"/>
              </a:rPr>
              <a:t> 관리</a:t>
            </a:r>
            <a:endParaRPr lang="ko-KR" altLang="en-US" sz="1300" b="1" baseline="0" dirty="0">
              <a:solidFill>
                <a:srgbClr val="000000"/>
              </a:solidFill>
              <a:latin typeface="Cambria" panose="02040503050406030204" pitchFamily="18" charset="0"/>
              <a:ea typeface="맑은 고딕" panose="020B0503020000020004" pitchFamily="50" charset="-127"/>
              <a:sym typeface="Monotype Sorts" pitchFamily="2" charset="2"/>
            </a:endParaRPr>
          </a:p>
        </p:txBody>
      </p:sp>
      <p:sp>
        <p:nvSpPr>
          <p:cNvPr id="12" name="슬라이드 번호 개체 틀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- </a:t>
            </a:r>
            <a:fld id="{EE975AF4-B1F3-41E4-B19A-4F6D78AFBDB1}" type="slidenum">
              <a:rPr lang="en-US" altLang="ko-KR" smtClean="0"/>
              <a:pPr>
                <a:defRPr/>
              </a:pPr>
              <a:t>6</a:t>
            </a:fld>
            <a:r>
              <a:rPr lang="en-US" altLang="ko-KR" smtClean="0"/>
              <a:t> -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1883876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4"/>
          <p:cNvSpPr>
            <a:spLocks noChangeArrowheads="1"/>
          </p:cNvSpPr>
          <p:nvPr/>
        </p:nvSpPr>
        <p:spPr bwMode="auto">
          <a:xfrm>
            <a:off x="395288" y="561975"/>
            <a:ext cx="9150350" cy="70678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fontAlgn="auto" latinLnBrk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C0504D"/>
              </a:buClr>
              <a:buFontTx/>
              <a:buNone/>
              <a:defRPr/>
            </a:pPr>
            <a:r>
              <a:rPr kumimoji="0" lang="en-US" altLang="ko-KR" b="1" kern="0" dirty="0" smtClean="0">
                <a:solidFill>
                  <a:sysClr val="windowText" lastClr="000000"/>
                </a:solidFill>
                <a:latin typeface="+mn-ea"/>
                <a:ea typeface="+mn-ea"/>
                <a:cs typeface="Tahoma" pitchFamily="34" charset="0"/>
              </a:rPr>
              <a:t>KEROL FIS app</a:t>
            </a:r>
            <a:r>
              <a:rPr kumimoji="0" lang="ko-KR" altLang="en-US" b="1" kern="0" dirty="0" smtClean="0">
                <a:solidFill>
                  <a:sysClr val="windowText" lastClr="000000"/>
                </a:solidFill>
                <a:latin typeface="+mn-ea"/>
                <a:ea typeface="+mn-ea"/>
                <a:cs typeface="Tahoma" pitchFamily="34" charset="0"/>
              </a:rPr>
              <a:t>을 통해 어디서나 </a:t>
            </a:r>
            <a:r>
              <a:rPr kumimoji="0" lang="en-US" altLang="ko-KR" b="1" kern="0" dirty="0" smtClean="0">
                <a:solidFill>
                  <a:sysClr val="windowText" lastClr="000000"/>
                </a:solidFill>
                <a:latin typeface="+mn-ea"/>
                <a:ea typeface="+mn-ea"/>
                <a:cs typeface="Tahoma" pitchFamily="34" charset="0"/>
              </a:rPr>
              <a:t>Order </a:t>
            </a:r>
            <a:r>
              <a:rPr kumimoji="0" lang="ko-KR" altLang="en-US" b="1" kern="0" dirty="0" smtClean="0">
                <a:solidFill>
                  <a:sysClr val="windowText" lastClr="000000"/>
                </a:solidFill>
                <a:latin typeface="+mn-ea"/>
                <a:ea typeface="+mn-ea"/>
                <a:cs typeface="Tahoma" pitchFamily="34" charset="0"/>
              </a:rPr>
              <a:t>및 </a:t>
            </a:r>
            <a:r>
              <a:rPr kumimoji="0" lang="en-US" altLang="ko-KR" b="1" kern="0" dirty="0" smtClean="0">
                <a:solidFill>
                  <a:sysClr val="windowText" lastClr="000000"/>
                </a:solidFill>
                <a:latin typeface="+mn-ea"/>
                <a:ea typeface="+mn-ea"/>
                <a:cs typeface="Tahoma" pitchFamily="34" charset="0"/>
              </a:rPr>
              <a:t>B/L </a:t>
            </a:r>
            <a:r>
              <a:rPr kumimoji="0" lang="ko-KR" altLang="en-US" b="1" kern="0" dirty="0" smtClean="0">
                <a:solidFill>
                  <a:sysClr val="windowText" lastClr="000000"/>
                </a:solidFill>
                <a:latin typeface="+mn-ea"/>
                <a:ea typeface="+mn-ea"/>
                <a:cs typeface="Tahoma" pitchFamily="34" charset="0"/>
              </a:rPr>
              <a:t>정보를 조회할 수 있고</a:t>
            </a:r>
            <a:r>
              <a:rPr kumimoji="0" lang="en-US" altLang="ko-KR" b="1" kern="0" dirty="0" smtClean="0">
                <a:solidFill>
                  <a:sysClr val="windowText" lastClr="000000"/>
                </a:solidFill>
                <a:latin typeface="+mn-ea"/>
                <a:ea typeface="+mn-ea"/>
                <a:cs typeface="Tahoma" pitchFamily="34" charset="0"/>
              </a:rPr>
              <a:t>, </a:t>
            </a:r>
            <a:r>
              <a:rPr kumimoji="0" lang="ko-KR" altLang="en-US" b="1" kern="0" dirty="0" smtClean="0">
                <a:solidFill>
                  <a:sysClr val="windowText" lastClr="000000"/>
                </a:solidFill>
                <a:latin typeface="+mn-ea"/>
                <a:ea typeface="+mn-ea"/>
                <a:cs typeface="Tahoma" pitchFamily="34" charset="0"/>
              </a:rPr>
              <a:t>이에 따라 수출입 프로세스 진행 상황 및 화물의 위치를 쉽게 파악할 수 있습니다</a:t>
            </a:r>
            <a:r>
              <a:rPr kumimoji="0" lang="en-US" altLang="ko-KR" b="1" kern="0" dirty="0" smtClean="0">
                <a:solidFill>
                  <a:sysClr val="windowText" lastClr="000000"/>
                </a:solidFill>
                <a:latin typeface="+mn-ea"/>
                <a:ea typeface="+mn-ea"/>
                <a:cs typeface="Tahoma" pitchFamily="34" charset="0"/>
              </a:rPr>
              <a:t>.</a:t>
            </a:r>
            <a:r>
              <a:rPr kumimoji="0" lang="ko-KR" altLang="en-US" b="1" kern="0" dirty="0" smtClean="0">
                <a:solidFill>
                  <a:sysClr val="windowText" lastClr="000000"/>
                </a:solidFill>
                <a:latin typeface="+mn-ea"/>
                <a:ea typeface="+mn-ea"/>
                <a:cs typeface="Tahoma" pitchFamily="34" charset="0"/>
              </a:rPr>
              <a:t> 또한 실시간으로 </a:t>
            </a:r>
            <a:r>
              <a:rPr kumimoji="0" lang="en-US" altLang="ko-KR" b="1" kern="0" dirty="0" smtClean="0">
                <a:solidFill>
                  <a:sysClr val="windowText" lastClr="000000"/>
                </a:solidFill>
                <a:latin typeface="+mn-ea"/>
                <a:ea typeface="+mn-ea"/>
                <a:cs typeface="Tahoma" pitchFamily="34" charset="0"/>
              </a:rPr>
              <a:t>Exception</a:t>
            </a:r>
            <a:r>
              <a:rPr kumimoji="0" lang="ko-KR" altLang="en-US" b="1" kern="0" dirty="0" smtClean="0">
                <a:solidFill>
                  <a:sysClr val="windowText" lastClr="000000"/>
                </a:solidFill>
                <a:latin typeface="+mn-ea"/>
                <a:ea typeface="+mn-ea"/>
                <a:cs typeface="Tahoma" pitchFamily="34" charset="0"/>
              </a:rPr>
              <a:t>에 대한 입력 및 알림이 가능하여 신속한 대처가 가능해집니다</a:t>
            </a:r>
            <a:r>
              <a:rPr kumimoji="0" lang="en-US" altLang="ko-KR" b="1" kern="0" dirty="0" smtClean="0">
                <a:solidFill>
                  <a:sysClr val="windowText" lastClr="000000"/>
                </a:solidFill>
                <a:latin typeface="+mn-ea"/>
                <a:ea typeface="+mn-ea"/>
                <a:cs typeface="Tahoma" pitchFamily="34" charset="0"/>
              </a:rPr>
              <a:t>.</a:t>
            </a:r>
            <a:endParaRPr kumimoji="0" lang="en-US" altLang="ko-KR" b="1" kern="0" dirty="0">
              <a:solidFill>
                <a:sysClr val="windowText" lastClr="000000"/>
              </a:solidFill>
              <a:latin typeface="+mn-ea"/>
              <a:ea typeface="+mn-ea"/>
              <a:cs typeface="Tahoma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100636" y="116632"/>
            <a:ext cx="17643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114300" indent="-114300" algn="r">
              <a:buFont typeface="+mj-lt"/>
              <a:buAutoNum type="romanUcPeriod"/>
            </a:lvl1pPr>
          </a:lstStyle>
          <a:p>
            <a:pPr marL="0" indent="0">
              <a:buNone/>
              <a:defRPr/>
            </a:pPr>
            <a:r>
              <a:rPr lang="en-US" altLang="ko-KR" dirty="0">
                <a:latin typeface="Cambria" panose="02040503050406030204" pitchFamily="18" charset="0"/>
              </a:rPr>
              <a:t>Ⅱ</a:t>
            </a:r>
            <a:r>
              <a:rPr lang="en-US" altLang="ko-KR" dirty="0" smtClean="0">
                <a:solidFill>
                  <a:srgbClr val="000000"/>
                </a:solidFill>
                <a:latin typeface="Cambria" panose="02040503050406030204" pitchFamily="18" charset="0"/>
              </a:rPr>
              <a:t>. </a:t>
            </a:r>
            <a:r>
              <a:rPr lang="en-US" altLang="ko-KR" dirty="0" smtClean="0">
                <a:solidFill>
                  <a:srgbClr val="000000"/>
                </a:solidFill>
                <a:latin typeface="Cambria" panose="02040503050406030204" pitchFamily="18" charset="0"/>
              </a:rPr>
              <a:t>Global Trading</a:t>
            </a:r>
            <a:endParaRPr lang="ko-KR" altLang="en-US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344488" y="142875"/>
            <a:ext cx="44656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ko-KR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KEROL - Global Trading </a:t>
            </a:r>
            <a:r>
              <a:rPr kumimoji="0" lang="ko-KR" altLang="en-US" b="1" dirty="0" smtClean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주요기능</a:t>
            </a:r>
            <a:r>
              <a:rPr kumimoji="0" lang="en-US" altLang="ko-KR" b="1" dirty="0" smtClean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[3/3]</a:t>
            </a:r>
            <a:endParaRPr kumimoji="0" lang="ko-KR" altLang="en-US" b="1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7971310" y="1605238"/>
            <a:ext cx="1077539" cy="338554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1pPr>
            <a:lvl2pPr marL="4572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2pPr>
            <a:lvl3pPr marL="9144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3pPr>
            <a:lvl4pPr marL="13716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4pPr>
            <a:lvl5pPr marL="18288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9pPr>
          </a:lstStyle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b="1" kern="0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주요 내용</a:t>
            </a:r>
          </a:p>
        </p:txBody>
      </p:sp>
      <p:cxnSp>
        <p:nvCxnSpPr>
          <p:cNvPr id="12" name="직선 연결선 11"/>
          <p:cNvCxnSpPr/>
          <p:nvPr/>
        </p:nvCxnSpPr>
        <p:spPr bwMode="auto">
          <a:xfrm>
            <a:off x="7386641" y="1988840"/>
            <a:ext cx="2246879" cy="3613"/>
          </a:xfrm>
          <a:prstGeom prst="line">
            <a:avLst/>
          </a:prstGeom>
          <a:noFill/>
          <a:ln w="6350" cap="flat" cmpd="sng" algn="ctr">
            <a:solidFill>
              <a:srgbClr val="000000">
                <a:lumMod val="65000"/>
                <a:lumOff val="3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TextBox 39"/>
          <p:cNvSpPr txBox="1"/>
          <p:nvPr/>
        </p:nvSpPr>
        <p:spPr>
          <a:xfrm>
            <a:off x="7257256" y="2082549"/>
            <a:ext cx="2304256" cy="1682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1pPr>
            <a:lvl2pPr marL="4572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2pPr>
            <a:lvl3pPr marL="9144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3pPr>
            <a:lvl4pPr marL="13716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4pPr>
            <a:lvl5pPr marL="1828800" algn="l" rtl="0" fontAlgn="base" latinLnBrk="1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600" kern="1200">
                <a:solidFill>
                  <a:srgbClr val="000000"/>
                </a:solidFill>
                <a:latin typeface="Arial" charset="0"/>
                <a:ea typeface="돋움" pitchFamily="50" charset="-127"/>
                <a:cs typeface="+mn-cs"/>
              </a:defRPr>
            </a:lvl9pPr>
          </a:lstStyle>
          <a:p>
            <a:pPr marL="92075" indent="-92075" fontAlgn="auto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Font typeface="Wingdings" panose="05000000000000000000" pitchFamily="2" charset="2"/>
              <a:buChar char="Ø"/>
            </a:pPr>
            <a:r>
              <a:rPr kumimoji="0" lang="en-US" altLang="ko-KR" sz="1200" b="1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 Order</a:t>
            </a:r>
            <a:r>
              <a:rPr kumimoji="0" lang="ko-KR" altLang="en-US" sz="1200" b="1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와</a:t>
            </a:r>
            <a:r>
              <a:rPr kumimoji="0" lang="en-US" altLang="ko-KR" sz="1200" b="1" dirty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 </a:t>
            </a:r>
            <a:r>
              <a:rPr kumimoji="0" lang="en-US" altLang="ko-KR" sz="1200" b="1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B/L </a:t>
            </a:r>
            <a:r>
              <a:rPr kumimoji="0" lang="ko-KR" altLang="en-US" sz="1200" b="1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문서 조회 기능</a:t>
            </a:r>
            <a:endParaRPr kumimoji="0" lang="en-US" altLang="ko-KR" sz="1200" dirty="0" smtClean="0">
              <a:solidFill>
                <a:prstClr val="black"/>
              </a:solidFill>
              <a:latin typeface="Cambria" panose="02040503050406030204" pitchFamily="18" charset="0"/>
              <a:ea typeface="맑은 고딕" panose="020B0503020000020004" pitchFamily="50" charset="-127"/>
            </a:endParaRPr>
          </a:p>
          <a:p>
            <a:pPr marL="92075" indent="-92075" fontAlgn="auto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Font typeface="Wingdings" panose="05000000000000000000" pitchFamily="2" charset="2"/>
              <a:buChar char="Ø"/>
            </a:pPr>
            <a:r>
              <a:rPr kumimoji="0" lang="ko-KR" altLang="en-US" sz="1200" b="1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해상</a:t>
            </a:r>
            <a:r>
              <a:rPr kumimoji="0" lang="en-US" altLang="ko-KR" sz="1200" b="1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/</a:t>
            </a:r>
            <a:r>
              <a:rPr kumimoji="0" lang="ko-KR" altLang="en-US" sz="1200" b="1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항공 </a:t>
            </a:r>
            <a:r>
              <a:rPr kumimoji="0" lang="en-US" altLang="ko-KR" sz="1200" b="1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Schedule </a:t>
            </a:r>
            <a:r>
              <a:rPr kumimoji="0" lang="ko-KR" altLang="en-US" sz="1200" b="1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조회</a:t>
            </a:r>
            <a:endParaRPr kumimoji="0" lang="en-US" altLang="ko-KR" sz="1200" b="1" dirty="0" smtClean="0">
              <a:solidFill>
                <a:prstClr val="black"/>
              </a:solidFill>
              <a:latin typeface="Cambria" panose="02040503050406030204" pitchFamily="18" charset="0"/>
              <a:ea typeface="맑은 고딕" panose="020B0503020000020004" pitchFamily="50" charset="-127"/>
            </a:endParaRPr>
          </a:p>
          <a:p>
            <a:pPr marL="92075" indent="-92075" fontAlgn="auto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Font typeface="Wingdings" panose="05000000000000000000" pitchFamily="2" charset="2"/>
              <a:buChar char="Ø"/>
            </a:pPr>
            <a:r>
              <a:rPr kumimoji="0" lang="ko-KR" altLang="en-US" sz="1200" b="1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내륙 운송 </a:t>
            </a:r>
            <a:r>
              <a:rPr kumimoji="0" lang="en-US" altLang="ko-KR" sz="1200" b="1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Tracking</a:t>
            </a:r>
          </a:p>
          <a:p>
            <a:pPr marL="92075" indent="-92075" fontAlgn="auto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Font typeface="Wingdings" panose="05000000000000000000" pitchFamily="2" charset="2"/>
              <a:buChar char="Ø"/>
            </a:pPr>
            <a:r>
              <a:rPr kumimoji="0" lang="ko-KR" altLang="en-US" sz="1200" b="1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업무와 물량의 </a:t>
            </a:r>
            <a:r>
              <a:rPr kumimoji="0" lang="en-US" altLang="ko-KR" sz="1200" b="1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Visibility </a:t>
            </a:r>
            <a:r>
              <a:rPr kumimoji="0" lang="ko-KR" altLang="en-US" sz="1200" b="1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제공</a:t>
            </a:r>
            <a:endParaRPr kumimoji="0" lang="en-US" altLang="ko-KR" sz="1200" b="1" dirty="0" smtClean="0">
              <a:solidFill>
                <a:prstClr val="black"/>
              </a:solidFill>
              <a:latin typeface="Cambria" panose="02040503050406030204" pitchFamily="18" charset="0"/>
              <a:ea typeface="맑은 고딕" panose="020B0503020000020004" pitchFamily="50" charset="-127"/>
            </a:endParaRPr>
          </a:p>
          <a:p>
            <a:pPr marL="92075" indent="-92075" fontAlgn="auto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Font typeface="Wingdings" panose="05000000000000000000" pitchFamily="2" charset="2"/>
              <a:buChar char="Ø"/>
            </a:pPr>
            <a:r>
              <a:rPr kumimoji="0" lang="en-US" altLang="ko-KR" sz="1200" b="1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Exception </a:t>
            </a:r>
            <a:r>
              <a:rPr kumimoji="0" lang="ko-KR" altLang="en-US" sz="1200" b="1" dirty="0" smtClean="0">
                <a:solidFill>
                  <a:prstClr val="black"/>
                </a:solidFill>
                <a:latin typeface="Cambria" panose="02040503050406030204" pitchFamily="18" charset="0"/>
                <a:ea typeface="맑은 고딕" panose="020B0503020000020004" pitchFamily="50" charset="-127"/>
              </a:rPr>
              <a:t>관리</a:t>
            </a:r>
            <a:endParaRPr kumimoji="0" lang="en-US" altLang="ko-KR" sz="1200" b="1" dirty="0" smtClean="0">
              <a:solidFill>
                <a:prstClr val="black"/>
              </a:solidFill>
              <a:latin typeface="Cambria" panose="02040503050406030204" pitchFamily="18" charset="0"/>
              <a:ea typeface="맑은 고딕" panose="020B0503020000020004" pitchFamily="50" charset="-127"/>
            </a:endParaRP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584" y="1940386"/>
            <a:ext cx="2064927" cy="3672817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6856" y="1943792"/>
            <a:ext cx="2063269" cy="3669868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1112" y="1932391"/>
            <a:ext cx="2066414" cy="3675464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- </a:t>
            </a:r>
            <a:fld id="{EE975AF4-B1F3-41E4-B19A-4F6D78AFBDB1}" type="slidenum">
              <a:rPr lang="en-US" altLang="ko-KR" smtClean="0"/>
              <a:pPr>
                <a:defRPr/>
              </a:pPr>
              <a:t>7</a:t>
            </a:fld>
            <a:r>
              <a:rPr lang="en-US" altLang="ko-KR" smtClean="0"/>
              <a:t> -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260355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itchFamily="34" charset="0"/>
                <a:ea typeface="굴림" pitchFamily="50" charset="-127"/>
                <a:cs typeface="+mn-cs"/>
              </a:rPr>
              <a:t>- </a:t>
            </a:r>
            <a:fld id="{EE975AF4-B1F3-41E4-B19A-4F6D78AFBDB1}" type="slidenum">
              <a:rPr kumimoji="0" lang="en-US" altLang="ko-KR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itchFamily="34" charset="0"/>
                <a:ea typeface="굴림" pitchFamily="50" charset="-127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r>
              <a:rPr kumimoji="0" lang="en-US" altLang="ko-KR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itchFamily="34" charset="0"/>
                <a:ea typeface="굴림" pitchFamily="50" charset="-127"/>
                <a:cs typeface="+mn-cs"/>
              </a:rPr>
              <a:t> -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itchFamily="34" charset="0"/>
              <a:ea typeface="굴림" pitchFamily="50" charset="-127"/>
              <a:cs typeface="+mn-cs"/>
            </a:endParaRPr>
          </a:p>
        </p:txBody>
      </p:sp>
      <p:sp>
        <p:nvSpPr>
          <p:cNvPr id="3" name="직사각형 2"/>
          <p:cNvSpPr/>
          <p:nvPr/>
        </p:nvSpPr>
        <p:spPr bwMode="auto">
          <a:xfrm>
            <a:off x="417176" y="1767327"/>
            <a:ext cx="5976000" cy="46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777777"/>
            </a:solidFill>
            <a:miter lim="800000"/>
            <a:headEnd/>
            <a:tailEnd/>
          </a:ln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3200" b="1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anose="02040503050406030204" pitchFamily="18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936776" y="1412776"/>
            <a:ext cx="128272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기능 구성도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7578283" y="1422301"/>
            <a:ext cx="107753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주요 내용</a:t>
            </a:r>
          </a:p>
        </p:txBody>
      </p:sp>
      <p:cxnSp>
        <p:nvCxnSpPr>
          <p:cNvPr id="7" name="직선 연결선 6"/>
          <p:cNvCxnSpPr/>
          <p:nvPr/>
        </p:nvCxnSpPr>
        <p:spPr bwMode="auto">
          <a:xfrm>
            <a:off x="6587052" y="1760855"/>
            <a:ext cx="2952000" cy="0"/>
          </a:xfrm>
          <a:prstGeom prst="line">
            <a:avLst/>
          </a:prstGeom>
          <a:noFill/>
          <a:ln w="6350" cap="flat" cmpd="sng" algn="ctr">
            <a:solidFill>
              <a:srgbClr val="000000">
                <a:lumMod val="65000"/>
                <a:lumOff val="3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6527651" y="1860476"/>
            <a:ext cx="315823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92075" marR="0" lvl="0" indent="-92075" algn="l" defTabSz="914400" rtl="0" eaLnBrk="1" fontAlgn="auto" latinLnBrk="1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정확하고 투명한 물류비 정산 서비스 제공</a:t>
            </a:r>
            <a:r>
              <a:rPr kumimoji="0" lang="en-US" altLang="ko-KR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/>
            </a:r>
            <a:br>
              <a:rPr kumimoji="0" lang="en-US" altLang="ko-KR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   -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시스템 기반 정산 및 검증 자동화</a:t>
            </a:r>
            <a:r>
              <a:rPr kumimoji="0" lang="en-US" altLang="ko-KR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/>
            </a:r>
            <a:br>
              <a:rPr kumimoji="0" lang="en-US" altLang="ko-KR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   -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물류비 중복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과다 청구 제거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8276" y="2895074"/>
            <a:ext cx="2861681" cy="11182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92075" marR="0" lvl="0" indent="-92075" algn="l" defTabSz="914400" rtl="0" eaLnBrk="1" fontAlgn="auto" latinLnBrk="1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물류 발생실적 기준 매출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매입 관리</a:t>
            </a:r>
            <a:r>
              <a:rPr kumimoji="0" lang="en-US" altLang="ko-KR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/>
            </a:r>
            <a:br>
              <a:rPr kumimoji="0" lang="en-US" altLang="ko-KR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   -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실행 시스템과 실적정보 동기화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/>
            </a:r>
            <a:b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   -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매출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매입 서비스 유형별 항목 </a:t>
            </a:r>
            <a:r>
              <a:rPr kumimoji="0" lang="ko-KR" alt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관리</a:t>
            </a:r>
            <a:r>
              <a:rPr kumimoji="0" lang="en-US" altLang="ko-KR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/>
            </a:r>
            <a:br>
              <a:rPr kumimoji="0" lang="en-US" altLang="ko-KR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   -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기타 매출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매일 실적관리 방안 제공</a:t>
            </a:r>
          </a:p>
        </p:txBody>
      </p:sp>
      <p:sp>
        <p:nvSpPr>
          <p:cNvPr id="10" name="AutoShape 375"/>
          <p:cNvSpPr>
            <a:spLocks noChangeArrowheads="1"/>
          </p:cNvSpPr>
          <p:nvPr/>
        </p:nvSpPr>
        <p:spPr bwMode="auto">
          <a:xfrm flipV="1">
            <a:off x="1222603" y="3167921"/>
            <a:ext cx="288000" cy="1800000"/>
          </a:xfrm>
          <a:prstGeom prst="rightArrow">
            <a:avLst>
              <a:gd name="adj1" fmla="val 57556"/>
              <a:gd name="adj2" fmla="val 46810"/>
            </a:avLst>
          </a:prstGeom>
          <a:gradFill rotWithShape="1">
            <a:gsLst>
              <a:gs pos="0">
                <a:srgbClr val="FFFFFF"/>
              </a:gs>
              <a:gs pos="100000">
                <a:srgbClr val="969696"/>
              </a:gs>
            </a:gsLst>
            <a:lin ang="0" scaled="1"/>
          </a:gradFill>
          <a:ln w="635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004074"/>
              </a:solidFill>
              <a:effectLst/>
              <a:uLnTx/>
              <a:uFillTx/>
              <a:latin typeface="Cambria" panose="02040503050406030204" pitchFamily="18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AutoShape 375"/>
          <p:cNvSpPr>
            <a:spLocks noChangeArrowheads="1"/>
          </p:cNvSpPr>
          <p:nvPr/>
        </p:nvSpPr>
        <p:spPr bwMode="auto">
          <a:xfrm rot="5400000" flipV="1">
            <a:off x="3752427" y="1291462"/>
            <a:ext cx="288000" cy="2520000"/>
          </a:xfrm>
          <a:prstGeom prst="rightArrow">
            <a:avLst>
              <a:gd name="adj1" fmla="val 57556"/>
              <a:gd name="adj2" fmla="val 46810"/>
            </a:avLst>
          </a:prstGeom>
          <a:gradFill rotWithShape="1">
            <a:gsLst>
              <a:gs pos="0">
                <a:srgbClr val="FFFFFF"/>
              </a:gs>
              <a:gs pos="100000">
                <a:srgbClr val="969696"/>
              </a:gs>
            </a:gsLst>
            <a:lin ang="0" scaled="1"/>
          </a:gradFill>
          <a:ln w="635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004074"/>
              </a:solidFill>
              <a:effectLst/>
              <a:uLnTx/>
              <a:uFillTx/>
              <a:latin typeface="Cambria" panose="02040503050406030204" pitchFamily="18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AutoShape 375"/>
          <p:cNvSpPr>
            <a:spLocks noChangeArrowheads="1"/>
          </p:cNvSpPr>
          <p:nvPr/>
        </p:nvSpPr>
        <p:spPr bwMode="auto">
          <a:xfrm rot="5400000" flipV="1">
            <a:off x="3752427" y="4271189"/>
            <a:ext cx="288000" cy="2520000"/>
          </a:xfrm>
          <a:prstGeom prst="rightArrow">
            <a:avLst>
              <a:gd name="adj1" fmla="val 57556"/>
              <a:gd name="adj2" fmla="val 46810"/>
            </a:avLst>
          </a:prstGeom>
          <a:gradFill rotWithShape="1">
            <a:gsLst>
              <a:gs pos="0">
                <a:srgbClr val="FFFFFF"/>
              </a:gs>
              <a:gs pos="100000">
                <a:srgbClr val="969696"/>
              </a:gs>
            </a:gsLst>
            <a:lin ang="0" scaled="1"/>
          </a:gradFill>
          <a:ln w="635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004074"/>
              </a:solidFill>
              <a:effectLst/>
              <a:uLnTx/>
              <a:uFillTx/>
              <a:latin typeface="Cambria" panose="02040503050406030204" pitchFamily="18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AutoShape 359"/>
          <p:cNvSpPr>
            <a:spLocks noChangeArrowheads="1"/>
          </p:cNvSpPr>
          <p:nvPr/>
        </p:nvSpPr>
        <p:spPr bwMode="auto">
          <a:xfrm>
            <a:off x="1556427" y="2717921"/>
            <a:ext cx="4680000" cy="2700000"/>
          </a:xfrm>
          <a:prstGeom prst="homePlate">
            <a:avLst>
              <a:gd name="adj" fmla="val 0"/>
            </a:avLst>
          </a:prstGeom>
          <a:solidFill>
            <a:srgbClr val="FFFFFF"/>
          </a:solidFill>
          <a:ln w="12700" algn="ctr">
            <a:solidFill>
              <a:srgbClr val="333333"/>
            </a:solidFill>
            <a:prstDash val="sysDash"/>
            <a:miter lim="800000"/>
            <a:headEnd/>
            <a:tailEnd/>
          </a:ln>
        </p:spPr>
        <p:txBody>
          <a:bodyPr lIns="54000" tIns="25200" rIns="54000" bIns="252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900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anose="02040503050406030204" pitchFamily="18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AutoShape 82"/>
          <p:cNvSpPr>
            <a:spLocks noChangeArrowheads="1"/>
          </p:cNvSpPr>
          <p:nvPr/>
        </p:nvSpPr>
        <p:spPr bwMode="auto">
          <a:xfrm rot="16200000">
            <a:off x="-496474" y="3779921"/>
            <a:ext cx="2700000" cy="576000"/>
          </a:xfrm>
          <a:prstGeom prst="roundRect">
            <a:avLst>
              <a:gd name="adj" fmla="val 46932"/>
            </a:avLst>
          </a:prstGeom>
          <a:solidFill>
            <a:srgbClr val="FFFFFF"/>
          </a:solidFill>
          <a:ln w="19050">
            <a:solidFill>
              <a:srgbClr val="919191"/>
            </a:solidFill>
            <a:round/>
            <a:headEnd type="none" w="sm" len="sm"/>
            <a:tailEnd type="none" w="sm" len="sm"/>
          </a:ln>
        </p:spPr>
        <p:txBody>
          <a:bodyPr rot="10800000"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물류 실행 시스템</a:t>
            </a:r>
            <a:r>
              <a:rPr kumimoji="0" lang="en-US" altLang="ko-KR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/>
            </a:r>
            <a:br>
              <a:rPr kumimoji="0" lang="en-US" altLang="ko-KR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(FIS, WMS, TMS, etc)</a:t>
            </a:r>
          </a:p>
        </p:txBody>
      </p:sp>
      <p:sp>
        <p:nvSpPr>
          <p:cNvPr id="15" name="모서리가 둥근 직사각형 14"/>
          <p:cNvSpPr/>
          <p:nvPr/>
        </p:nvSpPr>
        <p:spPr bwMode="auto">
          <a:xfrm>
            <a:off x="1556427" y="5708610"/>
            <a:ext cx="4680000" cy="612000"/>
          </a:xfrm>
          <a:prstGeom prst="roundRect">
            <a:avLst>
              <a:gd name="adj" fmla="val 5537"/>
            </a:avLst>
          </a:prstGeom>
          <a:solidFill>
            <a:srgbClr val="000000">
              <a:lumMod val="65000"/>
              <a:lumOff val="35000"/>
            </a:srgbClr>
          </a:solidFill>
          <a:ln w="25400" cap="flat" cmpd="sng" algn="ctr">
            <a:noFill/>
            <a:prstDash val="solid"/>
          </a:ln>
          <a:effectLst/>
        </p:spPr>
        <p:txBody>
          <a:bodyPr lIns="90000" tIns="36000" rIns="90000" bIns="36000"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anose="02040503050406030204" pitchFamily="18" charset="0"/>
                <a:ea typeface="맑은 고딕"/>
                <a:cs typeface="Arial" pitchFamily="34" charset="0"/>
              </a:rPr>
              <a:t>회계 시스템</a:t>
            </a:r>
            <a:endParaRPr kumimoji="0" lang="en-US" altLang="ko-KR" sz="1100" b="1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mbria" panose="02040503050406030204" pitchFamily="18" charset="0"/>
              <a:ea typeface="맑은 고딕"/>
              <a:cs typeface="Arial" pitchFamily="34" charset="0"/>
            </a:endParaRPr>
          </a:p>
        </p:txBody>
      </p:sp>
      <p:sp>
        <p:nvSpPr>
          <p:cNvPr id="16" name="직사각형 15"/>
          <p:cNvSpPr/>
          <p:nvPr/>
        </p:nvSpPr>
        <p:spPr bwMode="auto">
          <a:xfrm>
            <a:off x="1717118" y="5962009"/>
            <a:ext cx="2088000" cy="252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rgbClr val="777777"/>
            </a:solidFill>
            <a:prstDash val="solid"/>
          </a:ln>
          <a:effectLst/>
        </p:spPr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Arial" pitchFamily="34" charset="0"/>
              </a:rPr>
              <a:t>재무회계</a:t>
            </a:r>
            <a:r>
              <a:rPr kumimoji="0" lang="en-US" altLang="ko-KR" sz="11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Arial" pitchFamily="34" charset="0"/>
              </a:rPr>
              <a:t>(FI)</a:t>
            </a:r>
            <a:endParaRPr kumimoji="0" lang="en-US" altLang="ko-KR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17" name="직사각형 16"/>
          <p:cNvSpPr/>
          <p:nvPr/>
        </p:nvSpPr>
        <p:spPr bwMode="auto">
          <a:xfrm>
            <a:off x="3987736" y="5962009"/>
            <a:ext cx="2088000" cy="252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rgbClr val="777777"/>
            </a:solidFill>
            <a:prstDash val="solid"/>
          </a:ln>
          <a:effectLst/>
        </p:spPr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Arial" pitchFamily="34" charset="0"/>
              </a:rPr>
              <a:t>관리회계</a:t>
            </a:r>
            <a:r>
              <a:rPr kumimoji="0" lang="en-US" altLang="ko-KR" sz="11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Arial" pitchFamily="34" charset="0"/>
              </a:rPr>
              <a:t>(CO)</a:t>
            </a:r>
            <a:endParaRPr kumimoji="0" lang="en-US" altLang="ko-KR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18" name="모서리가 둥근 직사각형 17"/>
          <p:cNvSpPr/>
          <p:nvPr/>
        </p:nvSpPr>
        <p:spPr bwMode="auto">
          <a:xfrm>
            <a:off x="1556427" y="1858045"/>
            <a:ext cx="4680000" cy="612000"/>
          </a:xfrm>
          <a:prstGeom prst="roundRect">
            <a:avLst>
              <a:gd name="adj" fmla="val 5537"/>
            </a:avLst>
          </a:prstGeom>
          <a:solidFill>
            <a:srgbClr val="000000">
              <a:lumMod val="65000"/>
              <a:lumOff val="35000"/>
            </a:srgbClr>
          </a:solidFill>
          <a:ln w="25400" cap="flat" cmpd="sng" algn="ctr">
            <a:noFill/>
            <a:prstDash val="solid"/>
          </a:ln>
          <a:effectLst/>
        </p:spPr>
        <p:txBody>
          <a:bodyPr lIns="90000" tIns="36000" rIns="90000" bIns="36000"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anose="02040503050406030204" pitchFamily="18" charset="0"/>
                <a:ea typeface="맑은 고딕"/>
                <a:cs typeface="Arial" pitchFamily="34" charset="0"/>
              </a:rPr>
              <a:t>기준정보</a:t>
            </a:r>
            <a:endParaRPr kumimoji="0" lang="en-US" altLang="ko-KR" sz="1100" b="1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mbria" panose="02040503050406030204" pitchFamily="18" charset="0"/>
              <a:ea typeface="맑은 고딕"/>
              <a:cs typeface="Arial" pitchFamily="34" charset="0"/>
            </a:endParaRPr>
          </a:p>
        </p:txBody>
      </p:sp>
      <p:sp>
        <p:nvSpPr>
          <p:cNvPr id="19" name="직사각형 18"/>
          <p:cNvSpPr/>
          <p:nvPr/>
        </p:nvSpPr>
        <p:spPr bwMode="auto">
          <a:xfrm>
            <a:off x="1717118" y="2111444"/>
            <a:ext cx="1368000" cy="252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rgbClr val="777777"/>
            </a:solidFill>
            <a:prstDash val="solid"/>
          </a:ln>
          <a:effectLst/>
        </p:spPr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Arial" pitchFamily="34" charset="0"/>
              </a:rPr>
              <a:t>Customer</a:t>
            </a:r>
            <a:endParaRPr kumimoji="0" lang="en-US" altLang="ko-KR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20" name="직사각형 19"/>
          <p:cNvSpPr/>
          <p:nvPr/>
        </p:nvSpPr>
        <p:spPr bwMode="auto">
          <a:xfrm>
            <a:off x="4707736" y="2111444"/>
            <a:ext cx="1368000" cy="252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rgbClr val="777777"/>
            </a:solidFill>
            <a:prstDash val="solid"/>
          </a:ln>
          <a:effectLst/>
        </p:spPr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Arial" pitchFamily="34" charset="0"/>
              </a:rPr>
              <a:t>Contract</a:t>
            </a:r>
            <a:endParaRPr kumimoji="0" lang="en-US" altLang="ko-KR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21" name="직사각형 20"/>
          <p:cNvSpPr/>
          <p:nvPr/>
        </p:nvSpPr>
        <p:spPr bwMode="auto">
          <a:xfrm>
            <a:off x="3212427" y="2111444"/>
            <a:ext cx="1368000" cy="252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rgbClr val="777777"/>
            </a:solidFill>
            <a:prstDash val="solid"/>
          </a:ln>
          <a:effectLst/>
        </p:spPr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Arial" pitchFamily="34" charset="0"/>
              </a:rPr>
              <a:t>Tariff</a:t>
            </a:r>
            <a:endParaRPr kumimoji="0" lang="en-US" altLang="ko-KR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맑은 고딕" panose="020B0503020000020004" pitchFamily="50" charset="-127"/>
              <a:cs typeface="Arial" pitchFamily="34" charset="0"/>
            </a:endParaRPr>
          </a:p>
        </p:txBody>
      </p:sp>
      <p:grpSp>
        <p:nvGrpSpPr>
          <p:cNvPr id="22" name="그룹 21"/>
          <p:cNvGrpSpPr/>
          <p:nvPr/>
        </p:nvGrpSpPr>
        <p:grpSpPr>
          <a:xfrm>
            <a:off x="1732859" y="2823402"/>
            <a:ext cx="4327137" cy="2489038"/>
            <a:chOff x="1594153" y="2774137"/>
            <a:chExt cx="4327137" cy="2489038"/>
          </a:xfrm>
        </p:grpSpPr>
        <p:sp>
          <p:nvSpPr>
            <p:cNvPr id="23" name="AutoShape 35"/>
            <p:cNvSpPr>
              <a:spLocks noChangeArrowheads="1"/>
            </p:cNvSpPr>
            <p:nvPr/>
          </p:nvSpPr>
          <p:spPr bwMode="auto">
            <a:xfrm>
              <a:off x="1594153" y="3093749"/>
              <a:ext cx="1368000" cy="219862"/>
            </a:xfrm>
            <a:prstGeom prst="roundRect">
              <a:avLst>
                <a:gd name="adj" fmla="val 2662"/>
              </a:avLst>
            </a:prstGeom>
            <a:solidFill>
              <a:srgbClr val="FFFFFF">
                <a:lumMod val="85000"/>
              </a:srgbClr>
            </a:solidFill>
            <a:ln w="6350" algn="ctr">
              <a:solidFill>
                <a:srgbClr val="777777"/>
              </a:solidFill>
              <a:round/>
              <a:headEnd/>
              <a:tailEnd/>
            </a:ln>
            <a:effectLst/>
            <a:extLst/>
          </p:spPr>
          <p:txBody>
            <a:bodyPr lIns="0" tIns="0" rIns="0" bIns="0" anchor="ctr"/>
            <a:lstStyle>
              <a:lvl1pPr algn="l"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566738" indent="-285750" algn="l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1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ea typeface="맑은 고딕" panose="020B0503020000020004" pitchFamily="50" charset="-127"/>
                  <a:cs typeface="+mn-cs"/>
                </a:rPr>
                <a:t>매출관리</a:t>
              </a:r>
              <a:endParaRPr kumimoji="1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4" name="AutoShape 38"/>
            <p:cNvSpPr>
              <a:spLocks noChangeArrowheads="1"/>
            </p:cNvSpPr>
            <p:nvPr/>
          </p:nvSpPr>
          <p:spPr bwMode="auto">
            <a:xfrm>
              <a:off x="3073722" y="3093749"/>
              <a:ext cx="1368000" cy="230122"/>
            </a:xfrm>
            <a:prstGeom prst="roundRect">
              <a:avLst>
                <a:gd name="adj" fmla="val 2662"/>
              </a:avLst>
            </a:prstGeom>
            <a:solidFill>
              <a:srgbClr val="FFFFFF">
                <a:lumMod val="85000"/>
              </a:srgbClr>
            </a:solidFill>
            <a:ln w="6350" algn="ctr">
              <a:solidFill>
                <a:srgbClr val="777777"/>
              </a:solidFill>
              <a:round/>
              <a:headEnd/>
              <a:tailEnd/>
            </a:ln>
            <a:effectLst/>
            <a:extLst/>
          </p:spPr>
          <p:txBody>
            <a:bodyPr lIns="0" tIns="0" rIns="0" bIns="0" anchor="ctr"/>
            <a:lstStyle>
              <a:lvl1pPr algn="l"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566738" indent="-285750" algn="l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1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ea typeface="맑은 고딕" panose="020B0503020000020004" pitchFamily="50" charset="-127"/>
                  <a:cs typeface="+mn-cs"/>
                </a:rPr>
                <a:t>매입관리</a:t>
              </a:r>
              <a:endParaRPr kumimoji="1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5" name="AutoShape 41"/>
            <p:cNvSpPr>
              <a:spLocks noChangeArrowheads="1"/>
            </p:cNvSpPr>
            <p:nvPr/>
          </p:nvSpPr>
          <p:spPr bwMode="auto">
            <a:xfrm>
              <a:off x="4553290" y="3093749"/>
              <a:ext cx="1368000" cy="227190"/>
            </a:xfrm>
            <a:prstGeom prst="roundRect">
              <a:avLst>
                <a:gd name="adj" fmla="val 2662"/>
              </a:avLst>
            </a:prstGeom>
            <a:solidFill>
              <a:srgbClr val="FFFFFF">
                <a:lumMod val="85000"/>
              </a:srgbClr>
            </a:solidFill>
            <a:ln w="6350" algn="ctr">
              <a:solidFill>
                <a:srgbClr val="777777"/>
              </a:solidFill>
              <a:round/>
              <a:headEnd/>
              <a:tailEnd/>
            </a:ln>
            <a:effectLst/>
            <a:extLst/>
          </p:spPr>
          <p:txBody>
            <a:bodyPr lIns="0" tIns="0" rIns="0" bIns="0" anchor="ctr"/>
            <a:lstStyle>
              <a:lvl1pPr algn="l"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566738" indent="-285750" algn="l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1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ea typeface="맑은 고딕" panose="020B0503020000020004" pitchFamily="50" charset="-127"/>
                  <a:cs typeface="+mn-cs"/>
                </a:rPr>
                <a:t>파트너관리</a:t>
              </a:r>
              <a:endParaRPr kumimoji="1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6" name="AutoShape 83"/>
            <p:cNvSpPr>
              <a:spLocks noChangeArrowheads="1"/>
            </p:cNvSpPr>
            <p:nvPr/>
          </p:nvSpPr>
          <p:spPr bwMode="auto">
            <a:xfrm>
              <a:off x="1601290" y="2774137"/>
              <a:ext cx="4320000" cy="288000"/>
            </a:xfrm>
            <a:prstGeom prst="roundRect">
              <a:avLst>
                <a:gd name="adj" fmla="val 2662"/>
              </a:avLst>
            </a:prstGeom>
            <a:solidFill>
              <a:srgbClr val="000000">
                <a:lumMod val="65000"/>
                <a:lumOff val="35000"/>
              </a:srgbClr>
            </a:solidFill>
            <a:ln w="6350">
              <a:solidFill>
                <a:srgbClr val="777777"/>
              </a:solidFill>
              <a:miter lim="800000"/>
              <a:headEnd/>
              <a:tailEnd/>
            </a:ln>
            <a:effectLst/>
            <a:ex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mbria" panose="02040503050406030204" pitchFamily="18" charset="0"/>
                  <a:ea typeface="맑은 고딕" panose="020B0503020000020004" pitchFamily="50" charset="-127"/>
                  <a:cs typeface="+mn-cs"/>
                </a:rPr>
                <a:t>확정 매출</a:t>
              </a:r>
              <a:r>
                <a:rPr kumimoji="0" lang="en-US" altLang="ko-KR" sz="11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mbria" panose="02040503050406030204" pitchFamily="18" charset="0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11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mbria" panose="02040503050406030204" pitchFamily="18" charset="0"/>
                  <a:ea typeface="맑은 고딕" panose="020B0503020000020004" pitchFamily="50" charset="-127"/>
                  <a:cs typeface="+mn-cs"/>
                </a:rPr>
                <a:t>매입 관리</a:t>
              </a:r>
            </a:p>
          </p:txBody>
        </p:sp>
        <p:sp>
          <p:nvSpPr>
            <p:cNvPr id="27" name="AutoShape 84"/>
            <p:cNvSpPr>
              <a:spLocks noChangeArrowheads="1"/>
            </p:cNvSpPr>
            <p:nvPr/>
          </p:nvSpPr>
          <p:spPr bwMode="auto">
            <a:xfrm>
              <a:off x="1601290" y="4060029"/>
              <a:ext cx="4320000" cy="288000"/>
            </a:xfrm>
            <a:prstGeom prst="roundRect">
              <a:avLst>
                <a:gd name="adj" fmla="val 2662"/>
              </a:avLst>
            </a:prstGeom>
            <a:solidFill>
              <a:srgbClr val="000000">
                <a:lumMod val="65000"/>
                <a:lumOff val="35000"/>
              </a:srgbClr>
            </a:solidFill>
            <a:ln w="6350">
              <a:solidFill>
                <a:srgbClr val="777777"/>
              </a:solidFill>
              <a:miter lim="800000"/>
              <a:headEnd/>
              <a:tailEnd/>
            </a:ln>
            <a:effectLst/>
            <a:ex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mbria" panose="02040503050406030204" pitchFamily="18" charset="0"/>
                  <a:ea typeface="맑은 고딕" panose="020B0503020000020004" pitchFamily="50" charset="-127"/>
                  <a:cs typeface="+mn-cs"/>
                </a:rPr>
                <a:t>미확정 매출</a:t>
              </a:r>
              <a:r>
                <a:rPr kumimoji="0" lang="en-US" altLang="ko-KR" sz="11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mbria" panose="02040503050406030204" pitchFamily="18" charset="0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11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mbria" panose="02040503050406030204" pitchFamily="18" charset="0"/>
                  <a:ea typeface="맑은 고딕" panose="020B0503020000020004" pitchFamily="50" charset="-127"/>
                  <a:cs typeface="+mn-cs"/>
                </a:rPr>
                <a:t>매입 관리</a:t>
              </a:r>
            </a:p>
          </p:txBody>
        </p:sp>
        <p:sp>
          <p:nvSpPr>
            <p:cNvPr id="28" name="AutoShape 34"/>
            <p:cNvSpPr>
              <a:spLocks noChangeArrowheads="1"/>
            </p:cNvSpPr>
            <p:nvPr/>
          </p:nvSpPr>
          <p:spPr bwMode="auto">
            <a:xfrm>
              <a:off x="1594153" y="3343432"/>
              <a:ext cx="1368000" cy="631430"/>
            </a:xfrm>
            <a:prstGeom prst="roundRect">
              <a:avLst>
                <a:gd name="adj" fmla="val 0"/>
              </a:avLst>
            </a:prstGeom>
            <a:solidFill>
              <a:srgbClr val="FFFFFF">
                <a:lumMod val="95000"/>
              </a:srgbClr>
            </a:solidFill>
            <a:ln w="6350">
              <a:solidFill>
                <a:srgbClr val="777777"/>
              </a:solidFill>
              <a:round/>
              <a:headEnd/>
              <a:tailEnd/>
            </a:ln>
            <a:effectLst/>
            <a:extLst/>
          </p:spPr>
          <p:txBody>
            <a:bodyPr lIns="90000" tIns="46800" rIns="90000" bIns="46800" anchor="t"/>
            <a:lstStyle>
              <a:lvl1pPr marL="95250" indent="-95250" algn="l"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566738" indent="-285750" algn="l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marL="95250" marR="0" lvl="0" indent="-9525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10000"/>
                </a:spcAft>
                <a:buClr>
                  <a:srgbClr val="000000"/>
                </a:buClr>
                <a:buSzPct val="63000"/>
                <a:buFont typeface="Wingdings" pitchFamily="2" charset="2"/>
                <a:buChar char="n"/>
                <a:tabLst/>
                <a:defRPr/>
              </a:pPr>
              <a:r>
                <a:rPr kumimoji="1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ea typeface="맑은 고딕" panose="020B0503020000020004" pitchFamily="50" charset="-127"/>
                  <a:cs typeface="+mn-cs"/>
                </a:rPr>
                <a:t>통합 청구관리</a:t>
              </a:r>
            </a:p>
            <a:p>
              <a:pPr marL="95250" marR="0" lvl="0" indent="-9525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10000"/>
                </a:spcAft>
                <a:buClr>
                  <a:srgbClr val="000000"/>
                </a:buClr>
                <a:buSzPct val="63000"/>
                <a:buFont typeface="Wingdings" pitchFamily="2" charset="2"/>
                <a:buChar char="n"/>
                <a:tabLst/>
                <a:defRPr/>
              </a:pPr>
              <a:r>
                <a:rPr kumimoji="1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ea typeface="맑은 고딕" panose="020B0503020000020004" pitchFamily="50" charset="-127"/>
                  <a:cs typeface="+mn-cs"/>
                </a:rPr>
                <a:t>전자 계산서</a:t>
              </a:r>
              <a:endParaRPr kumimoji="1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endParaRPr>
            </a:p>
            <a:p>
              <a:pPr marL="95250" marR="0" lvl="0" indent="-9525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10000"/>
                </a:spcAft>
                <a:buClr>
                  <a:srgbClr val="000000"/>
                </a:buClr>
                <a:buSzPct val="63000"/>
                <a:buFont typeface="Wingdings" pitchFamily="2" charset="2"/>
                <a:buChar char="n"/>
                <a:tabLst/>
                <a:defRPr/>
              </a:pPr>
              <a:r>
                <a:rPr kumimoji="1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ea typeface="맑은 고딕" panose="020B0503020000020004" pitchFamily="50" charset="-127"/>
                  <a:cs typeface="+mn-cs"/>
                </a:rPr>
                <a:t>통합거래명세서 </a:t>
              </a:r>
              <a:endParaRPr kumimoji="1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AutoShape 37"/>
            <p:cNvSpPr>
              <a:spLocks noChangeArrowheads="1"/>
            </p:cNvSpPr>
            <p:nvPr/>
          </p:nvSpPr>
          <p:spPr bwMode="auto">
            <a:xfrm>
              <a:off x="3073722" y="3343432"/>
              <a:ext cx="1368000" cy="624100"/>
            </a:xfrm>
            <a:prstGeom prst="roundRect">
              <a:avLst>
                <a:gd name="adj" fmla="val 0"/>
              </a:avLst>
            </a:prstGeom>
            <a:solidFill>
              <a:srgbClr val="FFFFFF">
                <a:lumMod val="95000"/>
              </a:srgbClr>
            </a:solidFill>
            <a:ln w="6350">
              <a:solidFill>
                <a:srgbClr val="777777"/>
              </a:solidFill>
              <a:round/>
              <a:headEnd/>
              <a:tailEnd/>
            </a:ln>
            <a:effectLst/>
            <a:extLst/>
          </p:spPr>
          <p:txBody>
            <a:bodyPr lIns="90000" tIns="46800" rIns="90000" bIns="46800" anchor="t"/>
            <a:lstStyle>
              <a:lvl1pPr marL="95250" indent="-95250" algn="l"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566738" indent="-285750" algn="l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marL="95250" marR="0" lvl="0" indent="-9525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10000"/>
                </a:spcAft>
                <a:buClr>
                  <a:srgbClr val="000000"/>
                </a:buClr>
                <a:buSzPct val="63000"/>
                <a:buFont typeface="Wingdings" pitchFamily="2" charset="2"/>
                <a:buChar char="n"/>
                <a:tabLst/>
                <a:defRPr/>
              </a:pPr>
              <a:r>
                <a:rPr kumimoji="1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ea typeface="맑은 고딕" panose="020B0503020000020004" pitchFamily="50" charset="-127"/>
                  <a:cs typeface="+mn-cs"/>
                </a:rPr>
                <a:t>협력사 </a:t>
              </a:r>
              <a:r>
                <a:rPr kumimoji="1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ea typeface="맑은 고딕" panose="020B0503020000020004" pitchFamily="50" charset="-127"/>
                  <a:cs typeface="+mn-cs"/>
                </a:rPr>
                <a:t>Portal</a:t>
              </a:r>
            </a:p>
            <a:p>
              <a:pPr marL="95250" marR="0" lvl="0" indent="-9525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10000"/>
                </a:spcAft>
                <a:buClr>
                  <a:srgbClr val="000000"/>
                </a:buClr>
                <a:buSzPct val="63000"/>
                <a:buFont typeface="Wingdings" pitchFamily="2" charset="2"/>
                <a:buChar char="n"/>
                <a:tabLst/>
                <a:defRPr/>
              </a:pPr>
              <a:r>
                <a:rPr kumimoji="1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ea typeface="맑은 고딕" panose="020B0503020000020004" pitchFamily="50" charset="-127"/>
                  <a:cs typeface="+mn-cs"/>
                </a:rPr>
                <a:t>전자 </a:t>
              </a:r>
              <a:r>
                <a:rPr kumimoji="1" lang="ko-KR" altLang="en-US" sz="10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ea typeface="맑은 고딕" panose="020B0503020000020004" pitchFamily="50" charset="-127"/>
                  <a:cs typeface="+mn-cs"/>
                </a:rPr>
                <a:t>계산서</a:t>
              </a:r>
              <a:endParaRPr kumimoji="1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0" name="AutoShape 40"/>
            <p:cNvSpPr>
              <a:spLocks noChangeArrowheads="1"/>
            </p:cNvSpPr>
            <p:nvPr/>
          </p:nvSpPr>
          <p:spPr bwMode="auto">
            <a:xfrm>
              <a:off x="4553290" y="3343432"/>
              <a:ext cx="1368000" cy="624100"/>
            </a:xfrm>
            <a:prstGeom prst="roundRect">
              <a:avLst>
                <a:gd name="adj" fmla="val 0"/>
              </a:avLst>
            </a:prstGeom>
            <a:solidFill>
              <a:srgbClr val="FFFFFF">
                <a:lumMod val="95000"/>
              </a:srgbClr>
            </a:solidFill>
            <a:ln w="6350">
              <a:solidFill>
                <a:srgbClr val="777777"/>
              </a:solidFill>
              <a:round/>
              <a:headEnd/>
              <a:tailEnd/>
            </a:ln>
            <a:effectLst/>
            <a:extLst/>
          </p:spPr>
          <p:txBody>
            <a:bodyPr lIns="90000" tIns="46800" rIns="90000" bIns="46800" anchor="t"/>
            <a:lstStyle>
              <a:lvl1pPr marL="95250" indent="-95250" algn="l"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566738" indent="-285750" algn="l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marL="95250" marR="0" lvl="0" indent="-9525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10000"/>
                </a:spcAft>
                <a:buClr>
                  <a:srgbClr val="000000"/>
                </a:buClr>
                <a:buSzPct val="63000"/>
                <a:buFont typeface="Wingdings" pitchFamily="2" charset="2"/>
                <a:buChar char="n"/>
                <a:tabLst/>
                <a:defRPr/>
              </a:pPr>
              <a:r>
                <a:rPr kumimoji="1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ea typeface="맑은 고딕" panose="020B0503020000020004" pitchFamily="50" charset="-127"/>
                  <a:cs typeface="+mn-cs"/>
                </a:rPr>
                <a:t>CR/DR </a:t>
              </a:r>
              <a:r>
                <a:rPr kumimoji="1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ea typeface="맑은 고딕" panose="020B0503020000020004" pitchFamily="50" charset="-127"/>
                  <a:cs typeface="+mn-cs"/>
                </a:rPr>
                <a:t>관리</a:t>
              </a:r>
            </a:p>
            <a:p>
              <a:pPr marL="95250" marR="0" lvl="0" indent="-9525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10000"/>
                </a:spcAft>
                <a:buClr>
                  <a:srgbClr val="000000"/>
                </a:buClr>
                <a:buSzPct val="63000"/>
                <a:buFont typeface="Wingdings" pitchFamily="2" charset="2"/>
                <a:buChar char="n"/>
                <a:tabLst/>
                <a:defRPr/>
              </a:pPr>
              <a:r>
                <a:rPr kumimoji="1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ea typeface="맑은 고딕" panose="020B0503020000020004" pitchFamily="50" charset="-127"/>
                  <a:cs typeface="+mn-cs"/>
                </a:rPr>
                <a:t>위</a:t>
              </a:r>
              <a:r>
                <a:rPr kumimoji="1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1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ea typeface="맑은 고딕" panose="020B0503020000020004" pitchFamily="50" charset="-127"/>
                  <a:cs typeface="+mn-cs"/>
                </a:rPr>
                <a:t>수탁 관리</a:t>
              </a:r>
              <a:endParaRPr kumimoji="1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1" name="AutoShape 35"/>
            <p:cNvSpPr>
              <a:spLocks noChangeArrowheads="1"/>
            </p:cNvSpPr>
            <p:nvPr/>
          </p:nvSpPr>
          <p:spPr bwMode="auto">
            <a:xfrm>
              <a:off x="1594153" y="4382062"/>
              <a:ext cx="1368000" cy="219862"/>
            </a:xfrm>
            <a:prstGeom prst="roundRect">
              <a:avLst>
                <a:gd name="adj" fmla="val 2662"/>
              </a:avLst>
            </a:prstGeom>
            <a:solidFill>
              <a:srgbClr val="FFFFFF">
                <a:lumMod val="85000"/>
              </a:srgbClr>
            </a:solidFill>
            <a:ln w="6350" algn="ctr">
              <a:solidFill>
                <a:srgbClr val="777777"/>
              </a:solidFill>
              <a:round/>
              <a:headEnd/>
              <a:tailEnd/>
            </a:ln>
            <a:effectLst/>
            <a:extLst/>
          </p:spPr>
          <p:txBody>
            <a:bodyPr lIns="0" tIns="0" rIns="0" bIns="0" anchor="ctr"/>
            <a:lstStyle>
              <a:lvl1pPr algn="l"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566738" indent="-285750" algn="l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1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ea typeface="맑은 고딕" panose="020B0503020000020004" pitchFamily="50" charset="-127"/>
                  <a:cs typeface="+mn-cs"/>
                </a:rPr>
                <a:t>매뉴얼정산</a:t>
              </a:r>
              <a:endParaRPr kumimoji="1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2" name="AutoShape 38"/>
            <p:cNvSpPr>
              <a:spLocks noChangeArrowheads="1"/>
            </p:cNvSpPr>
            <p:nvPr/>
          </p:nvSpPr>
          <p:spPr bwMode="auto">
            <a:xfrm>
              <a:off x="3073722" y="4382062"/>
              <a:ext cx="1368000" cy="230122"/>
            </a:xfrm>
            <a:prstGeom prst="roundRect">
              <a:avLst>
                <a:gd name="adj" fmla="val 2662"/>
              </a:avLst>
            </a:prstGeom>
            <a:solidFill>
              <a:srgbClr val="FFFFFF">
                <a:lumMod val="85000"/>
              </a:srgbClr>
            </a:solidFill>
            <a:ln w="6350" algn="ctr">
              <a:solidFill>
                <a:srgbClr val="777777"/>
              </a:solidFill>
              <a:round/>
              <a:headEnd/>
              <a:tailEnd/>
            </a:ln>
            <a:effectLst/>
            <a:extLst/>
          </p:spPr>
          <p:txBody>
            <a:bodyPr lIns="0" tIns="0" rIns="0" bIns="0" anchor="ctr"/>
            <a:lstStyle>
              <a:lvl1pPr algn="l"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566738" indent="-285750" algn="l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1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ea typeface="맑은 고딕" panose="020B0503020000020004" pitchFamily="50" charset="-127"/>
                  <a:cs typeface="+mn-cs"/>
                </a:rPr>
                <a:t>매입관리</a:t>
              </a:r>
              <a:endParaRPr kumimoji="1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3" name="AutoShape 41"/>
            <p:cNvSpPr>
              <a:spLocks noChangeArrowheads="1"/>
            </p:cNvSpPr>
            <p:nvPr/>
          </p:nvSpPr>
          <p:spPr bwMode="auto">
            <a:xfrm>
              <a:off x="4553290" y="4382062"/>
              <a:ext cx="1368000" cy="227190"/>
            </a:xfrm>
            <a:prstGeom prst="roundRect">
              <a:avLst>
                <a:gd name="adj" fmla="val 2662"/>
              </a:avLst>
            </a:prstGeom>
            <a:solidFill>
              <a:srgbClr val="FFFFFF">
                <a:lumMod val="85000"/>
              </a:srgbClr>
            </a:solidFill>
            <a:ln w="6350" algn="ctr">
              <a:solidFill>
                <a:srgbClr val="777777"/>
              </a:solidFill>
              <a:round/>
              <a:headEnd/>
              <a:tailEnd/>
            </a:ln>
            <a:effectLst/>
            <a:extLst/>
          </p:spPr>
          <p:txBody>
            <a:bodyPr lIns="0" tIns="0" rIns="0" bIns="0" anchor="ctr"/>
            <a:lstStyle>
              <a:lvl1pPr algn="l"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566738" indent="-285750" algn="l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1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ea typeface="맑은 고딕" panose="020B0503020000020004" pitchFamily="50" charset="-127"/>
                  <a:cs typeface="+mn-cs"/>
                </a:rPr>
                <a:t>파트너관리</a:t>
              </a:r>
              <a:endParaRPr kumimoji="1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4" name="AutoShape 34"/>
            <p:cNvSpPr>
              <a:spLocks noChangeArrowheads="1"/>
            </p:cNvSpPr>
            <p:nvPr/>
          </p:nvSpPr>
          <p:spPr bwMode="auto">
            <a:xfrm>
              <a:off x="1594153" y="4631745"/>
              <a:ext cx="1368000" cy="631430"/>
            </a:xfrm>
            <a:prstGeom prst="roundRect">
              <a:avLst>
                <a:gd name="adj" fmla="val 0"/>
              </a:avLst>
            </a:prstGeom>
            <a:solidFill>
              <a:srgbClr val="FFFFFF">
                <a:lumMod val="95000"/>
              </a:srgbClr>
            </a:solidFill>
            <a:ln w="6350">
              <a:solidFill>
                <a:srgbClr val="777777"/>
              </a:solidFill>
              <a:round/>
              <a:headEnd/>
              <a:tailEnd/>
            </a:ln>
            <a:effectLst/>
            <a:extLst/>
          </p:spPr>
          <p:txBody>
            <a:bodyPr lIns="90000" tIns="46800" rIns="90000" bIns="46800" anchor="t"/>
            <a:lstStyle>
              <a:lvl1pPr marL="95250" indent="-95250" algn="l"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566738" indent="-285750" algn="l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marL="95250" marR="0" lvl="0" indent="-9525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10000"/>
                </a:spcAft>
                <a:buClr>
                  <a:srgbClr val="000000"/>
                </a:buClr>
                <a:buSzPct val="63000"/>
                <a:buFont typeface="Wingdings" pitchFamily="2" charset="2"/>
                <a:buChar char="n"/>
                <a:tabLst/>
                <a:defRPr/>
              </a:pPr>
              <a:r>
                <a:rPr kumimoji="1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ea typeface="맑은 고딕" panose="020B0503020000020004" pitchFamily="50" charset="-127"/>
                  <a:cs typeface="+mn-cs"/>
                </a:rPr>
                <a:t>매출</a:t>
              </a:r>
              <a:r>
                <a:rPr kumimoji="1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1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ea typeface="맑은 고딕" panose="020B0503020000020004" pitchFamily="50" charset="-127"/>
                  <a:cs typeface="+mn-cs"/>
                </a:rPr>
                <a:t>매입 처리</a:t>
              </a:r>
              <a:endParaRPr kumimoji="1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endParaRPr>
            </a:p>
            <a:p>
              <a:pPr marL="95250" marR="0" lvl="0" indent="-9525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10000"/>
                </a:spcAft>
                <a:buClr>
                  <a:srgbClr val="000000"/>
                </a:buClr>
                <a:buSzPct val="63000"/>
                <a:buFont typeface="Wingdings" pitchFamily="2" charset="2"/>
                <a:buChar char="n"/>
                <a:tabLst/>
                <a:defRPr/>
              </a:pPr>
              <a:r>
                <a:rPr kumimoji="1" lang="en-US" altLang="ko-KR" sz="10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ea typeface="맑은 고딕" panose="020B0503020000020004" pitchFamily="50" charset="-127"/>
                  <a:cs typeface="+mn-cs"/>
                </a:rPr>
                <a:t>Work Flow </a:t>
              </a:r>
              <a:r>
                <a:rPr kumimoji="1" lang="ko-KR" altLang="en-US" sz="10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ea typeface="맑은 고딕" panose="020B0503020000020004" pitchFamily="50" charset="-127"/>
                  <a:cs typeface="+mn-cs"/>
                </a:rPr>
                <a:t>승인</a:t>
              </a:r>
              <a:endParaRPr kumimoji="1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5" name="AutoShape 37"/>
            <p:cNvSpPr>
              <a:spLocks noChangeArrowheads="1"/>
            </p:cNvSpPr>
            <p:nvPr/>
          </p:nvSpPr>
          <p:spPr bwMode="auto">
            <a:xfrm>
              <a:off x="3073722" y="4631745"/>
              <a:ext cx="1368000" cy="624100"/>
            </a:xfrm>
            <a:prstGeom prst="roundRect">
              <a:avLst>
                <a:gd name="adj" fmla="val 0"/>
              </a:avLst>
            </a:prstGeom>
            <a:solidFill>
              <a:srgbClr val="FFFFFF">
                <a:lumMod val="95000"/>
              </a:srgbClr>
            </a:solidFill>
            <a:ln w="6350">
              <a:solidFill>
                <a:srgbClr val="777777"/>
              </a:solidFill>
              <a:round/>
              <a:headEnd/>
              <a:tailEnd/>
            </a:ln>
            <a:effectLst/>
            <a:extLst/>
          </p:spPr>
          <p:txBody>
            <a:bodyPr lIns="90000" tIns="46800" rIns="90000" bIns="46800" anchor="t"/>
            <a:lstStyle>
              <a:lvl1pPr marL="95250" indent="-95250" algn="l"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566738" indent="-285750" algn="l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marL="95250" marR="0" lvl="0" indent="-9525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10000"/>
                </a:spcAft>
                <a:buClr>
                  <a:srgbClr val="000000"/>
                </a:buClr>
                <a:buSzPct val="63000"/>
                <a:buFont typeface="Wingdings" pitchFamily="2" charset="2"/>
                <a:buChar char="n"/>
                <a:tabLst/>
                <a:defRPr/>
              </a:pPr>
              <a:r>
                <a:rPr kumimoji="1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ea typeface="맑은 고딕" panose="020B0503020000020004" pitchFamily="50" charset="-127"/>
                  <a:cs typeface="+mn-cs"/>
                </a:rPr>
                <a:t>화주 </a:t>
              </a:r>
              <a:r>
                <a:rPr kumimoji="1" lang="ko-KR" altLang="en-US" sz="10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ea typeface="맑은 고딕" panose="020B0503020000020004" pitchFamily="50" charset="-127"/>
                  <a:cs typeface="+mn-cs"/>
                </a:rPr>
                <a:t>대불금 처리</a:t>
              </a:r>
              <a:endParaRPr kumimoji="1" lang="en-US" altLang="ko-KR" sz="1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endParaRPr>
            </a:p>
            <a:p>
              <a:pPr marL="95250" marR="0" lvl="0" indent="-9525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10000"/>
                </a:spcAft>
                <a:buClr>
                  <a:srgbClr val="000000"/>
                </a:buClr>
                <a:buSzPct val="63000"/>
                <a:buFont typeface="Wingdings" pitchFamily="2" charset="2"/>
                <a:buChar char="n"/>
                <a:tabLst/>
                <a:defRPr/>
              </a:pPr>
              <a:r>
                <a:rPr kumimoji="1" lang="ko-KR" altLang="en-US" sz="10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ea typeface="맑은 고딕" panose="020B0503020000020004" pitchFamily="50" charset="-127"/>
                  <a:cs typeface="+mn-cs"/>
                </a:rPr>
                <a:t>미청산 조작비</a:t>
              </a:r>
              <a:endParaRPr kumimoji="1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6" name="AutoShape 40"/>
            <p:cNvSpPr>
              <a:spLocks noChangeArrowheads="1"/>
            </p:cNvSpPr>
            <p:nvPr/>
          </p:nvSpPr>
          <p:spPr bwMode="auto">
            <a:xfrm>
              <a:off x="4553290" y="4631745"/>
              <a:ext cx="1368000" cy="624100"/>
            </a:xfrm>
            <a:prstGeom prst="roundRect">
              <a:avLst>
                <a:gd name="adj" fmla="val 0"/>
              </a:avLst>
            </a:prstGeom>
            <a:solidFill>
              <a:srgbClr val="FFFFFF">
                <a:lumMod val="95000"/>
              </a:srgbClr>
            </a:solidFill>
            <a:ln w="6350">
              <a:solidFill>
                <a:srgbClr val="777777"/>
              </a:solidFill>
              <a:round/>
              <a:headEnd/>
              <a:tailEnd/>
            </a:ln>
            <a:effectLst/>
            <a:extLst/>
          </p:spPr>
          <p:txBody>
            <a:bodyPr lIns="90000" tIns="46800" rIns="90000" bIns="46800" anchor="t"/>
            <a:lstStyle>
              <a:lvl1pPr marL="95250" indent="-95250" algn="l"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566738" indent="-285750" algn="l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marL="95250" marR="0" lvl="0" indent="-9525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10000"/>
                </a:spcAft>
                <a:buClr>
                  <a:srgbClr val="000000"/>
                </a:buClr>
                <a:buSzPct val="63000"/>
                <a:buFont typeface="Wingdings" pitchFamily="2" charset="2"/>
                <a:buChar char="n"/>
                <a:tabLst/>
                <a:defRPr/>
              </a:pPr>
              <a:r>
                <a:rPr kumimoji="1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ea typeface="맑은 고딕" panose="020B0503020000020004" pitchFamily="50" charset="-127"/>
                  <a:cs typeface="+mn-cs"/>
                </a:rPr>
                <a:t>원가배분동의</a:t>
              </a:r>
              <a:endParaRPr kumimoji="1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endParaRPr>
            </a:p>
            <a:p>
              <a:pPr marL="95250" marR="0" lvl="0" indent="-9525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10000"/>
                </a:spcAft>
                <a:buClr>
                  <a:srgbClr val="000000"/>
                </a:buClr>
                <a:buSzPct val="63000"/>
                <a:buFont typeface="Wingdings" pitchFamily="2" charset="2"/>
                <a:buChar char="n"/>
                <a:tabLst/>
                <a:defRPr/>
              </a:pPr>
              <a:r>
                <a:rPr kumimoji="1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ea typeface="맑은 고딕" panose="020B0503020000020004" pitchFamily="50" charset="-127"/>
                  <a:cs typeface="+mn-cs"/>
                </a:rPr>
                <a:t>관리손익집계</a:t>
              </a:r>
              <a:endParaRPr kumimoji="1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endParaRPr>
            </a:p>
            <a:p>
              <a:pPr marL="95250" marR="0" lvl="0" indent="-9525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10000"/>
                </a:spcAft>
                <a:buClr>
                  <a:srgbClr val="000000"/>
                </a:buClr>
                <a:buSzPct val="63000"/>
                <a:buFont typeface="Wingdings" pitchFamily="2" charset="2"/>
                <a:buChar char="n"/>
                <a:tabLst/>
                <a:defRPr/>
              </a:pPr>
              <a:r>
                <a:rPr kumimoji="1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ea typeface="맑은 고딕" panose="020B0503020000020004" pitchFamily="50" charset="-127"/>
                  <a:cs typeface="+mn-cs"/>
                </a:rPr>
                <a:t>직접원가</a:t>
              </a:r>
              <a:endParaRPr kumimoji="1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7" name="Text Box 111"/>
          <p:cNvSpPr txBox="1">
            <a:spLocks noChangeArrowheads="1"/>
          </p:cNvSpPr>
          <p:nvPr/>
        </p:nvSpPr>
        <p:spPr bwMode="auto">
          <a:xfrm>
            <a:off x="3212747" y="5462999"/>
            <a:ext cx="1367361" cy="138499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1524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다양한 정산실적 </a:t>
            </a:r>
            <a:r>
              <a:rPr kumimoji="1" lang="en-US" altLang="ko-KR" sz="9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View </a:t>
            </a:r>
            <a:r>
              <a:rPr kumimoji="1" lang="ko-KR" altLang="en-US" sz="9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제공</a:t>
            </a:r>
            <a:endParaRPr kumimoji="1" lang="ko-KR" altLang="en-US" sz="900" b="1" i="1" u="none" strike="noStrike" kern="120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Cambria" panose="02040503050406030204" pitchFamily="18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8" name="Text Box 111"/>
          <p:cNvSpPr txBox="1">
            <a:spLocks noChangeArrowheads="1"/>
          </p:cNvSpPr>
          <p:nvPr/>
        </p:nvSpPr>
        <p:spPr bwMode="auto">
          <a:xfrm rot="5400000">
            <a:off x="980984" y="3929423"/>
            <a:ext cx="652322" cy="276999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1524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매출</a:t>
            </a:r>
            <a:r>
              <a:rPr kumimoji="1" lang="en-US" altLang="ko-KR" sz="9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/</a:t>
            </a:r>
            <a:r>
              <a:rPr kumimoji="1" lang="ko-KR" altLang="en-US" sz="9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매입</a:t>
            </a:r>
            <a:endParaRPr kumimoji="1" lang="en-US" altLang="ko-KR" sz="900" b="1" i="1" u="none" strike="noStrike" kern="1200" cap="none" spc="0" normalizeH="0" baseline="0" noProof="0" dirty="0" smtClean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Cambria" panose="02040503050406030204" pitchFamily="18" charset="0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정보</a:t>
            </a:r>
            <a:endParaRPr kumimoji="1" lang="ko-KR" altLang="en-US" sz="900" b="1" i="1" u="none" strike="noStrike" kern="120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Cambria" panose="02040503050406030204" pitchFamily="18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538276" y="4167103"/>
            <a:ext cx="3094117" cy="13747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92075" marR="0" lvl="0" indent="-92075" algn="l" defTabSz="914400" rtl="0" eaLnBrk="1" fontAlgn="auto" latinLnBrk="1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화주 회계시스템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(ERP) I/F </a:t>
            </a:r>
            <a:r>
              <a:rPr kumimoji="0" lang="ko-KR" alt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연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계</a:t>
            </a:r>
            <a:r>
              <a:rPr kumimoji="0" lang="en-US" altLang="ko-KR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/>
            </a:r>
            <a:br>
              <a:rPr kumimoji="0" lang="en-US" altLang="ko-KR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   -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화주와 정산실적 동기화 위한 </a:t>
            </a:r>
            <a:r>
              <a:rPr kumimoji="0" lang="ko-KR" alt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프로세스</a:t>
            </a:r>
            <a:r>
              <a:rPr kumimoji="0" lang="en-US" altLang="ko-KR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/>
            </a:r>
            <a:br>
              <a:rPr kumimoji="0" lang="en-US" altLang="ko-KR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     </a:t>
            </a:r>
            <a:r>
              <a:rPr kumimoji="0" lang="ko-KR" alt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및 기능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제공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/>
            </a:r>
            <a:b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   -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매출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매입 정산실적 확인을 </a:t>
            </a:r>
            <a:r>
              <a:rPr kumimoji="0" lang="ko-KR" alt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위한</a:t>
            </a:r>
            <a:r>
              <a:rPr kumimoji="0" lang="en-US" altLang="ko-KR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/>
            </a:r>
            <a:br>
              <a:rPr kumimoji="0" lang="en-US" altLang="ko-KR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     </a:t>
            </a:r>
            <a:r>
              <a:rPr kumimoji="0" lang="ko-KR" alt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다양한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View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제공</a:t>
            </a:r>
          </a:p>
        </p:txBody>
      </p:sp>
      <p:sp>
        <p:nvSpPr>
          <p:cNvPr id="41" name="Text Box 6"/>
          <p:cNvSpPr txBox="1">
            <a:spLocks noChangeArrowheads="1"/>
          </p:cNvSpPr>
          <p:nvPr/>
        </p:nvSpPr>
        <p:spPr bwMode="auto">
          <a:xfrm>
            <a:off x="331773" y="138386"/>
            <a:ext cx="44656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ko-KR"/>
            </a:defPPr>
            <a:lvl1pPr eaLnBrk="0" latinLnBrk="0" hangingPunct="0">
              <a:defRPr kumimoji="0" sz="1600">
                <a:solidFill>
                  <a:srgbClr val="000000"/>
                </a:solidFill>
                <a:latin typeface="Cambria" panose="02040503050406030204" pitchFamily="18" charset="0"/>
                <a:ea typeface="맑은 고딕" pitchFamily="50" charset="-127"/>
              </a:defRPr>
            </a:lvl1pPr>
            <a:lvl2pPr marL="742950" indent="-285750" eaLnBrk="0" hangingPunct="0">
              <a:defRPr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 smtClean="0">
                <a:latin typeface="맑은 고딕" panose="020B0503020000020004" pitchFamily="50" charset="-127"/>
              </a:rPr>
              <a:t>KEROL - </a:t>
            </a:r>
            <a:r>
              <a:rPr kumimoji="0" lang="en-US" altLang="ko-KR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itchFamily="50" charset="-127"/>
                <a:cs typeface="+mn-cs"/>
              </a:rPr>
              <a:t>Billing </a:t>
            </a:r>
            <a:r>
              <a:rPr kumimoji="0" lang="ko-KR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itchFamily="50" charset="-127"/>
                <a:cs typeface="+mn-cs"/>
              </a:rPr>
              <a:t>기능 구성도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itchFamily="50" charset="-127"/>
              <a:cs typeface="+mn-cs"/>
              <a:sym typeface="Wingdings" pitchFamily="2" charset="2"/>
            </a:endParaRPr>
          </a:p>
        </p:txBody>
      </p:sp>
      <p:sp>
        <p:nvSpPr>
          <p:cNvPr id="42" name="Text Box 35"/>
          <p:cNvSpPr txBox="1">
            <a:spLocks noChangeArrowheads="1"/>
          </p:cNvSpPr>
          <p:nvPr/>
        </p:nvSpPr>
        <p:spPr bwMode="auto">
          <a:xfrm>
            <a:off x="377825" y="669987"/>
            <a:ext cx="9145588" cy="626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9190" tIns="39594" rIns="79190" bIns="39594"/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계약단가 기반의 </a:t>
            </a:r>
            <a:r>
              <a:rPr kumimoji="1" lang="ko-KR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통합정산을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통한 신속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정확한 정산 업무가 가능하며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Audit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기능 </a:t>
            </a:r>
            <a:r>
              <a:rPr kumimoji="1" lang="ko-KR" alt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자동화로</a:t>
            </a:r>
            <a:r>
              <a:rPr kumimoji="1" lang="en-US" altLang="ko-KR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kumimoji="1" lang="ko-KR" altLang="en-US" sz="1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물류비</a:t>
            </a:r>
            <a:r>
              <a:rPr kumimoji="1" lang="ko-KR" alt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정확도 제고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89575" y="116632"/>
            <a:ext cx="20229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114300" indent="-114300" algn="r">
              <a:buFont typeface="+mj-lt"/>
              <a:buAutoNum type="romanUcPeriod"/>
            </a:lvl1pPr>
          </a:lstStyle>
          <a:p>
            <a:pPr marL="0" indent="0">
              <a:buNone/>
              <a:defRPr/>
            </a:pPr>
            <a:r>
              <a:rPr lang="en-US" altLang="ko-KR" dirty="0">
                <a:latin typeface="Cambria" panose="02040503050406030204" pitchFamily="18" charset="0"/>
              </a:rPr>
              <a:t>Ⅲ. </a:t>
            </a:r>
            <a:r>
              <a:rPr lang="en-US" altLang="ko-KR" dirty="0" smtClean="0">
                <a:latin typeface="Cambria" panose="02040503050406030204" pitchFamily="18" charset="0"/>
              </a:rPr>
              <a:t>Contract &amp; </a:t>
            </a:r>
            <a:r>
              <a:rPr lang="en-US" altLang="ko-KR" dirty="0" smtClean="0">
                <a:solidFill>
                  <a:srgbClr val="000000"/>
                </a:solidFill>
                <a:latin typeface="Cambria" panose="02040503050406030204" pitchFamily="18" charset="0"/>
              </a:rPr>
              <a:t>Billing</a:t>
            </a:r>
            <a:endParaRPr lang="ko-KR" altLang="en-US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6360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다이어그램 3"/>
          <p:cNvGraphicFramePr/>
          <p:nvPr>
            <p:extLst/>
          </p:nvPr>
        </p:nvGraphicFramePr>
        <p:xfrm>
          <a:off x="453969" y="1236339"/>
          <a:ext cx="9035571" cy="48378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포인트가 6개인 별 4"/>
          <p:cNvSpPr/>
          <p:nvPr/>
        </p:nvSpPr>
        <p:spPr>
          <a:xfrm>
            <a:off x="200474" y="980728"/>
            <a:ext cx="720078" cy="648072"/>
          </a:xfrm>
          <a:prstGeom prst="star6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Cambria" panose="02040503050406030204" pitchFamily="18" charset="0"/>
            </a:endParaRPr>
          </a:p>
        </p:txBody>
      </p:sp>
      <p:sp>
        <p:nvSpPr>
          <p:cNvPr id="6" name="포인트가 6개인 별 5"/>
          <p:cNvSpPr/>
          <p:nvPr/>
        </p:nvSpPr>
        <p:spPr>
          <a:xfrm>
            <a:off x="2576736" y="980728"/>
            <a:ext cx="720078" cy="648072"/>
          </a:xfrm>
          <a:prstGeom prst="star6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Cambria" panose="02040503050406030204" pitchFamily="18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itchFamily="34" charset="0"/>
                <a:ea typeface="굴림" pitchFamily="50" charset="-127"/>
                <a:cs typeface="+mn-cs"/>
              </a:rPr>
              <a:t>- </a:t>
            </a:r>
            <a:fld id="{EE975AF4-B1F3-41E4-B19A-4F6D78AFBDB1}" type="slidenum">
              <a:rPr kumimoji="0" lang="en-US" altLang="ko-KR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itchFamily="34" charset="0"/>
                <a:ea typeface="굴림" pitchFamily="50" charset="-127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r>
              <a:rPr kumimoji="0" lang="en-US" altLang="ko-KR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itchFamily="34" charset="0"/>
                <a:ea typeface="굴림" pitchFamily="50" charset="-127"/>
                <a:cs typeface="+mn-cs"/>
              </a:rPr>
              <a:t> -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itchFamily="34" charset="0"/>
              <a:ea typeface="굴림" pitchFamily="50" charset="-127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89575" y="116632"/>
            <a:ext cx="20229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114300" indent="-114300" algn="r">
              <a:buFont typeface="+mj-lt"/>
              <a:buAutoNum type="romanUcPeriod"/>
            </a:lvl1pPr>
          </a:lstStyle>
          <a:p>
            <a:pPr marL="0" indent="0">
              <a:buNone/>
              <a:defRPr/>
            </a:pPr>
            <a:r>
              <a:rPr lang="en-US" altLang="ko-KR" dirty="0">
                <a:latin typeface="Cambria" panose="02040503050406030204" pitchFamily="18" charset="0"/>
              </a:rPr>
              <a:t>Ⅲ. </a:t>
            </a:r>
            <a:r>
              <a:rPr lang="en-US" altLang="ko-KR" dirty="0" smtClean="0">
                <a:latin typeface="Cambria" panose="02040503050406030204" pitchFamily="18" charset="0"/>
              </a:rPr>
              <a:t>Contract &amp; </a:t>
            </a:r>
            <a:r>
              <a:rPr lang="en-US" altLang="ko-KR" dirty="0" smtClean="0">
                <a:solidFill>
                  <a:srgbClr val="000000"/>
                </a:solidFill>
                <a:latin typeface="Cambria" panose="02040503050406030204" pitchFamily="18" charset="0"/>
              </a:rPr>
              <a:t>Billing</a:t>
            </a:r>
            <a:endParaRPr lang="ko-KR" altLang="en-US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344488" y="142875"/>
            <a:ext cx="44656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ko-KR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KEROL -</a:t>
            </a:r>
            <a:r>
              <a:rPr kumimoji="0" lang="en-US" altLang="ko-KR" b="1" dirty="0" smtClean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Contract &amp; Billing </a:t>
            </a:r>
            <a:r>
              <a:rPr kumimoji="0" lang="ko-KR" altLang="en-US" b="1" dirty="0" smtClean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주요기능</a:t>
            </a:r>
            <a:endParaRPr kumimoji="0" lang="ko-KR" altLang="en-US" b="1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488625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52"/>
          <p:cNvSpPr/>
          <p:nvPr/>
        </p:nvSpPr>
        <p:spPr>
          <a:xfrm>
            <a:off x="415925" y="1773239"/>
            <a:ext cx="4897115" cy="403202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rgbClr val="808080"/>
            </a:solidFill>
            <a:prstDash val="solid"/>
          </a:ln>
          <a:effectLst/>
        </p:spPr>
        <p:txBody>
          <a:bodyPr rtlCol="0" anchor="t" anchorCtr="0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200" kern="0" dirty="0" smtClean="0">
              <a:solidFill>
                <a:srgbClr val="333333"/>
              </a:solidFill>
              <a:latin typeface="Arial"/>
              <a:ea typeface="맑은 고딕"/>
            </a:endParaRPr>
          </a:p>
        </p:txBody>
      </p:sp>
      <p:sp>
        <p:nvSpPr>
          <p:cNvPr id="12290" name="Text Box 6"/>
          <p:cNvSpPr txBox="1">
            <a:spLocks noChangeArrowheads="1"/>
          </p:cNvSpPr>
          <p:nvPr/>
        </p:nvSpPr>
        <p:spPr bwMode="auto">
          <a:xfrm>
            <a:off x="344488" y="142875"/>
            <a:ext cx="557299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ko-KR" b="1" dirty="0" smtClean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KEROL - </a:t>
            </a:r>
            <a:r>
              <a:rPr kumimoji="0" lang="en-US" altLang="ko-KR" b="1" dirty="0" smtClean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Contract </a:t>
            </a:r>
            <a:r>
              <a:rPr kumimoji="0" lang="en-US" altLang="ko-KR" b="1" dirty="0" smtClean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&amp; </a:t>
            </a:r>
            <a:r>
              <a:rPr kumimoji="0" lang="en-US" altLang="ko-KR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Billing</a:t>
            </a:r>
            <a:endParaRPr kumimoji="0" lang="ko-KR" altLang="en-US" b="1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17" name="모서리가 둥근 직사각형 16"/>
          <p:cNvSpPr/>
          <p:nvPr/>
        </p:nvSpPr>
        <p:spPr bwMode="auto">
          <a:xfrm>
            <a:off x="632520" y="2210564"/>
            <a:ext cx="2448272" cy="352489"/>
          </a:xfrm>
          <a:prstGeom prst="roundRect">
            <a:avLst>
              <a:gd name="adj" fmla="val 39965"/>
            </a:avLst>
          </a:prstGeom>
          <a:solidFill>
            <a:srgbClr val="0000FF"/>
          </a:solidFill>
          <a:ln w="9525">
            <a:solidFill>
              <a:schemeClr val="tx1">
                <a:lumMod val="75000"/>
                <a:lumOff val="25000"/>
              </a:schemeClr>
            </a:solidFill>
            <a:miter lim="800000"/>
            <a:headEnd/>
            <a:tailEnd/>
          </a:ln>
        </p:spPr>
        <p:txBody>
          <a:bodyPr wrap="square" lIns="36000" tIns="72000" rIns="36000" bIns="7200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altLang="ko-KR" sz="1400" b="1" dirty="0" smtClean="0">
                <a:solidFill>
                  <a:schemeClr val="bg1"/>
                </a:solidFill>
                <a:latin typeface="+mn-ea"/>
                <a:ea typeface="+mn-ea"/>
              </a:rPr>
              <a:t>Order Base </a:t>
            </a:r>
            <a:r>
              <a:rPr lang="ko-KR" altLang="en-US" sz="1400" b="1" dirty="0" smtClean="0">
                <a:solidFill>
                  <a:schemeClr val="bg1"/>
                </a:solidFill>
                <a:latin typeface="+mn-ea"/>
                <a:ea typeface="+mn-ea"/>
              </a:rPr>
              <a:t>실적</a:t>
            </a:r>
          </a:p>
        </p:txBody>
      </p:sp>
      <p:sp>
        <p:nvSpPr>
          <p:cNvPr id="18" name="모서리가 둥근 직사각형 17"/>
          <p:cNvSpPr/>
          <p:nvPr/>
        </p:nvSpPr>
        <p:spPr bwMode="auto">
          <a:xfrm>
            <a:off x="632520" y="3971196"/>
            <a:ext cx="2448272" cy="352489"/>
          </a:xfrm>
          <a:prstGeom prst="roundRect">
            <a:avLst>
              <a:gd name="adj" fmla="val 39965"/>
            </a:avLst>
          </a:prstGeom>
          <a:solidFill>
            <a:srgbClr val="0000FF"/>
          </a:solidFill>
          <a:ln w="9525">
            <a:solidFill>
              <a:schemeClr val="tx1">
                <a:lumMod val="75000"/>
                <a:lumOff val="25000"/>
              </a:schemeClr>
            </a:solidFill>
            <a:miter lim="800000"/>
            <a:headEnd/>
            <a:tailEnd/>
          </a:ln>
        </p:spPr>
        <p:txBody>
          <a:bodyPr wrap="square" lIns="36000" tIns="72000" rIns="36000" bIns="7200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altLang="ko-KR" sz="1400" b="1" dirty="0" smtClean="0">
                <a:solidFill>
                  <a:schemeClr val="bg1"/>
                </a:solidFill>
                <a:latin typeface="+mn-ea"/>
                <a:ea typeface="+mn-ea"/>
              </a:rPr>
              <a:t>Term Base </a:t>
            </a:r>
            <a:r>
              <a:rPr lang="ko-KR" altLang="en-US" sz="1400" b="1" dirty="0" smtClean="0">
                <a:solidFill>
                  <a:schemeClr val="bg1"/>
                </a:solidFill>
                <a:latin typeface="+mn-ea"/>
                <a:ea typeface="+mn-ea"/>
              </a:rPr>
              <a:t>실적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92" y="2629361"/>
            <a:ext cx="2502608" cy="887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 smtClean="0">
                <a:latin typeface="맑은 고딕" pitchFamily="50" charset="-127"/>
                <a:ea typeface="맑은 고딕" pitchFamily="50" charset="-127"/>
              </a:rPr>
              <a:t>국제운송</a:t>
            </a:r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1" dirty="0" smtClean="0">
                <a:latin typeface="맑은 고딕" pitchFamily="50" charset="-127"/>
                <a:ea typeface="맑은 고딕" pitchFamily="50" charset="-127"/>
              </a:rPr>
              <a:t>내륙운송</a:t>
            </a:r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1" dirty="0" smtClean="0">
                <a:latin typeface="맑은 고딕" pitchFamily="50" charset="-127"/>
                <a:ea typeface="맑은 고딕" pitchFamily="50" charset="-127"/>
              </a:rPr>
              <a:t>통관 비용</a:t>
            </a:r>
            <a:endParaRPr lang="en-US" altLang="ko-KR" sz="1200" b="1" dirty="0" smtClean="0">
              <a:latin typeface="맑은 고딕" pitchFamily="50" charset="-127"/>
              <a:ea typeface="맑은 고딕" pitchFamily="50" charset="-127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 smtClean="0">
                <a:latin typeface="맑은 고딕" pitchFamily="50" charset="-127"/>
                <a:ea typeface="맑은 고딕" pitchFamily="50" charset="-127"/>
              </a:rPr>
              <a:t>입</a:t>
            </a:r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200" b="1" dirty="0" err="1" smtClean="0">
                <a:latin typeface="맑은 고딕" pitchFamily="50" charset="-127"/>
                <a:ea typeface="맑은 고딕" pitchFamily="50" charset="-127"/>
              </a:rPr>
              <a:t>출고료</a:t>
            </a:r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</a:rPr>
              <a:t>, VAS</a:t>
            </a:r>
            <a:r>
              <a:rPr lang="ko-KR" altLang="en-US" sz="1200" b="1" dirty="0" smtClean="0">
                <a:latin typeface="맑은 고딕" pitchFamily="50" charset="-127"/>
                <a:ea typeface="맑은 고딕" pitchFamily="50" charset="-127"/>
              </a:rPr>
              <a:t>비용</a:t>
            </a:r>
            <a:endParaRPr lang="en-US" altLang="ko-KR" sz="1200" b="1" dirty="0">
              <a:latin typeface="맑은 고딕" pitchFamily="50" charset="-127"/>
              <a:ea typeface="맑은 고딕" pitchFamily="50" charset="-127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 err="1" smtClean="0">
                <a:latin typeface="맑은 고딕" pitchFamily="50" charset="-127"/>
                <a:ea typeface="맑은 고딕" pitchFamily="50" charset="-127"/>
              </a:rPr>
              <a:t>수송료</a:t>
            </a:r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1" dirty="0" err="1" smtClean="0">
                <a:latin typeface="맑은 고딕" pitchFamily="50" charset="-127"/>
                <a:ea typeface="맑은 고딕" pitchFamily="50" charset="-127"/>
              </a:rPr>
              <a:t>배송료</a:t>
            </a:r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1" dirty="0" smtClean="0">
                <a:latin typeface="맑은 고딕" pitchFamily="50" charset="-127"/>
                <a:ea typeface="맑은 고딕" pitchFamily="50" charset="-127"/>
              </a:rPr>
              <a:t>추가 작업 비용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192" y="4395694"/>
            <a:ext cx="2100255" cy="887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 smtClean="0">
                <a:latin typeface="맑은 고딕" pitchFamily="50" charset="-127"/>
                <a:ea typeface="맑은 고딕" pitchFamily="50" charset="-127"/>
              </a:rPr>
              <a:t>창고 임대료</a:t>
            </a:r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1" dirty="0" smtClean="0">
                <a:latin typeface="맑은 고딕" pitchFamily="50" charset="-127"/>
                <a:ea typeface="맑은 고딕" pitchFamily="50" charset="-127"/>
              </a:rPr>
              <a:t>보관료</a:t>
            </a:r>
            <a:endParaRPr lang="en-US" altLang="ko-KR" sz="1200" b="1" dirty="0" smtClean="0">
              <a:latin typeface="맑은 고딕" pitchFamily="50" charset="-127"/>
              <a:ea typeface="맑은 고딕" pitchFamily="50" charset="-127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 smtClean="0">
                <a:latin typeface="맑은 고딕" pitchFamily="50" charset="-127"/>
                <a:ea typeface="맑은 고딕" pitchFamily="50" charset="-127"/>
              </a:rPr>
              <a:t>설비 이용료</a:t>
            </a:r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1" dirty="0" err="1" smtClean="0">
                <a:latin typeface="맑은 고딕" pitchFamily="50" charset="-127"/>
                <a:ea typeface="맑은 고딕" pitchFamily="50" charset="-127"/>
              </a:rPr>
              <a:t>렌탈</a:t>
            </a:r>
            <a:r>
              <a:rPr lang="ko-KR" altLang="en-US" sz="1200" b="1" dirty="0" smtClean="0">
                <a:latin typeface="맑은 고딕" pitchFamily="50" charset="-127"/>
                <a:ea typeface="맑은 고딕" pitchFamily="50" charset="-127"/>
              </a:rPr>
              <a:t> 비용</a:t>
            </a:r>
            <a:endParaRPr lang="en-US" altLang="ko-KR" sz="1200" b="1" dirty="0">
              <a:latin typeface="맑은 고딕" pitchFamily="50" charset="-127"/>
              <a:ea typeface="맑은 고딕" pitchFamily="50" charset="-127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 smtClean="0">
                <a:latin typeface="맑은 고딕" pitchFamily="50" charset="-127"/>
                <a:ea typeface="맑은 고딕" pitchFamily="50" charset="-127"/>
              </a:rPr>
              <a:t>창고 인건비</a:t>
            </a:r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1" dirty="0" smtClean="0">
                <a:latin typeface="맑은 고딕" pitchFamily="50" charset="-127"/>
                <a:ea typeface="맑은 고딕" pitchFamily="50" charset="-127"/>
              </a:rPr>
              <a:t>기사 인건비</a:t>
            </a:r>
          </a:p>
        </p:txBody>
      </p:sp>
      <p:sp>
        <p:nvSpPr>
          <p:cNvPr id="2" name="오른쪽 중괄호 1"/>
          <p:cNvSpPr/>
          <p:nvPr/>
        </p:nvSpPr>
        <p:spPr>
          <a:xfrm>
            <a:off x="3224808" y="2060848"/>
            <a:ext cx="360040" cy="3384376"/>
          </a:xfrm>
          <a:prstGeom prst="rightBrac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194" name="Picture 2" descr="complex icon에 대한 이미지 검색결과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4109" y="3059751"/>
            <a:ext cx="1611427" cy="1385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/>
          <p:cNvSpPr txBox="1"/>
          <p:nvPr/>
        </p:nvSpPr>
        <p:spPr>
          <a:xfrm>
            <a:off x="3656856" y="4463429"/>
            <a:ext cx="1063112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dirty="0" err="1" smtClean="0">
                <a:latin typeface="맑은 고딕" pitchFamily="50" charset="-127"/>
                <a:ea typeface="맑은 고딕" pitchFamily="50" charset="-127"/>
              </a:rPr>
              <a:t>비</a:t>
            </a:r>
            <a:r>
              <a:rPr lang="ko-KR" altLang="en-US" sz="1100" dirty="0" err="1">
                <a:latin typeface="맑은 고딕" pitchFamily="50" charset="-127"/>
                <a:ea typeface="맑은 고딕" pitchFamily="50" charset="-127"/>
              </a:rPr>
              <a:t>즈</a:t>
            </a:r>
            <a:r>
              <a:rPr lang="ko-KR" altLang="en-US" sz="1100" dirty="0" err="1" smtClean="0">
                <a:latin typeface="맑은 고딕" pitchFamily="50" charset="-127"/>
                <a:ea typeface="맑은 고딕" pitchFamily="50" charset="-127"/>
              </a:rPr>
              <a:t>니스별</a:t>
            </a:r>
            <a:endParaRPr lang="en-US" altLang="ko-KR" sz="1100" dirty="0" smtClean="0">
              <a:latin typeface="맑은 고딕" pitchFamily="50" charset="-127"/>
              <a:ea typeface="맑은 고딕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dirty="0" smtClean="0">
                <a:latin typeface="맑은 고딕" pitchFamily="50" charset="-127"/>
                <a:ea typeface="맑은 고딕" pitchFamily="50" charset="-127"/>
              </a:rPr>
              <a:t>국</a:t>
            </a:r>
            <a:r>
              <a:rPr lang="ko-KR" altLang="en-US" sz="1100" dirty="0">
                <a:latin typeface="맑은 고딕" pitchFamily="50" charset="-127"/>
                <a:ea typeface="맑은 고딕" pitchFamily="50" charset="-127"/>
              </a:rPr>
              <a:t>가</a:t>
            </a:r>
            <a:r>
              <a:rPr lang="ko-KR" altLang="en-US" sz="1100" dirty="0" smtClean="0">
                <a:latin typeface="맑은 고딕" pitchFamily="50" charset="-127"/>
                <a:ea typeface="맑은 고딕" pitchFamily="50" charset="-127"/>
              </a:rPr>
              <a:t>별</a:t>
            </a:r>
            <a:endParaRPr lang="en-US" altLang="ko-KR" sz="1100" dirty="0" smtClean="0">
              <a:latin typeface="맑은 고딕" pitchFamily="50" charset="-127"/>
              <a:ea typeface="맑은 고딕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dirty="0" err="1" smtClean="0">
                <a:latin typeface="맑은 고딕" pitchFamily="50" charset="-127"/>
                <a:ea typeface="맑은 고딕" pitchFamily="50" charset="-127"/>
              </a:rPr>
              <a:t>센터</a:t>
            </a:r>
            <a:r>
              <a:rPr lang="ko-KR" altLang="en-US" sz="1100" dirty="0" err="1">
                <a:latin typeface="맑은 고딕" pitchFamily="50" charset="-127"/>
                <a:ea typeface="맑은 고딕" pitchFamily="50" charset="-127"/>
              </a:rPr>
              <a:t>별</a:t>
            </a:r>
            <a:endParaRPr lang="ko-KR" altLang="en-US" sz="1100" dirty="0" smtClean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587851" y="2204864"/>
            <a:ext cx="140589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buNone/>
            </a:pPr>
            <a:r>
              <a:rPr lang="en-US" altLang="ko-KR" sz="1400" b="1" dirty="0" smtClean="0">
                <a:latin typeface="맑은 고딕" pitchFamily="50" charset="-127"/>
                <a:ea typeface="맑은 고딕" pitchFamily="50" charset="-127"/>
              </a:rPr>
              <a:t>Tariff</a:t>
            </a:r>
            <a:r>
              <a:rPr lang="ko-KR" altLang="en-US" sz="1400" b="1" dirty="0" smtClean="0">
                <a:latin typeface="맑은 고딕" pitchFamily="50" charset="-127"/>
                <a:ea typeface="맑은 고딕" pitchFamily="50" charset="-127"/>
              </a:rPr>
              <a:t>의 다양성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/>
            </a:r>
            <a:b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</a:br>
            <a:r>
              <a:rPr lang="ko-KR" altLang="en-US" sz="1400" b="1" dirty="0" smtClean="0">
                <a:latin typeface="맑은 고딕" pitchFamily="50" charset="-127"/>
                <a:ea typeface="맑은 고딕" pitchFamily="50" charset="-127"/>
              </a:rPr>
              <a:t>정산의 복잡성</a:t>
            </a:r>
          </a:p>
        </p:txBody>
      </p:sp>
      <p:sp>
        <p:nvSpPr>
          <p:cNvPr id="25" name="직사각형 24"/>
          <p:cNvSpPr/>
          <p:nvPr/>
        </p:nvSpPr>
        <p:spPr bwMode="auto">
          <a:xfrm>
            <a:off x="6033120" y="2827658"/>
            <a:ext cx="1224136" cy="1008811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solidFill>
              <a:schemeClr val="tx1">
                <a:lumMod val="75000"/>
                <a:lumOff val="25000"/>
              </a:schemeClr>
            </a:solidFill>
            <a:miter lim="800000"/>
            <a:headEnd/>
            <a:tailEnd/>
          </a:ln>
        </p:spPr>
        <p:txBody>
          <a:bodyPr wrap="square" lIns="36000" tIns="72000" rIns="36000" bIns="7200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altLang="ko-KR" sz="1800" b="1" dirty="0" smtClean="0">
                <a:solidFill>
                  <a:schemeClr val="bg1"/>
                </a:solidFill>
                <a:latin typeface="+mn-ea"/>
                <a:ea typeface="+mn-ea"/>
              </a:rPr>
              <a:t>KEROL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altLang="ko-KR" sz="1800" b="1" dirty="0" smtClean="0">
                <a:solidFill>
                  <a:schemeClr val="bg1"/>
                </a:solidFill>
                <a:latin typeface="+mn-ea"/>
                <a:ea typeface="+mn-ea"/>
              </a:rPr>
              <a:t>Contract</a:t>
            </a:r>
            <a:endParaRPr lang="ko-KR" altLang="en-US" sz="1800" b="1" dirty="0" smtClean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6" name="자유형 25"/>
          <p:cNvSpPr/>
          <p:nvPr/>
        </p:nvSpPr>
        <p:spPr>
          <a:xfrm rot="16200000" flipH="1" flipV="1">
            <a:off x="3964719" y="3622522"/>
            <a:ext cx="3344714" cy="648071"/>
          </a:xfrm>
          <a:custGeom>
            <a:avLst/>
            <a:gdLst>
              <a:gd name="connsiteX0" fmla="*/ 0 w 2838450"/>
              <a:gd name="connsiteY0" fmla="*/ 933450 h 1162050"/>
              <a:gd name="connsiteX1" fmla="*/ 833437 w 2838450"/>
              <a:gd name="connsiteY1" fmla="*/ 361950 h 1162050"/>
              <a:gd name="connsiteX2" fmla="*/ 547687 w 2838450"/>
              <a:gd name="connsiteY2" fmla="*/ 361950 h 1162050"/>
              <a:gd name="connsiteX3" fmla="*/ 1395412 w 2838450"/>
              <a:gd name="connsiteY3" fmla="*/ 0 h 1162050"/>
              <a:gd name="connsiteX4" fmla="*/ 2238375 w 2838450"/>
              <a:gd name="connsiteY4" fmla="*/ 361950 h 1162050"/>
              <a:gd name="connsiteX5" fmla="*/ 1938337 w 2838450"/>
              <a:gd name="connsiteY5" fmla="*/ 366712 h 1162050"/>
              <a:gd name="connsiteX6" fmla="*/ 2838450 w 2838450"/>
              <a:gd name="connsiteY6" fmla="*/ 1162050 h 1162050"/>
              <a:gd name="connsiteX7" fmla="*/ 0 w 2838450"/>
              <a:gd name="connsiteY7" fmla="*/ 933450 h 1162050"/>
              <a:gd name="connsiteX0" fmla="*/ 0 w 2904344"/>
              <a:gd name="connsiteY0" fmla="*/ 1121469 h 1162050"/>
              <a:gd name="connsiteX1" fmla="*/ 899331 w 2904344"/>
              <a:gd name="connsiteY1" fmla="*/ 361950 h 1162050"/>
              <a:gd name="connsiteX2" fmla="*/ 613581 w 2904344"/>
              <a:gd name="connsiteY2" fmla="*/ 361950 h 1162050"/>
              <a:gd name="connsiteX3" fmla="*/ 1461306 w 2904344"/>
              <a:gd name="connsiteY3" fmla="*/ 0 h 1162050"/>
              <a:gd name="connsiteX4" fmla="*/ 2304269 w 2904344"/>
              <a:gd name="connsiteY4" fmla="*/ 361950 h 1162050"/>
              <a:gd name="connsiteX5" fmla="*/ 2004231 w 2904344"/>
              <a:gd name="connsiteY5" fmla="*/ 366712 h 1162050"/>
              <a:gd name="connsiteX6" fmla="*/ 2904344 w 2904344"/>
              <a:gd name="connsiteY6" fmla="*/ 1162050 h 1162050"/>
              <a:gd name="connsiteX7" fmla="*/ 0 w 2904344"/>
              <a:gd name="connsiteY7" fmla="*/ 1121469 h 1162050"/>
              <a:gd name="connsiteX0" fmla="*/ 0 w 2904344"/>
              <a:gd name="connsiteY0" fmla="*/ 1121469 h 1162050"/>
              <a:gd name="connsiteX1" fmla="*/ 899331 w 2904344"/>
              <a:gd name="connsiteY1" fmla="*/ 361950 h 1162050"/>
              <a:gd name="connsiteX2" fmla="*/ 613581 w 2904344"/>
              <a:gd name="connsiteY2" fmla="*/ 361950 h 1162050"/>
              <a:gd name="connsiteX3" fmla="*/ 1461306 w 2904344"/>
              <a:gd name="connsiteY3" fmla="*/ 0 h 1162050"/>
              <a:gd name="connsiteX4" fmla="*/ 2304269 w 2904344"/>
              <a:gd name="connsiteY4" fmla="*/ 361950 h 1162050"/>
              <a:gd name="connsiteX5" fmla="*/ 2004231 w 2904344"/>
              <a:gd name="connsiteY5" fmla="*/ 366712 h 1162050"/>
              <a:gd name="connsiteX6" fmla="*/ 2904344 w 2904344"/>
              <a:gd name="connsiteY6" fmla="*/ 1162050 h 1162050"/>
              <a:gd name="connsiteX7" fmla="*/ 0 w 2904344"/>
              <a:gd name="connsiteY7" fmla="*/ 1121469 h 1162050"/>
              <a:gd name="connsiteX0" fmla="*/ 0 w 2904344"/>
              <a:gd name="connsiteY0" fmla="*/ 1121469 h 1162050"/>
              <a:gd name="connsiteX1" fmla="*/ 899331 w 2904344"/>
              <a:gd name="connsiteY1" fmla="*/ 361950 h 1162050"/>
              <a:gd name="connsiteX2" fmla="*/ 613581 w 2904344"/>
              <a:gd name="connsiteY2" fmla="*/ 361950 h 1162050"/>
              <a:gd name="connsiteX3" fmla="*/ 1461306 w 2904344"/>
              <a:gd name="connsiteY3" fmla="*/ 0 h 1162050"/>
              <a:gd name="connsiteX4" fmla="*/ 2304269 w 2904344"/>
              <a:gd name="connsiteY4" fmla="*/ 361950 h 1162050"/>
              <a:gd name="connsiteX5" fmla="*/ 2004231 w 2904344"/>
              <a:gd name="connsiteY5" fmla="*/ 366712 h 1162050"/>
              <a:gd name="connsiteX6" fmla="*/ 2904344 w 2904344"/>
              <a:gd name="connsiteY6" fmla="*/ 1162050 h 1162050"/>
              <a:gd name="connsiteX7" fmla="*/ 0 w 2904344"/>
              <a:gd name="connsiteY7" fmla="*/ 1121469 h 1162050"/>
              <a:gd name="connsiteX0" fmla="*/ 0 w 2904344"/>
              <a:gd name="connsiteY0" fmla="*/ 1121469 h 1162050"/>
              <a:gd name="connsiteX1" fmla="*/ 899331 w 2904344"/>
              <a:gd name="connsiteY1" fmla="*/ 361950 h 1162050"/>
              <a:gd name="connsiteX2" fmla="*/ 613581 w 2904344"/>
              <a:gd name="connsiteY2" fmla="*/ 361950 h 1162050"/>
              <a:gd name="connsiteX3" fmla="*/ 1461306 w 2904344"/>
              <a:gd name="connsiteY3" fmla="*/ 0 h 1162050"/>
              <a:gd name="connsiteX4" fmla="*/ 2304269 w 2904344"/>
              <a:gd name="connsiteY4" fmla="*/ 361950 h 1162050"/>
              <a:gd name="connsiteX5" fmla="*/ 2004231 w 2904344"/>
              <a:gd name="connsiteY5" fmla="*/ 366712 h 1162050"/>
              <a:gd name="connsiteX6" fmla="*/ 2904344 w 2904344"/>
              <a:gd name="connsiteY6" fmla="*/ 1162050 h 1162050"/>
              <a:gd name="connsiteX7" fmla="*/ 0 w 2904344"/>
              <a:gd name="connsiteY7" fmla="*/ 1121469 h 1162050"/>
              <a:gd name="connsiteX0" fmla="*/ 0 w 2904344"/>
              <a:gd name="connsiteY0" fmla="*/ 1121469 h 1162050"/>
              <a:gd name="connsiteX1" fmla="*/ 899331 w 2904344"/>
              <a:gd name="connsiteY1" fmla="*/ 361950 h 1162050"/>
              <a:gd name="connsiteX2" fmla="*/ 613581 w 2904344"/>
              <a:gd name="connsiteY2" fmla="*/ 361950 h 1162050"/>
              <a:gd name="connsiteX3" fmla="*/ 1461306 w 2904344"/>
              <a:gd name="connsiteY3" fmla="*/ 0 h 1162050"/>
              <a:gd name="connsiteX4" fmla="*/ 2304269 w 2904344"/>
              <a:gd name="connsiteY4" fmla="*/ 361950 h 1162050"/>
              <a:gd name="connsiteX5" fmla="*/ 2004231 w 2904344"/>
              <a:gd name="connsiteY5" fmla="*/ 366712 h 1162050"/>
              <a:gd name="connsiteX6" fmla="*/ 2904344 w 2904344"/>
              <a:gd name="connsiteY6" fmla="*/ 1162050 h 1162050"/>
              <a:gd name="connsiteX7" fmla="*/ 0 w 2904344"/>
              <a:gd name="connsiteY7" fmla="*/ 1121469 h 1162050"/>
              <a:gd name="connsiteX0" fmla="*/ 0 w 2904344"/>
              <a:gd name="connsiteY0" fmla="*/ 1121469 h 1162050"/>
              <a:gd name="connsiteX1" fmla="*/ 899331 w 2904344"/>
              <a:gd name="connsiteY1" fmla="*/ 361950 h 1162050"/>
              <a:gd name="connsiteX2" fmla="*/ 613581 w 2904344"/>
              <a:gd name="connsiteY2" fmla="*/ 361950 h 1162050"/>
              <a:gd name="connsiteX3" fmla="*/ 1461306 w 2904344"/>
              <a:gd name="connsiteY3" fmla="*/ 0 h 1162050"/>
              <a:gd name="connsiteX4" fmla="*/ 2304269 w 2904344"/>
              <a:gd name="connsiteY4" fmla="*/ 361950 h 1162050"/>
              <a:gd name="connsiteX5" fmla="*/ 2004231 w 2904344"/>
              <a:gd name="connsiteY5" fmla="*/ 366712 h 1162050"/>
              <a:gd name="connsiteX6" fmla="*/ 2904344 w 2904344"/>
              <a:gd name="connsiteY6" fmla="*/ 1162050 h 1162050"/>
              <a:gd name="connsiteX7" fmla="*/ 0 w 2904344"/>
              <a:gd name="connsiteY7" fmla="*/ 1121469 h 1162050"/>
              <a:gd name="connsiteX0" fmla="*/ 0 w 2904344"/>
              <a:gd name="connsiteY0" fmla="*/ 1121469 h 1162050"/>
              <a:gd name="connsiteX1" fmla="*/ 899331 w 2904344"/>
              <a:gd name="connsiteY1" fmla="*/ 361950 h 1162050"/>
              <a:gd name="connsiteX2" fmla="*/ 613581 w 2904344"/>
              <a:gd name="connsiteY2" fmla="*/ 361950 h 1162050"/>
              <a:gd name="connsiteX3" fmla="*/ 1461306 w 2904344"/>
              <a:gd name="connsiteY3" fmla="*/ 0 h 1162050"/>
              <a:gd name="connsiteX4" fmla="*/ 2304269 w 2904344"/>
              <a:gd name="connsiteY4" fmla="*/ 361950 h 1162050"/>
              <a:gd name="connsiteX5" fmla="*/ 2004231 w 2904344"/>
              <a:gd name="connsiteY5" fmla="*/ 366712 h 1162050"/>
              <a:gd name="connsiteX6" fmla="*/ 2904344 w 2904344"/>
              <a:gd name="connsiteY6" fmla="*/ 1162050 h 1162050"/>
              <a:gd name="connsiteX7" fmla="*/ 0 w 2904344"/>
              <a:gd name="connsiteY7" fmla="*/ 1121469 h 1162050"/>
              <a:gd name="connsiteX0" fmla="*/ 0 w 2904344"/>
              <a:gd name="connsiteY0" fmla="*/ 1121469 h 1162050"/>
              <a:gd name="connsiteX1" fmla="*/ 899331 w 2904344"/>
              <a:gd name="connsiteY1" fmla="*/ 361950 h 1162050"/>
              <a:gd name="connsiteX2" fmla="*/ 613581 w 2904344"/>
              <a:gd name="connsiteY2" fmla="*/ 361950 h 1162050"/>
              <a:gd name="connsiteX3" fmla="*/ 1461306 w 2904344"/>
              <a:gd name="connsiteY3" fmla="*/ 0 h 1162050"/>
              <a:gd name="connsiteX4" fmla="*/ 2304269 w 2904344"/>
              <a:gd name="connsiteY4" fmla="*/ 361950 h 1162050"/>
              <a:gd name="connsiteX5" fmla="*/ 2004231 w 2904344"/>
              <a:gd name="connsiteY5" fmla="*/ 366712 h 1162050"/>
              <a:gd name="connsiteX6" fmla="*/ 2904344 w 2904344"/>
              <a:gd name="connsiteY6" fmla="*/ 1162050 h 1162050"/>
              <a:gd name="connsiteX7" fmla="*/ 0 w 2904344"/>
              <a:gd name="connsiteY7" fmla="*/ 1121469 h 1162050"/>
              <a:gd name="connsiteX0" fmla="*/ 0 w 2904344"/>
              <a:gd name="connsiteY0" fmla="*/ 1121469 h 1162050"/>
              <a:gd name="connsiteX1" fmla="*/ 899331 w 2904344"/>
              <a:gd name="connsiteY1" fmla="*/ 361950 h 1162050"/>
              <a:gd name="connsiteX2" fmla="*/ 613581 w 2904344"/>
              <a:gd name="connsiteY2" fmla="*/ 361950 h 1162050"/>
              <a:gd name="connsiteX3" fmla="*/ 1461306 w 2904344"/>
              <a:gd name="connsiteY3" fmla="*/ 0 h 1162050"/>
              <a:gd name="connsiteX4" fmla="*/ 2304269 w 2904344"/>
              <a:gd name="connsiteY4" fmla="*/ 361950 h 1162050"/>
              <a:gd name="connsiteX5" fmla="*/ 2004231 w 2904344"/>
              <a:gd name="connsiteY5" fmla="*/ 366712 h 1162050"/>
              <a:gd name="connsiteX6" fmla="*/ 2904344 w 2904344"/>
              <a:gd name="connsiteY6" fmla="*/ 1162050 h 1162050"/>
              <a:gd name="connsiteX7" fmla="*/ 0 w 2904344"/>
              <a:gd name="connsiteY7" fmla="*/ 1121469 h 1162050"/>
              <a:gd name="connsiteX0" fmla="*/ 0 w 2904344"/>
              <a:gd name="connsiteY0" fmla="*/ 1121469 h 1162050"/>
              <a:gd name="connsiteX1" fmla="*/ 899331 w 2904344"/>
              <a:gd name="connsiteY1" fmla="*/ 361950 h 1162050"/>
              <a:gd name="connsiteX2" fmla="*/ 613581 w 2904344"/>
              <a:gd name="connsiteY2" fmla="*/ 361950 h 1162050"/>
              <a:gd name="connsiteX3" fmla="*/ 1461306 w 2904344"/>
              <a:gd name="connsiteY3" fmla="*/ 0 h 1162050"/>
              <a:gd name="connsiteX4" fmla="*/ 2304269 w 2904344"/>
              <a:gd name="connsiteY4" fmla="*/ 361950 h 1162050"/>
              <a:gd name="connsiteX5" fmla="*/ 2004231 w 2904344"/>
              <a:gd name="connsiteY5" fmla="*/ 366712 h 1162050"/>
              <a:gd name="connsiteX6" fmla="*/ 2904344 w 2904344"/>
              <a:gd name="connsiteY6" fmla="*/ 1162050 h 1162050"/>
              <a:gd name="connsiteX7" fmla="*/ 0 w 2904344"/>
              <a:gd name="connsiteY7" fmla="*/ 1121469 h 1162050"/>
              <a:gd name="connsiteX0" fmla="*/ 0 w 2904344"/>
              <a:gd name="connsiteY0" fmla="*/ 1121469 h 1162050"/>
              <a:gd name="connsiteX1" fmla="*/ 899331 w 2904344"/>
              <a:gd name="connsiteY1" fmla="*/ 361950 h 1162050"/>
              <a:gd name="connsiteX2" fmla="*/ 613581 w 2904344"/>
              <a:gd name="connsiteY2" fmla="*/ 361950 h 1162050"/>
              <a:gd name="connsiteX3" fmla="*/ 1461306 w 2904344"/>
              <a:gd name="connsiteY3" fmla="*/ 0 h 1162050"/>
              <a:gd name="connsiteX4" fmla="*/ 2304269 w 2904344"/>
              <a:gd name="connsiteY4" fmla="*/ 361950 h 1162050"/>
              <a:gd name="connsiteX5" fmla="*/ 2004231 w 2904344"/>
              <a:gd name="connsiteY5" fmla="*/ 366712 h 1162050"/>
              <a:gd name="connsiteX6" fmla="*/ 2904344 w 2904344"/>
              <a:gd name="connsiteY6" fmla="*/ 1162050 h 1162050"/>
              <a:gd name="connsiteX7" fmla="*/ 0 w 2904344"/>
              <a:gd name="connsiteY7" fmla="*/ 1121469 h 1162050"/>
              <a:gd name="connsiteX0" fmla="*/ 0 w 2904344"/>
              <a:gd name="connsiteY0" fmla="*/ 1193477 h 1193477"/>
              <a:gd name="connsiteX1" fmla="*/ 899331 w 2904344"/>
              <a:gd name="connsiteY1" fmla="*/ 361950 h 1193477"/>
              <a:gd name="connsiteX2" fmla="*/ 613581 w 2904344"/>
              <a:gd name="connsiteY2" fmla="*/ 361950 h 1193477"/>
              <a:gd name="connsiteX3" fmla="*/ 1461306 w 2904344"/>
              <a:gd name="connsiteY3" fmla="*/ 0 h 1193477"/>
              <a:gd name="connsiteX4" fmla="*/ 2304269 w 2904344"/>
              <a:gd name="connsiteY4" fmla="*/ 361950 h 1193477"/>
              <a:gd name="connsiteX5" fmla="*/ 2004231 w 2904344"/>
              <a:gd name="connsiteY5" fmla="*/ 366712 h 1193477"/>
              <a:gd name="connsiteX6" fmla="*/ 2904344 w 2904344"/>
              <a:gd name="connsiteY6" fmla="*/ 1162050 h 1193477"/>
              <a:gd name="connsiteX7" fmla="*/ 0 w 2904344"/>
              <a:gd name="connsiteY7" fmla="*/ 1193477 h 1193477"/>
              <a:gd name="connsiteX0" fmla="*/ 0 w 2904344"/>
              <a:gd name="connsiteY0" fmla="*/ 1193477 h 1193477"/>
              <a:gd name="connsiteX1" fmla="*/ 899331 w 2904344"/>
              <a:gd name="connsiteY1" fmla="*/ 361950 h 1193477"/>
              <a:gd name="connsiteX2" fmla="*/ 613581 w 2904344"/>
              <a:gd name="connsiteY2" fmla="*/ 361950 h 1193477"/>
              <a:gd name="connsiteX3" fmla="*/ 1461306 w 2904344"/>
              <a:gd name="connsiteY3" fmla="*/ 0 h 1193477"/>
              <a:gd name="connsiteX4" fmla="*/ 2304269 w 2904344"/>
              <a:gd name="connsiteY4" fmla="*/ 361950 h 1193477"/>
              <a:gd name="connsiteX5" fmla="*/ 2004231 w 2904344"/>
              <a:gd name="connsiteY5" fmla="*/ 366712 h 1193477"/>
              <a:gd name="connsiteX6" fmla="*/ 2904344 w 2904344"/>
              <a:gd name="connsiteY6" fmla="*/ 1162050 h 1193477"/>
              <a:gd name="connsiteX7" fmla="*/ 0 w 2904344"/>
              <a:gd name="connsiteY7" fmla="*/ 1193477 h 1193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04344" h="1193477">
                <a:moveTo>
                  <a:pt x="0" y="1193477"/>
                </a:moveTo>
                <a:cubicBezTo>
                  <a:pt x="569479" y="906967"/>
                  <a:pt x="742380" y="688074"/>
                  <a:pt x="899331" y="361950"/>
                </a:cubicBezTo>
                <a:lnTo>
                  <a:pt x="613581" y="361950"/>
                </a:lnTo>
                <a:lnTo>
                  <a:pt x="1461306" y="0"/>
                </a:lnTo>
                <a:lnTo>
                  <a:pt x="2304269" y="361950"/>
                </a:lnTo>
                <a:lnTo>
                  <a:pt x="2004231" y="366712"/>
                </a:lnTo>
                <a:cubicBezTo>
                  <a:pt x="2128069" y="652587"/>
                  <a:pt x="2411537" y="956183"/>
                  <a:pt x="2904344" y="1162050"/>
                </a:cubicBezTo>
                <a:lnTo>
                  <a:pt x="0" y="1193477"/>
                </a:lnTo>
                <a:close/>
              </a:path>
            </a:pathLst>
          </a:custGeom>
          <a:gradFill>
            <a:gsLst>
              <a:gs pos="24000">
                <a:schemeClr val="bg1">
                  <a:lumMod val="7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 w="19050">
            <a:noFill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1800" b="0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27" name="직사각형 26"/>
          <p:cNvSpPr/>
          <p:nvPr/>
        </p:nvSpPr>
        <p:spPr bwMode="auto">
          <a:xfrm>
            <a:off x="6033120" y="4042505"/>
            <a:ext cx="1224136" cy="1008811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solidFill>
              <a:schemeClr val="tx1">
                <a:lumMod val="75000"/>
                <a:lumOff val="25000"/>
              </a:schemeClr>
            </a:solidFill>
            <a:miter lim="800000"/>
            <a:headEnd/>
            <a:tailEnd/>
          </a:ln>
        </p:spPr>
        <p:txBody>
          <a:bodyPr wrap="square" lIns="36000" tIns="72000" rIns="36000" bIns="7200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altLang="ko-KR" sz="1800" b="1" dirty="0" smtClean="0">
                <a:solidFill>
                  <a:schemeClr val="bg1"/>
                </a:solidFill>
                <a:latin typeface="+mn-ea"/>
                <a:ea typeface="+mn-ea"/>
              </a:rPr>
              <a:t>KEROL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altLang="ko-KR" sz="1800" b="1" dirty="0" smtClean="0">
                <a:solidFill>
                  <a:schemeClr val="bg1"/>
                </a:solidFill>
                <a:latin typeface="+mn-ea"/>
                <a:ea typeface="+mn-ea"/>
              </a:rPr>
              <a:t>Billing</a:t>
            </a:r>
            <a:endParaRPr lang="ko-KR" altLang="en-US" sz="1800" b="1" dirty="0" smtClean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274928" y="2888256"/>
            <a:ext cx="2108719" cy="887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</a:rPr>
              <a:t>User Defined Tariff </a:t>
            </a:r>
            <a:r>
              <a:rPr lang="ko-KR" altLang="en-US" sz="1200" b="1" dirty="0" smtClean="0">
                <a:latin typeface="맑은 고딕" pitchFamily="50" charset="-127"/>
                <a:ea typeface="맑은 고딕" pitchFamily="50" charset="-127"/>
              </a:rPr>
              <a:t>구조</a:t>
            </a:r>
            <a:endParaRPr lang="en-US" altLang="ko-KR" sz="1200" b="1" dirty="0" smtClean="0">
              <a:latin typeface="맑은 고딕" pitchFamily="50" charset="-127"/>
              <a:ea typeface="맑은 고딕" pitchFamily="50" charset="-127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</a:rPr>
              <a:t>Term Base </a:t>
            </a:r>
            <a:r>
              <a:rPr lang="ko-KR" altLang="en-US" sz="1200" b="1" dirty="0" smtClean="0">
                <a:latin typeface="맑은 고딕" pitchFamily="50" charset="-127"/>
                <a:ea typeface="맑은 고딕" pitchFamily="50" charset="-127"/>
              </a:rPr>
              <a:t>실적 관리</a:t>
            </a:r>
            <a:endParaRPr lang="en-US" altLang="ko-KR" sz="1200" b="1" dirty="0" smtClean="0">
              <a:latin typeface="맑은 고딕" pitchFamily="50" charset="-127"/>
              <a:ea typeface="맑은 고딕" pitchFamily="50" charset="-127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</a:rPr>
              <a:t>Auto-Rating Engine</a:t>
            </a:r>
          </a:p>
        </p:txBody>
      </p:sp>
      <p:sp>
        <p:nvSpPr>
          <p:cNvPr id="29" name="덧셈 기호 28"/>
          <p:cNvSpPr/>
          <p:nvPr/>
        </p:nvSpPr>
        <p:spPr bwMode="auto">
          <a:xfrm>
            <a:off x="3114660" y="3501008"/>
            <a:ext cx="561629" cy="421222"/>
          </a:xfrm>
          <a:prstGeom prst="mathPlus">
            <a:avLst/>
          </a:prstGeom>
          <a:solidFill>
            <a:schemeClr val="tx1">
              <a:lumMod val="95000"/>
              <a:lumOff val="5000"/>
            </a:schemeClr>
          </a:solidFill>
          <a:ln w="9525">
            <a:solidFill>
              <a:schemeClr val="tx1">
                <a:lumMod val="75000"/>
                <a:lumOff val="25000"/>
              </a:schemeClr>
            </a:solidFill>
            <a:miter lim="800000"/>
            <a:headEnd/>
            <a:tailEnd/>
          </a:ln>
        </p:spPr>
        <p:txBody>
          <a:bodyPr wrap="square" lIns="36000" tIns="72000" rIns="36000" bIns="7200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  <a:buNone/>
            </a:pPr>
            <a:endParaRPr lang="ko-KR" altLang="en-US" sz="1200" b="1" dirty="0" smtClean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274928" y="4103103"/>
            <a:ext cx="2387192" cy="887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</a:rPr>
              <a:t>AR/AP </a:t>
            </a:r>
            <a:r>
              <a:rPr lang="ko-KR" altLang="en-US" sz="1200" b="1" dirty="0" err="1" smtClean="0">
                <a:latin typeface="맑은 고딕" pitchFamily="50" charset="-127"/>
                <a:ea typeface="맑은 고딕" pitchFamily="50" charset="-127"/>
              </a:rPr>
              <a:t>웹포털</a:t>
            </a:r>
            <a:r>
              <a:rPr lang="ko-KR" altLang="en-US" sz="1200" b="1" dirty="0" smtClean="0">
                <a:latin typeface="맑은 고딕" pitchFamily="50" charset="-127"/>
                <a:ea typeface="맑은 고딕" pitchFamily="50" charset="-127"/>
              </a:rPr>
              <a:t> 승인 프로세스</a:t>
            </a:r>
            <a:endParaRPr lang="en-US" altLang="ko-KR" sz="1200" b="1" dirty="0" smtClean="0">
              <a:latin typeface="맑은 고딕" pitchFamily="50" charset="-127"/>
              <a:ea typeface="맑은 고딕" pitchFamily="50" charset="-127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</a:rPr>
              <a:t>AP </a:t>
            </a:r>
            <a:r>
              <a:rPr lang="ko-KR" altLang="en-US" sz="1200" b="1" dirty="0" err="1" smtClean="0">
                <a:latin typeface="맑은 고딕" pitchFamily="50" charset="-127"/>
                <a:ea typeface="맑은 고딕" pitchFamily="50" charset="-127"/>
              </a:rPr>
              <a:t>물류비</a:t>
            </a:r>
            <a:r>
              <a:rPr lang="ko-KR" altLang="en-US" sz="1200" b="1" dirty="0" smtClean="0">
                <a:latin typeface="맑은 고딕" pitchFamily="50" charset="-127"/>
                <a:ea typeface="맑은 고딕" pitchFamily="50" charset="-127"/>
              </a:rPr>
              <a:t> 및 실적 검증</a:t>
            </a:r>
            <a:endParaRPr lang="en-US" altLang="ko-KR" sz="1200" b="1" dirty="0" smtClean="0">
              <a:latin typeface="맑은 고딕" pitchFamily="50" charset="-127"/>
              <a:ea typeface="맑은 고딕" pitchFamily="50" charset="-127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 smtClean="0">
                <a:latin typeface="맑은 고딕" pitchFamily="50" charset="-127"/>
                <a:ea typeface="맑은 고딕" pitchFamily="50" charset="-127"/>
              </a:rPr>
              <a:t>통합 </a:t>
            </a:r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</a:rPr>
              <a:t>Invoice </a:t>
            </a:r>
            <a:r>
              <a:rPr lang="ko-KR" altLang="en-US" sz="1200" b="1" dirty="0" smtClean="0">
                <a:latin typeface="맑은 고딕" pitchFamily="50" charset="-127"/>
                <a:ea typeface="맑은 고딕" pitchFamily="50" charset="-127"/>
              </a:rPr>
              <a:t>생성</a:t>
            </a:r>
            <a:endParaRPr lang="en-US" altLang="ko-KR" sz="1200" b="1" dirty="0" smtClean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Text Box 35"/>
          <p:cNvSpPr txBox="1">
            <a:spLocks noChangeArrowheads="1"/>
          </p:cNvSpPr>
          <p:nvPr/>
        </p:nvSpPr>
        <p:spPr bwMode="auto">
          <a:xfrm>
            <a:off x="377825" y="669987"/>
            <a:ext cx="9145588" cy="626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9190" tIns="39594" rIns="79190" bIns="39594"/>
          <a:lstStyle/>
          <a:p>
            <a:pPr fontAlgn="auto" latinLnBrk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C0504D"/>
              </a:buClr>
              <a:buFontTx/>
              <a:buNone/>
              <a:defRPr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다양한 물류 비즈니스에 맞춘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Tariff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구성 및 정산 처리가 가능하며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물류비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 및 실적 검증이 동시에 되기 때문에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“</a:t>
            </a: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오청구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/</a:t>
            </a: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미청구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/</a:t>
            </a: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중복청구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”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는 방지되고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정산업무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 효율성과 투명성은 높아집니다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.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689575" y="116632"/>
            <a:ext cx="20229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114300" indent="-114300" algn="r">
              <a:buFont typeface="+mj-lt"/>
              <a:buAutoNum type="romanUcPeriod"/>
            </a:lvl1pPr>
          </a:lstStyle>
          <a:p>
            <a:pPr marL="0" indent="0">
              <a:buNone/>
              <a:defRPr/>
            </a:pPr>
            <a:r>
              <a:rPr lang="en-US" altLang="ko-KR" dirty="0">
                <a:latin typeface="Cambria" panose="02040503050406030204" pitchFamily="18" charset="0"/>
              </a:rPr>
              <a:t>Ⅲ. </a:t>
            </a:r>
            <a:r>
              <a:rPr lang="en-US" altLang="ko-KR" dirty="0" smtClean="0">
                <a:latin typeface="Cambria" panose="02040503050406030204" pitchFamily="18" charset="0"/>
              </a:rPr>
              <a:t>Contract &amp; </a:t>
            </a:r>
            <a:r>
              <a:rPr lang="en-US" altLang="ko-KR" dirty="0" smtClean="0">
                <a:solidFill>
                  <a:srgbClr val="000000"/>
                </a:solidFill>
                <a:latin typeface="Cambria" panose="02040503050406030204" pitchFamily="18" charset="0"/>
              </a:rPr>
              <a:t>Billing</a:t>
            </a:r>
            <a:endParaRPr lang="ko-KR" altLang="en-US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- </a:t>
            </a:r>
            <a:fld id="{EE975AF4-B1F3-41E4-B19A-4F6D78AFBDB1}" type="slidenum">
              <a:rPr lang="en-US" altLang="ko-KR" smtClean="0"/>
              <a:pPr>
                <a:defRPr/>
              </a:pPr>
              <a:t>10</a:t>
            </a:fld>
            <a:r>
              <a:rPr lang="en-US" altLang="ko-KR" smtClean="0"/>
              <a:t> -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197435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그룹 55"/>
          <p:cNvGrpSpPr/>
          <p:nvPr/>
        </p:nvGrpSpPr>
        <p:grpSpPr>
          <a:xfrm>
            <a:off x="5169024" y="1277136"/>
            <a:ext cx="4072612" cy="4888168"/>
            <a:chOff x="5529064" y="1049164"/>
            <a:chExt cx="4072612" cy="4888168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29064" y="1049164"/>
              <a:ext cx="3995927" cy="4888168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44" name="그림 4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41432" y="1754036"/>
              <a:ext cx="463028" cy="60334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47" name="그림 4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05328" y="1882102"/>
              <a:ext cx="451127" cy="587831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cxnSp>
          <p:nvCxnSpPr>
            <p:cNvPr id="49" name="직선 화살표 연결선 48"/>
            <p:cNvCxnSpPr/>
            <p:nvPr/>
          </p:nvCxnSpPr>
          <p:spPr>
            <a:xfrm flipV="1">
              <a:off x="6913085" y="2469933"/>
              <a:ext cx="1217806" cy="2627650"/>
            </a:xfrm>
            <a:prstGeom prst="straightConnector1">
              <a:avLst/>
            </a:prstGeom>
            <a:ln w="50800">
              <a:prstDash val="sysDash"/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38" name="그룹 37"/>
            <p:cNvGrpSpPr/>
            <p:nvPr/>
          </p:nvGrpSpPr>
          <p:grpSpPr>
            <a:xfrm>
              <a:off x="6681192" y="4559689"/>
              <a:ext cx="487419" cy="492822"/>
              <a:chOff x="-890263" y="4617352"/>
              <a:chExt cx="272588" cy="272756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39" name="그룹 38"/>
              <p:cNvGrpSpPr/>
              <p:nvPr/>
            </p:nvGrpSpPr>
            <p:grpSpPr>
              <a:xfrm>
                <a:off x="-890263" y="4617352"/>
                <a:ext cx="272588" cy="272756"/>
                <a:chOff x="-890263" y="4617352"/>
                <a:chExt cx="272588" cy="272756"/>
              </a:xfrm>
            </p:grpSpPr>
            <p:sp>
              <p:nvSpPr>
                <p:cNvPr id="41" name="모서리가 둥근 사각형 설명선 40"/>
                <p:cNvSpPr/>
                <p:nvPr/>
              </p:nvSpPr>
              <p:spPr>
                <a:xfrm>
                  <a:off x="-812971" y="4653136"/>
                  <a:ext cx="195296" cy="236972"/>
                </a:xfrm>
                <a:prstGeom prst="wedgeRoundRectCallout">
                  <a:avLst>
                    <a:gd name="adj1" fmla="val -20833"/>
                    <a:gd name="adj2" fmla="val 62501"/>
                    <a:gd name="adj3" fmla="val 16667"/>
                  </a:avLst>
                </a:prstGeom>
                <a:solidFill>
                  <a:srgbClr val="414A5F"/>
                </a:solidFill>
              </p:spPr>
              <p:txBody>
                <a:bodyPr rtlCol="0" anchor="ctr">
                  <a:spAutoFit/>
                </a:bodyPr>
                <a:lstStyle/>
                <a:p>
                  <a:pPr algn="ctr">
                    <a:buNone/>
                  </a:pPr>
                  <a:endParaRPr lang="ko-KR" altLang="en-US" sz="1200" dirty="0" smtClean="0"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  <p:sp>
              <p:nvSpPr>
                <p:cNvPr id="42" name="모서리가 둥근 직사각형 41"/>
                <p:cNvSpPr/>
                <p:nvPr/>
              </p:nvSpPr>
              <p:spPr>
                <a:xfrm>
                  <a:off x="-890263" y="4617352"/>
                  <a:ext cx="272588" cy="272756"/>
                </a:xfrm>
                <a:prstGeom prst="roundRect">
                  <a:avLst>
                    <a:gd name="adj" fmla="val 8979"/>
                  </a:avLst>
                </a:prstGeom>
                <a:solidFill>
                  <a:srgbClr val="414A5F"/>
                </a:solidFill>
              </p:spPr>
              <p:txBody>
                <a:bodyPr rtlCol="0" anchor="ctr">
                  <a:spAutoFit/>
                </a:bodyPr>
                <a:lstStyle/>
                <a:p>
                  <a:pPr algn="ctr">
                    <a:buNone/>
                  </a:pPr>
                  <a:endParaRPr lang="ko-KR" altLang="en-US" sz="1200" dirty="0" smtClean="0"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</p:grpSp>
          <p:pic>
            <p:nvPicPr>
              <p:cNvPr id="40" name="그림 39" descr="port.png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0" b="100000" l="0" r="100000">
                            <a14:foregroundMark x1="85714" y1="95763" x2="65839" y2="95763"/>
                            <a14:foregroundMark x1="51553" y1="31356" x2="86957" y2="31356"/>
                            <a14:foregroundMark x1="23602" y1="31356" x2="31056" y2="31356"/>
                            <a14:foregroundMark x1="21739" y1="23729" x2="88199" y2="23729"/>
                            <a14:foregroundMark x1="17391" y1="76271" x2="26708" y2="75424"/>
                            <a14:foregroundMark x1="22360" y1="66949" x2="23602" y2="69492"/>
                            <a14:foregroundMark x1="21739" y1="61017" x2="23602" y2="61017"/>
                            <a14:foregroundMark x1="60870" y1="4237" x2="60870" y2="80508"/>
                            <a14:foregroundMark x1="19255" y1="22034" x2="57143" y2="2542"/>
                            <a14:foregroundMark x1="41615" y1="33051" x2="44099" y2="32203"/>
                            <a14:foregroundMark x1="36646" y1="59322" x2="48447" y2="57627"/>
                            <a14:foregroundMark x1="50932" y1="50847" x2="42236" y2="44915"/>
                            <a14:foregroundMark x1="75776" y1="40678" x2="75155" y2="83051"/>
                            <a14:foregroundMark x1="76398" y1="61864" x2="89441" y2="79661"/>
                            <a14:backgroundMark x1="6211" y1="22881" x2="22360" y2="47458"/>
                            <a14:backgroundMark x1="51553" y1="41525" x2="55901" y2="43220"/>
                            <a14:backgroundMark x1="40994" y1="49153" x2="43478" y2="48305"/>
                            <a14:backgroundMark x1="44720" y1="44915" x2="51553" y2="50000"/>
                            <a14:backgroundMark x1="40994" y1="44915" x2="37267" y2="42373"/>
                            <a14:backgroundMark x1="53416" y1="13559" x2="42236" y2="17797"/>
                            <a14:backgroundMark x1="29193" y1="19492" x2="37267" y2="19492"/>
                            <a14:backgroundMark x1="24845" y1="20339" x2="39752" y2="14407"/>
                            <a14:backgroundMark x1="23602" y1="21186" x2="29193" y2="19492"/>
                            <a14:backgroundMark x1="22360" y1="63559" x2="22981" y2="63559"/>
                            <a14:backgroundMark x1="78882" y1="73729" x2="83230" y2="77119"/>
                          </a14:backgroundRemoval>
                        </a14:imgEffect>
                        <a14:imgEffect>
                          <a14:brightnessContrast bright="10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-876934" y="4668450"/>
                <a:ext cx="232713" cy="170560"/>
              </a:xfrm>
              <a:prstGeom prst="rect">
                <a:avLst/>
              </a:prstGeom>
            </p:spPr>
          </p:pic>
        </p:grpSp>
        <p:cxnSp>
          <p:nvCxnSpPr>
            <p:cNvPr id="51" name="직선 화살표 연결선 50"/>
            <p:cNvCxnSpPr>
              <a:stCxn id="47" idx="2"/>
              <a:endCxn id="44" idx="2"/>
            </p:cNvCxnSpPr>
            <p:nvPr/>
          </p:nvCxnSpPr>
          <p:spPr>
            <a:xfrm flipV="1">
              <a:off x="8130892" y="2357376"/>
              <a:ext cx="942054" cy="112557"/>
            </a:xfrm>
            <a:prstGeom prst="straightConnector1">
              <a:avLst/>
            </a:prstGeom>
            <a:ln w="50800">
              <a:prstDash val="sysDash"/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pic>
          <p:nvPicPr>
            <p:cNvPr id="53" name="그림 52"/>
            <p:cNvPicPr>
              <a:picLocks noChangeAspect="1"/>
            </p:cNvPicPr>
            <p:nvPr/>
          </p:nvPicPr>
          <p:blipFill>
            <a:blip r:embed="rId7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2332" y="2056067"/>
              <a:ext cx="232368" cy="302782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55" name="그림 54"/>
            <p:cNvPicPr>
              <a:picLocks noChangeAspect="1"/>
            </p:cNvPicPr>
            <p:nvPr/>
          </p:nvPicPr>
          <p:blipFill>
            <a:blip r:embed="rId8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04306" y="3186564"/>
              <a:ext cx="235363" cy="306684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65" name="TextBox 64"/>
            <p:cNvSpPr txBox="1"/>
            <p:nvPr/>
          </p:nvSpPr>
          <p:spPr>
            <a:xfrm>
              <a:off x="6525051" y="4197537"/>
              <a:ext cx="799700" cy="371998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68000"/>
              </a:schemeClr>
            </a:solidFill>
            <a:effectLst>
              <a:softEdge rad="63500"/>
            </a:effectLst>
          </p:spPr>
          <p:txBody>
            <a:bodyPr wrap="square" lIns="144000" tIns="108000" rIns="144000" bIns="108000" rtlCol="0">
              <a:sp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altLang="ko-KR" sz="1000" b="1" dirty="0" smtClean="0"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latin typeface="맑은 고딕" pitchFamily="50" charset="-127"/>
                  <a:ea typeface="맑은 고딕" pitchFamily="50" charset="-127"/>
                </a:rPr>
                <a:t>Koper</a:t>
              </a:r>
              <a:endParaRPr lang="ko-KR" altLang="en-US" sz="1000" b="1" dirty="0" smtClean="0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7619490" y="1568398"/>
              <a:ext cx="1057461" cy="371998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68000"/>
              </a:schemeClr>
            </a:solidFill>
            <a:effectLst>
              <a:softEdge rad="63500"/>
            </a:effectLst>
          </p:spPr>
          <p:txBody>
            <a:bodyPr wrap="square" lIns="144000" tIns="108000" rIns="144000" bIns="108000" rtlCol="0">
              <a:sp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altLang="ko-KR" sz="1000" b="1" dirty="0" smtClean="0"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latin typeface="맑은 고딕" pitchFamily="50" charset="-127"/>
                  <a:ea typeface="맑은 고딕" pitchFamily="50" charset="-127"/>
                </a:rPr>
                <a:t>Rail Station</a:t>
              </a:r>
              <a:endParaRPr lang="ko-KR" altLang="en-US" sz="1000" b="1" dirty="0" smtClean="0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8544215" y="1434059"/>
              <a:ext cx="1057461" cy="371998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68000"/>
              </a:schemeClr>
            </a:solidFill>
            <a:effectLst>
              <a:softEdge rad="63500"/>
            </a:effectLst>
          </p:spPr>
          <p:txBody>
            <a:bodyPr wrap="square" lIns="144000" tIns="108000" rIns="144000" bIns="108000" rtlCol="0">
              <a:sp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altLang="ko-KR" sz="1000" b="1" dirty="0" err="1"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latin typeface="맑은 고딕" pitchFamily="50" charset="-127"/>
                  <a:ea typeface="맑은 고딕" pitchFamily="50" charset="-127"/>
                </a:rPr>
                <a:t>Nošovice</a:t>
              </a:r>
              <a:endParaRPr lang="ko-KR" altLang="en-US" sz="1000" b="1" dirty="0" smtClean="0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52" name="그룹 51"/>
          <p:cNvGrpSpPr/>
          <p:nvPr/>
        </p:nvGrpSpPr>
        <p:grpSpPr>
          <a:xfrm>
            <a:off x="776536" y="1277136"/>
            <a:ext cx="3648377" cy="4888168"/>
            <a:chOff x="427728" y="1049164"/>
            <a:chExt cx="3648377" cy="4888168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 rotWithShape="1">
            <a:blip r:embed="rId9"/>
            <a:srcRect l="37478" t="29535" r="7583" b="20379"/>
            <a:stretch/>
          </p:blipFill>
          <p:spPr>
            <a:xfrm>
              <a:off x="427728" y="1049164"/>
              <a:ext cx="3648377" cy="4888168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87" name="TextBox 86"/>
            <p:cNvSpPr txBox="1"/>
            <p:nvPr/>
          </p:nvSpPr>
          <p:spPr>
            <a:xfrm>
              <a:off x="3003087" y="2604081"/>
              <a:ext cx="745090" cy="371998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68000"/>
              </a:schemeClr>
            </a:solidFill>
            <a:effectLst>
              <a:softEdge rad="63500"/>
            </a:effectLst>
          </p:spPr>
          <p:txBody>
            <a:bodyPr wrap="square" lIns="144000" tIns="108000" rIns="144000" bIns="108000" rtlCol="0">
              <a:sp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ko-KR" altLang="en-US" sz="1000" b="1" dirty="0" smtClean="0"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latin typeface="맑은 고딕" pitchFamily="50" charset="-127"/>
                  <a:ea typeface="맑은 고딕" pitchFamily="50" charset="-127"/>
                </a:rPr>
                <a:t>울산</a:t>
              </a:r>
            </a:p>
          </p:txBody>
        </p:sp>
        <p:pic>
          <p:nvPicPr>
            <p:cNvPr id="23" name="그림 22"/>
            <p:cNvPicPr>
              <a:picLocks noChangeAspect="1"/>
            </p:cNvPicPr>
            <p:nvPr/>
          </p:nvPicPr>
          <p:blipFill>
            <a:blip r:embed="rId7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55592" y="3577036"/>
              <a:ext cx="232368" cy="302782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6" name="그림 2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44118" y="2966880"/>
              <a:ext cx="463028" cy="60334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cxnSp>
          <p:nvCxnSpPr>
            <p:cNvPr id="34" name="직선 화살표 연결선 33"/>
            <p:cNvCxnSpPr>
              <a:stCxn id="26" idx="2"/>
            </p:cNvCxnSpPr>
            <p:nvPr/>
          </p:nvCxnSpPr>
          <p:spPr>
            <a:xfrm flipH="1">
              <a:off x="2851550" y="3570220"/>
              <a:ext cx="524082" cy="882646"/>
            </a:xfrm>
            <a:prstGeom prst="straightConnector1">
              <a:avLst/>
            </a:prstGeom>
            <a:ln w="50800">
              <a:prstDash val="sysDash"/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9" name="그룹 8"/>
            <p:cNvGrpSpPr/>
            <p:nvPr/>
          </p:nvGrpSpPr>
          <p:grpSpPr>
            <a:xfrm>
              <a:off x="2479848" y="3895389"/>
              <a:ext cx="487419" cy="492822"/>
              <a:chOff x="-890263" y="4617352"/>
              <a:chExt cx="272588" cy="272756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8" name="그룹 7"/>
              <p:cNvGrpSpPr/>
              <p:nvPr/>
            </p:nvGrpSpPr>
            <p:grpSpPr>
              <a:xfrm>
                <a:off x="-890263" y="4617352"/>
                <a:ext cx="272588" cy="272756"/>
                <a:chOff x="-890263" y="4617352"/>
                <a:chExt cx="272588" cy="272756"/>
              </a:xfrm>
            </p:grpSpPr>
            <p:sp>
              <p:nvSpPr>
                <p:cNvPr id="6" name="모서리가 둥근 사각형 설명선 5"/>
                <p:cNvSpPr/>
                <p:nvPr/>
              </p:nvSpPr>
              <p:spPr>
                <a:xfrm>
                  <a:off x="-812971" y="4653136"/>
                  <a:ext cx="195296" cy="236972"/>
                </a:xfrm>
                <a:prstGeom prst="wedgeRoundRectCallout">
                  <a:avLst>
                    <a:gd name="adj1" fmla="val -20833"/>
                    <a:gd name="adj2" fmla="val 62501"/>
                    <a:gd name="adj3" fmla="val 16667"/>
                  </a:avLst>
                </a:prstGeom>
                <a:solidFill>
                  <a:srgbClr val="414A5F"/>
                </a:solidFill>
              </p:spPr>
              <p:txBody>
                <a:bodyPr rtlCol="0" anchor="ctr">
                  <a:spAutoFit/>
                </a:bodyPr>
                <a:lstStyle/>
                <a:p>
                  <a:pPr algn="ctr">
                    <a:buNone/>
                  </a:pPr>
                  <a:endParaRPr lang="ko-KR" altLang="en-US" sz="1200" dirty="0" smtClean="0"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  <p:sp>
              <p:nvSpPr>
                <p:cNvPr id="7" name="모서리가 둥근 직사각형 6"/>
                <p:cNvSpPr/>
                <p:nvPr/>
              </p:nvSpPr>
              <p:spPr>
                <a:xfrm>
                  <a:off x="-890263" y="4617352"/>
                  <a:ext cx="272588" cy="272756"/>
                </a:xfrm>
                <a:prstGeom prst="roundRect">
                  <a:avLst>
                    <a:gd name="adj" fmla="val 8979"/>
                  </a:avLst>
                </a:prstGeom>
                <a:solidFill>
                  <a:srgbClr val="414A5F"/>
                </a:solidFill>
              </p:spPr>
              <p:txBody>
                <a:bodyPr rtlCol="0" anchor="ctr">
                  <a:spAutoFit/>
                </a:bodyPr>
                <a:lstStyle/>
                <a:p>
                  <a:pPr algn="ctr">
                    <a:buNone/>
                  </a:pPr>
                  <a:endParaRPr lang="ko-KR" altLang="en-US" sz="1200" dirty="0" smtClean="0"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</p:grpSp>
          <p:pic>
            <p:nvPicPr>
              <p:cNvPr id="27" name="그림 26" descr="port.png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0" b="100000" l="0" r="100000">
                            <a14:foregroundMark x1="85714" y1="95763" x2="65839" y2="95763"/>
                            <a14:foregroundMark x1="51553" y1="31356" x2="86957" y2="31356"/>
                            <a14:foregroundMark x1="23602" y1="31356" x2="31056" y2="31356"/>
                            <a14:foregroundMark x1="21739" y1="23729" x2="88199" y2="23729"/>
                            <a14:foregroundMark x1="17391" y1="76271" x2="26708" y2="75424"/>
                            <a14:foregroundMark x1="22360" y1="66949" x2="23602" y2="69492"/>
                            <a14:foregroundMark x1="21739" y1="61017" x2="23602" y2="61017"/>
                            <a14:foregroundMark x1="60870" y1="4237" x2="60870" y2="80508"/>
                            <a14:foregroundMark x1="19255" y1="22034" x2="57143" y2="2542"/>
                            <a14:foregroundMark x1="41615" y1="33051" x2="44099" y2="32203"/>
                            <a14:foregroundMark x1="36646" y1="59322" x2="48447" y2="57627"/>
                            <a14:foregroundMark x1="50932" y1="50847" x2="42236" y2="44915"/>
                            <a14:foregroundMark x1="75776" y1="40678" x2="75155" y2="83051"/>
                            <a14:foregroundMark x1="76398" y1="61864" x2="89441" y2="79661"/>
                            <a14:backgroundMark x1="6211" y1="22881" x2="22360" y2="47458"/>
                            <a14:backgroundMark x1="51553" y1="41525" x2="55901" y2="43220"/>
                            <a14:backgroundMark x1="40994" y1="49153" x2="43478" y2="48305"/>
                            <a14:backgroundMark x1="44720" y1="44915" x2="51553" y2="50000"/>
                            <a14:backgroundMark x1="40994" y1="44915" x2="37267" y2="42373"/>
                            <a14:backgroundMark x1="53416" y1="13559" x2="42236" y2="17797"/>
                            <a14:backgroundMark x1="29193" y1="19492" x2="37267" y2="19492"/>
                            <a14:backgroundMark x1="24845" y1="20339" x2="39752" y2="14407"/>
                            <a14:backgroundMark x1="23602" y1="21186" x2="29193" y2="19492"/>
                            <a14:backgroundMark x1="22360" y1="63559" x2="22981" y2="63559"/>
                            <a14:backgroundMark x1="78882" y1="73729" x2="83230" y2="77119"/>
                          </a14:backgroundRemoval>
                        </a14:imgEffect>
                        <a14:imgEffect>
                          <a14:brightnessContrast bright="10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-876934" y="4668450"/>
                <a:ext cx="232713" cy="170560"/>
              </a:xfrm>
              <a:prstGeom prst="rect">
                <a:avLst/>
              </a:prstGeom>
            </p:spPr>
          </p:pic>
        </p:grpSp>
        <p:sp>
          <p:nvSpPr>
            <p:cNvPr id="64" name="TextBox 63"/>
            <p:cNvSpPr txBox="1"/>
            <p:nvPr/>
          </p:nvSpPr>
          <p:spPr>
            <a:xfrm>
              <a:off x="2389596" y="3533237"/>
              <a:ext cx="691196" cy="371998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68000"/>
              </a:schemeClr>
            </a:solidFill>
            <a:effectLst>
              <a:softEdge rad="63500"/>
            </a:effectLst>
          </p:spPr>
          <p:txBody>
            <a:bodyPr wrap="square" lIns="144000" tIns="108000" rIns="144000" bIns="108000" rtlCol="0">
              <a:sp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ko-KR" altLang="en-US" sz="1000" b="1" dirty="0" smtClean="0"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latin typeface="맑은 고딕" pitchFamily="50" charset="-127"/>
                  <a:ea typeface="맑은 고딕" pitchFamily="50" charset="-127"/>
                </a:rPr>
                <a:t>부산</a:t>
              </a:r>
            </a:p>
          </p:txBody>
        </p:sp>
      </p:grpSp>
      <p:sp>
        <p:nvSpPr>
          <p:cNvPr id="2" name="Text Box 6"/>
          <p:cNvSpPr txBox="1">
            <a:spLocks noChangeArrowheads="1"/>
          </p:cNvSpPr>
          <p:nvPr/>
        </p:nvSpPr>
        <p:spPr bwMode="auto">
          <a:xfrm>
            <a:off x="344488" y="142875"/>
            <a:ext cx="557299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ko-KR"/>
            </a:defPPr>
            <a:lvl1pPr eaLnBrk="0" latin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0" b="1">
                <a:latin typeface="+mn-lt"/>
                <a:ea typeface="맑은 고딕" pitchFamily="50" charset="-127"/>
              </a:defRPr>
            </a:lvl1pPr>
            <a:lvl2pPr marL="742950" indent="-285750" eaLnBrk="0" hangingPunct="0"/>
            <a:lvl3pPr marL="1143000" indent="-228600" eaLnBrk="0" hangingPunct="0"/>
            <a:lvl4pPr marL="1600200" indent="-228600" eaLnBrk="0" hangingPunct="0"/>
            <a:lvl5pPr marL="2057400" indent="-228600" eaLnBrk="0" hangingPunct="0"/>
            <a:lvl6pPr marL="2514600" indent="-2286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</a:lvl6pPr>
            <a:lvl7pPr marL="2971800" indent="-2286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</a:lvl7pPr>
            <a:lvl8pPr marL="3429000" indent="-2286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</a:lvl8pPr>
            <a:lvl9pPr marL="3886200" indent="-2286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</a:lvl9pPr>
          </a:lstStyle>
          <a:p>
            <a:r>
              <a:rPr lang="en-US" altLang="ko-KR" sz="1800" dirty="0" smtClean="0">
                <a:sym typeface="Wingdings" pitchFamily="2" charset="2"/>
              </a:rPr>
              <a:t>Demo </a:t>
            </a:r>
            <a:r>
              <a:rPr lang="en-US" altLang="ko-KR" sz="1800" dirty="0">
                <a:sym typeface="Wingdings" pitchFamily="2" charset="2"/>
              </a:rPr>
              <a:t>Scenario</a:t>
            </a:r>
            <a:endParaRPr lang="ko-KR" altLang="en-US" sz="1800" dirty="0">
              <a:sym typeface="Wingdings" pitchFamily="2" charset="2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846806" y="620688"/>
            <a:ext cx="13943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buNone/>
            </a:pPr>
            <a:r>
              <a:rPr lang="en-US" altLang="ko-KR" b="1" u="sng" dirty="0" smtClean="0">
                <a:latin typeface="+mn-lt"/>
                <a:ea typeface="맑은 고딕" pitchFamily="50" charset="-127"/>
              </a:rPr>
              <a:t>Overall Flow</a:t>
            </a:r>
            <a:endParaRPr lang="ko-KR" altLang="en-US" b="1" u="sng" dirty="0" smtClean="0">
              <a:latin typeface="+mn-lt"/>
              <a:ea typeface="맑은 고딕" pitchFamily="50" charset="-127"/>
            </a:endParaRPr>
          </a:p>
        </p:txBody>
      </p:sp>
      <p:cxnSp>
        <p:nvCxnSpPr>
          <p:cNvPr id="31" name="구부러진 연결선 30"/>
          <p:cNvCxnSpPr/>
          <p:nvPr/>
        </p:nvCxnSpPr>
        <p:spPr>
          <a:xfrm>
            <a:off x="3080792" y="4787661"/>
            <a:ext cx="3395568" cy="597503"/>
          </a:xfrm>
          <a:prstGeom prst="curvedConnector3">
            <a:avLst>
              <a:gd name="adj1" fmla="val 50000"/>
            </a:avLst>
          </a:prstGeom>
          <a:ln w="50800">
            <a:solidFill>
              <a:schemeClr val="accent2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926499" y="116632"/>
            <a:ext cx="17860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114300" indent="-114300" algn="r">
              <a:buFont typeface="+mj-lt"/>
              <a:buAutoNum type="romanUcPeriod"/>
            </a:lvl1pPr>
          </a:lstStyle>
          <a:p>
            <a:pPr marL="0" indent="0">
              <a:buNone/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Ⅳ</a:t>
            </a:r>
            <a:r>
              <a:rPr lang="en-US" altLang="ko-KR" dirty="0" smtClean="0">
                <a:latin typeface="Cambria" panose="02040503050406030204" pitchFamily="18" charset="0"/>
              </a:rPr>
              <a:t>. Demo Scenario</a:t>
            </a:r>
            <a:endParaRPr lang="ko-KR" altLang="en-US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- </a:t>
            </a:r>
            <a:fld id="{EE975AF4-B1F3-41E4-B19A-4F6D78AFBDB1}" type="slidenum">
              <a:rPr lang="en-US" altLang="ko-KR" smtClean="0"/>
              <a:pPr>
                <a:defRPr/>
              </a:pPr>
              <a:t>11</a:t>
            </a:fld>
            <a:r>
              <a:rPr lang="en-US" altLang="ko-KR" smtClean="0"/>
              <a:t> -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98579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505075" y="2708275"/>
            <a:ext cx="4884738" cy="12128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kumimoji="0" lang="en-US" altLang="ko-KR" sz="3600" b="1" i="1" dirty="0" smtClean="0">
                <a:solidFill>
                  <a:srgbClr val="000000"/>
                </a:solidFill>
              </a:rPr>
              <a:t>End of Document</a:t>
            </a:r>
            <a:endParaRPr kumimoji="0" lang="ko-KR" altLang="en-US" sz="3600" b="1" i="1" dirty="0">
              <a:solidFill>
                <a:srgbClr val="000000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65C109-FD67-48EA-8F2E-935CEC762BEE}" type="slidenum">
              <a:rPr lang="ko-KR" altLang="en-US" smtClean="0"/>
              <a:pPr>
                <a:defRPr/>
              </a:pPr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1741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JPju9BgQkCzeC5VGz7ROw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_9KmTr3F0O5v6Kso2u8BQ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_9KmTr3F0O5v6Kso2u8B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_9KmTr3F0O5v6Kso2u8B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_9KmTr3F0O5v6Kso2u8BQ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_9KmTr3F0O5v6Kso2u8BQ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_9KmTr3F0O5v6Kso2u8B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_9KmTr3F0O5v6Kso2u8B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_9KmTr3F0O5v6Kso2u8B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_9KmTr3F0O5v6Kso2u8BQ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_9KmTr3F0O5v6Kso2u8BQ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_9KmTr3F0O5v6Kso2u8BQ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_9KmTr3F0O5v6Kso2u8BQ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_9KmTr3F0O5v6Kso2u8BQ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_9KmTr3F0O5v6Kso2u8BQ"/>
</p:tagLst>
</file>

<file path=ppt/theme/theme1.xml><?xml version="1.0" encoding="utf-8"?>
<a:theme xmlns:a="http://schemas.openxmlformats.org/drawingml/2006/main" name="슬라이드마스터">
  <a:themeElements>
    <a:clrScheme name="">
      <a:dk1>
        <a:srgbClr val="666666"/>
      </a:dk1>
      <a:lt1>
        <a:srgbClr val="FFFFFF"/>
      </a:lt1>
      <a:dk2>
        <a:srgbClr val="73459E"/>
      </a:dk2>
      <a:lt2>
        <a:srgbClr val="999999"/>
      </a:lt2>
      <a:accent1>
        <a:srgbClr val="386FB1"/>
      </a:accent1>
      <a:accent2>
        <a:srgbClr val="CB5B07"/>
      </a:accent2>
      <a:accent3>
        <a:srgbClr val="FFFFFF"/>
      </a:accent3>
      <a:accent4>
        <a:srgbClr val="565656"/>
      </a:accent4>
      <a:accent5>
        <a:srgbClr val="AEBBD5"/>
      </a:accent5>
      <a:accent6>
        <a:srgbClr val="B85206"/>
      </a:accent6>
      <a:hlink>
        <a:srgbClr val="E5BE41"/>
      </a:hlink>
      <a:folHlink>
        <a:srgbClr val="4E805A"/>
      </a:folHlink>
    </a:clrScheme>
    <a:fontScheme name="사용자 지정 1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762000" marR="0" indent="-304800" algn="l" defTabSz="914400" rtl="0" eaLnBrk="1" fontAlgn="base" latinLnBrk="1" hangingPunct="1">
          <a:lnSpc>
            <a:spcPct val="150000"/>
          </a:lnSpc>
          <a:spcBef>
            <a:spcPct val="25000"/>
          </a:spcBef>
          <a:spcAft>
            <a:spcPct val="0"/>
          </a:spcAft>
          <a:buClr>
            <a:srgbClr val="333333"/>
          </a:buClr>
          <a:buSzTx/>
          <a:buFontTx/>
          <a:buChar char="–"/>
          <a:tabLst/>
          <a:defRPr kumimoji="1" lang="ko-KR" altLang="en-US" sz="16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ea typeface="돋움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762000" marR="0" indent="-304800" algn="l" defTabSz="914400" rtl="0" eaLnBrk="1" fontAlgn="base" latinLnBrk="1" hangingPunct="1">
          <a:lnSpc>
            <a:spcPct val="150000"/>
          </a:lnSpc>
          <a:spcBef>
            <a:spcPct val="25000"/>
          </a:spcBef>
          <a:spcAft>
            <a:spcPct val="0"/>
          </a:spcAft>
          <a:buClr>
            <a:srgbClr val="333333"/>
          </a:buClr>
          <a:buSzTx/>
          <a:buFontTx/>
          <a:buChar char="–"/>
          <a:tabLst/>
          <a:defRPr kumimoji="1" lang="ko-KR" altLang="en-US" sz="16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ea typeface="돋움" pitchFamily="50" charset="-127"/>
          </a:defRPr>
        </a:defPPr>
      </a:lstStyle>
    </a:lnDef>
  </a:objectDefaults>
  <a:extraClrSchemeLst>
    <a:extraClrScheme>
      <a:clrScheme name="1_Samsung SDS 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amsung SDS 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amsung SDS 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amsung SDS 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amsung SDS 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amsung SDS 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amsung SDS 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spAutoFit/>
      </a:bodyPr>
      <a:lstStyle>
        <a:defPPr>
          <a:buNone/>
          <a:defRPr sz="1200" dirty="0" smtClean="0">
            <a:latin typeface="맑은 고딕" pitchFamily="50" charset="-127"/>
            <a:ea typeface="맑은 고딕" pitchFamily="50" charset="-127"/>
          </a:defRPr>
        </a:defPPr>
      </a:lstStyle>
    </a:spDef>
    <a:txDef>
      <a:spPr>
        <a:noFill/>
      </a:spPr>
      <a:bodyPr wrap="none" rtlCol="0">
        <a:spAutoFit/>
      </a:bodyPr>
      <a:lstStyle>
        <a:defPPr>
          <a:buNone/>
          <a:defRPr sz="120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4_Office 테마">
  <a:themeElements>
    <a:clrScheme name="회색조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팀">
      <a:majorFont>
        <a:latin typeface="Cambria"/>
        <a:ea typeface="맑은 고딕"/>
        <a:cs typeface=""/>
      </a:majorFont>
      <a:minorFont>
        <a:latin typeface="Cambria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C000"/>
        </a:solidFill>
        <a:ln>
          <a:noFill/>
        </a:ln>
      </a:spPr>
      <a:bodyPr rtlCol="0" anchor="ctr"/>
      <a:lstStyle>
        <a:defPPr algn="ctr"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marL="285750" indent="-285750">
          <a:buFontTx/>
          <a:buChar char="-"/>
          <a:defRPr dirty="0" smtClean="0">
            <a:latin typeface="+mn-lt"/>
            <a:ea typeface="+mn-ea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1_디자인 사용자 지정">
  <a:themeElements>
    <a:clrScheme name="1_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>
            <a:lumMod val="95000"/>
          </a:schemeClr>
        </a:solidFill>
        <a:ln w="9525" cap="flat" cmpd="sng" algn="ctr">
          <a:solidFill>
            <a:schemeClr val="bg2"/>
          </a:solidFill>
          <a:prstDash val="solid"/>
          <a:round/>
          <a:headEnd type="none" w="med" len="med"/>
          <a:tailEnd type="arrow" w="med" len="med"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marR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tabLst/>
          <a:defRPr sz="1200" b="0" smtClean="0"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bg2"/>
          </a:solidFill>
          <a:prstDash val="solid"/>
          <a:round/>
          <a:headEnd type="none" w="med" len="med"/>
          <a:tailEnd type="arrow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88900" marR="0" indent="-8890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Wingdings" pitchFamily="2" charset="2"/>
          <a:buChar char="§"/>
          <a:tabLst/>
          <a:defRPr kumimoji="1" lang="ko-KR" altLang="en-US" sz="1200" b="1" i="0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lnDef>
    <a:txDef>
      <a:spPr>
        <a:noFill/>
      </a:spPr>
      <a:bodyPr wrap="none" lIns="36000" tIns="36000" rIns="36000" bIns="36000" rtlCol="0">
        <a:spAutoFit/>
      </a:bodyPr>
      <a:lstStyle>
        <a:defPPr fontAlgn="auto">
          <a:spcBef>
            <a:spcPts val="0"/>
          </a:spcBef>
          <a:spcAft>
            <a:spcPts val="0"/>
          </a:spcAft>
          <a:defRPr kumimoji="0" sz="1800" dirty="0" smtClean="0">
            <a:solidFill>
              <a:prstClr val="black"/>
            </a:solidFill>
            <a:latin typeface="맑은 고딕"/>
            <a:ea typeface="맑은 고딕"/>
          </a:defRPr>
        </a:defPPr>
      </a:lstStyle>
    </a:txDef>
  </a:objectDefaults>
  <a:extraClrSchemeLst>
    <a:extraClrScheme>
      <a:clrScheme name="1_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Unknown Document Type" ma:contentTypeID="0x010104" ma:contentTypeVersion="0" ma:contentTypeDescription="" ma:contentTypeScope="" ma:versionID="279c20c3caf3300dae6b438536eb8c56">
  <xsd:schema xmlns:xsd="http://www.w3.org/2001/XMLSchema" xmlns:p="http://schemas.microsoft.com/office/2006/metadata/properties" targetNamespace="http://schemas.microsoft.com/office/2006/metadata/properties" ma:root="true" ma:fieldsID="0d2e1ca116041f9e11471c52c4c9d60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08FF5D6-5BF8-4266-ABC0-90978E280EE4}">
  <ds:schemaRefs>
    <ds:schemaRef ds:uri="http://purl.org/dc/terms/"/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E77AA51B-82C7-4C79-9DA1-431FDB706B1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3.xml><?xml version="1.0" encoding="utf-8"?>
<ds:datastoreItem xmlns:ds="http://schemas.openxmlformats.org/officeDocument/2006/customXml" ds:itemID="{0E268F21-A2F3-4958-B61D-0B314212061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12197</TotalTime>
  <Words>1280</Words>
  <Application>Microsoft Office PowerPoint</Application>
  <PresentationFormat>A4 용지(210x297mm)</PresentationFormat>
  <Paragraphs>314</Paragraphs>
  <Slides>13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16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13</vt:i4>
      </vt:variant>
    </vt:vector>
  </HeadingPairs>
  <TitlesOfParts>
    <vt:vector size="33" baseType="lpstr">
      <vt:lpstr>-2002</vt:lpstr>
      <vt:lpstr>HY그래픽M</vt:lpstr>
      <vt:lpstr>Monotype Sorts</vt:lpstr>
      <vt:lpstr>굴림</vt:lpstr>
      <vt:lpstr>나눔고딕OTF Bold</vt:lpstr>
      <vt:lpstr>돋움</vt:lpstr>
      <vt:lpstr>맑은 고딕</vt:lpstr>
      <vt:lpstr>산돌고딕 L</vt:lpstr>
      <vt:lpstr>Arial</vt:lpstr>
      <vt:lpstr>Calibri</vt:lpstr>
      <vt:lpstr>Cambria</vt:lpstr>
      <vt:lpstr>Palatino Linotype</vt:lpstr>
      <vt:lpstr>Tahoma</vt:lpstr>
      <vt:lpstr>Times New Roman</vt:lpstr>
      <vt:lpstr>Trebuchet MS</vt:lpstr>
      <vt:lpstr>Wingdings</vt:lpstr>
      <vt:lpstr>슬라이드마스터</vt:lpstr>
      <vt:lpstr>Office 테마</vt:lpstr>
      <vt:lpstr>4_Office 테마</vt:lpstr>
      <vt:lpstr>1_디자인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Samsung SDS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Samsung SDS 전략 마케팅팀</dc:creator>
  <cp:lastModifiedBy>손종현</cp:lastModifiedBy>
  <cp:revision>831</cp:revision>
  <cp:lastPrinted>2017-02-02T12:08:22Z</cp:lastPrinted>
  <dcterms:created xsi:type="dcterms:W3CDTF">2004-03-25T12:42:29Z</dcterms:created>
  <dcterms:modified xsi:type="dcterms:W3CDTF">2017-10-17T07:44:02Z</dcterms:modified>
</cp:coreProperties>
</file>