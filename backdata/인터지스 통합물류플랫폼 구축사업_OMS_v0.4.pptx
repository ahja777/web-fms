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  <p:sldMasterId id="2147483664" r:id="rId2"/>
  </p:sldMasterIdLst>
  <p:notesMasterIdLst>
    <p:notesMasterId r:id="rId15"/>
  </p:notesMasterIdLst>
  <p:handoutMasterIdLst>
    <p:handoutMasterId r:id="rId16"/>
  </p:handoutMasterIdLst>
  <p:sldIdLst>
    <p:sldId id="341" r:id="rId3"/>
    <p:sldId id="354" r:id="rId4"/>
    <p:sldId id="415" r:id="rId5"/>
    <p:sldId id="414" r:id="rId6"/>
    <p:sldId id="416" r:id="rId7"/>
    <p:sldId id="431" r:id="rId8"/>
    <p:sldId id="382" r:id="rId9"/>
    <p:sldId id="420" r:id="rId10"/>
    <p:sldId id="419" r:id="rId11"/>
    <p:sldId id="430" r:id="rId12"/>
    <p:sldId id="428" r:id="rId13"/>
    <p:sldId id="429" r:id="rId14"/>
  </p:sldIdLst>
  <p:sldSz cx="9144000" cy="6858000" type="screen4x3"/>
  <p:notesSz cx="6669088" cy="992822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339933"/>
    <a:srgbClr val="339966"/>
    <a:srgbClr val="006600"/>
    <a:srgbClr val="008080"/>
    <a:srgbClr val="006666"/>
    <a:srgbClr val="FF0000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98" autoAdjust="0"/>
    <p:restoredTop sz="99567" autoAdjust="0"/>
  </p:normalViewPr>
  <p:slideViewPr>
    <p:cSldViewPr>
      <p:cViewPr varScale="1">
        <p:scale>
          <a:sx n="110" d="100"/>
          <a:sy n="110" d="100"/>
        </p:scale>
        <p:origin x="1818" y="96"/>
      </p:cViewPr>
      <p:guideLst>
        <p:guide orient="horz" pos="2251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7" d="100"/>
        <a:sy n="87" d="100"/>
      </p:scale>
      <p:origin x="0" y="50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16" tIns="45958" rIns="91916" bIns="45958" numCol="1" anchor="t" anchorCtr="0" compatLnSpc="1">
            <a:prstTxWarp prst="textNoShape">
              <a:avLst/>
            </a:prstTxWarp>
          </a:bodyPr>
          <a:lstStyle>
            <a:lvl1pPr defTabSz="919163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8250" y="0"/>
            <a:ext cx="289083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16" tIns="45958" rIns="91916" bIns="45958" numCol="1" anchor="t" anchorCtr="0" compatLnSpc="1">
            <a:prstTxWarp prst="textNoShape">
              <a:avLst/>
            </a:prstTxWarp>
          </a:bodyPr>
          <a:lstStyle>
            <a:lvl1pPr algn="r" defTabSz="919163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34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1338"/>
            <a:ext cx="2890838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16" tIns="45958" rIns="91916" bIns="45958" numCol="1" anchor="b" anchorCtr="0" compatLnSpc="1">
            <a:prstTxWarp prst="textNoShape">
              <a:avLst/>
            </a:prstTxWarp>
          </a:bodyPr>
          <a:lstStyle>
            <a:lvl1pPr defTabSz="919163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34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8250" y="9431338"/>
            <a:ext cx="2890838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16" tIns="45958" rIns="91916" bIns="45958" numCol="1" anchor="b" anchorCtr="0" compatLnSpc="1">
            <a:prstTxWarp prst="textNoShape">
              <a:avLst/>
            </a:prstTxWarp>
          </a:bodyPr>
          <a:lstStyle>
            <a:lvl1pPr algn="r" defTabSz="919163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1AB843B1-5495-4E0D-A436-EDAB0568F5F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115158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16" tIns="45958" rIns="91916" bIns="45958" numCol="1" anchor="t" anchorCtr="0" compatLnSpc="1">
            <a:prstTxWarp prst="textNoShape">
              <a:avLst/>
            </a:prstTxWarp>
          </a:bodyPr>
          <a:lstStyle>
            <a:lvl1pPr defTabSz="919163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8250" y="0"/>
            <a:ext cx="289083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16" tIns="45958" rIns="91916" bIns="45958" numCol="1" anchor="t" anchorCtr="0" compatLnSpc="1">
            <a:prstTxWarp prst="textNoShape">
              <a:avLst/>
            </a:prstTxWarp>
          </a:bodyPr>
          <a:lstStyle>
            <a:lvl1pPr algn="r" defTabSz="919163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58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2488" y="744538"/>
            <a:ext cx="4965700" cy="37242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0588" y="4716463"/>
            <a:ext cx="4887912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16" tIns="45958" rIns="91916" bIns="4595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409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890838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16" tIns="45958" rIns="91916" bIns="45958" numCol="1" anchor="b" anchorCtr="0" compatLnSpc="1">
            <a:prstTxWarp prst="textNoShape">
              <a:avLst/>
            </a:prstTxWarp>
          </a:bodyPr>
          <a:lstStyle>
            <a:lvl1pPr defTabSz="919163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09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8250" y="9431338"/>
            <a:ext cx="2890838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16" tIns="45958" rIns="91916" bIns="45958" numCol="1" anchor="b" anchorCtr="0" compatLnSpc="1">
            <a:prstTxWarp prst="textNoShape">
              <a:avLst/>
            </a:prstTxWarp>
          </a:bodyPr>
          <a:lstStyle>
            <a:lvl1pPr algn="r" defTabSz="919163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7D97477C-1A2E-49D7-A632-9B18BA4EA07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7311098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ADC516-B95C-452B-968A-4A9225718A7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D397AC-572F-4434-93D0-8E639457BEB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4C4167-5790-48B8-849E-99628462AFE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40F1D4-0C69-4DBA-B461-7BD98B98A54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0EFED3-1E30-42AA-AE86-861B1DE5C4D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2ED05F-1145-47FA-AEED-5C8E76C025F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6DC50A-4508-4862-BAA8-5F1004DCA80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7CD35B-F9DC-40B9-9564-802E2FBA91E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C1880D-06FB-46C6-B04F-1CBCE6D22D7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337430-F226-4C47-9BD5-F7EFE9A0EC7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96063" y="44450"/>
            <a:ext cx="2090737" cy="608171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323850" y="44450"/>
            <a:ext cx="6119813" cy="608171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23AE5E-FE38-4CAD-91D3-1BBBA3E820C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23850" y="44450"/>
            <a:ext cx="7200900" cy="54927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ko-KR" altLang="en-US" noProof="0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03A5A0-3178-470B-B644-D8F2AC144E0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8" descr="3-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81354" y="765176"/>
            <a:ext cx="8578362" cy="206210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5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71D1D9-8027-46A3-9B48-7216CDDD4188}" type="slidenum">
              <a:rPr lang="en-US" altLang="ko-KR"/>
              <a:pPr>
                <a:defRPr/>
              </a:pPr>
              <a:t>‹#›</a:t>
            </a:fld>
            <a:r>
              <a:rPr lang="en-US" altLang="ko-KR" sz="1000" dirty="0"/>
              <a:t>/4-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435" y="4406901"/>
            <a:ext cx="5574727" cy="70788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435" y="3976015"/>
            <a:ext cx="7772400" cy="4308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5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9AD936-D7A4-45AD-AE1D-B13266DF4581}" type="slidenum">
              <a:rPr lang="en-US" altLang="ko-KR"/>
              <a:pPr>
                <a:defRPr/>
              </a:pPr>
              <a:t>‹#›</a:t>
            </a:fld>
            <a:r>
              <a:rPr lang="en-US" altLang="ko-KR" sz="1000"/>
              <a:t>/2-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81355" y="765176"/>
            <a:ext cx="4218843" cy="25176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0873" y="765176"/>
            <a:ext cx="4218842" cy="25176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5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819016-0102-4674-A634-D82F9C3721BF}" type="slidenum">
              <a:rPr lang="en-US" altLang="ko-KR"/>
              <a:pPr>
                <a:defRPr/>
              </a:pPr>
              <a:t>‹#›</a:t>
            </a:fld>
            <a:r>
              <a:rPr lang="en-US" altLang="ko-KR" sz="1000"/>
              <a:t>/2-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615307"/>
            <a:ext cx="3421894" cy="461665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70014"/>
            <a:ext cx="4040066" cy="9048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7"/>
            <a:ext cx="4040066" cy="21975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271" y="1270014"/>
            <a:ext cx="4041531" cy="9048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271" y="2174877"/>
            <a:ext cx="4041531" cy="21975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5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1C57FF-C832-44EA-81F0-30E22006C2C9}" type="slidenum">
              <a:rPr lang="en-US" altLang="ko-KR"/>
              <a:pPr>
                <a:defRPr/>
              </a:pPr>
              <a:t>‹#›</a:t>
            </a:fld>
            <a:r>
              <a:rPr lang="en-US" altLang="ko-KR" sz="1000"/>
              <a:t>/2-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5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BBE5D1-E6C6-4B07-A98D-D2FF6D197A5C}" type="slidenum">
              <a:rPr lang="en-US" altLang="ko-KR"/>
              <a:pPr>
                <a:defRPr/>
              </a:pPr>
              <a:t>‹#›</a:t>
            </a:fld>
            <a:r>
              <a:rPr lang="en-US" altLang="ko-KR" sz="1000"/>
              <a:t>/2-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9EC0D0-E57F-45C7-B228-A343C9E029FB}" type="slidenum">
              <a:rPr lang="en-US" altLang="ko-KR"/>
              <a:pPr>
                <a:defRPr/>
              </a:pPr>
              <a:t>‹#›</a:t>
            </a:fld>
            <a:r>
              <a:rPr lang="en-US" altLang="ko-KR" sz="1000" dirty="0"/>
              <a:t>/4-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1034990"/>
            <a:ext cx="2803135" cy="40011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538" y="273053"/>
            <a:ext cx="5111262" cy="287463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435" cy="56630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5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FE6EBB-3930-48BA-B8A1-46731042D611}" type="slidenum">
              <a:rPr lang="en-US" altLang="ko-KR"/>
              <a:pPr>
                <a:defRPr/>
              </a:pPr>
              <a:t>‹#›</a:t>
            </a:fld>
            <a:r>
              <a:rPr lang="en-US" altLang="ko-KR" sz="1000"/>
              <a:t>/2-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167" y="4967228"/>
            <a:ext cx="2803135" cy="40011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166" y="612775"/>
            <a:ext cx="5486400" cy="63402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166" y="5367340"/>
            <a:ext cx="5486400" cy="32932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5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7EE8D0-F10F-4078-A13E-AF9675C04F7A}" type="slidenum">
              <a:rPr lang="en-US" altLang="ko-KR"/>
              <a:pPr>
                <a:defRPr/>
              </a:pPr>
              <a:t>‹#›</a:t>
            </a:fld>
            <a:r>
              <a:rPr lang="en-US" altLang="ko-KR" sz="1000"/>
              <a:t>/2-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-3869922" y="765176"/>
            <a:ext cx="12729639" cy="36036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5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913294-5373-4FA2-8571-904B4F8D8444}" type="slidenum">
              <a:rPr lang="en-US" altLang="ko-KR"/>
              <a:pPr>
                <a:defRPr/>
              </a:pPr>
              <a:t>‹#›</a:t>
            </a:fld>
            <a:r>
              <a:rPr lang="en-US" altLang="ko-KR" sz="1000"/>
              <a:t>/2-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564430" y="115889"/>
            <a:ext cx="405683" cy="34778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-3757897" y="115888"/>
            <a:ext cx="10292048" cy="100965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5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73B92F-48A1-459C-8C36-C685A22E2593}" type="slidenum">
              <a:rPr lang="en-US" altLang="ko-KR"/>
              <a:pPr>
                <a:defRPr/>
              </a:pPr>
              <a:t>‹#›</a:t>
            </a:fld>
            <a:r>
              <a:rPr lang="en-US" altLang="ko-KR" sz="1000"/>
              <a:t>/2-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5766" y="113658"/>
            <a:ext cx="3421894" cy="46166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281354" y="765176"/>
            <a:ext cx="8578362" cy="360363"/>
          </a:xfrm>
        </p:spPr>
        <p:txBody>
          <a:bodyPr/>
          <a:lstStyle/>
          <a:p>
            <a:pPr lvl="0"/>
            <a:endParaRPr lang="ko-KR" altLang="en-US" noProof="0"/>
          </a:p>
        </p:txBody>
      </p:sp>
      <p:sp>
        <p:nvSpPr>
          <p:cNvPr id="4" name="Rectangle 5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F2B37A-82C6-4F0D-97F0-D83DEDA0CD23}" type="slidenum">
              <a:rPr lang="en-US" altLang="ko-KR"/>
              <a:pPr>
                <a:defRPr/>
              </a:pPr>
              <a:t>‹#›</a:t>
            </a:fld>
            <a:r>
              <a:rPr lang="en-US" altLang="ko-KR" sz="1000"/>
              <a:t>/2-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4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" descr="Untitled-2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8" descr="new_point_tem_01"/>
          <p:cNvPicPr>
            <a:picLocks noChangeAspect="1" noChangeArrowheads="1"/>
          </p:cNvPicPr>
          <p:nvPr userDrawn="1"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6372225" y="6381750"/>
            <a:ext cx="2628900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444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517900" y="6553200"/>
            <a:ext cx="2133600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F4DBA01F-79F7-43EC-8D26-186C84C2694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2053" name="Rectangle 11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54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323850" y="44450"/>
            <a:ext cx="720090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pic>
        <p:nvPicPr>
          <p:cNvPr id="2055" name="Picture 16"/>
          <p:cNvPicPr>
            <a:picLocks noChangeAspect="1" noChangeArrowheads="1"/>
          </p:cNvPicPr>
          <p:nvPr userDrawn="1"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7596188" y="115888"/>
            <a:ext cx="1381125" cy="4191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34" r:id="rId1"/>
    <p:sldLayoutId id="2147484335" r:id="rId2"/>
    <p:sldLayoutId id="2147484336" r:id="rId3"/>
    <p:sldLayoutId id="2147484337" r:id="rId4"/>
    <p:sldLayoutId id="2147484338" r:id="rId5"/>
    <p:sldLayoutId id="2147484339" r:id="rId6"/>
    <p:sldLayoutId id="2147484340" r:id="rId7"/>
    <p:sldLayoutId id="2147484341" r:id="rId8"/>
    <p:sldLayoutId id="2147484342" r:id="rId9"/>
    <p:sldLayoutId id="2147484343" r:id="rId10"/>
    <p:sldLayoutId id="2147484344" r:id="rId11"/>
    <p:sldLayoutId id="2147484345" r:id="rId1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folHlink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folHlink"/>
          </a:solidFill>
          <a:latin typeface="굴림" pitchFamily="50" charset="-127"/>
          <a:ea typeface="굴림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folHlink"/>
          </a:solidFill>
          <a:latin typeface="굴림" pitchFamily="50" charset="-127"/>
          <a:ea typeface="굴림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folHlink"/>
          </a:solidFill>
          <a:latin typeface="굴림" pitchFamily="50" charset="-127"/>
          <a:ea typeface="굴림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folHlink"/>
          </a:solidFill>
          <a:latin typeface="굴림" pitchFamily="50" charset="-127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folHlink"/>
          </a:solidFill>
          <a:latin typeface="굴림" pitchFamily="50" charset="-127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folHlink"/>
          </a:solidFill>
          <a:latin typeface="굴림" pitchFamily="50" charset="-127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folHlink"/>
          </a:solidFill>
          <a:latin typeface="굴림" pitchFamily="50" charset="-127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folHlink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80988" y="765175"/>
            <a:ext cx="8578850" cy="3603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</p:txBody>
      </p:sp>
      <p:pic>
        <p:nvPicPr>
          <p:cNvPr id="3075" name="Picture 52" descr="2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0"/>
            <a:ext cx="9144000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7" name="Rectangle 54"/>
          <p:cNvSpPr>
            <a:spLocks noGrp="1" noChangeArrowheads="1"/>
          </p:cNvSpPr>
          <p:nvPr>
            <p:ph type="title"/>
          </p:nvPr>
        </p:nvSpPr>
        <p:spPr bwMode="auto">
          <a:xfrm>
            <a:off x="115888" y="114300"/>
            <a:ext cx="3421062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18000" tIns="45720" rIns="1800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79" name="Rectangle 5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725" y="6524625"/>
            <a:ext cx="476250" cy="2063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vert="horz" wrap="none" lIns="36000" tIns="10800" rIns="36000" bIns="10800" numCol="1" anchor="t" anchorCtr="0" compatLnSpc="1">
            <a:prstTxWarp prst="textNoShape">
              <a:avLst/>
            </a:prstTxWarp>
            <a:spAutoFit/>
          </a:bodyPr>
          <a:lstStyle>
            <a:lvl1pPr>
              <a:buFontTx/>
              <a:buChar char="-"/>
              <a:defRPr sz="1200" b="1">
                <a:solidFill>
                  <a:schemeClr val="bg2"/>
                </a:solidFill>
                <a:latin typeface="Century Gothic" pitchFamily="34" charset="0"/>
                <a:ea typeface="돋움" pitchFamily="50" charset="-127"/>
              </a:defRPr>
            </a:lvl1pPr>
          </a:lstStyle>
          <a:p>
            <a:pPr>
              <a:defRPr/>
            </a:pPr>
            <a:fld id="{338C43E7-85E9-467E-9269-52F87F363814}" type="slidenum">
              <a:rPr lang="en-US" altLang="ko-KR"/>
              <a:pPr>
                <a:defRPr/>
              </a:pPr>
              <a:t>‹#›</a:t>
            </a:fld>
            <a:r>
              <a:rPr lang="en-US" altLang="ko-KR" sz="1000" dirty="0"/>
              <a:t>/4-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48" r:id="rId1"/>
    <p:sldLayoutId id="2147484346" r:id="rId2"/>
    <p:sldLayoutId id="2147484349" r:id="rId3"/>
    <p:sldLayoutId id="2147484350" r:id="rId4"/>
    <p:sldLayoutId id="2147484351" r:id="rId5"/>
    <p:sldLayoutId id="2147484352" r:id="rId6"/>
    <p:sldLayoutId id="2147484347" r:id="rId7"/>
    <p:sldLayoutId id="2147484353" r:id="rId8"/>
    <p:sldLayoutId id="2147484354" r:id="rId9"/>
    <p:sldLayoutId id="2147484355" r:id="rId10"/>
    <p:sldLayoutId id="2147484356" r:id="rId11"/>
    <p:sldLayoutId id="2147484357" r:id="rId1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9pPr>
    </p:titleStyle>
    <p:bodyStyle>
      <a:lvl1pPr marL="342900" indent="-342900" algn="l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+mn-lt"/>
          <a:ea typeface="+mn-ea"/>
          <a:cs typeface="+mn-cs"/>
        </a:defRPr>
      </a:lvl1pPr>
      <a:lvl2pPr marL="822325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굴림" pitchFamily="50" charset="-127"/>
          <a:ea typeface="굴림" pitchFamily="50" charset="-127"/>
        </a:defRPr>
      </a:lvl2pPr>
      <a:lvl3pPr marL="1230313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굴림" pitchFamily="50" charset="-127"/>
          <a:ea typeface="굴림" pitchFamily="50" charset="-127"/>
        </a:defRPr>
      </a:lvl3pPr>
      <a:lvl4pPr marL="16383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image" Target="../media/image8.png"/><Relationship Id="rId26" Type="http://schemas.openxmlformats.org/officeDocument/2006/relationships/image" Target="../media/image16.png"/><Relationship Id="rId3" Type="http://schemas.openxmlformats.org/officeDocument/2006/relationships/tags" Target="../tags/tag3.xml"/><Relationship Id="rId21" Type="http://schemas.openxmlformats.org/officeDocument/2006/relationships/image" Target="../media/image11.pn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image" Target="../media/image7.png"/><Relationship Id="rId25" Type="http://schemas.openxmlformats.org/officeDocument/2006/relationships/image" Target="../media/image15.png"/><Relationship Id="rId2" Type="http://schemas.openxmlformats.org/officeDocument/2006/relationships/tags" Target="../tags/tag2.xml"/><Relationship Id="rId16" Type="http://schemas.openxmlformats.org/officeDocument/2006/relationships/image" Target="../media/image6.png"/><Relationship Id="rId20" Type="http://schemas.openxmlformats.org/officeDocument/2006/relationships/image" Target="../media/image10.png"/><Relationship Id="rId29" Type="http://schemas.openxmlformats.org/officeDocument/2006/relationships/image" Target="../media/image18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image" Target="../media/image14.png"/><Relationship Id="rId5" Type="http://schemas.openxmlformats.org/officeDocument/2006/relationships/tags" Target="../tags/tag5.xml"/><Relationship Id="rId15" Type="http://schemas.openxmlformats.org/officeDocument/2006/relationships/slideLayout" Target="../slideLayouts/slideLayout19.xml"/><Relationship Id="rId23" Type="http://schemas.openxmlformats.org/officeDocument/2006/relationships/image" Target="../media/image13.png"/><Relationship Id="rId28" Type="http://schemas.openxmlformats.org/officeDocument/2006/relationships/image" Target="../media/image17.png"/><Relationship Id="rId10" Type="http://schemas.openxmlformats.org/officeDocument/2006/relationships/tags" Target="../tags/tag10.xml"/><Relationship Id="rId19" Type="http://schemas.openxmlformats.org/officeDocument/2006/relationships/image" Target="../media/image9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image" Target="../media/image12.png"/><Relationship Id="rId27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번호 개체 틀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553200"/>
            <a:ext cx="2133600" cy="260350"/>
          </a:xfrm>
          <a:noFill/>
        </p:spPr>
        <p:txBody>
          <a:bodyPr/>
          <a:lstStyle/>
          <a:p>
            <a:fld id="{00228C31-CDD5-4D1F-B2DB-E59B0A349AAF}" type="slidenum">
              <a:rPr lang="en-US" altLang="ko-KR" smtClean="0"/>
              <a:pPr/>
              <a:t>1</a:t>
            </a:fld>
            <a:endParaRPr lang="en-US" altLang="ko-KR"/>
          </a:p>
        </p:txBody>
      </p:sp>
      <p:sp>
        <p:nvSpPr>
          <p:cNvPr id="14339" name="Text Box 9"/>
          <p:cNvSpPr txBox="1">
            <a:spLocks noChangeArrowheads="1"/>
          </p:cNvSpPr>
          <p:nvPr/>
        </p:nvSpPr>
        <p:spPr bwMode="auto">
          <a:xfrm>
            <a:off x="1876244" y="1484313"/>
            <a:ext cx="5586786" cy="6463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ko-KR" altLang="en-US" sz="3600" b="1">
                <a:latin typeface="맑은 고딕" pitchFamily="50" charset="-127"/>
                <a:ea typeface="맑은 고딕" pitchFamily="50" charset="-127"/>
                <a:cs typeface="Arial" charset="0"/>
              </a:rPr>
              <a:t>통합물류플랫폼 </a:t>
            </a:r>
            <a:r>
              <a:rPr lang="ko-KR" altLang="en-US" sz="3600" b="1" dirty="0">
                <a:latin typeface="맑은 고딕" pitchFamily="50" charset="-127"/>
                <a:ea typeface="맑은 고딕" pitchFamily="50" charset="-127"/>
                <a:cs typeface="Arial" charset="0"/>
              </a:rPr>
              <a:t>구축사업</a:t>
            </a:r>
          </a:p>
        </p:txBody>
      </p:sp>
      <p:sp>
        <p:nvSpPr>
          <p:cNvPr id="14340" name="Text Box 10"/>
          <p:cNvSpPr txBox="1">
            <a:spLocks noChangeArrowheads="1"/>
          </p:cNvSpPr>
          <p:nvPr/>
        </p:nvSpPr>
        <p:spPr bwMode="auto">
          <a:xfrm>
            <a:off x="4148487" y="4335463"/>
            <a:ext cx="1043877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2017.10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9FB47E92-E4E0-43D4-B9A7-1A205BF9AB32}" type="slidenum">
              <a:rPr lang="en-US" altLang="ko-KR" smtClean="0"/>
              <a:pPr/>
              <a:t>2</a:t>
            </a:fld>
            <a:endParaRPr lang="en-US" altLang="ko-KR"/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395288" y="765175"/>
            <a:ext cx="6985000" cy="38735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4795AD"/>
              </a:gs>
              <a:gs pos="100000">
                <a:srgbClr val="FFFFFF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>
              <a:buFont typeface="Wingdings" pitchFamily="2" charset="2"/>
              <a:buNone/>
              <a:defRPr/>
            </a:pPr>
            <a:r>
              <a:rPr lang="en-US" altLang="ko-KR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돋움" pitchFamily="50" charset="-127"/>
                <a:ea typeface="돋움" pitchFamily="50" charset="-127"/>
              </a:rPr>
              <a:t> Contents</a:t>
            </a:r>
            <a:endParaRPr lang="ko-KR" altLang="en-US" sz="16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돋움" pitchFamily="50" charset="-127"/>
              <a:ea typeface="돋움" pitchFamily="50" charset="-127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9218563"/>
              </p:ext>
            </p:extLst>
          </p:nvPr>
        </p:nvGraphicFramePr>
        <p:xfrm>
          <a:off x="971600" y="1700808"/>
          <a:ext cx="6984776" cy="47063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032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15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6566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ko-KR" altLang="en-US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1.2.2 </a:t>
                      </a:r>
                      <a:r>
                        <a:rPr lang="ko-KR" altLang="en-US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통합 </a:t>
                      </a:r>
                      <a:r>
                        <a:rPr lang="ko-KR" altLang="en-US" sz="1400" u="none" strike="noStrike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오더관리</a:t>
                      </a:r>
                      <a:r>
                        <a:rPr lang="ko-KR" altLang="en-US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시스템 </a:t>
                      </a:r>
                      <a:r>
                        <a:rPr lang="en-US" altLang="ko-KR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(OMS) </a:t>
                      </a:r>
                      <a:r>
                        <a:rPr lang="ko-KR" altLang="en-US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구축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5" marR="565" marT="565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656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14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1) </a:t>
                      </a:r>
                      <a:r>
                        <a:rPr lang="ko-KR" altLang="en-US" sz="14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 개요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5" marR="565" marT="56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5" marR="565" marT="56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656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2)</a:t>
                      </a:r>
                      <a:r>
                        <a:rPr lang="en-US" altLang="ko-KR" sz="1400" u="none" strike="noStrike" baseline="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400" u="none" strike="noStrike" baseline="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 구성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5" marR="565" marT="56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5" marR="565" marT="56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656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3) </a:t>
                      </a:r>
                      <a:r>
                        <a:rPr lang="ko-KR" altLang="en-US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프로세스 흐름도</a:t>
                      </a:r>
                      <a:r>
                        <a:rPr lang="en-US" altLang="ko-KR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업무</a:t>
                      </a:r>
                      <a:r>
                        <a:rPr lang="en-US" altLang="ko-KR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</a:t>
                      </a:r>
                      <a:r>
                        <a:rPr lang="en-US" altLang="ko-KR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5" marR="565" marT="56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5" marR="565" marT="56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656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4)</a:t>
                      </a:r>
                      <a:r>
                        <a:rPr lang="en-US" altLang="ko-KR" sz="1400" u="none" strike="noStrike" baseline="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400" u="none" strike="noStrike" baseline="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주요 구현 기능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5" marR="565" marT="56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5" marR="565" marT="56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6566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</a:t>
                      </a:r>
                      <a:r>
                        <a:rPr lang="en-US" altLang="ko-KR" sz="14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4-1)</a:t>
                      </a:r>
                      <a:r>
                        <a:rPr lang="en-US" altLang="ko-KR" sz="1400" u="none" strike="noStrike" baseline="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400" u="none" strike="noStrike" baseline="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기준 정보 관리 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5" marR="565" marT="56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5" marR="565" marT="56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6566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4-2)</a:t>
                      </a:r>
                      <a:r>
                        <a:rPr lang="en-US" altLang="ko-KR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사전 정보 관리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5" marR="565" marT="56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5" marR="565" marT="56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6566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4-3)</a:t>
                      </a:r>
                      <a:r>
                        <a:rPr lang="en-US" altLang="ko-KR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 오더 관리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5" marR="565" marT="56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5" marR="565" marT="56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6566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4-4)</a:t>
                      </a:r>
                      <a:r>
                        <a:rPr lang="en-US" altLang="ko-KR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오더 생성 관리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5" marR="565" marT="56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5" marR="565" marT="56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6566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4-5)</a:t>
                      </a:r>
                      <a:r>
                        <a:rPr lang="en-US" altLang="ko-KR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오더 진행 관리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5" marR="565" marT="56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5" marR="565" marT="565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6566">
                <a:tc>
                  <a:txBody>
                    <a:bodyPr/>
                    <a:lstStyle/>
                    <a:p>
                      <a:pPr algn="l" fontAlgn="ctr"/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5" marR="565" marT="56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5" marR="565" marT="565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6566">
                <a:tc>
                  <a:txBody>
                    <a:bodyPr/>
                    <a:lstStyle/>
                    <a:p>
                      <a:pPr algn="l" fontAlgn="ctr"/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5" marR="565" marT="56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5" marR="565" marT="565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6566">
                <a:tc>
                  <a:txBody>
                    <a:bodyPr/>
                    <a:lstStyle/>
                    <a:p>
                      <a:pPr algn="l" fontAlgn="ctr"/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5" marR="565" marT="56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5" marR="565" marT="565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6566">
                <a:tc>
                  <a:txBody>
                    <a:bodyPr/>
                    <a:lstStyle/>
                    <a:p>
                      <a:pPr algn="l" fontAlgn="ctr"/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5" marR="565" marT="56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5" marR="565" marT="565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6566">
                <a:tc>
                  <a:txBody>
                    <a:bodyPr/>
                    <a:lstStyle/>
                    <a:p>
                      <a:pPr algn="l" fontAlgn="ctr"/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5" marR="565" marT="56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5" marR="565" marT="565" marB="0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6566">
                <a:tc>
                  <a:txBody>
                    <a:bodyPr/>
                    <a:lstStyle/>
                    <a:p>
                      <a:pPr algn="l" fontAlgn="ctr"/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5" marR="565" marT="56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5" marR="565" marT="565" marB="0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6566">
                <a:tc>
                  <a:txBody>
                    <a:bodyPr/>
                    <a:lstStyle/>
                    <a:p>
                      <a:pPr algn="l" fontAlgn="ctr"/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5" marR="565" marT="56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5" marR="565" marT="565" marB="0"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6566">
                <a:tc>
                  <a:txBody>
                    <a:bodyPr/>
                    <a:lstStyle/>
                    <a:p>
                      <a:pPr algn="l" fontAlgn="ctr"/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5" marR="565" marT="56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5" marR="565" marT="565" marB="0" anchor="ctr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6566">
                <a:tc>
                  <a:txBody>
                    <a:bodyPr/>
                    <a:lstStyle/>
                    <a:p>
                      <a:pPr algn="l" fontAlgn="ctr"/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5" marR="565" marT="56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5" marR="565" marT="565" marB="0" anchor="ctr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6566">
                <a:tc>
                  <a:txBody>
                    <a:bodyPr/>
                    <a:lstStyle/>
                    <a:p>
                      <a:pPr algn="l" fontAlgn="ctr"/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5" marR="565" marT="56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5" marR="565" marT="565" marB="0" anchor="ctr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6566">
                <a:tc>
                  <a:txBody>
                    <a:bodyPr/>
                    <a:lstStyle/>
                    <a:p>
                      <a:pPr algn="l" fontAlgn="ctr"/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5" marR="565" marT="56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5" marR="565" marT="565" marB="0" anchor="ctr"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6566">
                <a:tc>
                  <a:txBody>
                    <a:bodyPr/>
                    <a:lstStyle/>
                    <a:p>
                      <a:pPr algn="l" fontAlgn="ctr"/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5" marR="565" marT="56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5" marR="565" marT="565" marB="0" anchor="ctr"/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69EC0D0-E57F-45C7-B228-A343C9E029FB}" type="slidenum">
              <a:rPr lang="en-US" altLang="ko-KR" smtClean="0"/>
              <a:pPr>
                <a:defRPr/>
              </a:pPr>
              <a:t>3</a:t>
            </a:fld>
            <a:r>
              <a:rPr lang="en-US" altLang="ko-KR" sz="1000"/>
              <a:t>/4-</a:t>
            </a:r>
            <a:endParaRPr lang="en-US" altLang="ko-KR" sz="1000" dirty="0"/>
          </a:p>
        </p:txBody>
      </p:sp>
      <p:sp>
        <p:nvSpPr>
          <p:cNvPr id="3" name="AutoShape 5"/>
          <p:cNvSpPr>
            <a:spLocks noChangeArrowheads="1"/>
          </p:cNvSpPr>
          <p:nvPr/>
        </p:nvSpPr>
        <p:spPr bwMode="auto">
          <a:xfrm>
            <a:off x="395288" y="260648"/>
            <a:ext cx="6985000" cy="387350"/>
          </a:xfrm>
          <a:prstGeom prst="roundRect">
            <a:avLst>
              <a:gd name="adj" fmla="val 16667"/>
            </a:avLst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1.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시스템 개요</a:t>
            </a:r>
          </a:p>
        </p:txBody>
      </p:sp>
      <p:sp>
        <p:nvSpPr>
          <p:cNvPr id="4" name="Content Placeholder 1"/>
          <p:cNvSpPr txBox="1">
            <a:spLocks/>
          </p:cNvSpPr>
          <p:nvPr/>
        </p:nvSpPr>
        <p:spPr bwMode="auto">
          <a:xfrm>
            <a:off x="288556" y="778097"/>
            <a:ext cx="8603924" cy="5816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 algn="just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Font typeface="Wingdings" pitchFamily="2" charset="2"/>
              <a:defRPr sz="1600" b="1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latinLnBrk="1" hangingPunct="0">
              <a:spcBef>
                <a:spcPct val="25000"/>
              </a:spcBef>
              <a:spcAft>
                <a:spcPct val="15000"/>
              </a:spcAft>
              <a:buClr>
                <a:schemeClr val="accent2"/>
              </a:buClr>
              <a:buFont typeface="Arial" charset="0"/>
              <a:buChar char="–"/>
              <a:defRPr kumimoji="1">
                <a:solidFill>
                  <a:schemeClr val="tx1"/>
                </a:solidFill>
                <a:latin typeface="굴림" charset="-127"/>
                <a:ea typeface="굴림" charset="-127"/>
                <a:cs typeface="굴림" charset="-127"/>
              </a:defRPr>
            </a:lvl2pPr>
            <a:lvl3pPr marL="9144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굴림" charset="-127"/>
                <a:ea typeface="굴림" charset="-127"/>
                <a:cs typeface="굴림" charset="-127"/>
              </a:defRPr>
            </a:lvl3pPr>
            <a:lvl4pPr marL="1371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charset="0"/>
              <a:buChar char="–"/>
              <a:defRPr kumimoji="1">
                <a:solidFill>
                  <a:schemeClr val="tx1"/>
                </a:solidFill>
                <a:latin typeface="굴림" charset="-127"/>
                <a:ea typeface="굴림" charset="-127"/>
                <a:cs typeface="굴림" charset="-127"/>
              </a:defRPr>
            </a:lvl4pPr>
            <a:lvl5pPr marL="18288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charset="0"/>
              <a:buChar char="&gt;"/>
              <a:defRPr kumimoji="1">
                <a:solidFill>
                  <a:schemeClr val="tx1"/>
                </a:solidFill>
                <a:latin typeface="굴림" charset="-127"/>
                <a:ea typeface="굴림" charset="-127"/>
                <a:cs typeface="굴림" charset="-127"/>
              </a:defRPr>
            </a:lvl5pPr>
            <a:lvl6pPr marL="22860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charset="0"/>
              <a:buChar char="&gt;"/>
              <a:defRPr kumimoji="1">
                <a:solidFill>
                  <a:schemeClr val="tx1"/>
                </a:solidFill>
                <a:latin typeface="굴림" charset="-127"/>
                <a:ea typeface="굴림" charset="-127"/>
                <a:cs typeface="굴림" charset="-127"/>
              </a:defRPr>
            </a:lvl6pPr>
            <a:lvl7pPr marL="27432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charset="0"/>
              <a:buChar char="&gt;"/>
              <a:defRPr kumimoji="1">
                <a:solidFill>
                  <a:schemeClr val="tx1"/>
                </a:solidFill>
                <a:latin typeface="굴림" charset="-127"/>
                <a:ea typeface="굴림" charset="-127"/>
                <a:cs typeface="굴림" charset="-127"/>
              </a:defRPr>
            </a:lvl7pPr>
            <a:lvl8pPr marL="32004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charset="0"/>
              <a:buChar char="&gt;"/>
              <a:defRPr kumimoji="1">
                <a:solidFill>
                  <a:schemeClr val="tx1"/>
                </a:solidFill>
                <a:latin typeface="굴림" charset="-127"/>
                <a:ea typeface="굴림" charset="-127"/>
                <a:cs typeface="굴림" charset="-127"/>
              </a:defRPr>
            </a:lvl8pPr>
            <a:lvl9pPr marL="3657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Arial" charset="0"/>
              <a:buChar char="&gt;"/>
              <a:defRPr kumimoji="1">
                <a:solidFill>
                  <a:schemeClr val="tx1"/>
                </a:solidFill>
                <a:latin typeface="굴림" charset="-127"/>
                <a:ea typeface="굴림" charset="-127"/>
                <a:cs typeface="굴림" charset="-127"/>
              </a:defRPr>
            </a:lvl9pPr>
          </a:lstStyle>
          <a:p>
            <a:pPr algn="l" latinLnBrk="0">
              <a:lnSpc>
                <a:spcPct val="105000"/>
              </a:lnSpc>
              <a:spcBef>
                <a:spcPts val="0"/>
              </a:spcBef>
            </a:pPr>
            <a:r>
              <a:rPr kumimoji="0" lang="en-US" altLang="ko-KR" sz="1200" b="0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Cloud </a:t>
            </a:r>
            <a:r>
              <a:rPr kumimoji="0" lang="ko-KR" altLang="en-US" sz="1200" b="0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기반 통합 물류 </a:t>
            </a:r>
            <a:r>
              <a:rPr kumimoji="0" lang="en-US" altLang="ko-KR" sz="1200" b="0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Platform</a:t>
            </a:r>
            <a:r>
              <a:rPr kumimoji="0" lang="ko-KR" altLang="en-US" sz="1200" b="0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으로 </a:t>
            </a:r>
            <a:r>
              <a:rPr kumimoji="0" lang="ko-KR" altLang="en-US" sz="1200" b="0" kern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포워딩</a:t>
            </a:r>
            <a:r>
              <a:rPr kumimoji="0" lang="en-US" altLang="ko-KR" sz="1200" b="0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kumimoji="0" lang="ko-KR" altLang="en-US" sz="1200" b="0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창고관리</a:t>
            </a:r>
            <a:r>
              <a:rPr kumimoji="0" lang="en-US" altLang="ko-KR" sz="1200" b="0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kumimoji="0" lang="ko-KR" altLang="en-US" sz="1200" b="0" kern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운송관리</a:t>
            </a:r>
            <a:r>
              <a:rPr kumimoji="0" lang="en-US" altLang="ko-KR" sz="1200" b="0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kumimoji="0" lang="ko-KR" altLang="en-US" sz="1200" b="0" kern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가시성관리</a:t>
            </a:r>
            <a:r>
              <a:rPr kumimoji="0" lang="en-US" altLang="ko-KR" sz="1200" b="0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kumimoji="0" lang="ko-KR" altLang="en-US" sz="1200" b="0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정산관리 등 국제수출입 </a:t>
            </a:r>
            <a:r>
              <a:rPr kumimoji="0" lang="ko-KR" altLang="en-US" sz="1200" b="0" kern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포워더</a:t>
            </a:r>
            <a:r>
              <a:rPr kumimoji="0" lang="ko-KR" altLang="en-US" sz="1200" b="0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全 영역의 통합기능을 제공하며</a:t>
            </a:r>
            <a:r>
              <a:rPr kumimoji="0" lang="en-US" altLang="ko-KR" sz="1200" b="0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FMS(</a:t>
            </a:r>
            <a:r>
              <a:rPr kumimoji="0" lang="en-US" altLang="ko-KR" sz="1200" b="0" kern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Forwder</a:t>
            </a:r>
            <a:r>
              <a:rPr kumimoji="0" lang="en-US" altLang="ko-KR" sz="1200" b="0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1200" b="0" kern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Mangement</a:t>
            </a:r>
            <a:r>
              <a:rPr kumimoji="0" lang="en-US" altLang="ko-KR" sz="1200" b="0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kumimoji="0" lang="ko-KR" altLang="en-US" sz="1200" b="0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연계기능을 통해 외부</a:t>
            </a:r>
            <a:r>
              <a:rPr kumimoji="0" lang="en-US" altLang="ko-KR" sz="1200" b="0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0" lang="ko-KR" altLang="en-US" sz="1200" b="0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화주</a:t>
            </a:r>
            <a:r>
              <a:rPr kumimoji="0" lang="en-US" altLang="ko-KR" sz="1200" b="0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kumimoji="0" lang="ko-KR" altLang="en-US" sz="1200" b="0" kern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실행사</a:t>
            </a:r>
            <a:r>
              <a:rPr kumimoji="0" lang="en-US" altLang="ko-KR" sz="1200" b="0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kumimoji="0" lang="ko-KR" altLang="en-US" sz="1200" b="0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파트너</a:t>
            </a:r>
            <a:r>
              <a:rPr kumimoji="0" lang="en-US" altLang="ko-KR" sz="1200" b="0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kumimoji="0" lang="ko-KR" altLang="en-US" sz="1200" b="0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물류업체간의 </a:t>
            </a:r>
            <a:r>
              <a:rPr kumimoji="0" lang="ko-KR" altLang="en-US" sz="1200" b="0" kern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선적문서등</a:t>
            </a:r>
            <a:r>
              <a:rPr kumimoji="0" lang="ko-KR" altLang="en-US" sz="1200" b="0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정보연계관리 통합인터페이스를 구축합니다</a:t>
            </a:r>
            <a:r>
              <a:rPr kumimoji="0" lang="en-US" altLang="ko-KR" sz="1200" b="0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endParaRPr lang="ko-KR" altLang="en-US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193" descr="Untitled-1.png"/>
          <p:cNvPicPr>
            <a:picLocks noChangeAspect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 rot="10800000" flipV="1">
            <a:off x="2379151" y="2060848"/>
            <a:ext cx="4385700" cy="19716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그룹 5"/>
          <p:cNvGrpSpPr/>
          <p:nvPr/>
        </p:nvGrpSpPr>
        <p:grpSpPr>
          <a:xfrm>
            <a:off x="755576" y="4176513"/>
            <a:ext cx="7632848" cy="377270"/>
            <a:chOff x="2599454" y="1863868"/>
            <a:chExt cx="4705394" cy="377270"/>
          </a:xfrm>
          <a:solidFill>
            <a:srgbClr val="FFFFFF">
              <a:lumMod val="85000"/>
            </a:srgbClr>
          </a:solidFill>
        </p:grpSpPr>
        <p:sp>
          <p:nvSpPr>
            <p:cNvPr id="7" name="직사각형 4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gray">
            <a:xfrm>
              <a:off x="2599454" y="1863868"/>
              <a:ext cx="2313398" cy="377270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950881" fontAlgn="auto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r>
                <a:rPr kumimoji="0" lang="en-US" altLang="ko-KR" kern="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ECC Platform</a:t>
              </a:r>
            </a:p>
          </p:txBody>
        </p:sp>
        <p:sp>
          <p:nvSpPr>
            <p:cNvPr id="8" name="직사각형 4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gray">
            <a:xfrm>
              <a:off x="4991450" y="1863868"/>
              <a:ext cx="2313398" cy="377270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950881" fontAlgn="auto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r>
                <a:rPr kumimoji="0" lang="en-US" altLang="ko-KR" kern="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Intelligence</a:t>
              </a:r>
              <a:r>
                <a:rPr kumimoji="0" lang="ko-KR" altLang="en-US" kern="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kumimoji="0" lang="en-US" altLang="ko-KR" kern="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Platform</a:t>
              </a:r>
            </a:p>
          </p:txBody>
        </p:sp>
      </p:grpSp>
      <p:sp>
        <p:nvSpPr>
          <p:cNvPr id="9" name="직사각형 4"/>
          <p:cNvSpPr>
            <a:spLocks noChangeArrowheads="1"/>
          </p:cNvSpPr>
          <p:nvPr>
            <p:custDataLst>
              <p:tags r:id="rId1"/>
            </p:custDataLst>
          </p:nvPr>
        </p:nvSpPr>
        <p:spPr bwMode="gray">
          <a:xfrm>
            <a:off x="2078862" y="1556792"/>
            <a:ext cx="4986276" cy="432048"/>
          </a:xfrm>
          <a:prstGeom prst="rect">
            <a:avLst/>
          </a:prstGeom>
          <a:noFill/>
          <a:ln w="12700" algn="ctr">
            <a:noFill/>
            <a:round/>
            <a:headEnd/>
            <a:tailEnd/>
          </a:ln>
        </p:spPr>
        <p:txBody>
          <a:bodyPr wrap="none" lIns="36000" tIns="36000" rIns="36000" bIns="36000" anchor="ctr"/>
          <a:lstStyle/>
          <a:p>
            <a:pPr algn="ctr" fontAlgn="auto" latinLnBrk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7D0900"/>
              </a:buClr>
              <a:buFontTx/>
              <a:buNone/>
              <a:defRPr/>
            </a:pPr>
            <a:r>
              <a:rPr lang="ko-KR" altLang="en-US" b="1" u="sng" kern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인터지스</a:t>
            </a:r>
            <a:r>
              <a:rPr lang="en-US" altLang="ko-KR" sz="2400" b="1" u="sng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Logistics Platform</a:t>
            </a:r>
          </a:p>
        </p:txBody>
      </p:sp>
      <p:sp>
        <p:nvSpPr>
          <p:cNvPr id="10" name="직사각형 4"/>
          <p:cNvSpPr>
            <a:spLocks noChangeArrowheads="1"/>
          </p:cNvSpPr>
          <p:nvPr>
            <p:custDataLst>
              <p:tags r:id="rId2"/>
            </p:custDataLst>
          </p:nvPr>
        </p:nvSpPr>
        <p:spPr bwMode="gray">
          <a:xfrm>
            <a:off x="771249" y="4656350"/>
            <a:ext cx="1639982" cy="391939"/>
          </a:xfrm>
          <a:prstGeom prst="roundRect">
            <a:avLst>
              <a:gd name="adj" fmla="val 50000"/>
            </a:avLst>
          </a:prstGeom>
          <a:solidFill>
            <a:srgbClr val="000000">
              <a:lumMod val="65000"/>
              <a:lumOff val="35000"/>
            </a:srgbClr>
          </a:solidFill>
          <a:ln w="12700" algn="ctr">
            <a:noFill/>
            <a:round/>
            <a:headEnd/>
            <a:tailEnd/>
          </a:ln>
        </p:spPr>
        <p:txBody>
          <a:bodyPr wrap="none" lIns="72000" tIns="72000" rIns="72000" bIns="72000" anchor="ctr"/>
          <a:lstStyle/>
          <a:p>
            <a:pPr algn="ctr" fontAlgn="auto" latinLnBrk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7D0900"/>
              </a:buClr>
              <a:buFontTx/>
              <a:buNone/>
              <a:defRPr/>
            </a:pPr>
            <a:r>
              <a:rPr kumimoji="0" lang="en-US" altLang="ko-KR" sz="2000" kern="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Forwarding</a:t>
            </a:r>
          </a:p>
        </p:txBody>
      </p:sp>
      <p:sp>
        <p:nvSpPr>
          <p:cNvPr id="11" name="직사각형 4"/>
          <p:cNvSpPr>
            <a:spLocks noChangeArrowheads="1"/>
          </p:cNvSpPr>
          <p:nvPr>
            <p:custDataLst>
              <p:tags r:id="rId3"/>
            </p:custDataLst>
          </p:nvPr>
        </p:nvSpPr>
        <p:spPr bwMode="gray">
          <a:xfrm>
            <a:off x="771778" y="5125261"/>
            <a:ext cx="1639982" cy="391939"/>
          </a:xfrm>
          <a:prstGeom prst="roundRect">
            <a:avLst>
              <a:gd name="adj" fmla="val 50000"/>
            </a:avLst>
          </a:prstGeom>
          <a:solidFill>
            <a:srgbClr val="000000">
              <a:lumMod val="65000"/>
              <a:lumOff val="35000"/>
            </a:srgbClr>
          </a:solidFill>
          <a:ln w="12700" algn="ctr">
            <a:noFill/>
            <a:round/>
            <a:headEnd/>
            <a:tailEnd/>
          </a:ln>
        </p:spPr>
        <p:txBody>
          <a:bodyPr wrap="none" lIns="72000" tIns="72000" rIns="72000" bIns="72000" anchor="ctr"/>
          <a:lstStyle/>
          <a:p>
            <a:pPr algn="ctr" fontAlgn="auto" latinLnBrk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7D0900"/>
              </a:buClr>
              <a:buFontTx/>
              <a:buNone/>
              <a:defRPr/>
            </a:pPr>
            <a:r>
              <a:rPr kumimoji="0" lang="en-US" altLang="ko-KR" sz="2000" kern="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Warehouse</a:t>
            </a:r>
          </a:p>
        </p:txBody>
      </p:sp>
      <p:sp>
        <p:nvSpPr>
          <p:cNvPr id="12" name="직사각형 4"/>
          <p:cNvSpPr>
            <a:spLocks noChangeArrowheads="1"/>
          </p:cNvSpPr>
          <p:nvPr>
            <p:custDataLst>
              <p:tags r:id="rId4"/>
            </p:custDataLst>
          </p:nvPr>
        </p:nvSpPr>
        <p:spPr bwMode="gray">
          <a:xfrm>
            <a:off x="2427962" y="4653135"/>
            <a:ext cx="1639982" cy="391939"/>
          </a:xfrm>
          <a:prstGeom prst="roundRect">
            <a:avLst>
              <a:gd name="adj" fmla="val 50000"/>
            </a:avLst>
          </a:prstGeom>
          <a:solidFill>
            <a:srgbClr val="000000">
              <a:lumMod val="65000"/>
              <a:lumOff val="35000"/>
            </a:srgbClr>
          </a:solidFill>
          <a:ln w="12700" algn="ctr">
            <a:noFill/>
            <a:round/>
            <a:headEnd/>
            <a:tailEnd/>
          </a:ln>
        </p:spPr>
        <p:txBody>
          <a:bodyPr wrap="none" lIns="72000" tIns="72000" rIns="72000" bIns="72000" anchor="ctr"/>
          <a:lstStyle/>
          <a:p>
            <a:pPr algn="ctr" fontAlgn="auto" latinLnBrk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7D0900"/>
              </a:buClr>
              <a:buFontTx/>
              <a:buNone/>
              <a:defRPr/>
            </a:pPr>
            <a:r>
              <a:rPr kumimoji="0" lang="en-US" altLang="ko-KR" sz="2000" kern="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Transport</a:t>
            </a:r>
          </a:p>
        </p:txBody>
      </p:sp>
      <p:sp>
        <p:nvSpPr>
          <p:cNvPr id="13" name="직사각형 4"/>
          <p:cNvSpPr>
            <a:spLocks noChangeArrowheads="1"/>
          </p:cNvSpPr>
          <p:nvPr>
            <p:custDataLst>
              <p:tags r:id="rId5"/>
            </p:custDataLst>
          </p:nvPr>
        </p:nvSpPr>
        <p:spPr bwMode="gray">
          <a:xfrm>
            <a:off x="2427962" y="5125293"/>
            <a:ext cx="1639982" cy="391939"/>
          </a:xfrm>
          <a:prstGeom prst="roundRect">
            <a:avLst>
              <a:gd name="adj" fmla="val 50000"/>
            </a:avLst>
          </a:prstGeom>
          <a:solidFill>
            <a:srgbClr val="000000">
              <a:lumMod val="65000"/>
              <a:lumOff val="35000"/>
            </a:srgbClr>
          </a:solidFill>
          <a:ln w="12700" algn="ctr">
            <a:noFill/>
            <a:round/>
            <a:headEnd/>
            <a:tailEnd/>
          </a:ln>
        </p:spPr>
        <p:txBody>
          <a:bodyPr wrap="none" lIns="72000" tIns="72000" rIns="72000" bIns="72000" anchor="ctr"/>
          <a:lstStyle/>
          <a:p>
            <a:pPr algn="ctr" fontAlgn="auto" latinLnBrk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7D0900"/>
              </a:buClr>
              <a:buFontTx/>
              <a:buNone/>
              <a:defRPr/>
            </a:pPr>
            <a:r>
              <a:rPr kumimoji="0" lang="en-US" altLang="ko-KR" sz="2000" kern="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Visibility</a:t>
            </a:r>
          </a:p>
        </p:txBody>
      </p:sp>
      <p:pic>
        <p:nvPicPr>
          <p:cNvPr id="14" name="Picture 2" descr="\\Client\C$\Users\09525\Desktop\윤진호\이미지\customers-icon-53440.png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01803" y="3019704"/>
            <a:ext cx="612000" cy="576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직사각형 14"/>
          <p:cNvSpPr/>
          <p:nvPr/>
        </p:nvSpPr>
        <p:spPr bwMode="auto">
          <a:xfrm>
            <a:off x="1808041" y="2864907"/>
            <a:ext cx="1510969" cy="813354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>
                <a:lumMod val="65000"/>
                <a:lumOff val="35000"/>
              </a:srgbClr>
            </a:solidFill>
            <a:miter lim="800000"/>
            <a:headEnd/>
            <a:tailEnd/>
          </a:ln>
        </p:spPr>
        <p:txBody>
          <a:bodyPr wrap="square" lIns="36000" tIns="72000" rIns="36000" bIns="72000" rtlCol="0" anchor="ctr">
            <a:noAutofit/>
          </a:bodyPr>
          <a:lstStyle/>
          <a:p>
            <a:pPr algn="ctr" fontAlgn="auto" latinLnBrk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FontTx/>
              <a:buNone/>
              <a:defRPr/>
            </a:pPr>
            <a:endParaRPr kumimoji="0" lang="ko-KR" altLang="en-US" sz="2000" kern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6" name="직선 화살표 연결선 15"/>
          <p:cNvCxnSpPr/>
          <p:nvPr/>
        </p:nvCxnSpPr>
        <p:spPr bwMode="auto">
          <a:xfrm>
            <a:off x="1410643" y="3292821"/>
            <a:ext cx="288000" cy="0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7" name="직선 화살표 연결선 16"/>
          <p:cNvCxnSpPr/>
          <p:nvPr/>
        </p:nvCxnSpPr>
        <p:spPr bwMode="auto">
          <a:xfrm flipH="1">
            <a:off x="1404293" y="3436837"/>
            <a:ext cx="288000" cy="0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2237250" y="2897386"/>
            <a:ext cx="10711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Fun &amp; Easy UI/UX</a:t>
            </a:r>
            <a:endParaRPr lang="ko-KR" altLang="en-US" sz="800" b="1" dirty="0" err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9" name="Picture 4"/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5191" y="3163857"/>
            <a:ext cx="352251" cy="386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5"/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4571" y="3189198"/>
            <a:ext cx="425202" cy="408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6"/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7994" y="3163856"/>
            <a:ext cx="444168" cy="434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21"/>
          <p:cNvSpPr txBox="1"/>
          <p:nvPr/>
        </p:nvSpPr>
        <p:spPr>
          <a:xfrm>
            <a:off x="3304085" y="2823786"/>
            <a:ext cx="114646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92075" indent="-92075">
              <a:lnSpc>
                <a:spcPct val="20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Monitoring</a:t>
            </a:r>
          </a:p>
          <a:p>
            <a:pPr marL="92075" indent="-92075">
              <a:lnSpc>
                <a:spcPct val="20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Control</a:t>
            </a:r>
          </a:p>
          <a:p>
            <a:pPr marL="92075" indent="-92075">
              <a:lnSpc>
                <a:spcPct val="2000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Communication</a:t>
            </a:r>
            <a:endParaRPr lang="ko-KR" altLang="en-US" sz="900" b="1" dirty="0" err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직사각형 4"/>
          <p:cNvSpPr>
            <a:spLocks noChangeArrowheads="1"/>
          </p:cNvSpPr>
          <p:nvPr>
            <p:custDataLst>
              <p:tags r:id="rId6"/>
            </p:custDataLst>
          </p:nvPr>
        </p:nvSpPr>
        <p:spPr bwMode="gray">
          <a:xfrm>
            <a:off x="1395336" y="2187634"/>
            <a:ext cx="2456584" cy="377270"/>
          </a:xfrm>
          <a:prstGeom prst="rect">
            <a:avLst/>
          </a:prstGeom>
          <a:noFill/>
          <a:ln w="12700" algn="ctr">
            <a:noFill/>
            <a:round/>
            <a:headEnd/>
            <a:tailEnd/>
          </a:ln>
        </p:spPr>
        <p:txBody>
          <a:bodyPr wrap="none" lIns="72000" tIns="72000" rIns="72000" bIns="72000" anchor="ctr"/>
          <a:lstStyle/>
          <a:p>
            <a:pPr algn="ctr" fontAlgn="auto" latinLnBrk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7D0900"/>
              </a:buClr>
              <a:buFontTx/>
              <a:buNone/>
              <a:defRPr/>
            </a:pPr>
            <a:r>
              <a:rPr lang="en-US" altLang="ko-KR" sz="1400" b="1" kern="0" dirty="0">
                <a:solidFill>
                  <a:srgbClr val="2A79D0">
                    <a:lumMod val="7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UI/ UX </a:t>
            </a:r>
          </a:p>
          <a:p>
            <a:pPr algn="ctr" fontAlgn="auto" latinLnBrk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7D0900"/>
              </a:buClr>
              <a:buFontTx/>
              <a:buNone/>
              <a:defRPr/>
            </a:pPr>
            <a:r>
              <a:rPr lang="ko-KR" altLang="en-US" sz="1400" b="1" kern="0" dirty="0">
                <a:solidFill>
                  <a:srgbClr val="2A79D0">
                    <a:lumMod val="7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물류서비스</a:t>
            </a:r>
            <a:endParaRPr lang="en-US" altLang="ko-KR" sz="1400" b="1" kern="0" dirty="0">
              <a:solidFill>
                <a:srgbClr val="2A79D0">
                  <a:lumMod val="75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직사각형 4"/>
          <p:cNvSpPr>
            <a:spLocks noChangeArrowheads="1"/>
          </p:cNvSpPr>
          <p:nvPr>
            <p:custDataLst>
              <p:tags r:id="rId7"/>
            </p:custDataLst>
          </p:nvPr>
        </p:nvSpPr>
        <p:spPr bwMode="gray">
          <a:xfrm>
            <a:off x="5355776" y="2187634"/>
            <a:ext cx="2456584" cy="377270"/>
          </a:xfrm>
          <a:prstGeom prst="rect">
            <a:avLst/>
          </a:prstGeom>
          <a:noFill/>
          <a:ln w="12700" algn="ctr">
            <a:noFill/>
            <a:round/>
            <a:headEnd/>
            <a:tailEnd/>
          </a:ln>
        </p:spPr>
        <p:txBody>
          <a:bodyPr wrap="none" lIns="72000" tIns="72000" rIns="72000" bIns="72000" anchor="ctr"/>
          <a:lstStyle/>
          <a:p>
            <a:pPr algn="ctr" fontAlgn="auto" latinLnBrk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7D0900"/>
              </a:buClr>
              <a:buFontTx/>
              <a:buNone/>
              <a:defRPr/>
            </a:pPr>
            <a:r>
              <a:rPr kumimoji="0" lang="en-US" altLang="ko-KR" sz="1400" b="1" kern="0" dirty="0">
                <a:solidFill>
                  <a:srgbClr val="2A79D0">
                    <a:lumMod val="7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Global Connected</a:t>
            </a:r>
          </a:p>
          <a:p>
            <a:pPr algn="ctr" fontAlgn="auto" latinLnBrk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7D0900"/>
              </a:buClr>
              <a:buFontTx/>
              <a:buNone/>
              <a:defRPr/>
            </a:pPr>
            <a:r>
              <a:rPr lang="en-US" altLang="ko-KR" sz="1400" b="1" kern="0" dirty="0">
                <a:solidFill>
                  <a:srgbClr val="2A79D0">
                    <a:lumMod val="7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Logistics Network</a:t>
            </a:r>
            <a:endParaRPr kumimoji="0" lang="en-US" altLang="ko-KR" sz="1400" b="1" kern="0" dirty="0">
              <a:solidFill>
                <a:srgbClr val="2A79D0">
                  <a:lumMod val="75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5" name="그룹 24"/>
          <p:cNvGrpSpPr/>
          <p:nvPr/>
        </p:nvGrpSpPr>
        <p:grpSpPr>
          <a:xfrm>
            <a:off x="5259253" y="2731524"/>
            <a:ext cx="2649629" cy="1186001"/>
            <a:chOff x="1306726" y="3130091"/>
            <a:chExt cx="2649629" cy="1186001"/>
          </a:xfrm>
        </p:grpSpPr>
        <p:pic>
          <p:nvPicPr>
            <p:cNvPr id="26" name="Picture 9"/>
            <p:cNvPicPr>
              <a:picLocks noChangeAspect="1" noChangeArrowheads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4608" y="3130091"/>
              <a:ext cx="2469276" cy="118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" name="그림 26"/>
            <p:cNvPicPr>
              <a:picLocks noChangeAspect="1"/>
            </p:cNvPicPr>
            <p:nvPr/>
          </p:nvPicPr>
          <p:blipFill rotWithShape="1">
            <a:blip r:embed="rId2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306726" y="3729468"/>
              <a:ext cx="648000" cy="272290"/>
            </a:xfrm>
            <a:prstGeom prst="rect">
              <a:avLst/>
            </a:prstGeom>
          </p:spPr>
        </p:pic>
        <p:pic>
          <p:nvPicPr>
            <p:cNvPr id="28" name="그림 27"/>
            <p:cNvPicPr>
              <a:picLocks noChangeAspect="1"/>
            </p:cNvPicPr>
            <p:nvPr/>
          </p:nvPicPr>
          <p:blipFill rotWithShape="1">
            <a:blip r:embed="rId2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891529" y="4053977"/>
              <a:ext cx="648000" cy="262115"/>
            </a:xfrm>
            <a:prstGeom prst="rect">
              <a:avLst/>
            </a:prstGeom>
          </p:spPr>
        </p:pic>
        <p:pic>
          <p:nvPicPr>
            <p:cNvPr id="29" name="그림 28"/>
            <p:cNvPicPr>
              <a:picLocks noChangeAspect="1"/>
            </p:cNvPicPr>
            <p:nvPr/>
          </p:nvPicPr>
          <p:blipFill rotWithShape="1">
            <a:blip r:embed="rId2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769080" y="3951458"/>
              <a:ext cx="648000" cy="314333"/>
            </a:xfrm>
            <a:prstGeom prst="rect">
              <a:avLst/>
            </a:prstGeom>
          </p:spPr>
        </p:pic>
        <p:pic>
          <p:nvPicPr>
            <p:cNvPr id="30" name="그림 29"/>
            <p:cNvPicPr>
              <a:picLocks noChangeAspect="1"/>
            </p:cNvPicPr>
            <p:nvPr/>
          </p:nvPicPr>
          <p:blipFill rotWithShape="1">
            <a:blip r:embed="rId2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308355" y="3697003"/>
              <a:ext cx="648000" cy="314227"/>
            </a:xfrm>
            <a:prstGeom prst="rect">
              <a:avLst/>
            </a:prstGeom>
          </p:spPr>
        </p:pic>
        <p:grpSp>
          <p:nvGrpSpPr>
            <p:cNvPr id="31" name="그룹 30"/>
            <p:cNvGrpSpPr/>
            <p:nvPr/>
          </p:nvGrpSpPr>
          <p:grpSpPr>
            <a:xfrm>
              <a:off x="2117424" y="3257497"/>
              <a:ext cx="995187" cy="637439"/>
              <a:chOff x="2733677" y="1938098"/>
              <a:chExt cx="995187" cy="637439"/>
            </a:xfrm>
          </p:grpSpPr>
          <p:pic>
            <p:nvPicPr>
              <p:cNvPr id="36" name="Picture 8"/>
              <p:cNvPicPr>
                <a:picLocks noChangeAspect="1" noChangeArrowheads="1"/>
              </p:cNvPicPr>
              <p:nvPr/>
            </p:nvPicPr>
            <p:blipFill>
              <a:blip r:embed="rId26" cstate="print">
                <a:extLst>
                  <a:ext uri="{BEBA8EAE-BF5A-486C-A8C5-ECC9F3942E4B}">
                    <a14:imgProps xmlns:a14="http://schemas.microsoft.com/office/drawing/2010/main">
                      <a14:imgLayer r:embed="rId27">
                        <a14:imgEffect>
                          <a14:sharpenSoften amount="43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40436" y="1999461"/>
                <a:ext cx="795321" cy="4431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7" name="타원 36"/>
              <p:cNvSpPr/>
              <p:nvPr/>
            </p:nvSpPr>
            <p:spPr bwMode="auto">
              <a:xfrm>
                <a:off x="2733677" y="1938098"/>
                <a:ext cx="995187" cy="637439"/>
              </a:xfrm>
              <a:prstGeom prst="ellipse">
                <a:avLst/>
              </a:prstGeom>
              <a:noFill/>
              <a:ln w="19050">
                <a:solidFill>
                  <a:srgbClr val="00B0F0"/>
                </a:solidFill>
                <a:miter lim="800000"/>
                <a:headEnd/>
                <a:tailEnd/>
              </a:ln>
            </p:spPr>
            <p:txBody>
              <a:bodyPr wrap="square" lIns="36000" tIns="72000" rIns="36000" bIns="72000" rtlCol="0" anchor="ctr">
                <a:noAutofit/>
              </a:bodyPr>
              <a:lstStyle/>
              <a:p>
                <a:pPr algn="ctr">
                  <a:lnSpc>
                    <a:spcPct val="12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FontTx/>
                  <a:buNone/>
                </a:pPr>
                <a:endParaRPr lang="ko-KR" altLang="en-US" sz="20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cxnSp>
          <p:nvCxnSpPr>
            <p:cNvPr id="32" name="직선 연결선 31"/>
            <p:cNvCxnSpPr/>
            <p:nvPr/>
          </p:nvCxnSpPr>
          <p:spPr bwMode="auto">
            <a:xfrm flipV="1">
              <a:off x="1944093" y="3729469"/>
              <a:ext cx="252000" cy="136144"/>
            </a:xfrm>
            <a:prstGeom prst="line">
              <a:avLst/>
            </a:prstGeom>
            <a:noFill/>
            <a:ln w="1905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" name="직선 연결선 32"/>
            <p:cNvCxnSpPr/>
            <p:nvPr/>
          </p:nvCxnSpPr>
          <p:spPr bwMode="auto">
            <a:xfrm flipV="1">
              <a:off x="2226162" y="3860603"/>
              <a:ext cx="152400" cy="172108"/>
            </a:xfrm>
            <a:prstGeom prst="line">
              <a:avLst/>
            </a:prstGeom>
            <a:noFill/>
            <a:ln w="1905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4" name="직선 연결선 33"/>
            <p:cNvCxnSpPr/>
            <p:nvPr/>
          </p:nvCxnSpPr>
          <p:spPr bwMode="auto">
            <a:xfrm flipH="1" flipV="1">
              <a:off x="2894253" y="3850171"/>
              <a:ext cx="154736" cy="158211"/>
            </a:xfrm>
            <a:prstGeom prst="line">
              <a:avLst/>
            </a:prstGeom>
            <a:noFill/>
            <a:ln w="1905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" name="직선 연결선 34"/>
            <p:cNvCxnSpPr/>
            <p:nvPr/>
          </p:nvCxnSpPr>
          <p:spPr bwMode="auto">
            <a:xfrm flipH="1" flipV="1">
              <a:off x="3067745" y="3708203"/>
              <a:ext cx="195744" cy="124648"/>
            </a:xfrm>
            <a:prstGeom prst="line">
              <a:avLst/>
            </a:prstGeom>
            <a:noFill/>
            <a:ln w="1905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8" name="직사각형 4"/>
          <p:cNvSpPr>
            <a:spLocks noChangeArrowheads="1"/>
          </p:cNvSpPr>
          <p:nvPr>
            <p:custDataLst>
              <p:tags r:id="rId8"/>
            </p:custDataLst>
          </p:nvPr>
        </p:nvSpPr>
        <p:spPr bwMode="gray">
          <a:xfrm>
            <a:off x="5090553" y="4656350"/>
            <a:ext cx="1639982" cy="391939"/>
          </a:xfrm>
          <a:prstGeom prst="roundRect">
            <a:avLst>
              <a:gd name="adj" fmla="val 50000"/>
            </a:avLst>
          </a:prstGeom>
          <a:solidFill>
            <a:srgbClr val="000000">
              <a:lumMod val="65000"/>
              <a:lumOff val="35000"/>
            </a:srgbClr>
          </a:solidFill>
          <a:ln w="12700" algn="ctr">
            <a:noFill/>
            <a:round/>
            <a:headEnd/>
            <a:tailEnd/>
          </a:ln>
        </p:spPr>
        <p:txBody>
          <a:bodyPr wrap="none" lIns="72000" tIns="72000" rIns="72000" bIns="72000" anchor="ctr"/>
          <a:lstStyle/>
          <a:p>
            <a:pPr algn="ctr" fontAlgn="auto" latinLnBrk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7D0900"/>
              </a:buClr>
              <a:buFontTx/>
              <a:buNone/>
              <a:defRPr/>
            </a:pPr>
            <a:r>
              <a:rPr kumimoji="0" lang="en-US" altLang="ko-KR" sz="2000" kern="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Conversation</a:t>
            </a:r>
          </a:p>
        </p:txBody>
      </p:sp>
      <p:sp>
        <p:nvSpPr>
          <p:cNvPr id="39" name="직사각형 4"/>
          <p:cNvSpPr>
            <a:spLocks noChangeArrowheads="1"/>
          </p:cNvSpPr>
          <p:nvPr>
            <p:custDataLst>
              <p:tags r:id="rId9"/>
            </p:custDataLst>
          </p:nvPr>
        </p:nvSpPr>
        <p:spPr bwMode="gray">
          <a:xfrm>
            <a:off x="5091082" y="5125261"/>
            <a:ext cx="1639982" cy="391939"/>
          </a:xfrm>
          <a:prstGeom prst="roundRect">
            <a:avLst>
              <a:gd name="adj" fmla="val 50000"/>
            </a:avLst>
          </a:prstGeom>
          <a:solidFill>
            <a:srgbClr val="000000">
              <a:lumMod val="65000"/>
              <a:lumOff val="35000"/>
            </a:srgbClr>
          </a:solidFill>
          <a:ln w="12700" algn="ctr">
            <a:noFill/>
            <a:round/>
            <a:headEnd/>
            <a:tailEnd/>
          </a:ln>
        </p:spPr>
        <p:txBody>
          <a:bodyPr wrap="none" lIns="72000" tIns="72000" rIns="72000" bIns="72000" anchor="ctr"/>
          <a:lstStyle/>
          <a:p>
            <a:pPr algn="ctr" fontAlgn="auto" latinLnBrk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7D0900"/>
              </a:buClr>
              <a:buFontTx/>
              <a:buNone/>
              <a:defRPr/>
            </a:pPr>
            <a:r>
              <a:rPr kumimoji="0" lang="en-US" altLang="ko-KR" sz="2000" kern="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Intelligence</a:t>
            </a:r>
          </a:p>
        </p:txBody>
      </p:sp>
      <p:sp>
        <p:nvSpPr>
          <p:cNvPr id="40" name="직사각형 4"/>
          <p:cNvSpPr>
            <a:spLocks noChangeArrowheads="1"/>
          </p:cNvSpPr>
          <p:nvPr>
            <p:custDataLst>
              <p:tags r:id="rId10"/>
            </p:custDataLst>
          </p:nvPr>
        </p:nvSpPr>
        <p:spPr bwMode="gray">
          <a:xfrm>
            <a:off x="6748442" y="4653135"/>
            <a:ext cx="1639982" cy="391939"/>
          </a:xfrm>
          <a:prstGeom prst="roundRect">
            <a:avLst>
              <a:gd name="adj" fmla="val 50000"/>
            </a:avLst>
          </a:prstGeom>
          <a:solidFill>
            <a:srgbClr val="000000">
              <a:lumMod val="65000"/>
              <a:lumOff val="35000"/>
            </a:srgbClr>
          </a:solidFill>
          <a:ln w="12700" algn="ctr">
            <a:noFill/>
            <a:round/>
            <a:headEnd/>
            <a:tailEnd/>
          </a:ln>
        </p:spPr>
        <p:txBody>
          <a:bodyPr wrap="none" lIns="72000" tIns="72000" rIns="72000" bIns="72000" anchor="ctr"/>
          <a:lstStyle/>
          <a:p>
            <a:pPr algn="ctr" fontAlgn="auto" latinLnBrk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7D0900"/>
              </a:buClr>
              <a:buFontTx/>
              <a:buNone/>
              <a:defRPr/>
            </a:pPr>
            <a:r>
              <a:rPr kumimoji="0" lang="en-US" altLang="ko-KR" sz="2000" kern="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Autonomous</a:t>
            </a:r>
          </a:p>
        </p:txBody>
      </p:sp>
      <p:sp>
        <p:nvSpPr>
          <p:cNvPr id="41" name="직사각형 4"/>
          <p:cNvSpPr>
            <a:spLocks noChangeArrowheads="1"/>
          </p:cNvSpPr>
          <p:nvPr>
            <p:custDataLst>
              <p:tags r:id="rId11"/>
            </p:custDataLst>
          </p:nvPr>
        </p:nvSpPr>
        <p:spPr bwMode="gray">
          <a:xfrm>
            <a:off x="6748442" y="5125293"/>
            <a:ext cx="1639982" cy="391939"/>
          </a:xfrm>
          <a:prstGeom prst="roundRect">
            <a:avLst>
              <a:gd name="adj" fmla="val 50000"/>
            </a:avLst>
          </a:prstGeom>
          <a:solidFill>
            <a:srgbClr val="000000">
              <a:lumMod val="65000"/>
              <a:lumOff val="35000"/>
            </a:srgbClr>
          </a:solidFill>
          <a:ln w="12700" algn="ctr">
            <a:noFill/>
            <a:round/>
            <a:headEnd/>
            <a:tailEnd/>
          </a:ln>
        </p:spPr>
        <p:txBody>
          <a:bodyPr wrap="none" lIns="72000" tIns="72000" rIns="72000" bIns="72000" anchor="ctr"/>
          <a:lstStyle/>
          <a:p>
            <a:pPr algn="ctr" fontAlgn="auto" latinLnBrk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7D0900"/>
              </a:buClr>
              <a:buFontTx/>
              <a:buNone/>
              <a:defRPr/>
            </a:pPr>
            <a:r>
              <a:rPr kumimoji="0" lang="en-US" altLang="ko-KR" sz="2000" kern="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Security</a:t>
            </a:r>
          </a:p>
        </p:txBody>
      </p:sp>
      <p:sp>
        <p:nvSpPr>
          <p:cNvPr id="42" name="직사각형 4"/>
          <p:cNvSpPr>
            <a:spLocks noChangeArrowheads="1"/>
          </p:cNvSpPr>
          <p:nvPr>
            <p:custDataLst>
              <p:tags r:id="rId12"/>
            </p:custDataLst>
          </p:nvPr>
        </p:nvSpPr>
        <p:spPr bwMode="gray">
          <a:xfrm>
            <a:off x="467544" y="5949281"/>
            <a:ext cx="8208912" cy="288032"/>
          </a:xfrm>
          <a:prstGeom prst="roundRect">
            <a:avLst>
              <a:gd name="adj" fmla="val 50000"/>
            </a:avLst>
          </a:prstGeom>
          <a:solidFill>
            <a:srgbClr val="FFFFFF">
              <a:lumMod val="75000"/>
            </a:srgbClr>
          </a:solidFill>
          <a:ln w="12700" cmpd="sng" algn="ctr">
            <a:solidFill>
              <a:srgbClr val="FFFFFF">
                <a:lumMod val="50000"/>
              </a:srgbClr>
            </a:solidFill>
            <a:round/>
            <a:headEnd/>
            <a:tailEnd/>
          </a:ln>
        </p:spPr>
        <p:txBody>
          <a:bodyPr wrap="none" lIns="72000" tIns="72000" rIns="72000" bIns="72000" anchor="ctr"/>
          <a:lstStyle/>
          <a:p>
            <a:pPr algn="ctr" fontAlgn="auto" latinLnBrk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7D0900"/>
              </a:buClr>
              <a:buFontTx/>
              <a:buNone/>
              <a:defRPr/>
            </a:pPr>
            <a:r>
              <a:rPr kumimoji="0" lang="en-US" altLang="ko-KR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Cloud</a:t>
            </a:r>
          </a:p>
        </p:txBody>
      </p:sp>
      <p:pic>
        <p:nvPicPr>
          <p:cNvPr id="43" name="Picture 8"/>
          <p:cNvPicPr>
            <a:picLocks noChangeAspect="1" noChangeArrowheads="1"/>
          </p:cNvPicPr>
          <p:nvPr/>
        </p:nvPicPr>
        <p:blipFill>
          <a:blip r:embed="rId28" cstate="print">
            <a:clrChange>
              <a:clrFrom>
                <a:srgbClr val="F5F5F5"/>
              </a:clrFrom>
              <a:clrTo>
                <a:srgbClr val="F5F5F5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sharpenSoften amount="43000"/>
                    </a14:imgEffect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9469" y="5157192"/>
            <a:ext cx="1292048" cy="719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" name="Picture 2" descr="P:\Users\09525\Desktop\윤진호\01.물류플랫폼\00.통합물류플랫폼\KEROL이미지\케롤 BI.PNG"/>
          <p:cNvPicPr>
            <a:picLocks noChangeAspect="1" noChangeArrowheads="1"/>
          </p:cNvPicPr>
          <p:nvPr/>
        </p:nvPicPr>
        <p:blipFill rotWithShape="1"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33" r="58711" b="48724"/>
          <a:stretch/>
        </p:blipFill>
        <p:spPr bwMode="auto">
          <a:xfrm>
            <a:off x="3806362" y="3573016"/>
            <a:ext cx="1566984" cy="1428189"/>
          </a:xfrm>
          <a:prstGeom prst="rect">
            <a:avLst/>
          </a:prstGeom>
          <a:noFill/>
          <a:extLst/>
        </p:spPr>
      </p:pic>
      <p:sp>
        <p:nvSpPr>
          <p:cNvPr id="45" name="TextBox 44"/>
          <p:cNvSpPr txBox="1"/>
          <p:nvPr/>
        </p:nvSpPr>
        <p:spPr>
          <a:xfrm>
            <a:off x="4076993" y="4365148"/>
            <a:ext cx="9832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KEROL</a:t>
            </a:r>
            <a:endParaRPr lang="ko-KR" altLang="en-US" sz="2000" b="1" dirty="0" err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양쪽 모서리가 둥근 사각형 45"/>
          <p:cNvSpPr/>
          <p:nvPr/>
        </p:nvSpPr>
        <p:spPr bwMode="auto">
          <a:xfrm flipH="1">
            <a:off x="288556" y="1491810"/>
            <a:ext cx="8603924" cy="5033534"/>
          </a:xfrm>
          <a:prstGeom prst="round2SameRect">
            <a:avLst>
              <a:gd name="adj1" fmla="val 0"/>
              <a:gd name="adj2" fmla="val 0"/>
            </a:avLst>
          </a:prstGeom>
          <a:noFill/>
          <a:ln w="19050" cap="flat" cmpd="sng" algn="ctr">
            <a:solidFill>
              <a:srgbClr val="0FABE3"/>
            </a:solidFill>
            <a:prstDash val="solid"/>
          </a:ln>
          <a:effectLst>
            <a:outerShdw dist="12700" dir="5400000" algn="t" rotWithShape="0">
              <a:srgbClr val="A9C5D3">
                <a:alpha val="80000"/>
              </a:srgbClr>
            </a:outerShdw>
          </a:effectLst>
        </p:spPr>
        <p:txBody>
          <a:bodyPr lIns="90000" tIns="72000" rIns="90000" bIns="0"/>
          <a:lstStyle/>
          <a:p>
            <a:pPr marL="82538" lvl="2" eaLnBrk="0" latinLnBrk="0" hangingPunct="0">
              <a:spcAft>
                <a:spcPts val="240"/>
              </a:spcAft>
            </a:pPr>
            <a:endParaRPr lang="en-US" altLang="ko-KR" sz="1000" kern="0" dirty="0">
              <a:solidFill>
                <a:prstClr val="black">
                  <a:lumMod val="75000"/>
                  <a:lumOff val="25000"/>
                </a:prstClr>
              </a:solidFill>
              <a:latin typeface="Rix고딕 L" panose="02020603020101020101" pitchFamily="18" charset="-127"/>
              <a:ea typeface="Rix고딕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0775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69EC0D0-E57F-45C7-B228-A343C9E029FB}" type="slidenum">
              <a:rPr lang="en-US" altLang="ko-KR" smtClean="0"/>
              <a:pPr>
                <a:defRPr/>
              </a:pPr>
              <a:t>4</a:t>
            </a:fld>
            <a:r>
              <a:rPr lang="en-US" altLang="ko-KR" sz="1000"/>
              <a:t>/4-</a:t>
            </a:r>
            <a:endParaRPr lang="en-US" altLang="ko-KR" sz="1000" dirty="0"/>
          </a:p>
        </p:txBody>
      </p:sp>
      <p:sp>
        <p:nvSpPr>
          <p:cNvPr id="99" name="AutoShape 140"/>
          <p:cNvSpPr>
            <a:spLocks noChangeArrowheads="1"/>
          </p:cNvSpPr>
          <p:nvPr/>
        </p:nvSpPr>
        <p:spPr bwMode="auto">
          <a:xfrm>
            <a:off x="197399" y="1722413"/>
            <a:ext cx="1512167" cy="303845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defTabSz="1042988" eaLnBrk="0" latinLnBrk="0" hangingPunct="0">
              <a:buClr>
                <a:prstClr val="black">
                  <a:lumMod val="85000"/>
                  <a:lumOff val="15000"/>
                </a:prstClr>
              </a:buClr>
              <a:buSzPct val="80000"/>
              <a:tabLst>
                <a:tab pos="5648325" algn="l"/>
              </a:tabLst>
            </a:pPr>
            <a:r>
              <a:rPr lang="en-US" altLang="ko-KR" sz="100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Monotype Sorts"/>
              </a:rPr>
              <a:t>Customer Order Type</a:t>
            </a:r>
            <a:endParaRPr lang="ko-KR" altLang="en-US" sz="100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Monotype Sorts"/>
            </a:endParaRPr>
          </a:p>
        </p:txBody>
      </p:sp>
      <p:sp>
        <p:nvSpPr>
          <p:cNvPr id="102" name="AutoShape 140"/>
          <p:cNvSpPr>
            <a:spLocks noChangeArrowheads="1"/>
          </p:cNvSpPr>
          <p:nvPr/>
        </p:nvSpPr>
        <p:spPr bwMode="auto">
          <a:xfrm>
            <a:off x="197399" y="1318796"/>
            <a:ext cx="1512167" cy="303845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>
            <a:defPPr>
              <a:defRPr lang="ko-KR"/>
            </a:defPPr>
            <a:lvl1pPr marL="0" algn="l" defTabSz="93598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67990" algn="l" defTabSz="93598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35980" algn="l" defTabSz="93598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403970" algn="l" defTabSz="93598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71960" algn="l" defTabSz="93598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339950" algn="l" defTabSz="93598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807940" algn="l" defTabSz="93598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75929" algn="l" defTabSz="93598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743919" algn="l" defTabSz="93598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042988" eaLnBrk="0" latinLnBrk="0" hangingPunct="0">
              <a:buClr>
                <a:prstClr val="black">
                  <a:lumMod val="85000"/>
                  <a:lumOff val="15000"/>
                </a:prstClr>
              </a:buClr>
              <a:buSzPct val="80000"/>
              <a:tabLst>
                <a:tab pos="5648325" algn="l"/>
              </a:tabLst>
              <a:defRPr/>
            </a:pPr>
            <a:r>
              <a:rPr lang="en-US" altLang="ko-KR" sz="100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Monotype Sorts"/>
              </a:rPr>
              <a:t>Order Type</a:t>
            </a:r>
            <a:endParaRPr lang="ko-KR" altLang="en-US" sz="100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Monotype Sorts"/>
            </a:endParaRPr>
          </a:p>
        </p:txBody>
      </p:sp>
      <p:grpSp>
        <p:nvGrpSpPr>
          <p:cNvPr id="204" name="그룹 203"/>
          <p:cNvGrpSpPr/>
          <p:nvPr/>
        </p:nvGrpSpPr>
        <p:grpSpPr>
          <a:xfrm>
            <a:off x="197399" y="894277"/>
            <a:ext cx="1584176" cy="277266"/>
            <a:chOff x="323528" y="1160947"/>
            <a:chExt cx="1584176" cy="277266"/>
          </a:xfrm>
        </p:grpSpPr>
        <p:sp>
          <p:nvSpPr>
            <p:cNvPr id="137" name="모서리가 둥근 직사각형 136"/>
            <p:cNvSpPr/>
            <p:nvPr/>
          </p:nvSpPr>
          <p:spPr>
            <a:xfrm>
              <a:off x="323528" y="1160947"/>
              <a:ext cx="1584176" cy="277266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42" name="직사각형 99"/>
            <p:cNvSpPr>
              <a:spLocks noChangeArrowheads="1"/>
            </p:cNvSpPr>
            <p:nvPr/>
          </p:nvSpPr>
          <p:spPr bwMode="auto">
            <a:xfrm>
              <a:off x="539553" y="1228165"/>
              <a:ext cx="1240824" cy="153888"/>
            </a:xfrm>
            <a:prstGeom prst="rect">
              <a:avLst/>
            </a:prstGeom>
            <a:extLst/>
          </p:spPr>
          <p:txBody>
            <a:bodyPr wrap="square" lIns="0" tIns="0" rIns="0" bIns="0" anchor="ctr">
              <a:spAutoFit/>
            </a:bodyPr>
            <a:lstStyle/>
            <a:p>
              <a:pPr algn="ctr">
                <a:buClr>
                  <a:prstClr val="white">
                    <a:lumMod val="65000"/>
                  </a:prstClr>
                </a:buClr>
                <a:buSzPct val="80000"/>
              </a:pPr>
              <a:r>
                <a:rPr lang="ko-KR" altLang="en-US" sz="1000" spc="-10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기준 정보 관리</a:t>
              </a:r>
            </a:p>
          </p:txBody>
        </p:sp>
      </p:grpSp>
      <p:cxnSp>
        <p:nvCxnSpPr>
          <p:cNvPr id="156" name="직선 연결선 155"/>
          <p:cNvCxnSpPr/>
          <p:nvPr/>
        </p:nvCxnSpPr>
        <p:spPr>
          <a:xfrm>
            <a:off x="-2772816" y="1494967"/>
            <a:ext cx="0" cy="163226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AutoShape 140"/>
          <p:cNvSpPr>
            <a:spLocks noChangeArrowheads="1"/>
          </p:cNvSpPr>
          <p:nvPr/>
        </p:nvSpPr>
        <p:spPr bwMode="auto">
          <a:xfrm>
            <a:off x="247514" y="4233513"/>
            <a:ext cx="1512167" cy="303845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defTabSz="1042988" eaLnBrk="0" latinLnBrk="0" hangingPunct="0">
              <a:buClr>
                <a:prstClr val="black">
                  <a:lumMod val="85000"/>
                  <a:lumOff val="15000"/>
                </a:prstClr>
              </a:buClr>
              <a:buSzPct val="80000"/>
              <a:tabLst>
                <a:tab pos="5648325" algn="l"/>
              </a:tabLst>
            </a:pPr>
            <a:r>
              <a:rPr lang="en-US" altLang="ko-KR" sz="100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Monotype Sorts"/>
              </a:rPr>
              <a:t> C/O List (Forwarding)</a:t>
            </a:r>
            <a:endParaRPr lang="ko-KR" altLang="en-US" sz="100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Monotype Sorts"/>
            </a:endParaRPr>
          </a:p>
        </p:txBody>
      </p:sp>
      <p:sp>
        <p:nvSpPr>
          <p:cNvPr id="159" name="AutoShape 140"/>
          <p:cNvSpPr>
            <a:spLocks noChangeArrowheads="1"/>
          </p:cNvSpPr>
          <p:nvPr/>
        </p:nvSpPr>
        <p:spPr bwMode="auto">
          <a:xfrm>
            <a:off x="247514" y="3897433"/>
            <a:ext cx="1512167" cy="303845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defTabSz="1042988" eaLnBrk="0" latinLnBrk="0" hangingPunct="0">
              <a:buClr>
                <a:prstClr val="black">
                  <a:lumMod val="85000"/>
                  <a:lumOff val="15000"/>
                </a:prstClr>
              </a:buClr>
              <a:buSzPct val="80000"/>
              <a:tabLst>
                <a:tab pos="5648325" algn="l"/>
              </a:tabLst>
            </a:pPr>
            <a:r>
              <a:rPr lang="en-US" altLang="ko-KR" sz="100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Monotype Sorts"/>
              </a:rPr>
              <a:t> C/O Entry (Domestic)</a:t>
            </a:r>
            <a:endParaRPr lang="ko-KR" altLang="en-US" sz="100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Monotype Sorts"/>
            </a:endParaRPr>
          </a:p>
        </p:txBody>
      </p:sp>
      <p:grpSp>
        <p:nvGrpSpPr>
          <p:cNvPr id="207" name="그룹 206"/>
          <p:cNvGrpSpPr/>
          <p:nvPr/>
        </p:nvGrpSpPr>
        <p:grpSpPr>
          <a:xfrm>
            <a:off x="2223260" y="3839080"/>
            <a:ext cx="1584176" cy="277266"/>
            <a:chOff x="323528" y="1160947"/>
            <a:chExt cx="1584176" cy="277266"/>
          </a:xfrm>
        </p:grpSpPr>
        <p:sp>
          <p:nvSpPr>
            <p:cNvPr id="208" name="모서리가 둥근 직사각형 207"/>
            <p:cNvSpPr/>
            <p:nvPr/>
          </p:nvSpPr>
          <p:spPr>
            <a:xfrm>
              <a:off x="323528" y="1160947"/>
              <a:ext cx="1584176" cy="277266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09" name="직사각형 99"/>
            <p:cNvSpPr>
              <a:spLocks noChangeArrowheads="1"/>
            </p:cNvSpPr>
            <p:nvPr/>
          </p:nvSpPr>
          <p:spPr bwMode="auto">
            <a:xfrm>
              <a:off x="539553" y="1228165"/>
              <a:ext cx="1240824" cy="153888"/>
            </a:xfrm>
            <a:prstGeom prst="rect">
              <a:avLst/>
            </a:prstGeom>
            <a:extLst/>
          </p:spPr>
          <p:txBody>
            <a:bodyPr wrap="square" lIns="0" tIns="0" rIns="0" bIns="0" anchor="ctr">
              <a:spAutoFit/>
            </a:bodyPr>
            <a:lstStyle/>
            <a:p>
              <a:pPr algn="ctr">
                <a:buClr>
                  <a:prstClr val="white">
                    <a:lumMod val="65000"/>
                  </a:prstClr>
                </a:buClr>
                <a:buSzPct val="80000"/>
              </a:pPr>
              <a:r>
                <a:rPr lang="ko-KR" altLang="en-US" sz="1000" spc="-10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오더 진행 관리</a:t>
              </a:r>
            </a:p>
          </p:txBody>
        </p:sp>
      </p:grpSp>
      <p:grpSp>
        <p:nvGrpSpPr>
          <p:cNvPr id="219" name="그룹 218"/>
          <p:cNvGrpSpPr/>
          <p:nvPr/>
        </p:nvGrpSpPr>
        <p:grpSpPr>
          <a:xfrm>
            <a:off x="148650" y="2580581"/>
            <a:ext cx="1584176" cy="277266"/>
            <a:chOff x="323528" y="1160947"/>
            <a:chExt cx="1584176" cy="277266"/>
          </a:xfrm>
        </p:grpSpPr>
        <p:sp>
          <p:nvSpPr>
            <p:cNvPr id="220" name="모서리가 둥근 직사각형 219"/>
            <p:cNvSpPr/>
            <p:nvPr/>
          </p:nvSpPr>
          <p:spPr>
            <a:xfrm>
              <a:off x="323528" y="1160947"/>
              <a:ext cx="1584176" cy="277266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21" name="직사각형 99"/>
            <p:cNvSpPr>
              <a:spLocks noChangeArrowheads="1"/>
            </p:cNvSpPr>
            <p:nvPr/>
          </p:nvSpPr>
          <p:spPr bwMode="auto">
            <a:xfrm>
              <a:off x="539553" y="1228165"/>
              <a:ext cx="1240824" cy="153888"/>
            </a:xfrm>
            <a:prstGeom prst="rect">
              <a:avLst/>
            </a:prstGeom>
            <a:extLst/>
          </p:spPr>
          <p:txBody>
            <a:bodyPr wrap="square" lIns="0" tIns="0" rIns="0" bIns="0" anchor="ctr">
              <a:spAutoFit/>
            </a:bodyPr>
            <a:lstStyle/>
            <a:p>
              <a:pPr algn="ctr">
                <a:buClr>
                  <a:prstClr val="white">
                    <a:lumMod val="65000"/>
                  </a:prstClr>
                </a:buClr>
                <a:buSzPct val="80000"/>
              </a:pPr>
              <a:r>
                <a:rPr lang="ko-KR" altLang="en-US" sz="1000" spc="-10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사전 정보 관리</a:t>
              </a:r>
            </a:p>
          </p:txBody>
        </p:sp>
      </p:grpSp>
      <p:grpSp>
        <p:nvGrpSpPr>
          <p:cNvPr id="237" name="그룹 236"/>
          <p:cNvGrpSpPr/>
          <p:nvPr/>
        </p:nvGrpSpPr>
        <p:grpSpPr>
          <a:xfrm>
            <a:off x="148650" y="3176319"/>
            <a:ext cx="1584176" cy="277266"/>
            <a:chOff x="323528" y="1160947"/>
            <a:chExt cx="1584176" cy="277266"/>
          </a:xfrm>
        </p:grpSpPr>
        <p:sp>
          <p:nvSpPr>
            <p:cNvPr id="238" name="모서리가 둥근 직사각형 237"/>
            <p:cNvSpPr/>
            <p:nvPr/>
          </p:nvSpPr>
          <p:spPr>
            <a:xfrm>
              <a:off x="323528" y="1160947"/>
              <a:ext cx="1584176" cy="277266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39" name="직사각형 99"/>
            <p:cNvSpPr>
              <a:spLocks noChangeArrowheads="1"/>
            </p:cNvSpPr>
            <p:nvPr/>
          </p:nvSpPr>
          <p:spPr bwMode="auto">
            <a:xfrm>
              <a:off x="539553" y="1228165"/>
              <a:ext cx="1240824" cy="153888"/>
            </a:xfrm>
            <a:prstGeom prst="rect">
              <a:avLst/>
            </a:prstGeom>
            <a:extLst/>
          </p:spPr>
          <p:txBody>
            <a:bodyPr wrap="square" lIns="0" tIns="0" rIns="0" bIns="0" anchor="ctr">
              <a:spAutoFit/>
            </a:bodyPr>
            <a:lstStyle/>
            <a:p>
              <a:pPr algn="ctr">
                <a:buClr>
                  <a:prstClr val="white">
                    <a:lumMod val="65000"/>
                  </a:prstClr>
                </a:buClr>
                <a:buSzPct val="80000"/>
              </a:pPr>
              <a:r>
                <a:rPr lang="ko-KR" altLang="en-US" sz="1000" spc="-10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 오더 관리</a:t>
              </a:r>
            </a:p>
          </p:txBody>
        </p:sp>
      </p:grpSp>
      <p:grpSp>
        <p:nvGrpSpPr>
          <p:cNvPr id="252" name="그룹 251"/>
          <p:cNvGrpSpPr/>
          <p:nvPr/>
        </p:nvGrpSpPr>
        <p:grpSpPr>
          <a:xfrm>
            <a:off x="2303612" y="894277"/>
            <a:ext cx="1584176" cy="277266"/>
            <a:chOff x="323528" y="1160947"/>
            <a:chExt cx="1584176" cy="277266"/>
          </a:xfrm>
        </p:grpSpPr>
        <p:sp>
          <p:nvSpPr>
            <p:cNvPr id="253" name="모서리가 둥근 직사각형 252"/>
            <p:cNvSpPr/>
            <p:nvPr/>
          </p:nvSpPr>
          <p:spPr>
            <a:xfrm>
              <a:off x="323528" y="1160947"/>
              <a:ext cx="1584176" cy="277266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4" name="직사각형 99"/>
            <p:cNvSpPr>
              <a:spLocks noChangeArrowheads="1"/>
            </p:cNvSpPr>
            <p:nvPr/>
          </p:nvSpPr>
          <p:spPr bwMode="auto">
            <a:xfrm>
              <a:off x="539553" y="1228165"/>
              <a:ext cx="1240824" cy="153888"/>
            </a:xfrm>
            <a:prstGeom prst="rect">
              <a:avLst/>
            </a:prstGeom>
            <a:extLst/>
          </p:spPr>
          <p:txBody>
            <a:bodyPr wrap="square" lIns="0" tIns="0" rIns="0" bIns="0" anchor="ctr">
              <a:spAutoFit/>
            </a:bodyPr>
            <a:lstStyle/>
            <a:p>
              <a:pPr algn="ctr">
                <a:buClr>
                  <a:prstClr val="white">
                    <a:lumMod val="65000"/>
                  </a:prstClr>
                </a:buClr>
                <a:buSzPct val="80000"/>
              </a:pPr>
              <a:r>
                <a:rPr lang="ko-KR" altLang="en-US" sz="1000" spc="-10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오더 생성 관리</a:t>
              </a:r>
            </a:p>
          </p:txBody>
        </p:sp>
      </p:grpSp>
      <p:sp>
        <p:nvSpPr>
          <p:cNvPr id="273" name="AutoShape 140"/>
          <p:cNvSpPr>
            <a:spLocks noChangeArrowheads="1"/>
          </p:cNvSpPr>
          <p:nvPr/>
        </p:nvSpPr>
        <p:spPr bwMode="auto">
          <a:xfrm>
            <a:off x="239172" y="4584044"/>
            <a:ext cx="1512167" cy="303845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defTabSz="1042988" eaLnBrk="0" latinLnBrk="0" hangingPunct="0">
              <a:buClr>
                <a:prstClr val="black">
                  <a:lumMod val="85000"/>
                  <a:lumOff val="15000"/>
                </a:prstClr>
              </a:buClr>
              <a:buSzPct val="80000"/>
              <a:tabLst>
                <a:tab pos="5648325" algn="l"/>
              </a:tabLst>
            </a:pPr>
            <a:r>
              <a:rPr lang="en-US" altLang="ko-KR" sz="100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Monotype Sorts"/>
              </a:rPr>
              <a:t>  C/O Entry (Forwarding)</a:t>
            </a:r>
            <a:endParaRPr lang="ko-KR" altLang="en-US" sz="100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Monotype Sorts"/>
            </a:endParaRPr>
          </a:p>
        </p:txBody>
      </p:sp>
      <p:sp>
        <p:nvSpPr>
          <p:cNvPr id="276" name="AutoShape 140"/>
          <p:cNvSpPr>
            <a:spLocks noChangeArrowheads="1"/>
          </p:cNvSpPr>
          <p:nvPr/>
        </p:nvSpPr>
        <p:spPr bwMode="auto">
          <a:xfrm>
            <a:off x="2303612" y="1754648"/>
            <a:ext cx="1512167" cy="303845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defTabSz="1042988" eaLnBrk="0" latinLnBrk="0" hangingPunct="0">
              <a:buClr>
                <a:prstClr val="black">
                  <a:lumMod val="85000"/>
                  <a:lumOff val="15000"/>
                </a:prstClr>
              </a:buClr>
              <a:buSzPct val="80000"/>
              <a:tabLst>
                <a:tab pos="5648325" algn="l"/>
              </a:tabLst>
            </a:pPr>
            <a:r>
              <a:rPr lang="en-US" altLang="ko-KR" sz="100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Monotype Sorts"/>
              </a:rPr>
              <a:t>C/O Job List (Forwarding)</a:t>
            </a:r>
            <a:endParaRPr lang="ko-KR" altLang="en-US" sz="100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Monotype Sorts"/>
            </a:endParaRPr>
          </a:p>
        </p:txBody>
      </p:sp>
      <p:sp>
        <p:nvSpPr>
          <p:cNvPr id="277" name="AutoShape 140"/>
          <p:cNvSpPr>
            <a:spLocks noChangeArrowheads="1"/>
          </p:cNvSpPr>
          <p:nvPr/>
        </p:nvSpPr>
        <p:spPr bwMode="auto">
          <a:xfrm>
            <a:off x="2303612" y="1418568"/>
            <a:ext cx="1512167" cy="303845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defTabSz="1042988" eaLnBrk="0" latinLnBrk="0" hangingPunct="0">
              <a:buClr>
                <a:prstClr val="black">
                  <a:lumMod val="85000"/>
                  <a:lumOff val="15000"/>
                </a:prstClr>
              </a:buClr>
              <a:buSzPct val="80000"/>
              <a:tabLst>
                <a:tab pos="5648325" algn="l"/>
              </a:tabLst>
            </a:pPr>
            <a:r>
              <a:rPr lang="en-US" altLang="ko-KR" sz="100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Monotype Sorts"/>
              </a:rPr>
              <a:t>C/O Job List (Domestic)</a:t>
            </a:r>
            <a:endParaRPr lang="ko-KR" altLang="en-US" sz="100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Monotype Sorts"/>
            </a:endParaRPr>
          </a:p>
        </p:txBody>
      </p:sp>
      <p:sp>
        <p:nvSpPr>
          <p:cNvPr id="278" name="AutoShape 140"/>
          <p:cNvSpPr>
            <a:spLocks noChangeArrowheads="1"/>
          </p:cNvSpPr>
          <p:nvPr/>
        </p:nvSpPr>
        <p:spPr bwMode="auto">
          <a:xfrm>
            <a:off x="2295270" y="2105179"/>
            <a:ext cx="1512167" cy="303845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defTabSz="1042988" eaLnBrk="0" latinLnBrk="0" hangingPunct="0">
              <a:buClr>
                <a:prstClr val="black">
                  <a:lumMod val="85000"/>
                  <a:lumOff val="15000"/>
                </a:prstClr>
              </a:buClr>
              <a:buSzPct val="80000"/>
              <a:tabLst>
                <a:tab pos="5648325" algn="l"/>
              </a:tabLst>
            </a:pPr>
            <a:r>
              <a:rPr lang="en-US" altLang="ko-KR" sz="100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Monotype Sorts"/>
              </a:rPr>
              <a:t>S/O List (Domestic)</a:t>
            </a:r>
            <a:endParaRPr lang="ko-KR" altLang="en-US" sz="100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Monotype Sorts"/>
            </a:endParaRPr>
          </a:p>
        </p:txBody>
      </p:sp>
      <p:sp>
        <p:nvSpPr>
          <p:cNvPr id="280" name="AutoShape 5"/>
          <p:cNvSpPr>
            <a:spLocks noChangeArrowheads="1"/>
          </p:cNvSpPr>
          <p:nvPr/>
        </p:nvSpPr>
        <p:spPr bwMode="auto">
          <a:xfrm>
            <a:off x="395288" y="260648"/>
            <a:ext cx="6985000" cy="387350"/>
          </a:xfrm>
          <a:prstGeom prst="roundRect">
            <a:avLst>
              <a:gd name="adj" fmla="val 16667"/>
            </a:avLst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2.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기능 구성</a:t>
            </a:r>
          </a:p>
        </p:txBody>
      </p:sp>
      <p:sp>
        <p:nvSpPr>
          <p:cNvPr id="281" name="AutoShape 193"/>
          <p:cNvSpPr>
            <a:spLocks/>
          </p:cNvSpPr>
          <p:nvPr/>
        </p:nvSpPr>
        <p:spPr bwMode="auto">
          <a:xfrm>
            <a:off x="70184" y="764704"/>
            <a:ext cx="9002695" cy="5755032"/>
          </a:xfrm>
          <a:prstGeom prst="roundRect">
            <a:avLst>
              <a:gd name="adj" fmla="val 2880"/>
            </a:avLst>
          </a:prstGeom>
          <a:noFill/>
          <a:ln w="635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ko-KR" sz="800" spc="-51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Gill Sans" charset="0"/>
            </a:endParaRPr>
          </a:p>
        </p:txBody>
      </p:sp>
      <p:sp>
        <p:nvSpPr>
          <p:cNvPr id="106" name="AutoShape 140"/>
          <p:cNvSpPr>
            <a:spLocks noChangeArrowheads="1"/>
          </p:cNvSpPr>
          <p:nvPr/>
        </p:nvSpPr>
        <p:spPr bwMode="auto">
          <a:xfrm>
            <a:off x="195483" y="2116417"/>
            <a:ext cx="1512167" cy="303845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defTabSz="1042988" eaLnBrk="0" latinLnBrk="0" hangingPunct="0">
              <a:buClr>
                <a:prstClr val="black">
                  <a:lumMod val="85000"/>
                  <a:lumOff val="15000"/>
                </a:prstClr>
              </a:buClr>
              <a:buSzPct val="80000"/>
              <a:tabLst>
                <a:tab pos="5648325" algn="l"/>
              </a:tabLst>
            </a:pPr>
            <a:r>
              <a:rPr lang="en-US" altLang="ko-KR" sz="100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Monotype Sorts"/>
              </a:rPr>
              <a:t>S/O Control</a:t>
            </a:r>
            <a:endParaRPr lang="ko-KR" altLang="en-US" sz="100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Monotype Sorts"/>
            </a:endParaRPr>
          </a:p>
        </p:txBody>
      </p:sp>
      <p:sp>
        <p:nvSpPr>
          <p:cNvPr id="107" name="AutoShape 140"/>
          <p:cNvSpPr>
            <a:spLocks noChangeArrowheads="1"/>
          </p:cNvSpPr>
          <p:nvPr/>
        </p:nvSpPr>
        <p:spPr bwMode="auto">
          <a:xfrm>
            <a:off x="247514" y="3535235"/>
            <a:ext cx="1512167" cy="303845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defTabSz="1042988" eaLnBrk="0" latinLnBrk="0" hangingPunct="0">
              <a:buClr>
                <a:prstClr val="black">
                  <a:lumMod val="85000"/>
                  <a:lumOff val="15000"/>
                </a:prstClr>
              </a:buClr>
              <a:buSzPct val="80000"/>
              <a:tabLst>
                <a:tab pos="5648325" algn="l"/>
              </a:tabLst>
            </a:pPr>
            <a:r>
              <a:rPr lang="en-US" altLang="ko-KR" sz="100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Monotype Sorts"/>
              </a:rPr>
              <a:t>C/O List (Domestic)</a:t>
            </a:r>
            <a:endParaRPr lang="ko-KR" altLang="en-US" sz="100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Monotype Sorts"/>
            </a:endParaRPr>
          </a:p>
        </p:txBody>
      </p:sp>
      <p:sp>
        <p:nvSpPr>
          <p:cNvPr id="108" name="AutoShape 140"/>
          <p:cNvSpPr>
            <a:spLocks noChangeArrowheads="1"/>
          </p:cNvSpPr>
          <p:nvPr/>
        </p:nvSpPr>
        <p:spPr bwMode="auto">
          <a:xfrm>
            <a:off x="2295270" y="2480152"/>
            <a:ext cx="1512167" cy="303845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defTabSz="1042988" eaLnBrk="0" latinLnBrk="0" hangingPunct="0">
              <a:buClr>
                <a:prstClr val="black">
                  <a:lumMod val="85000"/>
                  <a:lumOff val="15000"/>
                </a:prstClr>
              </a:buClr>
              <a:buSzPct val="80000"/>
              <a:tabLst>
                <a:tab pos="5648325" algn="l"/>
              </a:tabLst>
            </a:pPr>
            <a:r>
              <a:rPr lang="en-US" altLang="ko-KR" sz="100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Monotype Sorts"/>
              </a:rPr>
              <a:t>S/O Entry (Domestic)</a:t>
            </a:r>
            <a:endParaRPr lang="ko-KR" altLang="en-US" sz="100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Monotype Sorts"/>
            </a:endParaRPr>
          </a:p>
        </p:txBody>
      </p:sp>
      <p:sp>
        <p:nvSpPr>
          <p:cNvPr id="109" name="AutoShape 140"/>
          <p:cNvSpPr>
            <a:spLocks noChangeArrowheads="1"/>
          </p:cNvSpPr>
          <p:nvPr/>
        </p:nvSpPr>
        <p:spPr bwMode="auto">
          <a:xfrm>
            <a:off x="2295269" y="3200260"/>
            <a:ext cx="1512167" cy="303845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defTabSz="1042988" eaLnBrk="0" latinLnBrk="0" hangingPunct="0">
              <a:buClr>
                <a:prstClr val="black">
                  <a:lumMod val="85000"/>
                  <a:lumOff val="15000"/>
                </a:prstClr>
              </a:buClr>
              <a:buSzPct val="80000"/>
              <a:tabLst>
                <a:tab pos="5648325" algn="l"/>
              </a:tabLst>
            </a:pPr>
            <a:r>
              <a:rPr lang="en-US" altLang="ko-KR" sz="100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Monotype Sorts"/>
              </a:rPr>
              <a:t> S/O Entry (Forwarding)</a:t>
            </a:r>
            <a:endParaRPr lang="ko-KR" altLang="en-US" sz="100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Monotype Sorts"/>
            </a:endParaRPr>
          </a:p>
        </p:txBody>
      </p:sp>
      <p:sp>
        <p:nvSpPr>
          <p:cNvPr id="110" name="AutoShape 140"/>
          <p:cNvSpPr>
            <a:spLocks noChangeArrowheads="1"/>
          </p:cNvSpPr>
          <p:nvPr/>
        </p:nvSpPr>
        <p:spPr bwMode="auto">
          <a:xfrm>
            <a:off x="2303612" y="2840206"/>
            <a:ext cx="1512167" cy="303845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defTabSz="1042988" eaLnBrk="0" latinLnBrk="0" hangingPunct="0">
              <a:buClr>
                <a:prstClr val="black">
                  <a:lumMod val="85000"/>
                  <a:lumOff val="15000"/>
                </a:prstClr>
              </a:buClr>
              <a:buSzPct val="80000"/>
              <a:tabLst>
                <a:tab pos="5648325" algn="l"/>
              </a:tabLst>
            </a:pPr>
            <a:r>
              <a:rPr lang="en-US" altLang="ko-KR" sz="100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Monotype Sorts"/>
              </a:rPr>
              <a:t>S/O List (Forwarding)</a:t>
            </a:r>
            <a:endParaRPr lang="ko-KR" altLang="en-US" sz="100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Monotype Sorts"/>
            </a:endParaRPr>
          </a:p>
        </p:txBody>
      </p:sp>
      <p:sp>
        <p:nvSpPr>
          <p:cNvPr id="111" name="AutoShape 140"/>
          <p:cNvSpPr>
            <a:spLocks noChangeArrowheads="1"/>
          </p:cNvSpPr>
          <p:nvPr/>
        </p:nvSpPr>
        <p:spPr bwMode="auto">
          <a:xfrm>
            <a:off x="2249948" y="4233513"/>
            <a:ext cx="1512167" cy="303845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defTabSz="1042988" eaLnBrk="0" latinLnBrk="0" hangingPunct="0">
              <a:buClr>
                <a:prstClr val="black">
                  <a:lumMod val="85000"/>
                  <a:lumOff val="15000"/>
                </a:prstClr>
              </a:buClr>
              <a:buSzPct val="80000"/>
              <a:tabLst>
                <a:tab pos="5648325" algn="l"/>
              </a:tabLst>
            </a:pPr>
            <a:r>
              <a:rPr lang="en-US" altLang="ko-KR" sz="100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Monotype Sorts"/>
              </a:rPr>
              <a:t>S/O List (Domestic)</a:t>
            </a:r>
            <a:endParaRPr lang="ko-KR" altLang="en-US" sz="100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Monotype Sorts"/>
            </a:endParaRPr>
          </a:p>
        </p:txBody>
      </p:sp>
      <p:sp>
        <p:nvSpPr>
          <p:cNvPr id="112" name="AutoShape 140"/>
          <p:cNvSpPr>
            <a:spLocks noChangeArrowheads="1"/>
          </p:cNvSpPr>
          <p:nvPr/>
        </p:nvSpPr>
        <p:spPr bwMode="auto">
          <a:xfrm>
            <a:off x="2249948" y="4607522"/>
            <a:ext cx="1512167" cy="303845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defTabSz="1042988" eaLnBrk="0" latinLnBrk="0" hangingPunct="0">
              <a:buClr>
                <a:prstClr val="black">
                  <a:lumMod val="85000"/>
                  <a:lumOff val="15000"/>
                </a:prstClr>
              </a:buClr>
              <a:buSzPct val="80000"/>
              <a:tabLst>
                <a:tab pos="5648325" algn="l"/>
              </a:tabLst>
            </a:pPr>
            <a:r>
              <a:rPr lang="en-US" altLang="ko-KR" sz="100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Monotype Sorts"/>
              </a:rPr>
              <a:t>S/O List (Forwarding)</a:t>
            </a:r>
            <a:endParaRPr lang="ko-KR" altLang="en-US" sz="100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Monotype Sorts"/>
            </a:endParaRPr>
          </a:p>
        </p:txBody>
      </p:sp>
    </p:spTree>
    <p:extLst>
      <p:ext uri="{BB962C8B-B14F-4D97-AF65-F5344CB8AC3E}">
        <p14:creationId xmlns:p14="http://schemas.microsoft.com/office/powerpoint/2010/main" val="1965073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69EC0D0-E57F-45C7-B228-A343C9E029FB}" type="slidenum">
              <a:rPr lang="en-US" altLang="ko-KR" smtClean="0"/>
              <a:pPr>
                <a:defRPr/>
              </a:pPr>
              <a:t>5</a:t>
            </a:fld>
            <a:r>
              <a:rPr lang="en-US" altLang="ko-KR" sz="1000"/>
              <a:t>/4-</a:t>
            </a:r>
            <a:endParaRPr lang="en-US" altLang="ko-KR" sz="1000" dirty="0"/>
          </a:p>
        </p:txBody>
      </p:sp>
      <p:sp>
        <p:nvSpPr>
          <p:cNvPr id="4" name="직사각형 3"/>
          <p:cNvSpPr/>
          <p:nvPr/>
        </p:nvSpPr>
        <p:spPr>
          <a:xfrm>
            <a:off x="1682460" y="1491107"/>
            <a:ext cx="4225768" cy="3301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Picture 79" descr="중간원"/>
          <p:cNvPicPr>
            <a:picLocks noChangeAspect="1" noChangeArrowheads="1"/>
          </p:cNvPicPr>
          <p:nvPr/>
        </p:nvPicPr>
        <p:blipFill>
          <a:blip r:embed="rId2">
            <a:lum brigh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0939" y="1174091"/>
            <a:ext cx="1034049" cy="972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Oval 525"/>
          <p:cNvSpPr>
            <a:spLocks noChangeArrowheads="1"/>
          </p:cNvSpPr>
          <p:nvPr/>
        </p:nvSpPr>
        <p:spPr bwMode="auto">
          <a:xfrm>
            <a:off x="2468809" y="1295124"/>
            <a:ext cx="732781" cy="736726"/>
          </a:xfrm>
          <a:prstGeom prst="ellipse">
            <a:avLst/>
          </a:prstGeom>
          <a:solidFill>
            <a:srgbClr val="97D9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ko-KR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 Box 188"/>
          <p:cNvSpPr txBox="1">
            <a:spLocks noChangeArrowheads="1"/>
          </p:cNvSpPr>
          <p:nvPr/>
        </p:nvSpPr>
        <p:spPr bwMode="auto">
          <a:xfrm>
            <a:off x="2412240" y="1382424"/>
            <a:ext cx="830133" cy="5599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rgbClr val="4F81BD">
                <a:gamma/>
                <a:shade val="60000"/>
                <a:invGamma/>
              </a:srgbClr>
            </a:prstShdw>
          </a:effectLst>
        </p:spPr>
        <p:txBody>
          <a:bodyPr lIns="101919" tIns="50960" rIns="101919" bIns="50960" anchor="ctr">
            <a:spAutoFit/>
          </a:bodyPr>
          <a:lstStyle/>
          <a:p>
            <a:pPr algn="ctr" defTabSz="652463">
              <a:lnSpc>
                <a:spcPct val="90000"/>
              </a:lnSpc>
              <a:defRPr/>
            </a:pPr>
            <a:r>
              <a:rPr lang="ko-KR" altLang="en-US" sz="1100" spc="-150" dirty="0">
                <a:ln>
                  <a:solidFill>
                    <a:srgbClr val="F78E3F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 </a:t>
            </a:r>
            <a:endParaRPr lang="en-US" altLang="ko-KR" sz="1100" spc="-150" dirty="0">
              <a:ln>
                <a:solidFill>
                  <a:srgbClr val="F78E3F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defTabSz="652463">
              <a:lnSpc>
                <a:spcPct val="90000"/>
              </a:lnSpc>
              <a:defRPr/>
            </a:pPr>
            <a:r>
              <a:rPr lang="ko-KR" altLang="en-US" sz="1100" spc="-150" dirty="0">
                <a:ln>
                  <a:solidFill>
                    <a:srgbClr val="F78E3F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오더</a:t>
            </a:r>
            <a:endParaRPr lang="en-US" altLang="ko-KR" sz="1100" spc="-150" dirty="0">
              <a:ln>
                <a:solidFill>
                  <a:srgbClr val="F78E3F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defTabSz="652463">
              <a:lnSpc>
                <a:spcPct val="90000"/>
              </a:lnSpc>
              <a:defRPr/>
            </a:pPr>
            <a:r>
              <a:rPr lang="ko-KR" altLang="en-US" sz="1100" spc="-150" dirty="0">
                <a:ln>
                  <a:solidFill>
                    <a:srgbClr val="F78E3F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생성</a:t>
            </a:r>
          </a:p>
        </p:txBody>
      </p:sp>
      <p:grpSp>
        <p:nvGrpSpPr>
          <p:cNvPr id="8" name="Group 109"/>
          <p:cNvGrpSpPr>
            <a:grpSpLocks/>
          </p:cNvGrpSpPr>
          <p:nvPr/>
        </p:nvGrpSpPr>
        <p:grpSpPr bwMode="auto">
          <a:xfrm>
            <a:off x="3404951" y="1585874"/>
            <a:ext cx="127610" cy="126297"/>
            <a:chOff x="3417" y="1217"/>
            <a:chExt cx="158" cy="161"/>
          </a:xfrm>
          <a:solidFill>
            <a:schemeClr val="bg1">
              <a:lumMod val="75000"/>
            </a:schemeClr>
          </a:solidFill>
        </p:grpSpPr>
        <p:sp>
          <p:nvSpPr>
            <p:cNvPr id="39" name="Oval 110"/>
            <p:cNvSpPr>
              <a:spLocks noChangeArrowheads="1"/>
            </p:cNvSpPr>
            <p:nvPr/>
          </p:nvSpPr>
          <p:spPr bwMode="auto">
            <a:xfrm>
              <a:off x="3474" y="1217"/>
              <a:ext cx="44" cy="4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9pPr>
            </a:lstStyle>
            <a:p>
              <a:endParaRPr kumimoji="1" lang="ko-KR" altLang="ko-KR" b="1">
                <a:solidFill>
                  <a:srgbClr val="000000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0" name="Oval 111"/>
            <p:cNvSpPr>
              <a:spLocks noChangeArrowheads="1"/>
            </p:cNvSpPr>
            <p:nvPr/>
          </p:nvSpPr>
          <p:spPr bwMode="auto">
            <a:xfrm>
              <a:off x="3474" y="1275"/>
              <a:ext cx="44" cy="4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9pPr>
            </a:lstStyle>
            <a:p>
              <a:endParaRPr kumimoji="1" lang="ko-KR" altLang="ko-KR" b="1">
                <a:solidFill>
                  <a:srgbClr val="000000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1" name="Oval 112"/>
            <p:cNvSpPr>
              <a:spLocks noChangeArrowheads="1"/>
            </p:cNvSpPr>
            <p:nvPr/>
          </p:nvSpPr>
          <p:spPr bwMode="auto">
            <a:xfrm>
              <a:off x="3474" y="1334"/>
              <a:ext cx="44" cy="4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9pPr>
            </a:lstStyle>
            <a:p>
              <a:endParaRPr kumimoji="1" lang="ko-KR" altLang="ko-KR" b="1">
                <a:solidFill>
                  <a:srgbClr val="000000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2" name="Oval 113"/>
            <p:cNvSpPr>
              <a:spLocks noChangeArrowheads="1"/>
            </p:cNvSpPr>
            <p:nvPr/>
          </p:nvSpPr>
          <p:spPr bwMode="auto">
            <a:xfrm>
              <a:off x="3531" y="1275"/>
              <a:ext cx="44" cy="4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9pPr>
            </a:lstStyle>
            <a:p>
              <a:endParaRPr kumimoji="1" lang="ko-KR" altLang="ko-KR" b="1">
                <a:solidFill>
                  <a:srgbClr val="000000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3" name="Oval 114"/>
            <p:cNvSpPr>
              <a:spLocks noChangeArrowheads="1"/>
            </p:cNvSpPr>
            <p:nvPr/>
          </p:nvSpPr>
          <p:spPr bwMode="auto">
            <a:xfrm>
              <a:off x="3417" y="1275"/>
              <a:ext cx="44" cy="4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9pPr>
            </a:lstStyle>
            <a:p>
              <a:endParaRPr kumimoji="1" lang="ko-KR" altLang="ko-KR" b="1">
                <a:solidFill>
                  <a:srgbClr val="000000"/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9" name="Group 109"/>
          <p:cNvGrpSpPr>
            <a:grpSpLocks/>
          </p:cNvGrpSpPr>
          <p:nvPr/>
        </p:nvGrpSpPr>
        <p:grpSpPr bwMode="auto">
          <a:xfrm>
            <a:off x="4686571" y="1585874"/>
            <a:ext cx="127610" cy="126297"/>
            <a:chOff x="3417" y="1217"/>
            <a:chExt cx="158" cy="161"/>
          </a:xfrm>
          <a:solidFill>
            <a:schemeClr val="bg1">
              <a:lumMod val="75000"/>
            </a:schemeClr>
          </a:solidFill>
        </p:grpSpPr>
        <p:sp>
          <p:nvSpPr>
            <p:cNvPr id="34" name="Oval 110"/>
            <p:cNvSpPr>
              <a:spLocks noChangeArrowheads="1"/>
            </p:cNvSpPr>
            <p:nvPr/>
          </p:nvSpPr>
          <p:spPr bwMode="auto">
            <a:xfrm>
              <a:off x="3474" y="1217"/>
              <a:ext cx="44" cy="4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9pPr>
            </a:lstStyle>
            <a:p>
              <a:endParaRPr kumimoji="1" lang="ko-KR" altLang="ko-KR" b="1">
                <a:solidFill>
                  <a:srgbClr val="000000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5" name="Oval 111"/>
            <p:cNvSpPr>
              <a:spLocks noChangeArrowheads="1"/>
            </p:cNvSpPr>
            <p:nvPr/>
          </p:nvSpPr>
          <p:spPr bwMode="auto">
            <a:xfrm>
              <a:off x="3474" y="1275"/>
              <a:ext cx="44" cy="4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9pPr>
            </a:lstStyle>
            <a:p>
              <a:endParaRPr kumimoji="1" lang="ko-KR" altLang="ko-KR" b="1">
                <a:solidFill>
                  <a:srgbClr val="000000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6" name="Oval 112"/>
            <p:cNvSpPr>
              <a:spLocks noChangeArrowheads="1"/>
            </p:cNvSpPr>
            <p:nvPr/>
          </p:nvSpPr>
          <p:spPr bwMode="auto">
            <a:xfrm>
              <a:off x="3474" y="1334"/>
              <a:ext cx="44" cy="4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9pPr>
            </a:lstStyle>
            <a:p>
              <a:endParaRPr kumimoji="1" lang="ko-KR" altLang="ko-KR" b="1">
                <a:solidFill>
                  <a:srgbClr val="000000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7" name="Oval 113"/>
            <p:cNvSpPr>
              <a:spLocks noChangeArrowheads="1"/>
            </p:cNvSpPr>
            <p:nvPr/>
          </p:nvSpPr>
          <p:spPr bwMode="auto">
            <a:xfrm>
              <a:off x="3531" y="1275"/>
              <a:ext cx="44" cy="4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9pPr>
            </a:lstStyle>
            <a:p>
              <a:endParaRPr kumimoji="1" lang="ko-KR" altLang="ko-KR" b="1">
                <a:solidFill>
                  <a:srgbClr val="000000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8" name="Oval 114"/>
            <p:cNvSpPr>
              <a:spLocks noChangeArrowheads="1"/>
            </p:cNvSpPr>
            <p:nvPr/>
          </p:nvSpPr>
          <p:spPr bwMode="auto">
            <a:xfrm>
              <a:off x="3417" y="1275"/>
              <a:ext cx="44" cy="4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9pPr>
            </a:lstStyle>
            <a:p>
              <a:endParaRPr kumimoji="1" lang="ko-KR" altLang="ko-KR" b="1">
                <a:solidFill>
                  <a:srgbClr val="000000"/>
                </a:solidFill>
                <a:latin typeface="맑은 고딕" panose="020B0503020000020004" pitchFamily="50" charset="-127"/>
              </a:endParaRPr>
            </a:p>
          </p:txBody>
        </p:sp>
      </p:grpSp>
      <p:pic>
        <p:nvPicPr>
          <p:cNvPr id="10" name="Picture 79" descr="중간원"/>
          <p:cNvPicPr>
            <a:picLocks noChangeAspect="1" noChangeArrowheads="1"/>
          </p:cNvPicPr>
          <p:nvPr/>
        </p:nvPicPr>
        <p:blipFill>
          <a:blip r:embed="rId2">
            <a:lum brigh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2559" y="1174091"/>
            <a:ext cx="1034049" cy="972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Oval 525"/>
          <p:cNvSpPr>
            <a:spLocks noChangeArrowheads="1"/>
          </p:cNvSpPr>
          <p:nvPr/>
        </p:nvSpPr>
        <p:spPr bwMode="auto">
          <a:xfrm>
            <a:off x="3750429" y="1295124"/>
            <a:ext cx="732780" cy="736726"/>
          </a:xfrm>
          <a:prstGeom prst="ellipse">
            <a:avLst/>
          </a:prstGeom>
          <a:solidFill>
            <a:srgbClr val="97D9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ko-KR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 Box 188"/>
          <p:cNvSpPr txBox="1">
            <a:spLocks noChangeArrowheads="1"/>
          </p:cNvSpPr>
          <p:nvPr/>
        </p:nvSpPr>
        <p:spPr bwMode="auto">
          <a:xfrm>
            <a:off x="3629394" y="1382424"/>
            <a:ext cx="956429" cy="5599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rgbClr val="4F81BD">
                <a:gamma/>
                <a:shade val="60000"/>
                <a:invGamma/>
              </a:srgbClr>
            </a:prstShdw>
          </a:effectLst>
        </p:spPr>
        <p:txBody>
          <a:bodyPr lIns="101919" tIns="50960" rIns="101919" bIns="50960" anchor="ctr">
            <a:spAutoFit/>
          </a:bodyPr>
          <a:lstStyle/>
          <a:p>
            <a:pPr algn="ctr" defTabSz="652463">
              <a:lnSpc>
                <a:spcPct val="90000"/>
              </a:lnSpc>
              <a:defRPr/>
            </a:pPr>
            <a:r>
              <a:rPr lang="ko-KR" altLang="en-US" sz="1100" spc="-150" dirty="0">
                <a:ln>
                  <a:solidFill>
                    <a:srgbClr val="F78E3F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 </a:t>
            </a:r>
            <a:endParaRPr lang="en-US" altLang="ko-KR" sz="1100" spc="-150" dirty="0">
              <a:ln>
                <a:solidFill>
                  <a:srgbClr val="F78E3F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defTabSz="652463">
              <a:lnSpc>
                <a:spcPct val="90000"/>
              </a:lnSpc>
              <a:defRPr/>
            </a:pPr>
            <a:r>
              <a:rPr lang="ko-KR" altLang="en-US" sz="1100" spc="-150" dirty="0">
                <a:ln>
                  <a:solidFill>
                    <a:srgbClr val="F78E3F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오더</a:t>
            </a:r>
            <a:endParaRPr lang="en-US" altLang="ko-KR" sz="1100" spc="-150" dirty="0">
              <a:ln>
                <a:solidFill>
                  <a:srgbClr val="F78E3F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defTabSz="652463">
              <a:lnSpc>
                <a:spcPct val="90000"/>
              </a:lnSpc>
              <a:defRPr/>
            </a:pPr>
            <a:r>
              <a:rPr lang="ko-KR" altLang="en-US" sz="1100" spc="-150" dirty="0">
                <a:ln>
                  <a:solidFill>
                    <a:srgbClr val="F78E3F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분배 </a:t>
            </a:r>
          </a:p>
        </p:txBody>
      </p:sp>
      <p:pic>
        <p:nvPicPr>
          <p:cNvPr id="13" name="Picture 79" descr="중간원"/>
          <p:cNvPicPr>
            <a:picLocks noChangeAspect="1" noChangeArrowheads="1"/>
          </p:cNvPicPr>
          <p:nvPr/>
        </p:nvPicPr>
        <p:blipFill>
          <a:blip r:embed="rId2">
            <a:lum brigh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4179" y="1174091"/>
            <a:ext cx="1034049" cy="972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Oval 525"/>
          <p:cNvSpPr>
            <a:spLocks noChangeArrowheads="1"/>
          </p:cNvSpPr>
          <p:nvPr/>
        </p:nvSpPr>
        <p:spPr bwMode="auto">
          <a:xfrm>
            <a:off x="5032049" y="1295124"/>
            <a:ext cx="732781" cy="736726"/>
          </a:xfrm>
          <a:prstGeom prst="ellipse">
            <a:avLst/>
          </a:prstGeom>
          <a:solidFill>
            <a:srgbClr val="97D9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ko-KR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 Box 188"/>
          <p:cNvSpPr txBox="1">
            <a:spLocks noChangeArrowheads="1"/>
          </p:cNvSpPr>
          <p:nvPr/>
        </p:nvSpPr>
        <p:spPr bwMode="auto">
          <a:xfrm>
            <a:off x="4920225" y="1458598"/>
            <a:ext cx="956429" cy="4076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rgbClr val="4F81BD">
                <a:gamma/>
                <a:shade val="60000"/>
                <a:invGamma/>
              </a:srgbClr>
            </a:prstShdw>
          </a:effectLst>
        </p:spPr>
        <p:txBody>
          <a:bodyPr lIns="101919" tIns="50960" rIns="101919" bIns="50960" anchor="ctr">
            <a:spAutoFit/>
          </a:bodyPr>
          <a:lstStyle/>
          <a:p>
            <a:pPr algn="ctr" defTabSz="652463">
              <a:lnSpc>
                <a:spcPct val="90000"/>
              </a:lnSpc>
              <a:defRPr/>
            </a:pPr>
            <a:r>
              <a:rPr lang="ko-KR" altLang="en-US" sz="1100" spc="-150" dirty="0">
                <a:ln>
                  <a:solidFill>
                    <a:srgbClr val="F78E3F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실행 오더</a:t>
            </a:r>
            <a:endParaRPr lang="en-US" altLang="ko-KR" sz="1100" spc="-150" dirty="0">
              <a:ln>
                <a:solidFill>
                  <a:srgbClr val="F78E3F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defTabSz="652463">
              <a:lnSpc>
                <a:spcPct val="90000"/>
              </a:lnSpc>
              <a:defRPr/>
            </a:pPr>
            <a:r>
              <a:rPr lang="ko-KR" altLang="en-US" sz="1100" spc="-150" dirty="0">
                <a:ln>
                  <a:solidFill>
                    <a:srgbClr val="F78E3F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생성</a:t>
            </a:r>
          </a:p>
        </p:txBody>
      </p:sp>
      <p:pic>
        <p:nvPicPr>
          <p:cNvPr id="16" name="Picture 79" descr="중간원"/>
          <p:cNvPicPr>
            <a:picLocks noChangeAspect="1" noChangeArrowheads="1"/>
          </p:cNvPicPr>
          <p:nvPr/>
        </p:nvPicPr>
        <p:blipFill>
          <a:blip r:embed="rId2">
            <a:lum brigh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320" y="1174091"/>
            <a:ext cx="1034049" cy="972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Oval 525"/>
          <p:cNvSpPr>
            <a:spLocks noChangeArrowheads="1"/>
          </p:cNvSpPr>
          <p:nvPr/>
        </p:nvSpPr>
        <p:spPr bwMode="auto">
          <a:xfrm>
            <a:off x="1187190" y="1295124"/>
            <a:ext cx="732781" cy="736726"/>
          </a:xfrm>
          <a:prstGeom prst="ellipse">
            <a:avLst/>
          </a:prstGeom>
          <a:solidFill>
            <a:srgbClr val="97D9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ko-KR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Text Box 188"/>
          <p:cNvSpPr txBox="1">
            <a:spLocks noChangeArrowheads="1"/>
          </p:cNvSpPr>
          <p:nvPr/>
        </p:nvSpPr>
        <p:spPr bwMode="auto">
          <a:xfrm>
            <a:off x="1104476" y="1504337"/>
            <a:ext cx="882424" cy="4076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rgbClr val="4F81BD">
                <a:gamma/>
                <a:shade val="60000"/>
                <a:invGamma/>
              </a:srgbClr>
            </a:prstShdw>
          </a:effectLst>
        </p:spPr>
        <p:txBody>
          <a:bodyPr wrap="square" lIns="101919" tIns="50960" rIns="101919" bIns="50960" anchor="ctr">
            <a:spAutoFit/>
          </a:bodyPr>
          <a:lstStyle/>
          <a:p>
            <a:pPr algn="ctr" defTabSz="652463">
              <a:lnSpc>
                <a:spcPct val="90000"/>
              </a:lnSpc>
              <a:defRPr/>
            </a:pPr>
            <a:r>
              <a:rPr lang="ko-KR" altLang="en-US" sz="1100" spc="-150" dirty="0">
                <a:ln>
                  <a:solidFill>
                    <a:srgbClr val="F78E3F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 오더 </a:t>
            </a:r>
            <a:endParaRPr lang="en-US" altLang="ko-KR" sz="1100" spc="-150" dirty="0">
              <a:ln>
                <a:solidFill>
                  <a:srgbClr val="F78E3F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defTabSz="652463">
              <a:lnSpc>
                <a:spcPct val="90000"/>
              </a:lnSpc>
              <a:defRPr/>
            </a:pPr>
            <a:r>
              <a:rPr lang="ko-KR" altLang="en-US" sz="1100" spc="-150" dirty="0">
                <a:ln>
                  <a:solidFill>
                    <a:srgbClr val="F78E3F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접수</a:t>
            </a:r>
          </a:p>
        </p:txBody>
      </p:sp>
      <p:grpSp>
        <p:nvGrpSpPr>
          <p:cNvPr id="19" name="Group 109"/>
          <p:cNvGrpSpPr>
            <a:grpSpLocks/>
          </p:cNvGrpSpPr>
          <p:nvPr/>
        </p:nvGrpSpPr>
        <p:grpSpPr bwMode="auto">
          <a:xfrm>
            <a:off x="2123332" y="1585874"/>
            <a:ext cx="127610" cy="126297"/>
            <a:chOff x="3417" y="1217"/>
            <a:chExt cx="158" cy="161"/>
          </a:xfrm>
          <a:solidFill>
            <a:schemeClr val="bg1">
              <a:lumMod val="75000"/>
            </a:schemeClr>
          </a:solidFill>
        </p:grpSpPr>
        <p:sp>
          <p:nvSpPr>
            <p:cNvPr id="29" name="Oval 110"/>
            <p:cNvSpPr>
              <a:spLocks noChangeArrowheads="1"/>
            </p:cNvSpPr>
            <p:nvPr/>
          </p:nvSpPr>
          <p:spPr bwMode="auto">
            <a:xfrm>
              <a:off x="3474" y="1217"/>
              <a:ext cx="44" cy="4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9pPr>
            </a:lstStyle>
            <a:p>
              <a:endParaRPr kumimoji="1" lang="ko-KR" altLang="ko-KR" b="1">
                <a:solidFill>
                  <a:srgbClr val="000000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0" name="Oval 111"/>
            <p:cNvSpPr>
              <a:spLocks noChangeArrowheads="1"/>
            </p:cNvSpPr>
            <p:nvPr/>
          </p:nvSpPr>
          <p:spPr bwMode="auto">
            <a:xfrm>
              <a:off x="3474" y="1275"/>
              <a:ext cx="44" cy="4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9pPr>
            </a:lstStyle>
            <a:p>
              <a:endParaRPr kumimoji="1" lang="ko-KR" altLang="ko-KR" b="1">
                <a:solidFill>
                  <a:srgbClr val="000000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1" name="Oval 112"/>
            <p:cNvSpPr>
              <a:spLocks noChangeArrowheads="1"/>
            </p:cNvSpPr>
            <p:nvPr/>
          </p:nvSpPr>
          <p:spPr bwMode="auto">
            <a:xfrm>
              <a:off x="3474" y="1334"/>
              <a:ext cx="44" cy="4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9pPr>
            </a:lstStyle>
            <a:p>
              <a:endParaRPr kumimoji="1" lang="ko-KR" altLang="ko-KR" b="1">
                <a:solidFill>
                  <a:srgbClr val="000000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2" name="Oval 113"/>
            <p:cNvSpPr>
              <a:spLocks noChangeArrowheads="1"/>
            </p:cNvSpPr>
            <p:nvPr/>
          </p:nvSpPr>
          <p:spPr bwMode="auto">
            <a:xfrm>
              <a:off x="3531" y="1275"/>
              <a:ext cx="44" cy="4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9pPr>
            </a:lstStyle>
            <a:p>
              <a:endParaRPr kumimoji="1" lang="ko-KR" altLang="ko-KR" b="1">
                <a:solidFill>
                  <a:srgbClr val="000000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3" name="Oval 114"/>
            <p:cNvSpPr>
              <a:spLocks noChangeArrowheads="1"/>
            </p:cNvSpPr>
            <p:nvPr/>
          </p:nvSpPr>
          <p:spPr bwMode="auto">
            <a:xfrm>
              <a:off x="3417" y="1275"/>
              <a:ext cx="44" cy="4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9pPr>
            </a:lstStyle>
            <a:p>
              <a:endParaRPr kumimoji="1" lang="ko-KR" altLang="ko-KR" b="1">
                <a:solidFill>
                  <a:srgbClr val="000000"/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44" name="그룹 43"/>
          <p:cNvGrpSpPr/>
          <p:nvPr/>
        </p:nvGrpSpPr>
        <p:grpSpPr>
          <a:xfrm>
            <a:off x="4108214" y="2214234"/>
            <a:ext cx="237838" cy="296608"/>
            <a:chOff x="3627036" y="7956011"/>
            <a:chExt cx="237838" cy="296608"/>
          </a:xfrm>
        </p:grpSpPr>
        <p:grpSp>
          <p:nvGrpSpPr>
            <p:cNvPr id="45" name="그룹 44"/>
            <p:cNvGrpSpPr/>
            <p:nvPr/>
          </p:nvGrpSpPr>
          <p:grpSpPr>
            <a:xfrm>
              <a:off x="3627036" y="8050351"/>
              <a:ext cx="237838" cy="202268"/>
              <a:chOff x="2084821" y="6256453"/>
              <a:chExt cx="194460" cy="165377"/>
            </a:xfrm>
          </p:grpSpPr>
          <p:sp>
            <p:nvSpPr>
              <p:cNvPr id="49" name="모서리가 둥근 직사각형 48"/>
              <p:cNvSpPr/>
              <p:nvPr/>
            </p:nvSpPr>
            <p:spPr>
              <a:xfrm rot="18900000">
                <a:off x="2084821" y="6322240"/>
                <a:ext cx="165377" cy="33802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75000"/>
                  <a:alpha val="50196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50" name="모서리가 둥근 직사각형 49"/>
              <p:cNvSpPr/>
              <p:nvPr/>
            </p:nvSpPr>
            <p:spPr>
              <a:xfrm rot="13500000" flipV="1">
                <a:off x="2179691" y="6322241"/>
                <a:ext cx="165377" cy="33802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75000"/>
                  <a:alpha val="50196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46" name="그룹 45"/>
            <p:cNvGrpSpPr/>
            <p:nvPr/>
          </p:nvGrpSpPr>
          <p:grpSpPr>
            <a:xfrm>
              <a:off x="3627036" y="7956011"/>
              <a:ext cx="237838" cy="202268"/>
              <a:chOff x="2084821" y="6256453"/>
              <a:chExt cx="194460" cy="165377"/>
            </a:xfrm>
          </p:grpSpPr>
          <p:sp>
            <p:nvSpPr>
              <p:cNvPr id="47" name="모서리가 둥근 직사각형 46"/>
              <p:cNvSpPr/>
              <p:nvPr/>
            </p:nvSpPr>
            <p:spPr>
              <a:xfrm rot="18900000">
                <a:off x="2084821" y="6322240"/>
                <a:ext cx="165377" cy="33802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75000"/>
                  <a:alpha val="50196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48" name="모서리가 둥근 직사각형 47"/>
              <p:cNvSpPr/>
              <p:nvPr/>
            </p:nvSpPr>
            <p:spPr>
              <a:xfrm rot="13500000" flipV="1">
                <a:off x="2179691" y="6322241"/>
                <a:ext cx="165377" cy="33802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75000"/>
                  <a:alpha val="50196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prstClr val="whit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</p:grpSp>
      <p:grpSp>
        <p:nvGrpSpPr>
          <p:cNvPr id="100" name="Group 109"/>
          <p:cNvGrpSpPr>
            <a:grpSpLocks/>
          </p:cNvGrpSpPr>
          <p:nvPr/>
        </p:nvGrpSpPr>
        <p:grpSpPr bwMode="auto">
          <a:xfrm>
            <a:off x="5896058" y="1568616"/>
            <a:ext cx="127610" cy="126297"/>
            <a:chOff x="3417" y="1217"/>
            <a:chExt cx="158" cy="161"/>
          </a:xfrm>
          <a:solidFill>
            <a:schemeClr val="bg1">
              <a:lumMod val="75000"/>
            </a:schemeClr>
          </a:solidFill>
        </p:grpSpPr>
        <p:sp>
          <p:nvSpPr>
            <p:cNvPr id="101" name="Oval 110"/>
            <p:cNvSpPr>
              <a:spLocks noChangeArrowheads="1"/>
            </p:cNvSpPr>
            <p:nvPr/>
          </p:nvSpPr>
          <p:spPr bwMode="auto">
            <a:xfrm>
              <a:off x="3474" y="1217"/>
              <a:ext cx="44" cy="4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9pPr>
            </a:lstStyle>
            <a:p>
              <a:endParaRPr kumimoji="1" lang="ko-KR" altLang="ko-KR" b="1">
                <a:solidFill>
                  <a:srgbClr val="000000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02" name="Oval 111"/>
            <p:cNvSpPr>
              <a:spLocks noChangeArrowheads="1"/>
            </p:cNvSpPr>
            <p:nvPr/>
          </p:nvSpPr>
          <p:spPr bwMode="auto">
            <a:xfrm>
              <a:off x="3474" y="1275"/>
              <a:ext cx="44" cy="4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9pPr>
            </a:lstStyle>
            <a:p>
              <a:endParaRPr kumimoji="1" lang="ko-KR" altLang="ko-KR" b="1">
                <a:solidFill>
                  <a:srgbClr val="000000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03" name="Oval 112"/>
            <p:cNvSpPr>
              <a:spLocks noChangeArrowheads="1"/>
            </p:cNvSpPr>
            <p:nvPr/>
          </p:nvSpPr>
          <p:spPr bwMode="auto">
            <a:xfrm>
              <a:off x="3474" y="1334"/>
              <a:ext cx="44" cy="4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9pPr>
            </a:lstStyle>
            <a:p>
              <a:endParaRPr kumimoji="1" lang="ko-KR" altLang="ko-KR" b="1">
                <a:solidFill>
                  <a:srgbClr val="000000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04" name="Oval 113"/>
            <p:cNvSpPr>
              <a:spLocks noChangeArrowheads="1"/>
            </p:cNvSpPr>
            <p:nvPr/>
          </p:nvSpPr>
          <p:spPr bwMode="auto">
            <a:xfrm>
              <a:off x="3531" y="1275"/>
              <a:ext cx="44" cy="4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9pPr>
            </a:lstStyle>
            <a:p>
              <a:endParaRPr kumimoji="1" lang="ko-KR" altLang="ko-KR" b="1">
                <a:solidFill>
                  <a:srgbClr val="000000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05" name="Oval 114"/>
            <p:cNvSpPr>
              <a:spLocks noChangeArrowheads="1"/>
            </p:cNvSpPr>
            <p:nvPr/>
          </p:nvSpPr>
          <p:spPr bwMode="auto">
            <a:xfrm>
              <a:off x="3417" y="1275"/>
              <a:ext cx="44" cy="4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9pPr>
            </a:lstStyle>
            <a:p>
              <a:endParaRPr kumimoji="1" lang="ko-KR" altLang="ko-KR" b="1">
                <a:solidFill>
                  <a:srgbClr val="000000"/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159" name="그룹 158"/>
          <p:cNvGrpSpPr/>
          <p:nvPr/>
        </p:nvGrpSpPr>
        <p:grpSpPr>
          <a:xfrm>
            <a:off x="214028" y="1310210"/>
            <a:ext cx="877545" cy="676840"/>
            <a:chOff x="7675425" y="4562720"/>
            <a:chExt cx="573686" cy="459944"/>
          </a:xfrm>
        </p:grpSpPr>
        <p:sp>
          <p:nvSpPr>
            <p:cNvPr id="160" name="Freeform 127"/>
            <p:cNvSpPr>
              <a:spLocks/>
            </p:cNvSpPr>
            <p:nvPr/>
          </p:nvSpPr>
          <p:spPr bwMode="auto">
            <a:xfrm>
              <a:off x="7732296" y="4562720"/>
              <a:ext cx="459944" cy="459944"/>
            </a:xfrm>
            <a:custGeom>
              <a:avLst/>
              <a:gdLst>
                <a:gd name="T0" fmla="*/ 65 w 141"/>
                <a:gd name="T1" fmla="*/ 10 h 141"/>
                <a:gd name="T2" fmla="*/ 74 w 141"/>
                <a:gd name="T3" fmla="*/ 0 h 141"/>
                <a:gd name="T4" fmla="*/ 85 w 141"/>
                <a:gd name="T5" fmla="*/ 16 h 141"/>
                <a:gd name="T6" fmla="*/ 102 w 141"/>
                <a:gd name="T7" fmla="*/ 7 h 141"/>
                <a:gd name="T8" fmla="*/ 106 w 141"/>
                <a:gd name="T9" fmla="*/ 26 h 141"/>
                <a:gd name="T10" fmla="*/ 125 w 141"/>
                <a:gd name="T11" fmla="*/ 25 h 141"/>
                <a:gd name="T12" fmla="*/ 121 w 141"/>
                <a:gd name="T13" fmla="*/ 44 h 141"/>
                <a:gd name="T14" fmla="*/ 139 w 141"/>
                <a:gd name="T15" fmla="*/ 51 h 141"/>
                <a:gd name="T16" fmla="*/ 127 w 141"/>
                <a:gd name="T17" fmla="*/ 67 h 141"/>
                <a:gd name="T18" fmla="*/ 141 w 141"/>
                <a:gd name="T19" fmla="*/ 81 h 141"/>
                <a:gd name="T20" fmla="*/ 124 w 141"/>
                <a:gd name="T21" fmla="*/ 90 h 141"/>
                <a:gd name="T22" fmla="*/ 131 w 141"/>
                <a:gd name="T23" fmla="*/ 109 h 141"/>
                <a:gd name="T24" fmla="*/ 111 w 141"/>
                <a:gd name="T25" fmla="*/ 110 h 141"/>
                <a:gd name="T26" fmla="*/ 110 w 141"/>
                <a:gd name="T27" fmla="*/ 130 h 141"/>
                <a:gd name="T28" fmla="*/ 91 w 141"/>
                <a:gd name="T29" fmla="*/ 123 h 141"/>
                <a:gd name="T30" fmla="*/ 82 w 141"/>
                <a:gd name="T31" fmla="*/ 141 h 141"/>
                <a:gd name="T32" fmla="*/ 68 w 141"/>
                <a:gd name="T33" fmla="*/ 127 h 141"/>
                <a:gd name="T34" fmla="*/ 53 w 141"/>
                <a:gd name="T35" fmla="*/ 139 h 141"/>
                <a:gd name="T36" fmla="*/ 45 w 141"/>
                <a:gd name="T37" fmla="*/ 121 h 141"/>
                <a:gd name="T38" fmla="*/ 26 w 141"/>
                <a:gd name="T39" fmla="*/ 126 h 141"/>
                <a:gd name="T40" fmla="*/ 27 w 141"/>
                <a:gd name="T41" fmla="*/ 107 h 141"/>
                <a:gd name="T42" fmla="*/ 8 w 141"/>
                <a:gd name="T43" fmla="*/ 103 h 141"/>
                <a:gd name="T44" fmla="*/ 16 w 141"/>
                <a:gd name="T45" fmla="*/ 86 h 141"/>
                <a:gd name="T46" fmla="*/ 0 w 141"/>
                <a:gd name="T47" fmla="*/ 75 h 141"/>
                <a:gd name="T48" fmla="*/ 14 w 141"/>
                <a:gd name="T49" fmla="*/ 62 h 141"/>
                <a:gd name="T50" fmla="*/ 4 w 141"/>
                <a:gd name="T51" fmla="*/ 46 h 141"/>
                <a:gd name="T52" fmla="*/ 23 w 141"/>
                <a:gd name="T53" fmla="*/ 40 h 141"/>
                <a:gd name="T54" fmla="*/ 20 w 141"/>
                <a:gd name="T55" fmla="*/ 21 h 141"/>
                <a:gd name="T56" fmla="*/ 39 w 141"/>
                <a:gd name="T57" fmla="*/ 23 h 141"/>
                <a:gd name="T58" fmla="*/ 44 w 141"/>
                <a:gd name="T59" fmla="*/ 4 h 141"/>
                <a:gd name="T60" fmla="*/ 61 w 141"/>
                <a:gd name="T61" fmla="*/ 15 h 141"/>
                <a:gd name="T62" fmla="*/ 65 w 141"/>
                <a:gd name="T63" fmla="*/ 10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41" h="141">
                  <a:moveTo>
                    <a:pt x="65" y="10"/>
                  </a:moveTo>
                  <a:cubicBezTo>
                    <a:pt x="65" y="10"/>
                    <a:pt x="69" y="5"/>
                    <a:pt x="74" y="0"/>
                  </a:cubicBezTo>
                  <a:cubicBezTo>
                    <a:pt x="77" y="5"/>
                    <a:pt x="85" y="16"/>
                    <a:pt x="85" y="16"/>
                  </a:cubicBezTo>
                  <a:cubicBezTo>
                    <a:pt x="85" y="16"/>
                    <a:pt x="96" y="10"/>
                    <a:pt x="102" y="7"/>
                  </a:cubicBezTo>
                  <a:cubicBezTo>
                    <a:pt x="103" y="13"/>
                    <a:pt x="106" y="26"/>
                    <a:pt x="106" y="26"/>
                  </a:cubicBezTo>
                  <a:cubicBezTo>
                    <a:pt x="106" y="26"/>
                    <a:pt x="119" y="26"/>
                    <a:pt x="125" y="25"/>
                  </a:cubicBezTo>
                  <a:cubicBezTo>
                    <a:pt x="124" y="32"/>
                    <a:pt x="121" y="44"/>
                    <a:pt x="121" y="44"/>
                  </a:cubicBezTo>
                  <a:cubicBezTo>
                    <a:pt x="121" y="44"/>
                    <a:pt x="133" y="49"/>
                    <a:pt x="139" y="51"/>
                  </a:cubicBezTo>
                  <a:cubicBezTo>
                    <a:pt x="135" y="57"/>
                    <a:pt x="127" y="67"/>
                    <a:pt x="127" y="67"/>
                  </a:cubicBezTo>
                  <a:cubicBezTo>
                    <a:pt x="127" y="67"/>
                    <a:pt x="136" y="76"/>
                    <a:pt x="141" y="81"/>
                  </a:cubicBezTo>
                  <a:cubicBezTo>
                    <a:pt x="135" y="84"/>
                    <a:pt x="124" y="90"/>
                    <a:pt x="124" y="90"/>
                  </a:cubicBezTo>
                  <a:cubicBezTo>
                    <a:pt x="124" y="90"/>
                    <a:pt x="128" y="102"/>
                    <a:pt x="131" y="109"/>
                  </a:cubicBezTo>
                  <a:cubicBezTo>
                    <a:pt x="124" y="109"/>
                    <a:pt x="111" y="110"/>
                    <a:pt x="111" y="110"/>
                  </a:cubicBezTo>
                  <a:cubicBezTo>
                    <a:pt x="111" y="110"/>
                    <a:pt x="110" y="123"/>
                    <a:pt x="110" y="130"/>
                  </a:cubicBezTo>
                  <a:cubicBezTo>
                    <a:pt x="104" y="128"/>
                    <a:pt x="91" y="123"/>
                    <a:pt x="91" y="123"/>
                  </a:cubicBezTo>
                  <a:cubicBezTo>
                    <a:pt x="91" y="123"/>
                    <a:pt x="85" y="135"/>
                    <a:pt x="82" y="141"/>
                  </a:cubicBezTo>
                  <a:cubicBezTo>
                    <a:pt x="78" y="136"/>
                    <a:pt x="68" y="127"/>
                    <a:pt x="68" y="127"/>
                  </a:cubicBezTo>
                  <a:cubicBezTo>
                    <a:pt x="68" y="127"/>
                    <a:pt x="58" y="135"/>
                    <a:pt x="53" y="139"/>
                  </a:cubicBezTo>
                  <a:cubicBezTo>
                    <a:pt x="50" y="133"/>
                    <a:pt x="45" y="121"/>
                    <a:pt x="45" y="121"/>
                  </a:cubicBezTo>
                  <a:cubicBezTo>
                    <a:pt x="45" y="121"/>
                    <a:pt x="33" y="125"/>
                    <a:pt x="26" y="126"/>
                  </a:cubicBezTo>
                  <a:cubicBezTo>
                    <a:pt x="27" y="120"/>
                    <a:pt x="27" y="107"/>
                    <a:pt x="27" y="107"/>
                  </a:cubicBezTo>
                  <a:cubicBezTo>
                    <a:pt x="27" y="107"/>
                    <a:pt x="14" y="105"/>
                    <a:pt x="8" y="103"/>
                  </a:cubicBezTo>
                  <a:cubicBezTo>
                    <a:pt x="10" y="97"/>
                    <a:pt x="16" y="86"/>
                    <a:pt x="16" y="86"/>
                  </a:cubicBezTo>
                  <a:cubicBezTo>
                    <a:pt x="16" y="86"/>
                    <a:pt x="5" y="79"/>
                    <a:pt x="0" y="75"/>
                  </a:cubicBezTo>
                  <a:cubicBezTo>
                    <a:pt x="5" y="71"/>
                    <a:pt x="14" y="62"/>
                    <a:pt x="14" y="62"/>
                  </a:cubicBezTo>
                  <a:cubicBezTo>
                    <a:pt x="14" y="62"/>
                    <a:pt x="7" y="51"/>
                    <a:pt x="4" y="46"/>
                  </a:cubicBezTo>
                  <a:cubicBezTo>
                    <a:pt x="10" y="44"/>
                    <a:pt x="23" y="40"/>
                    <a:pt x="23" y="40"/>
                  </a:cubicBezTo>
                  <a:cubicBezTo>
                    <a:pt x="23" y="40"/>
                    <a:pt x="21" y="27"/>
                    <a:pt x="20" y="21"/>
                  </a:cubicBezTo>
                  <a:cubicBezTo>
                    <a:pt x="26" y="22"/>
                    <a:pt x="39" y="23"/>
                    <a:pt x="39" y="23"/>
                  </a:cubicBezTo>
                  <a:cubicBezTo>
                    <a:pt x="39" y="23"/>
                    <a:pt x="43" y="11"/>
                    <a:pt x="44" y="4"/>
                  </a:cubicBezTo>
                  <a:cubicBezTo>
                    <a:pt x="50" y="8"/>
                    <a:pt x="61" y="15"/>
                    <a:pt x="61" y="15"/>
                  </a:cubicBezTo>
                  <a:lnTo>
                    <a:pt x="65" y="10"/>
                  </a:lnTo>
                  <a:close/>
                </a:path>
              </a:pathLst>
            </a:custGeom>
            <a:solidFill>
              <a:srgbClr val="E66914"/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61" name="직사각형 160"/>
            <p:cNvSpPr/>
            <p:nvPr/>
          </p:nvSpPr>
          <p:spPr>
            <a:xfrm>
              <a:off x="7675425" y="4716363"/>
              <a:ext cx="573686" cy="15686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latinLnBrk="0" hangingPunct="0">
                <a:lnSpc>
                  <a:spcPct val="90000"/>
                </a:lnSpc>
                <a:buClr>
                  <a:srgbClr val="3271AA"/>
                </a:buClr>
                <a:buSzPct val="140000"/>
                <a:tabLst>
                  <a:tab pos="4704479" algn="l"/>
                </a:tabLst>
                <a:defRPr/>
              </a:pPr>
              <a:r>
                <a:rPr lang="en-US" altLang="ko-KR" sz="1000" dirty="0">
                  <a:solidFill>
                    <a:prstClr val="whit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sym typeface="Monotype Sorts"/>
                </a:rPr>
                <a:t>START</a:t>
              </a:r>
              <a:endParaRPr lang="ko-KR" altLang="en-US" sz="100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Monotype Sorts"/>
              </a:endParaRPr>
            </a:p>
          </p:txBody>
        </p:sp>
      </p:grpSp>
      <p:grpSp>
        <p:nvGrpSpPr>
          <p:cNvPr id="162" name="그룹 161"/>
          <p:cNvGrpSpPr/>
          <p:nvPr/>
        </p:nvGrpSpPr>
        <p:grpSpPr>
          <a:xfrm>
            <a:off x="6005899" y="1314725"/>
            <a:ext cx="877545" cy="676840"/>
            <a:chOff x="7675425" y="4562720"/>
            <a:chExt cx="573686" cy="459944"/>
          </a:xfrm>
        </p:grpSpPr>
        <p:sp>
          <p:nvSpPr>
            <p:cNvPr id="163" name="Freeform 127"/>
            <p:cNvSpPr>
              <a:spLocks/>
            </p:cNvSpPr>
            <p:nvPr/>
          </p:nvSpPr>
          <p:spPr bwMode="auto">
            <a:xfrm>
              <a:off x="7732296" y="4562720"/>
              <a:ext cx="459944" cy="459944"/>
            </a:xfrm>
            <a:custGeom>
              <a:avLst/>
              <a:gdLst>
                <a:gd name="T0" fmla="*/ 65 w 141"/>
                <a:gd name="T1" fmla="*/ 10 h 141"/>
                <a:gd name="T2" fmla="*/ 74 w 141"/>
                <a:gd name="T3" fmla="*/ 0 h 141"/>
                <a:gd name="T4" fmla="*/ 85 w 141"/>
                <a:gd name="T5" fmla="*/ 16 h 141"/>
                <a:gd name="T6" fmla="*/ 102 w 141"/>
                <a:gd name="T7" fmla="*/ 7 h 141"/>
                <a:gd name="T8" fmla="*/ 106 w 141"/>
                <a:gd name="T9" fmla="*/ 26 h 141"/>
                <a:gd name="T10" fmla="*/ 125 w 141"/>
                <a:gd name="T11" fmla="*/ 25 h 141"/>
                <a:gd name="T12" fmla="*/ 121 w 141"/>
                <a:gd name="T13" fmla="*/ 44 h 141"/>
                <a:gd name="T14" fmla="*/ 139 w 141"/>
                <a:gd name="T15" fmla="*/ 51 h 141"/>
                <a:gd name="T16" fmla="*/ 127 w 141"/>
                <a:gd name="T17" fmla="*/ 67 h 141"/>
                <a:gd name="T18" fmla="*/ 141 w 141"/>
                <a:gd name="T19" fmla="*/ 81 h 141"/>
                <a:gd name="T20" fmla="*/ 124 w 141"/>
                <a:gd name="T21" fmla="*/ 90 h 141"/>
                <a:gd name="T22" fmla="*/ 131 w 141"/>
                <a:gd name="T23" fmla="*/ 109 h 141"/>
                <a:gd name="T24" fmla="*/ 111 w 141"/>
                <a:gd name="T25" fmla="*/ 110 h 141"/>
                <a:gd name="T26" fmla="*/ 110 w 141"/>
                <a:gd name="T27" fmla="*/ 130 h 141"/>
                <a:gd name="T28" fmla="*/ 91 w 141"/>
                <a:gd name="T29" fmla="*/ 123 h 141"/>
                <a:gd name="T30" fmla="*/ 82 w 141"/>
                <a:gd name="T31" fmla="*/ 141 h 141"/>
                <a:gd name="T32" fmla="*/ 68 w 141"/>
                <a:gd name="T33" fmla="*/ 127 h 141"/>
                <a:gd name="T34" fmla="*/ 53 w 141"/>
                <a:gd name="T35" fmla="*/ 139 h 141"/>
                <a:gd name="T36" fmla="*/ 45 w 141"/>
                <a:gd name="T37" fmla="*/ 121 h 141"/>
                <a:gd name="T38" fmla="*/ 26 w 141"/>
                <a:gd name="T39" fmla="*/ 126 h 141"/>
                <a:gd name="T40" fmla="*/ 27 w 141"/>
                <a:gd name="T41" fmla="*/ 107 h 141"/>
                <a:gd name="T42" fmla="*/ 8 w 141"/>
                <a:gd name="T43" fmla="*/ 103 h 141"/>
                <a:gd name="T44" fmla="*/ 16 w 141"/>
                <a:gd name="T45" fmla="*/ 86 h 141"/>
                <a:gd name="T46" fmla="*/ 0 w 141"/>
                <a:gd name="T47" fmla="*/ 75 h 141"/>
                <a:gd name="T48" fmla="*/ 14 w 141"/>
                <a:gd name="T49" fmla="*/ 62 h 141"/>
                <a:gd name="T50" fmla="*/ 4 w 141"/>
                <a:gd name="T51" fmla="*/ 46 h 141"/>
                <a:gd name="T52" fmla="*/ 23 w 141"/>
                <a:gd name="T53" fmla="*/ 40 h 141"/>
                <a:gd name="T54" fmla="*/ 20 w 141"/>
                <a:gd name="T55" fmla="*/ 21 h 141"/>
                <a:gd name="T56" fmla="*/ 39 w 141"/>
                <a:gd name="T57" fmla="*/ 23 h 141"/>
                <a:gd name="T58" fmla="*/ 44 w 141"/>
                <a:gd name="T59" fmla="*/ 4 h 141"/>
                <a:gd name="T60" fmla="*/ 61 w 141"/>
                <a:gd name="T61" fmla="*/ 15 h 141"/>
                <a:gd name="T62" fmla="*/ 65 w 141"/>
                <a:gd name="T63" fmla="*/ 10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41" h="141">
                  <a:moveTo>
                    <a:pt x="65" y="10"/>
                  </a:moveTo>
                  <a:cubicBezTo>
                    <a:pt x="65" y="10"/>
                    <a:pt x="69" y="5"/>
                    <a:pt x="74" y="0"/>
                  </a:cubicBezTo>
                  <a:cubicBezTo>
                    <a:pt x="77" y="5"/>
                    <a:pt x="85" y="16"/>
                    <a:pt x="85" y="16"/>
                  </a:cubicBezTo>
                  <a:cubicBezTo>
                    <a:pt x="85" y="16"/>
                    <a:pt x="96" y="10"/>
                    <a:pt x="102" y="7"/>
                  </a:cubicBezTo>
                  <a:cubicBezTo>
                    <a:pt x="103" y="13"/>
                    <a:pt x="106" y="26"/>
                    <a:pt x="106" y="26"/>
                  </a:cubicBezTo>
                  <a:cubicBezTo>
                    <a:pt x="106" y="26"/>
                    <a:pt x="119" y="26"/>
                    <a:pt x="125" y="25"/>
                  </a:cubicBezTo>
                  <a:cubicBezTo>
                    <a:pt x="124" y="32"/>
                    <a:pt x="121" y="44"/>
                    <a:pt x="121" y="44"/>
                  </a:cubicBezTo>
                  <a:cubicBezTo>
                    <a:pt x="121" y="44"/>
                    <a:pt x="133" y="49"/>
                    <a:pt x="139" y="51"/>
                  </a:cubicBezTo>
                  <a:cubicBezTo>
                    <a:pt x="135" y="57"/>
                    <a:pt x="127" y="67"/>
                    <a:pt x="127" y="67"/>
                  </a:cubicBezTo>
                  <a:cubicBezTo>
                    <a:pt x="127" y="67"/>
                    <a:pt x="136" y="76"/>
                    <a:pt x="141" y="81"/>
                  </a:cubicBezTo>
                  <a:cubicBezTo>
                    <a:pt x="135" y="84"/>
                    <a:pt x="124" y="90"/>
                    <a:pt x="124" y="90"/>
                  </a:cubicBezTo>
                  <a:cubicBezTo>
                    <a:pt x="124" y="90"/>
                    <a:pt x="128" y="102"/>
                    <a:pt x="131" y="109"/>
                  </a:cubicBezTo>
                  <a:cubicBezTo>
                    <a:pt x="124" y="109"/>
                    <a:pt x="111" y="110"/>
                    <a:pt x="111" y="110"/>
                  </a:cubicBezTo>
                  <a:cubicBezTo>
                    <a:pt x="111" y="110"/>
                    <a:pt x="110" y="123"/>
                    <a:pt x="110" y="130"/>
                  </a:cubicBezTo>
                  <a:cubicBezTo>
                    <a:pt x="104" y="128"/>
                    <a:pt x="91" y="123"/>
                    <a:pt x="91" y="123"/>
                  </a:cubicBezTo>
                  <a:cubicBezTo>
                    <a:pt x="91" y="123"/>
                    <a:pt x="85" y="135"/>
                    <a:pt x="82" y="141"/>
                  </a:cubicBezTo>
                  <a:cubicBezTo>
                    <a:pt x="78" y="136"/>
                    <a:pt x="68" y="127"/>
                    <a:pt x="68" y="127"/>
                  </a:cubicBezTo>
                  <a:cubicBezTo>
                    <a:pt x="68" y="127"/>
                    <a:pt x="58" y="135"/>
                    <a:pt x="53" y="139"/>
                  </a:cubicBezTo>
                  <a:cubicBezTo>
                    <a:pt x="50" y="133"/>
                    <a:pt x="45" y="121"/>
                    <a:pt x="45" y="121"/>
                  </a:cubicBezTo>
                  <a:cubicBezTo>
                    <a:pt x="45" y="121"/>
                    <a:pt x="33" y="125"/>
                    <a:pt x="26" y="126"/>
                  </a:cubicBezTo>
                  <a:cubicBezTo>
                    <a:pt x="27" y="120"/>
                    <a:pt x="27" y="107"/>
                    <a:pt x="27" y="107"/>
                  </a:cubicBezTo>
                  <a:cubicBezTo>
                    <a:pt x="27" y="107"/>
                    <a:pt x="14" y="105"/>
                    <a:pt x="8" y="103"/>
                  </a:cubicBezTo>
                  <a:cubicBezTo>
                    <a:pt x="10" y="97"/>
                    <a:pt x="16" y="86"/>
                    <a:pt x="16" y="86"/>
                  </a:cubicBezTo>
                  <a:cubicBezTo>
                    <a:pt x="16" y="86"/>
                    <a:pt x="5" y="79"/>
                    <a:pt x="0" y="75"/>
                  </a:cubicBezTo>
                  <a:cubicBezTo>
                    <a:pt x="5" y="71"/>
                    <a:pt x="14" y="62"/>
                    <a:pt x="14" y="62"/>
                  </a:cubicBezTo>
                  <a:cubicBezTo>
                    <a:pt x="14" y="62"/>
                    <a:pt x="7" y="51"/>
                    <a:pt x="4" y="46"/>
                  </a:cubicBezTo>
                  <a:cubicBezTo>
                    <a:pt x="10" y="44"/>
                    <a:pt x="23" y="40"/>
                    <a:pt x="23" y="40"/>
                  </a:cubicBezTo>
                  <a:cubicBezTo>
                    <a:pt x="23" y="40"/>
                    <a:pt x="21" y="27"/>
                    <a:pt x="20" y="21"/>
                  </a:cubicBezTo>
                  <a:cubicBezTo>
                    <a:pt x="26" y="22"/>
                    <a:pt x="39" y="23"/>
                    <a:pt x="39" y="23"/>
                  </a:cubicBezTo>
                  <a:cubicBezTo>
                    <a:pt x="39" y="23"/>
                    <a:pt x="43" y="11"/>
                    <a:pt x="44" y="4"/>
                  </a:cubicBezTo>
                  <a:cubicBezTo>
                    <a:pt x="50" y="8"/>
                    <a:pt x="61" y="15"/>
                    <a:pt x="61" y="15"/>
                  </a:cubicBezTo>
                  <a:lnTo>
                    <a:pt x="65" y="10"/>
                  </a:lnTo>
                  <a:close/>
                </a:path>
              </a:pathLst>
            </a:custGeom>
            <a:solidFill>
              <a:srgbClr val="E66914"/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64" name="직사각형 163"/>
            <p:cNvSpPr/>
            <p:nvPr/>
          </p:nvSpPr>
          <p:spPr>
            <a:xfrm>
              <a:off x="7675425" y="4716363"/>
              <a:ext cx="573686" cy="15686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latinLnBrk="0" hangingPunct="0">
                <a:lnSpc>
                  <a:spcPct val="90000"/>
                </a:lnSpc>
                <a:buClr>
                  <a:srgbClr val="3271AA"/>
                </a:buClr>
                <a:buSzPct val="140000"/>
                <a:tabLst>
                  <a:tab pos="4704479" algn="l"/>
                </a:tabLst>
                <a:defRPr/>
              </a:pPr>
              <a:r>
                <a:rPr lang="en-US" altLang="ko-KR" sz="1000" dirty="0">
                  <a:solidFill>
                    <a:prstClr val="whit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sym typeface="Monotype Sorts"/>
                </a:rPr>
                <a:t>END</a:t>
              </a:r>
              <a:endParaRPr lang="ko-KR" altLang="en-US" sz="100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Monotype Sorts"/>
              </a:endParaRPr>
            </a:p>
          </p:txBody>
        </p:sp>
      </p:grpSp>
      <p:sp>
        <p:nvSpPr>
          <p:cNvPr id="165" name="Rectangle 304"/>
          <p:cNvSpPr>
            <a:spLocks noChangeArrowheads="1"/>
          </p:cNvSpPr>
          <p:nvPr/>
        </p:nvSpPr>
        <p:spPr bwMode="auto">
          <a:xfrm>
            <a:off x="209363" y="764704"/>
            <a:ext cx="3702073" cy="43998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wrap="square" lIns="106043" tIns="53021" rIns="106043" bIns="53021">
            <a:spAutoFit/>
          </a:bodyPr>
          <a:lstStyle/>
          <a:p>
            <a:pPr defTabSz="920512">
              <a:lnSpc>
                <a:spcPct val="120000"/>
              </a:lnSpc>
              <a:defRPr/>
            </a:pPr>
            <a:r>
              <a:rPr lang="en-US" altLang="ko-KR" sz="2000" b="1" spc="-60" dirty="0">
                <a:ln>
                  <a:solidFill>
                    <a:srgbClr val="F78E3F">
                      <a:alpha val="0"/>
                    </a:srgbClr>
                  </a:solidFill>
                </a:ln>
                <a:solidFill>
                  <a:srgbClr val="0FABE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Business Flow</a:t>
            </a:r>
            <a:endParaRPr kumimoji="1" lang="ko-KR" altLang="en-US" sz="2000" b="1" spc="-60" dirty="0">
              <a:ln>
                <a:solidFill>
                  <a:srgbClr val="F78E3F">
                    <a:alpha val="0"/>
                  </a:srgbClr>
                </a:solidFill>
              </a:ln>
              <a:solidFill>
                <a:srgbClr val="0FABE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6" name="Rectangle 304"/>
          <p:cNvSpPr>
            <a:spLocks noChangeArrowheads="1"/>
          </p:cNvSpPr>
          <p:nvPr/>
        </p:nvSpPr>
        <p:spPr bwMode="auto">
          <a:xfrm>
            <a:off x="209362" y="2236737"/>
            <a:ext cx="3702073" cy="47640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wrap="square" lIns="106043" tIns="53021" rIns="106043" bIns="53021">
            <a:spAutoFit/>
          </a:bodyPr>
          <a:lstStyle/>
          <a:p>
            <a:pPr defTabSz="920512">
              <a:lnSpc>
                <a:spcPct val="120000"/>
              </a:lnSpc>
              <a:defRPr/>
            </a:pPr>
            <a:r>
              <a:rPr lang="en-US" altLang="ko-KR" sz="2000" b="1" spc="-60" dirty="0">
                <a:ln>
                  <a:solidFill>
                    <a:srgbClr val="F78E3F">
                      <a:alpha val="0"/>
                    </a:srgbClr>
                  </a:solidFill>
                </a:ln>
                <a:solidFill>
                  <a:srgbClr val="0FABE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OMS </a:t>
            </a:r>
            <a:r>
              <a:rPr lang="ko-KR" altLang="en-US" sz="2000" b="1" spc="-60" dirty="0">
                <a:ln>
                  <a:solidFill>
                    <a:srgbClr val="F78E3F">
                      <a:alpha val="0"/>
                    </a:srgbClr>
                  </a:solidFill>
                </a:ln>
                <a:solidFill>
                  <a:srgbClr val="0FABE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해상</a:t>
            </a:r>
            <a:r>
              <a:rPr lang="en-US" altLang="ko-KR" sz="2000" b="1" spc="-60" dirty="0">
                <a:ln>
                  <a:solidFill>
                    <a:srgbClr val="F78E3F">
                      <a:alpha val="0"/>
                    </a:srgbClr>
                  </a:solidFill>
                </a:ln>
                <a:solidFill>
                  <a:srgbClr val="0FABE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Process </a:t>
            </a:r>
            <a:r>
              <a:rPr lang="ko-KR" altLang="en-US" sz="2000" b="1" spc="-60" dirty="0">
                <a:ln>
                  <a:solidFill>
                    <a:srgbClr val="F78E3F">
                      <a:alpha val="0"/>
                    </a:srgbClr>
                  </a:solidFill>
                </a:ln>
                <a:solidFill>
                  <a:srgbClr val="0FABE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흐름</a:t>
            </a:r>
            <a:endParaRPr kumimoji="1" lang="ko-KR" altLang="en-US" sz="2000" b="1" spc="-60" dirty="0">
              <a:ln>
                <a:solidFill>
                  <a:srgbClr val="F78E3F">
                    <a:alpha val="0"/>
                  </a:srgbClr>
                </a:solidFill>
              </a:ln>
              <a:solidFill>
                <a:srgbClr val="0FABE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970" y="2773052"/>
            <a:ext cx="8771706" cy="3696605"/>
          </a:xfrm>
          <a:prstGeom prst="rect">
            <a:avLst/>
          </a:prstGeom>
        </p:spPr>
      </p:pic>
      <p:sp>
        <p:nvSpPr>
          <p:cNvPr id="56" name="AutoShape 5"/>
          <p:cNvSpPr>
            <a:spLocks noChangeArrowheads="1"/>
          </p:cNvSpPr>
          <p:nvPr/>
        </p:nvSpPr>
        <p:spPr bwMode="auto">
          <a:xfrm>
            <a:off x="395288" y="260648"/>
            <a:ext cx="6985000" cy="387350"/>
          </a:xfrm>
          <a:prstGeom prst="roundRect">
            <a:avLst>
              <a:gd name="adj" fmla="val 16667"/>
            </a:avLst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3.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프로세스 흐름도</a:t>
            </a:r>
          </a:p>
        </p:txBody>
      </p:sp>
    </p:spTree>
    <p:extLst>
      <p:ext uri="{BB962C8B-B14F-4D97-AF65-F5344CB8AC3E}">
        <p14:creationId xmlns:p14="http://schemas.microsoft.com/office/powerpoint/2010/main" val="2611395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36791D8-1D21-4992-A4B8-6708F7D80C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69EC0D0-E57F-45C7-B228-A343C9E029FB}" type="slidenum">
              <a:rPr lang="en-US" altLang="ko-KR" smtClean="0"/>
              <a:pPr>
                <a:defRPr/>
              </a:pPr>
              <a:t>6</a:t>
            </a:fld>
            <a:r>
              <a:rPr lang="en-US" altLang="ko-KR" sz="1000"/>
              <a:t>/4-</a:t>
            </a:r>
            <a:endParaRPr lang="en-US" altLang="ko-KR" sz="10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E8CEEB9-7764-4BAA-9251-BCD1145939D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3140968"/>
            <a:ext cx="5270500" cy="23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04">
            <a:extLst>
              <a:ext uri="{FF2B5EF4-FFF2-40B4-BE49-F238E27FC236}">
                <a16:creationId xmlns:a16="http://schemas.microsoft.com/office/drawing/2014/main" id="{5E9025F3-F2B7-4D1C-9653-17F9A7F723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362" y="2236737"/>
            <a:ext cx="3702073" cy="43998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wrap="square" lIns="106043" tIns="53021" rIns="106043" bIns="53021">
            <a:spAutoFit/>
          </a:bodyPr>
          <a:lstStyle/>
          <a:p>
            <a:pPr defTabSz="920512">
              <a:lnSpc>
                <a:spcPct val="120000"/>
              </a:lnSpc>
              <a:defRPr/>
            </a:pPr>
            <a:r>
              <a:rPr lang="en-US" altLang="ko-KR" sz="2000" b="1" spc="-60">
                <a:ln>
                  <a:solidFill>
                    <a:srgbClr val="F78E3F">
                      <a:alpha val="0"/>
                    </a:srgbClr>
                  </a:solidFill>
                </a:ln>
                <a:solidFill>
                  <a:srgbClr val="0FABE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OMS </a:t>
            </a:r>
            <a:r>
              <a:rPr lang="ko-KR" altLang="en-US" sz="2000" b="1" spc="-60">
                <a:ln>
                  <a:solidFill>
                    <a:srgbClr val="F78E3F">
                      <a:alpha val="0"/>
                    </a:srgbClr>
                  </a:solidFill>
                </a:ln>
                <a:solidFill>
                  <a:srgbClr val="0FABE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항공</a:t>
            </a:r>
            <a:r>
              <a:rPr lang="en-US" altLang="ko-KR" sz="2000" b="1" spc="-60">
                <a:ln>
                  <a:solidFill>
                    <a:srgbClr val="F78E3F">
                      <a:alpha val="0"/>
                    </a:srgbClr>
                  </a:solidFill>
                </a:ln>
                <a:solidFill>
                  <a:srgbClr val="0FABE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000" b="1" spc="-60" dirty="0">
                <a:ln>
                  <a:solidFill>
                    <a:srgbClr val="F78E3F">
                      <a:alpha val="0"/>
                    </a:srgbClr>
                  </a:solidFill>
                </a:ln>
                <a:solidFill>
                  <a:srgbClr val="0FABE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Process </a:t>
            </a:r>
            <a:r>
              <a:rPr lang="ko-KR" altLang="en-US" sz="2000" b="1" spc="-60" dirty="0">
                <a:ln>
                  <a:solidFill>
                    <a:srgbClr val="F78E3F">
                      <a:alpha val="0"/>
                    </a:srgbClr>
                  </a:solidFill>
                </a:ln>
                <a:solidFill>
                  <a:srgbClr val="0FABE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흐름</a:t>
            </a:r>
            <a:endParaRPr kumimoji="1" lang="ko-KR" altLang="en-US" sz="2000" b="1" spc="-60" dirty="0">
              <a:ln>
                <a:solidFill>
                  <a:srgbClr val="F78E3F">
                    <a:alpha val="0"/>
                  </a:srgbClr>
                </a:solidFill>
              </a:ln>
              <a:solidFill>
                <a:srgbClr val="0FABE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1C03CD5-63B1-45E9-A2EA-87DF5C58DF19}"/>
              </a:ext>
            </a:extLst>
          </p:cNvPr>
          <p:cNvSpPr/>
          <p:nvPr/>
        </p:nvSpPr>
        <p:spPr>
          <a:xfrm>
            <a:off x="1682460" y="1491107"/>
            <a:ext cx="4225768" cy="3301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Picture 79" descr="중간원">
            <a:extLst>
              <a:ext uri="{FF2B5EF4-FFF2-40B4-BE49-F238E27FC236}">
                <a16:creationId xmlns:a16="http://schemas.microsoft.com/office/drawing/2014/main" id="{E49E09D4-6CAF-446C-BC56-5CB22D214A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0939" y="1174091"/>
            <a:ext cx="1034049" cy="972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Oval 525">
            <a:extLst>
              <a:ext uri="{FF2B5EF4-FFF2-40B4-BE49-F238E27FC236}">
                <a16:creationId xmlns:a16="http://schemas.microsoft.com/office/drawing/2014/main" id="{38F87BA8-8984-4CDB-B7F0-AAEA9100D0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8809" y="1295124"/>
            <a:ext cx="732781" cy="736726"/>
          </a:xfrm>
          <a:prstGeom prst="ellipse">
            <a:avLst/>
          </a:prstGeom>
          <a:solidFill>
            <a:srgbClr val="97D9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ko-KR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 Box 188">
            <a:extLst>
              <a:ext uri="{FF2B5EF4-FFF2-40B4-BE49-F238E27FC236}">
                <a16:creationId xmlns:a16="http://schemas.microsoft.com/office/drawing/2014/main" id="{6515AC7B-1AAB-4AB9-84D8-1DE44C8153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2240" y="1382424"/>
            <a:ext cx="830133" cy="5599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rgbClr val="4F81BD">
                <a:gamma/>
                <a:shade val="60000"/>
                <a:invGamma/>
              </a:srgbClr>
            </a:prstShdw>
          </a:effectLst>
        </p:spPr>
        <p:txBody>
          <a:bodyPr lIns="101919" tIns="50960" rIns="101919" bIns="50960" anchor="ctr">
            <a:spAutoFit/>
          </a:bodyPr>
          <a:lstStyle/>
          <a:p>
            <a:pPr algn="ctr" defTabSz="652463">
              <a:lnSpc>
                <a:spcPct val="90000"/>
              </a:lnSpc>
              <a:defRPr/>
            </a:pPr>
            <a:r>
              <a:rPr lang="ko-KR" altLang="en-US" sz="1100" spc="-150" dirty="0">
                <a:ln>
                  <a:solidFill>
                    <a:srgbClr val="F78E3F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 </a:t>
            </a:r>
            <a:endParaRPr lang="en-US" altLang="ko-KR" sz="1100" spc="-150" dirty="0">
              <a:ln>
                <a:solidFill>
                  <a:srgbClr val="F78E3F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defTabSz="652463">
              <a:lnSpc>
                <a:spcPct val="90000"/>
              </a:lnSpc>
              <a:defRPr/>
            </a:pPr>
            <a:r>
              <a:rPr lang="ko-KR" altLang="en-US" sz="1100" spc="-150" dirty="0">
                <a:ln>
                  <a:solidFill>
                    <a:srgbClr val="F78E3F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오더</a:t>
            </a:r>
            <a:endParaRPr lang="en-US" altLang="ko-KR" sz="1100" spc="-150" dirty="0">
              <a:ln>
                <a:solidFill>
                  <a:srgbClr val="F78E3F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defTabSz="652463">
              <a:lnSpc>
                <a:spcPct val="90000"/>
              </a:lnSpc>
              <a:defRPr/>
            </a:pPr>
            <a:r>
              <a:rPr lang="ko-KR" altLang="en-US" sz="1100" spc="-150" dirty="0">
                <a:ln>
                  <a:solidFill>
                    <a:srgbClr val="F78E3F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생성</a:t>
            </a:r>
          </a:p>
        </p:txBody>
      </p:sp>
      <p:grpSp>
        <p:nvGrpSpPr>
          <p:cNvPr id="9" name="Group 109">
            <a:extLst>
              <a:ext uri="{FF2B5EF4-FFF2-40B4-BE49-F238E27FC236}">
                <a16:creationId xmlns:a16="http://schemas.microsoft.com/office/drawing/2014/main" id="{3DEC7481-FECC-4247-B5FB-9D85140FCFDB}"/>
              </a:ext>
            </a:extLst>
          </p:cNvPr>
          <p:cNvGrpSpPr>
            <a:grpSpLocks/>
          </p:cNvGrpSpPr>
          <p:nvPr/>
        </p:nvGrpSpPr>
        <p:grpSpPr bwMode="auto">
          <a:xfrm>
            <a:off x="3404951" y="1585874"/>
            <a:ext cx="127610" cy="126297"/>
            <a:chOff x="3417" y="1217"/>
            <a:chExt cx="158" cy="161"/>
          </a:xfrm>
          <a:solidFill>
            <a:schemeClr val="bg1">
              <a:lumMod val="75000"/>
            </a:schemeClr>
          </a:solidFill>
        </p:grpSpPr>
        <p:sp>
          <p:nvSpPr>
            <p:cNvPr id="10" name="Oval 110">
              <a:extLst>
                <a:ext uri="{FF2B5EF4-FFF2-40B4-BE49-F238E27FC236}">
                  <a16:creationId xmlns:a16="http://schemas.microsoft.com/office/drawing/2014/main" id="{6DEC602A-FB03-423E-B094-60BAA5265D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4" y="1217"/>
              <a:ext cx="44" cy="4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9pPr>
            </a:lstStyle>
            <a:p>
              <a:endParaRPr kumimoji="1" lang="ko-KR" altLang="ko-KR" b="1">
                <a:solidFill>
                  <a:srgbClr val="000000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1" name="Oval 111">
              <a:extLst>
                <a:ext uri="{FF2B5EF4-FFF2-40B4-BE49-F238E27FC236}">
                  <a16:creationId xmlns:a16="http://schemas.microsoft.com/office/drawing/2014/main" id="{EF2417F0-DB6E-4BA0-9FCE-961D40E1F0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4" y="1275"/>
              <a:ext cx="44" cy="4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9pPr>
            </a:lstStyle>
            <a:p>
              <a:endParaRPr kumimoji="1" lang="ko-KR" altLang="ko-KR" b="1">
                <a:solidFill>
                  <a:srgbClr val="000000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2" name="Oval 112">
              <a:extLst>
                <a:ext uri="{FF2B5EF4-FFF2-40B4-BE49-F238E27FC236}">
                  <a16:creationId xmlns:a16="http://schemas.microsoft.com/office/drawing/2014/main" id="{DC9D0519-0297-435B-A8FC-45259AB531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4" y="1334"/>
              <a:ext cx="44" cy="4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9pPr>
            </a:lstStyle>
            <a:p>
              <a:endParaRPr kumimoji="1" lang="ko-KR" altLang="ko-KR" b="1">
                <a:solidFill>
                  <a:srgbClr val="000000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3" name="Oval 113">
              <a:extLst>
                <a:ext uri="{FF2B5EF4-FFF2-40B4-BE49-F238E27FC236}">
                  <a16:creationId xmlns:a16="http://schemas.microsoft.com/office/drawing/2014/main" id="{4F06D900-45E6-441C-BDC7-E82184AE78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1" y="1275"/>
              <a:ext cx="44" cy="4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9pPr>
            </a:lstStyle>
            <a:p>
              <a:endParaRPr kumimoji="1" lang="ko-KR" altLang="ko-KR" b="1">
                <a:solidFill>
                  <a:srgbClr val="000000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4" name="Oval 114">
              <a:extLst>
                <a:ext uri="{FF2B5EF4-FFF2-40B4-BE49-F238E27FC236}">
                  <a16:creationId xmlns:a16="http://schemas.microsoft.com/office/drawing/2014/main" id="{44B7DF14-6DAD-473E-8EBF-2DA3BD15C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" y="1275"/>
              <a:ext cx="44" cy="4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9pPr>
            </a:lstStyle>
            <a:p>
              <a:endParaRPr kumimoji="1" lang="ko-KR" altLang="ko-KR" b="1">
                <a:solidFill>
                  <a:srgbClr val="000000"/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15" name="Group 109">
            <a:extLst>
              <a:ext uri="{FF2B5EF4-FFF2-40B4-BE49-F238E27FC236}">
                <a16:creationId xmlns:a16="http://schemas.microsoft.com/office/drawing/2014/main" id="{5A5F1F05-AC11-48BE-A0FA-36B460B05797}"/>
              </a:ext>
            </a:extLst>
          </p:cNvPr>
          <p:cNvGrpSpPr>
            <a:grpSpLocks/>
          </p:cNvGrpSpPr>
          <p:nvPr/>
        </p:nvGrpSpPr>
        <p:grpSpPr bwMode="auto">
          <a:xfrm>
            <a:off x="4686571" y="1585874"/>
            <a:ext cx="127610" cy="126297"/>
            <a:chOff x="3417" y="1217"/>
            <a:chExt cx="158" cy="161"/>
          </a:xfrm>
          <a:solidFill>
            <a:schemeClr val="bg1">
              <a:lumMod val="75000"/>
            </a:schemeClr>
          </a:solidFill>
        </p:grpSpPr>
        <p:sp>
          <p:nvSpPr>
            <p:cNvPr id="16" name="Oval 110">
              <a:extLst>
                <a:ext uri="{FF2B5EF4-FFF2-40B4-BE49-F238E27FC236}">
                  <a16:creationId xmlns:a16="http://schemas.microsoft.com/office/drawing/2014/main" id="{63CC40CF-E445-4619-BF29-A219674EC4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4" y="1217"/>
              <a:ext cx="44" cy="4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9pPr>
            </a:lstStyle>
            <a:p>
              <a:endParaRPr kumimoji="1" lang="ko-KR" altLang="ko-KR" b="1">
                <a:solidFill>
                  <a:srgbClr val="000000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7" name="Oval 111">
              <a:extLst>
                <a:ext uri="{FF2B5EF4-FFF2-40B4-BE49-F238E27FC236}">
                  <a16:creationId xmlns:a16="http://schemas.microsoft.com/office/drawing/2014/main" id="{12C62659-EFDF-48A9-8954-F3685D158B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4" y="1275"/>
              <a:ext cx="44" cy="4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9pPr>
            </a:lstStyle>
            <a:p>
              <a:endParaRPr kumimoji="1" lang="ko-KR" altLang="ko-KR" b="1">
                <a:solidFill>
                  <a:srgbClr val="000000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8" name="Oval 112">
              <a:extLst>
                <a:ext uri="{FF2B5EF4-FFF2-40B4-BE49-F238E27FC236}">
                  <a16:creationId xmlns:a16="http://schemas.microsoft.com/office/drawing/2014/main" id="{E9852FBA-5CD5-4770-B95A-C8A4163779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4" y="1334"/>
              <a:ext cx="44" cy="4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9pPr>
            </a:lstStyle>
            <a:p>
              <a:endParaRPr kumimoji="1" lang="ko-KR" altLang="ko-KR" b="1">
                <a:solidFill>
                  <a:srgbClr val="000000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9" name="Oval 113">
              <a:extLst>
                <a:ext uri="{FF2B5EF4-FFF2-40B4-BE49-F238E27FC236}">
                  <a16:creationId xmlns:a16="http://schemas.microsoft.com/office/drawing/2014/main" id="{844D1C88-D4A7-40EE-BB65-7F174AE30C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1" y="1275"/>
              <a:ext cx="44" cy="4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9pPr>
            </a:lstStyle>
            <a:p>
              <a:endParaRPr kumimoji="1" lang="ko-KR" altLang="ko-KR" b="1">
                <a:solidFill>
                  <a:srgbClr val="000000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0" name="Oval 114">
              <a:extLst>
                <a:ext uri="{FF2B5EF4-FFF2-40B4-BE49-F238E27FC236}">
                  <a16:creationId xmlns:a16="http://schemas.microsoft.com/office/drawing/2014/main" id="{9183A152-BD6C-4C67-826D-525A73312B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" y="1275"/>
              <a:ext cx="44" cy="4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9pPr>
            </a:lstStyle>
            <a:p>
              <a:endParaRPr kumimoji="1" lang="ko-KR" altLang="ko-KR" b="1">
                <a:solidFill>
                  <a:srgbClr val="000000"/>
                </a:solidFill>
                <a:latin typeface="맑은 고딕" panose="020B0503020000020004" pitchFamily="50" charset="-127"/>
              </a:endParaRPr>
            </a:p>
          </p:txBody>
        </p:sp>
      </p:grpSp>
      <p:pic>
        <p:nvPicPr>
          <p:cNvPr id="21" name="Picture 79" descr="중간원">
            <a:extLst>
              <a:ext uri="{FF2B5EF4-FFF2-40B4-BE49-F238E27FC236}">
                <a16:creationId xmlns:a16="http://schemas.microsoft.com/office/drawing/2014/main" id="{D7DB2234-88FE-45B2-A1AF-34E2797453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2559" y="1174091"/>
            <a:ext cx="1034049" cy="972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Oval 525">
            <a:extLst>
              <a:ext uri="{FF2B5EF4-FFF2-40B4-BE49-F238E27FC236}">
                <a16:creationId xmlns:a16="http://schemas.microsoft.com/office/drawing/2014/main" id="{6FAF4EBB-DC76-41CE-A344-A0276C5094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0429" y="1295124"/>
            <a:ext cx="732780" cy="736726"/>
          </a:xfrm>
          <a:prstGeom prst="ellipse">
            <a:avLst/>
          </a:prstGeom>
          <a:solidFill>
            <a:srgbClr val="97D9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ko-KR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Text Box 188">
            <a:extLst>
              <a:ext uri="{FF2B5EF4-FFF2-40B4-BE49-F238E27FC236}">
                <a16:creationId xmlns:a16="http://schemas.microsoft.com/office/drawing/2014/main" id="{5D4F411C-C09B-4E5F-9C97-BD04CEB0CC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9394" y="1382424"/>
            <a:ext cx="956429" cy="5599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rgbClr val="4F81BD">
                <a:gamma/>
                <a:shade val="60000"/>
                <a:invGamma/>
              </a:srgbClr>
            </a:prstShdw>
          </a:effectLst>
        </p:spPr>
        <p:txBody>
          <a:bodyPr lIns="101919" tIns="50960" rIns="101919" bIns="50960" anchor="ctr">
            <a:spAutoFit/>
          </a:bodyPr>
          <a:lstStyle/>
          <a:p>
            <a:pPr algn="ctr" defTabSz="652463">
              <a:lnSpc>
                <a:spcPct val="90000"/>
              </a:lnSpc>
              <a:defRPr/>
            </a:pPr>
            <a:r>
              <a:rPr lang="ko-KR" altLang="en-US" sz="1100" spc="-150" dirty="0">
                <a:ln>
                  <a:solidFill>
                    <a:srgbClr val="F78E3F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 </a:t>
            </a:r>
            <a:endParaRPr lang="en-US" altLang="ko-KR" sz="1100" spc="-150" dirty="0">
              <a:ln>
                <a:solidFill>
                  <a:srgbClr val="F78E3F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defTabSz="652463">
              <a:lnSpc>
                <a:spcPct val="90000"/>
              </a:lnSpc>
              <a:defRPr/>
            </a:pPr>
            <a:r>
              <a:rPr lang="ko-KR" altLang="en-US" sz="1100" spc="-150" dirty="0">
                <a:ln>
                  <a:solidFill>
                    <a:srgbClr val="F78E3F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오더</a:t>
            </a:r>
            <a:endParaRPr lang="en-US" altLang="ko-KR" sz="1100" spc="-150" dirty="0">
              <a:ln>
                <a:solidFill>
                  <a:srgbClr val="F78E3F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defTabSz="652463">
              <a:lnSpc>
                <a:spcPct val="90000"/>
              </a:lnSpc>
              <a:defRPr/>
            </a:pPr>
            <a:r>
              <a:rPr lang="ko-KR" altLang="en-US" sz="1100" spc="-150" dirty="0">
                <a:ln>
                  <a:solidFill>
                    <a:srgbClr val="F78E3F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분배 </a:t>
            </a:r>
          </a:p>
        </p:txBody>
      </p:sp>
      <p:pic>
        <p:nvPicPr>
          <p:cNvPr id="24" name="Picture 79" descr="중간원">
            <a:extLst>
              <a:ext uri="{FF2B5EF4-FFF2-40B4-BE49-F238E27FC236}">
                <a16:creationId xmlns:a16="http://schemas.microsoft.com/office/drawing/2014/main" id="{F314D1B4-95D2-4204-9FF7-CCCA89EBA1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4179" y="1174091"/>
            <a:ext cx="1034049" cy="972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Oval 525">
            <a:extLst>
              <a:ext uri="{FF2B5EF4-FFF2-40B4-BE49-F238E27FC236}">
                <a16:creationId xmlns:a16="http://schemas.microsoft.com/office/drawing/2014/main" id="{960665A7-0776-4DD5-8517-2E12022321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049" y="1295124"/>
            <a:ext cx="732781" cy="736726"/>
          </a:xfrm>
          <a:prstGeom prst="ellipse">
            <a:avLst/>
          </a:prstGeom>
          <a:solidFill>
            <a:srgbClr val="97D9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ko-KR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Text Box 188">
            <a:extLst>
              <a:ext uri="{FF2B5EF4-FFF2-40B4-BE49-F238E27FC236}">
                <a16:creationId xmlns:a16="http://schemas.microsoft.com/office/drawing/2014/main" id="{265552C9-E6BD-4CF9-B4B9-995AF9C743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0225" y="1458598"/>
            <a:ext cx="956429" cy="4076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rgbClr val="4F81BD">
                <a:gamma/>
                <a:shade val="60000"/>
                <a:invGamma/>
              </a:srgbClr>
            </a:prstShdw>
          </a:effectLst>
        </p:spPr>
        <p:txBody>
          <a:bodyPr lIns="101919" tIns="50960" rIns="101919" bIns="50960" anchor="ctr">
            <a:spAutoFit/>
          </a:bodyPr>
          <a:lstStyle/>
          <a:p>
            <a:pPr algn="ctr" defTabSz="652463">
              <a:lnSpc>
                <a:spcPct val="90000"/>
              </a:lnSpc>
              <a:defRPr/>
            </a:pPr>
            <a:r>
              <a:rPr lang="ko-KR" altLang="en-US" sz="1100" spc="-150" dirty="0">
                <a:ln>
                  <a:solidFill>
                    <a:srgbClr val="F78E3F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실행 오더</a:t>
            </a:r>
            <a:endParaRPr lang="en-US" altLang="ko-KR" sz="1100" spc="-150" dirty="0">
              <a:ln>
                <a:solidFill>
                  <a:srgbClr val="F78E3F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defTabSz="652463">
              <a:lnSpc>
                <a:spcPct val="90000"/>
              </a:lnSpc>
              <a:defRPr/>
            </a:pPr>
            <a:r>
              <a:rPr lang="ko-KR" altLang="en-US" sz="1100" spc="-150" dirty="0">
                <a:ln>
                  <a:solidFill>
                    <a:srgbClr val="F78E3F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생성</a:t>
            </a:r>
          </a:p>
        </p:txBody>
      </p:sp>
      <p:pic>
        <p:nvPicPr>
          <p:cNvPr id="27" name="Picture 79" descr="중간원">
            <a:extLst>
              <a:ext uri="{FF2B5EF4-FFF2-40B4-BE49-F238E27FC236}">
                <a16:creationId xmlns:a16="http://schemas.microsoft.com/office/drawing/2014/main" id="{88491A07-1CB5-4F11-B3CC-C93392FBD2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320" y="1174091"/>
            <a:ext cx="1034049" cy="972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Oval 525">
            <a:extLst>
              <a:ext uri="{FF2B5EF4-FFF2-40B4-BE49-F238E27FC236}">
                <a16:creationId xmlns:a16="http://schemas.microsoft.com/office/drawing/2014/main" id="{1D3BD193-CC21-4B8F-AAD5-25E8627A41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190" y="1295124"/>
            <a:ext cx="732781" cy="736726"/>
          </a:xfrm>
          <a:prstGeom prst="ellipse">
            <a:avLst/>
          </a:prstGeom>
          <a:solidFill>
            <a:srgbClr val="97D9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ko-KR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Text Box 188">
            <a:extLst>
              <a:ext uri="{FF2B5EF4-FFF2-40B4-BE49-F238E27FC236}">
                <a16:creationId xmlns:a16="http://schemas.microsoft.com/office/drawing/2014/main" id="{3F7EBBE7-80DE-42C8-B23D-B0F7B16AAB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4476" y="1504337"/>
            <a:ext cx="882424" cy="4076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rgbClr val="4F81BD">
                <a:gamma/>
                <a:shade val="60000"/>
                <a:invGamma/>
              </a:srgbClr>
            </a:prstShdw>
          </a:effectLst>
        </p:spPr>
        <p:txBody>
          <a:bodyPr wrap="square" lIns="101919" tIns="50960" rIns="101919" bIns="50960" anchor="ctr">
            <a:spAutoFit/>
          </a:bodyPr>
          <a:lstStyle/>
          <a:p>
            <a:pPr algn="ctr" defTabSz="652463">
              <a:lnSpc>
                <a:spcPct val="90000"/>
              </a:lnSpc>
              <a:defRPr/>
            </a:pPr>
            <a:r>
              <a:rPr lang="ko-KR" altLang="en-US" sz="1100" spc="-150" dirty="0">
                <a:ln>
                  <a:solidFill>
                    <a:srgbClr val="F78E3F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 오더 </a:t>
            </a:r>
            <a:endParaRPr lang="en-US" altLang="ko-KR" sz="1100" spc="-150" dirty="0">
              <a:ln>
                <a:solidFill>
                  <a:srgbClr val="F78E3F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defTabSz="652463">
              <a:lnSpc>
                <a:spcPct val="90000"/>
              </a:lnSpc>
              <a:defRPr/>
            </a:pPr>
            <a:r>
              <a:rPr lang="ko-KR" altLang="en-US" sz="1100" spc="-150" dirty="0">
                <a:ln>
                  <a:solidFill>
                    <a:srgbClr val="F78E3F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접수</a:t>
            </a:r>
          </a:p>
        </p:txBody>
      </p:sp>
      <p:grpSp>
        <p:nvGrpSpPr>
          <p:cNvPr id="30" name="Group 109">
            <a:extLst>
              <a:ext uri="{FF2B5EF4-FFF2-40B4-BE49-F238E27FC236}">
                <a16:creationId xmlns:a16="http://schemas.microsoft.com/office/drawing/2014/main" id="{D51D7CD0-9A51-4A4D-9F9B-E92773D6B2F7}"/>
              </a:ext>
            </a:extLst>
          </p:cNvPr>
          <p:cNvGrpSpPr>
            <a:grpSpLocks/>
          </p:cNvGrpSpPr>
          <p:nvPr/>
        </p:nvGrpSpPr>
        <p:grpSpPr bwMode="auto">
          <a:xfrm>
            <a:off x="2123332" y="1585874"/>
            <a:ext cx="127610" cy="126297"/>
            <a:chOff x="3417" y="1217"/>
            <a:chExt cx="158" cy="161"/>
          </a:xfrm>
          <a:solidFill>
            <a:schemeClr val="bg1">
              <a:lumMod val="75000"/>
            </a:schemeClr>
          </a:solidFill>
        </p:grpSpPr>
        <p:sp>
          <p:nvSpPr>
            <p:cNvPr id="31" name="Oval 110">
              <a:extLst>
                <a:ext uri="{FF2B5EF4-FFF2-40B4-BE49-F238E27FC236}">
                  <a16:creationId xmlns:a16="http://schemas.microsoft.com/office/drawing/2014/main" id="{2AEC86E1-EDDA-462E-92EA-75D2F2A862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4" y="1217"/>
              <a:ext cx="44" cy="4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9pPr>
            </a:lstStyle>
            <a:p>
              <a:endParaRPr kumimoji="1" lang="ko-KR" altLang="ko-KR" b="1">
                <a:solidFill>
                  <a:srgbClr val="000000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2" name="Oval 111">
              <a:extLst>
                <a:ext uri="{FF2B5EF4-FFF2-40B4-BE49-F238E27FC236}">
                  <a16:creationId xmlns:a16="http://schemas.microsoft.com/office/drawing/2014/main" id="{4F76F8B0-EB8B-4D6B-A145-ECC40C32D9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4" y="1275"/>
              <a:ext cx="44" cy="4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9pPr>
            </a:lstStyle>
            <a:p>
              <a:endParaRPr kumimoji="1" lang="ko-KR" altLang="ko-KR" b="1">
                <a:solidFill>
                  <a:srgbClr val="000000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3" name="Oval 112">
              <a:extLst>
                <a:ext uri="{FF2B5EF4-FFF2-40B4-BE49-F238E27FC236}">
                  <a16:creationId xmlns:a16="http://schemas.microsoft.com/office/drawing/2014/main" id="{FC3AD214-B489-469E-841C-C540AF6529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4" y="1334"/>
              <a:ext cx="44" cy="4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9pPr>
            </a:lstStyle>
            <a:p>
              <a:endParaRPr kumimoji="1" lang="ko-KR" altLang="ko-KR" b="1">
                <a:solidFill>
                  <a:srgbClr val="000000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4" name="Oval 113">
              <a:extLst>
                <a:ext uri="{FF2B5EF4-FFF2-40B4-BE49-F238E27FC236}">
                  <a16:creationId xmlns:a16="http://schemas.microsoft.com/office/drawing/2014/main" id="{37523EEA-BEED-4084-BFC2-890362223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1" y="1275"/>
              <a:ext cx="44" cy="4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9pPr>
            </a:lstStyle>
            <a:p>
              <a:endParaRPr kumimoji="1" lang="ko-KR" altLang="ko-KR" b="1">
                <a:solidFill>
                  <a:srgbClr val="000000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5" name="Oval 114">
              <a:extLst>
                <a:ext uri="{FF2B5EF4-FFF2-40B4-BE49-F238E27FC236}">
                  <a16:creationId xmlns:a16="http://schemas.microsoft.com/office/drawing/2014/main" id="{EFBD3289-A354-4D73-A738-29D90A9C3F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" y="1275"/>
              <a:ext cx="44" cy="4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9pPr>
            </a:lstStyle>
            <a:p>
              <a:endParaRPr kumimoji="1" lang="ko-KR" altLang="ko-KR" b="1">
                <a:solidFill>
                  <a:srgbClr val="000000"/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36" name="Group 109">
            <a:extLst>
              <a:ext uri="{FF2B5EF4-FFF2-40B4-BE49-F238E27FC236}">
                <a16:creationId xmlns:a16="http://schemas.microsoft.com/office/drawing/2014/main" id="{1872EEBF-AE57-4840-9696-6EF52CB52736}"/>
              </a:ext>
            </a:extLst>
          </p:cNvPr>
          <p:cNvGrpSpPr>
            <a:grpSpLocks/>
          </p:cNvGrpSpPr>
          <p:nvPr/>
        </p:nvGrpSpPr>
        <p:grpSpPr bwMode="auto">
          <a:xfrm>
            <a:off x="5896058" y="1568616"/>
            <a:ext cx="127610" cy="126297"/>
            <a:chOff x="3417" y="1217"/>
            <a:chExt cx="158" cy="161"/>
          </a:xfrm>
          <a:solidFill>
            <a:schemeClr val="bg1">
              <a:lumMod val="75000"/>
            </a:schemeClr>
          </a:solidFill>
        </p:grpSpPr>
        <p:sp>
          <p:nvSpPr>
            <p:cNvPr id="37" name="Oval 110">
              <a:extLst>
                <a:ext uri="{FF2B5EF4-FFF2-40B4-BE49-F238E27FC236}">
                  <a16:creationId xmlns:a16="http://schemas.microsoft.com/office/drawing/2014/main" id="{5DE73076-9576-43CD-B61F-12FD7D7F63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4" y="1217"/>
              <a:ext cx="44" cy="4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9pPr>
            </a:lstStyle>
            <a:p>
              <a:endParaRPr kumimoji="1" lang="ko-KR" altLang="ko-KR" b="1">
                <a:solidFill>
                  <a:srgbClr val="000000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8" name="Oval 111">
              <a:extLst>
                <a:ext uri="{FF2B5EF4-FFF2-40B4-BE49-F238E27FC236}">
                  <a16:creationId xmlns:a16="http://schemas.microsoft.com/office/drawing/2014/main" id="{4DDD4742-CE0E-4A60-8415-AA8255AE9A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4" y="1275"/>
              <a:ext cx="44" cy="4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9pPr>
            </a:lstStyle>
            <a:p>
              <a:endParaRPr kumimoji="1" lang="ko-KR" altLang="ko-KR" b="1">
                <a:solidFill>
                  <a:srgbClr val="000000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9" name="Oval 112">
              <a:extLst>
                <a:ext uri="{FF2B5EF4-FFF2-40B4-BE49-F238E27FC236}">
                  <a16:creationId xmlns:a16="http://schemas.microsoft.com/office/drawing/2014/main" id="{1B6ED669-8623-4CFB-8C91-18617C6BF6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4" y="1334"/>
              <a:ext cx="44" cy="4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9pPr>
            </a:lstStyle>
            <a:p>
              <a:endParaRPr kumimoji="1" lang="ko-KR" altLang="ko-KR" b="1">
                <a:solidFill>
                  <a:srgbClr val="000000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0" name="Oval 113">
              <a:extLst>
                <a:ext uri="{FF2B5EF4-FFF2-40B4-BE49-F238E27FC236}">
                  <a16:creationId xmlns:a16="http://schemas.microsoft.com/office/drawing/2014/main" id="{2453ACC6-7D5E-4E20-BD19-74ADEC007C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1" y="1275"/>
              <a:ext cx="44" cy="4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9pPr>
            </a:lstStyle>
            <a:p>
              <a:endParaRPr kumimoji="1" lang="ko-KR" altLang="ko-KR" b="1">
                <a:solidFill>
                  <a:srgbClr val="000000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1" name="Oval 114">
              <a:extLst>
                <a:ext uri="{FF2B5EF4-FFF2-40B4-BE49-F238E27FC236}">
                  <a16:creationId xmlns:a16="http://schemas.microsoft.com/office/drawing/2014/main" id="{3D94C402-3429-49FE-A8F4-9CB83468C8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7" y="1275"/>
              <a:ext cx="44" cy="4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맑은 고딕" panose="020B0503020000020004" pitchFamily="50" charset="-127"/>
                </a:defRPr>
              </a:lvl9pPr>
            </a:lstStyle>
            <a:p>
              <a:endParaRPr kumimoji="1" lang="ko-KR" altLang="ko-KR" b="1">
                <a:solidFill>
                  <a:srgbClr val="000000"/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A4634EBA-4482-4574-BC7B-AEC3369B7544}"/>
              </a:ext>
            </a:extLst>
          </p:cNvPr>
          <p:cNvGrpSpPr/>
          <p:nvPr/>
        </p:nvGrpSpPr>
        <p:grpSpPr>
          <a:xfrm>
            <a:off x="214028" y="1310210"/>
            <a:ext cx="877545" cy="676840"/>
            <a:chOff x="7675425" y="4562720"/>
            <a:chExt cx="573686" cy="459944"/>
          </a:xfrm>
        </p:grpSpPr>
        <p:sp>
          <p:nvSpPr>
            <p:cNvPr id="43" name="Freeform 127">
              <a:extLst>
                <a:ext uri="{FF2B5EF4-FFF2-40B4-BE49-F238E27FC236}">
                  <a16:creationId xmlns:a16="http://schemas.microsoft.com/office/drawing/2014/main" id="{558ACFC6-3839-48E2-82EF-8C7EF75CDDB7}"/>
                </a:ext>
              </a:extLst>
            </p:cNvPr>
            <p:cNvSpPr>
              <a:spLocks/>
            </p:cNvSpPr>
            <p:nvPr/>
          </p:nvSpPr>
          <p:spPr bwMode="auto">
            <a:xfrm>
              <a:off x="7732296" y="4562720"/>
              <a:ext cx="459944" cy="459944"/>
            </a:xfrm>
            <a:custGeom>
              <a:avLst/>
              <a:gdLst>
                <a:gd name="T0" fmla="*/ 65 w 141"/>
                <a:gd name="T1" fmla="*/ 10 h 141"/>
                <a:gd name="T2" fmla="*/ 74 w 141"/>
                <a:gd name="T3" fmla="*/ 0 h 141"/>
                <a:gd name="T4" fmla="*/ 85 w 141"/>
                <a:gd name="T5" fmla="*/ 16 h 141"/>
                <a:gd name="T6" fmla="*/ 102 w 141"/>
                <a:gd name="T7" fmla="*/ 7 h 141"/>
                <a:gd name="T8" fmla="*/ 106 w 141"/>
                <a:gd name="T9" fmla="*/ 26 h 141"/>
                <a:gd name="T10" fmla="*/ 125 w 141"/>
                <a:gd name="T11" fmla="*/ 25 h 141"/>
                <a:gd name="T12" fmla="*/ 121 w 141"/>
                <a:gd name="T13" fmla="*/ 44 h 141"/>
                <a:gd name="T14" fmla="*/ 139 w 141"/>
                <a:gd name="T15" fmla="*/ 51 h 141"/>
                <a:gd name="T16" fmla="*/ 127 w 141"/>
                <a:gd name="T17" fmla="*/ 67 h 141"/>
                <a:gd name="T18" fmla="*/ 141 w 141"/>
                <a:gd name="T19" fmla="*/ 81 h 141"/>
                <a:gd name="T20" fmla="*/ 124 w 141"/>
                <a:gd name="T21" fmla="*/ 90 h 141"/>
                <a:gd name="T22" fmla="*/ 131 w 141"/>
                <a:gd name="T23" fmla="*/ 109 h 141"/>
                <a:gd name="T24" fmla="*/ 111 w 141"/>
                <a:gd name="T25" fmla="*/ 110 h 141"/>
                <a:gd name="T26" fmla="*/ 110 w 141"/>
                <a:gd name="T27" fmla="*/ 130 h 141"/>
                <a:gd name="T28" fmla="*/ 91 w 141"/>
                <a:gd name="T29" fmla="*/ 123 h 141"/>
                <a:gd name="T30" fmla="*/ 82 w 141"/>
                <a:gd name="T31" fmla="*/ 141 h 141"/>
                <a:gd name="T32" fmla="*/ 68 w 141"/>
                <a:gd name="T33" fmla="*/ 127 h 141"/>
                <a:gd name="T34" fmla="*/ 53 w 141"/>
                <a:gd name="T35" fmla="*/ 139 h 141"/>
                <a:gd name="T36" fmla="*/ 45 w 141"/>
                <a:gd name="T37" fmla="*/ 121 h 141"/>
                <a:gd name="T38" fmla="*/ 26 w 141"/>
                <a:gd name="T39" fmla="*/ 126 h 141"/>
                <a:gd name="T40" fmla="*/ 27 w 141"/>
                <a:gd name="T41" fmla="*/ 107 h 141"/>
                <a:gd name="T42" fmla="*/ 8 w 141"/>
                <a:gd name="T43" fmla="*/ 103 h 141"/>
                <a:gd name="T44" fmla="*/ 16 w 141"/>
                <a:gd name="T45" fmla="*/ 86 h 141"/>
                <a:gd name="T46" fmla="*/ 0 w 141"/>
                <a:gd name="T47" fmla="*/ 75 h 141"/>
                <a:gd name="T48" fmla="*/ 14 w 141"/>
                <a:gd name="T49" fmla="*/ 62 h 141"/>
                <a:gd name="T50" fmla="*/ 4 w 141"/>
                <a:gd name="T51" fmla="*/ 46 h 141"/>
                <a:gd name="T52" fmla="*/ 23 w 141"/>
                <a:gd name="T53" fmla="*/ 40 h 141"/>
                <a:gd name="T54" fmla="*/ 20 w 141"/>
                <a:gd name="T55" fmla="*/ 21 h 141"/>
                <a:gd name="T56" fmla="*/ 39 w 141"/>
                <a:gd name="T57" fmla="*/ 23 h 141"/>
                <a:gd name="T58" fmla="*/ 44 w 141"/>
                <a:gd name="T59" fmla="*/ 4 h 141"/>
                <a:gd name="T60" fmla="*/ 61 w 141"/>
                <a:gd name="T61" fmla="*/ 15 h 141"/>
                <a:gd name="T62" fmla="*/ 65 w 141"/>
                <a:gd name="T63" fmla="*/ 10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41" h="141">
                  <a:moveTo>
                    <a:pt x="65" y="10"/>
                  </a:moveTo>
                  <a:cubicBezTo>
                    <a:pt x="65" y="10"/>
                    <a:pt x="69" y="5"/>
                    <a:pt x="74" y="0"/>
                  </a:cubicBezTo>
                  <a:cubicBezTo>
                    <a:pt x="77" y="5"/>
                    <a:pt x="85" y="16"/>
                    <a:pt x="85" y="16"/>
                  </a:cubicBezTo>
                  <a:cubicBezTo>
                    <a:pt x="85" y="16"/>
                    <a:pt x="96" y="10"/>
                    <a:pt x="102" y="7"/>
                  </a:cubicBezTo>
                  <a:cubicBezTo>
                    <a:pt x="103" y="13"/>
                    <a:pt x="106" y="26"/>
                    <a:pt x="106" y="26"/>
                  </a:cubicBezTo>
                  <a:cubicBezTo>
                    <a:pt x="106" y="26"/>
                    <a:pt x="119" y="26"/>
                    <a:pt x="125" y="25"/>
                  </a:cubicBezTo>
                  <a:cubicBezTo>
                    <a:pt x="124" y="32"/>
                    <a:pt x="121" y="44"/>
                    <a:pt x="121" y="44"/>
                  </a:cubicBezTo>
                  <a:cubicBezTo>
                    <a:pt x="121" y="44"/>
                    <a:pt x="133" y="49"/>
                    <a:pt x="139" y="51"/>
                  </a:cubicBezTo>
                  <a:cubicBezTo>
                    <a:pt x="135" y="57"/>
                    <a:pt x="127" y="67"/>
                    <a:pt x="127" y="67"/>
                  </a:cubicBezTo>
                  <a:cubicBezTo>
                    <a:pt x="127" y="67"/>
                    <a:pt x="136" y="76"/>
                    <a:pt x="141" y="81"/>
                  </a:cubicBezTo>
                  <a:cubicBezTo>
                    <a:pt x="135" y="84"/>
                    <a:pt x="124" y="90"/>
                    <a:pt x="124" y="90"/>
                  </a:cubicBezTo>
                  <a:cubicBezTo>
                    <a:pt x="124" y="90"/>
                    <a:pt x="128" y="102"/>
                    <a:pt x="131" y="109"/>
                  </a:cubicBezTo>
                  <a:cubicBezTo>
                    <a:pt x="124" y="109"/>
                    <a:pt x="111" y="110"/>
                    <a:pt x="111" y="110"/>
                  </a:cubicBezTo>
                  <a:cubicBezTo>
                    <a:pt x="111" y="110"/>
                    <a:pt x="110" y="123"/>
                    <a:pt x="110" y="130"/>
                  </a:cubicBezTo>
                  <a:cubicBezTo>
                    <a:pt x="104" y="128"/>
                    <a:pt x="91" y="123"/>
                    <a:pt x="91" y="123"/>
                  </a:cubicBezTo>
                  <a:cubicBezTo>
                    <a:pt x="91" y="123"/>
                    <a:pt x="85" y="135"/>
                    <a:pt x="82" y="141"/>
                  </a:cubicBezTo>
                  <a:cubicBezTo>
                    <a:pt x="78" y="136"/>
                    <a:pt x="68" y="127"/>
                    <a:pt x="68" y="127"/>
                  </a:cubicBezTo>
                  <a:cubicBezTo>
                    <a:pt x="68" y="127"/>
                    <a:pt x="58" y="135"/>
                    <a:pt x="53" y="139"/>
                  </a:cubicBezTo>
                  <a:cubicBezTo>
                    <a:pt x="50" y="133"/>
                    <a:pt x="45" y="121"/>
                    <a:pt x="45" y="121"/>
                  </a:cubicBezTo>
                  <a:cubicBezTo>
                    <a:pt x="45" y="121"/>
                    <a:pt x="33" y="125"/>
                    <a:pt x="26" y="126"/>
                  </a:cubicBezTo>
                  <a:cubicBezTo>
                    <a:pt x="27" y="120"/>
                    <a:pt x="27" y="107"/>
                    <a:pt x="27" y="107"/>
                  </a:cubicBezTo>
                  <a:cubicBezTo>
                    <a:pt x="27" y="107"/>
                    <a:pt x="14" y="105"/>
                    <a:pt x="8" y="103"/>
                  </a:cubicBezTo>
                  <a:cubicBezTo>
                    <a:pt x="10" y="97"/>
                    <a:pt x="16" y="86"/>
                    <a:pt x="16" y="86"/>
                  </a:cubicBezTo>
                  <a:cubicBezTo>
                    <a:pt x="16" y="86"/>
                    <a:pt x="5" y="79"/>
                    <a:pt x="0" y="75"/>
                  </a:cubicBezTo>
                  <a:cubicBezTo>
                    <a:pt x="5" y="71"/>
                    <a:pt x="14" y="62"/>
                    <a:pt x="14" y="62"/>
                  </a:cubicBezTo>
                  <a:cubicBezTo>
                    <a:pt x="14" y="62"/>
                    <a:pt x="7" y="51"/>
                    <a:pt x="4" y="46"/>
                  </a:cubicBezTo>
                  <a:cubicBezTo>
                    <a:pt x="10" y="44"/>
                    <a:pt x="23" y="40"/>
                    <a:pt x="23" y="40"/>
                  </a:cubicBezTo>
                  <a:cubicBezTo>
                    <a:pt x="23" y="40"/>
                    <a:pt x="21" y="27"/>
                    <a:pt x="20" y="21"/>
                  </a:cubicBezTo>
                  <a:cubicBezTo>
                    <a:pt x="26" y="22"/>
                    <a:pt x="39" y="23"/>
                    <a:pt x="39" y="23"/>
                  </a:cubicBezTo>
                  <a:cubicBezTo>
                    <a:pt x="39" y="23"/>
                    <a:pt x="43" y="11"/>
                    <a:pt x="44" y="4"/>
                  </a:cubicBezTo>
                  <a:cubicBezTo>
                    <a:pt x="50" y="8"/>
                    <a:pt x="61" y="15"/>
                    <a:pt x="61" y="15"/>
                  </a:cubicBezTo>
                  <a:lnTo>
                    <a:pt x="65" y="10"/>
                  </a:lnTo>
                  <a:close/>
                </a:path>
              </a:pathLst>
            </a:custGeom>
            <a:solidFill>
              <a:srgbClr val="E66914"/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A8476566-41DD-47BA-A2BD-7C41DC1A5661}"/>
                </a:ext>
              </a:extLst>
            </p:cNvPr>
            <p:cNvSpPr/>
            <p:nvPr/>
          </p:nvSpPr>
          <p:spPr>
            <a:xfrm>
              <a:off x="7675425" y="4716363"/>
              <a:ext cx="573686" cy="15686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latinLnBrk="0" hangingPunct="0">
                <a:lnSpc>
                  <a:spcPct val="90000"/>
                </a:lnSpc>
                <a:buClr>
                  <a:srgbClr val="3271AA"/>
                </a:buClr>
                <a:buSzPct val="140000"/>
                <a:tabLst>
                  <a:tab pos="4704479" algn="l"/>
                </a:tabLst>
                <a:defRPr/>
              </a:pPr>
              <a:r>
                <a:rPr lang="en-US" altLang="ko-KR" sz="1000" dirty="0">
                  <a:solidFill>
                    <a:prstClr val="whit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sym typeface="Monotype Sorts"/>
                </a:rPr>
                <a:t>START</a:t>
              </a:r>
              <a:endParaRPr lang="ko-KR" altLang="en-US" sz="100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Monotype Sorts"/>
              </a:endParaRP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3902817A-5BC9-47C8-85C9-A1D30214114F}"/>
              </a:ext>
            </a:extLst>
          </p:cNvPr>
          <p:cNvGrpSpPr/>
          <p:nvPr/>
        </p:nvGrpSpPr>
        <p:grpSpPr>
          <a:xfrm>
            <a:off x="6005899" y="1314725"/>
            <a:ext cx="877545" cy="676840"/>
            <a:chOff x="7675425" y="4562720"/>
            <a:chExt cx="573686" cy="459944"/>
          </a:xfrm>
        </p:grpSpPr>
        <p:sp>
          <p:nvSpPr>
            <p:cNvPr id="46" name="Freeform 127">
              <a:extLst>
                <a:ext uri="{FF2B5EF4-FFF2-40B4-BE49-F238E27FC236}">
                  <a16:creationId xmlns:a16="http://schemas.microsoft.com/office/drawing/2014/main" id="{34267F63-3E5C-4D1A-A65D-05268E616411}"/>
                </a:ext>
              </a:extLst>
            </p:cNvPr>
            <p:cNvSpPr>
              <a:spLocks/>
            </p:cNvSpPr>
            <p:nvPr/>
          </p:nvSpPr>
          <p:spPr bwMode="auto">
            <a:xfrm>
              <a:off x="7732296" y="4562720"/>
              <a:ext cx="459944" cy="459944"/>
            </a:xfrm>
            <a:custGeom>
              <a:avLst/>
              <a:gdLst>
                <a:gd name="T0" fmla="*/ 65 w 141"/>
                <a:gd name="T1" fmla="*/ 10 h 141"/>
                <a:gd name="T2" fmla="*/ 74 w 141"/>
                <a:gd name="T3" fmla="*/ 0 h 141"/>
                <a:gd name="T4" fmla="*/ 85 w 141"/>
                <a:gd name="T5" fmla="*/ 16 h 141"/>
                <a:gd name="T6" fmla="*/ 102 w 141"/>
                <a:gd name="T7" fmla="*/ 7 h 141"/>
                <a:gd name="T8" fmla="*/ 106 w 141"/>
                <a:gd name="T9" fmla="*/ 26 h 141"/>
                <a:gd name="T10" fmla="*/ 125 w 141"/>
                <a:gd name="T11" fmla="*/ 25 h 141"/>
                <a:gd name="T12" fmla="*/ 121 w 141"/>
                <a:gd name="T13" fmla="*/ 44 h 141"/>
                <a:gd name="T14" fmla="*/ 139 w 141"/>
                <a:gd name="T15" fmla="*/ 51 h 141"/>
                <a:gd name="T16" fmla="*/ 127 w 141"/>
                <a:gd name="T17" fmla="*/ 67 h 141"/>
                <a:gd name="T18" fmla="*/ 141 w 141"/>
                <a:gd name="T19" fmla="*/ 81 h 141"/>
                <a:gd name="T20" fmla="*/ 124 w 141"/>
                <a:gd name="T21" fmla="*/ 90 h 141"/>
                <a:gd name="T22" fmla="*/ 131 w 141"/>
                <a:gd name="T23" fmla="*/ 109 h 141"/>
                <a:gd name="T24" fmla="*/ 111 w 141"/>
                <a:gd name="T25" fmla="*/ 110 h 141"/>
                <a:gd name="T26" fmla="*/ 110 w 141"/>
                <a:gd name="T27" fmla="*/ 130 h 141"/>
                <a:gd name="T28" fmla="*/ 91 w 141"/>
                <a:gd name="T29" fmla="*/ 123 h 141"/>
                <a:gd name="T30" fmla="*/ 82 w 141"/>
                <a:gd name="T31" fmla="*/ 141 h 141"/>
                <a:gd name="T32" fmla="*/ 68 w 141"/>
                <a:gd name="T33" fmla="*/ 127 h 141"/>
                <a:gd name="T34" fmla="*/ 53 w 141"/>
                <a:gd name="T35" fmla="*/ 139 h 141"/>
                <a:gd name="T36" fmla="*/ 45 w 141"/>
                <a:gd name="T37" fmla="*/ 121 h 141"/>
                <a:gd name="T38" fmla="*/ 26 w 141"/>
                <a:gd name="T39" fmla="*/ 126 h 141"/>
                <a:gd name="T40" fmla="*/ 27 w 141"/>
                <a:gd name="T41" fmla="*/ 107 h 141"/>
                <a:gd name="T42" fmla="*/ 8 w 141"/>
                <a:gd name="T43" fmla="*/ 103 h 141"/>
                <a:gd name="T44" fmla="*/ 16 w 141"/>
                <a:gd name="T45" fmla="*/ 86 h 141"/>
                <a:gd name="T46" fmla="*/ 0 w 141"/>
                <a:gd name="T47" fmla="*/ 75 h 141"/>
                <a:gd name="T48" fmla="*/ 14 w 141"/>
                <a:gd name="T49" fmla="*/ 62 h 141"/>
                <a:gd name="T50" fmla="*/ 4 w 141"/>
                <a:gd name="T51" fmla="*/ 46 h 141"/>
                <a:gd name="T52" fmla="*/ 23 w 141"/>
                <a:gd name="T53" fmla="*/ 40 h 141"/>
                <a:gd name="T54" fmla="*/ 20 w 141"/>
                <a:gd name="T55" fmla="*/ 21 h 141"/>
                <a:gd name="T56" fmla="*/ 39 w 141"/>
                <a:gd name="T57" fmla="*/ 23 h 141"/>
                <a:gd name="T58" fmla="*/ 44 w 141"/>
                <a:gd name="T59" fmla="*/ 4 h 141"/>
                <a:gd name="T60" fmla="*/ 61 w 141"/>
                <a:gd name="T61" fmla="*/ 15 h 141"/>
                <a:gd name="T62" fmla="*/ 65 w 141"/>
                <a:gd name="T63" fmla="*/ 10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41" h="141">
                  <a:moveTo>
                    <a:pt x="65" y="10"/>
                  </a:moveTo>
                  <a:cubicBezTo>
                    <a:pt x="65" y="10"/>
                    <a:pt x="69" y="5"/>
                    <a:pt x="74" y="0"/>
                  </a:cubicBezTo>
                  <a:cubicBezTo>
                    <a:pt x="77" y="5"/>
                    <a:pt x="85" y="16"/>
                    <a:pt x="85" y="16"/>
                  </a:cubicBezTo>
                  <a:cubicBezTo>
                    <a:pt x="85" y="16"/>
                    <a:pt x="96" y="10"/>
                    <a:pt x="102" y="7"/>
                  </a:cubicBezTo>
                  <a:cubicBezTo>
                    <a:pt x="103" y="13"/>
                    <a:pt x="106" y="26"/>
                    <a:pt x="106" y="26"/>
                  </a:cubicBezTo>
                  <a:cubicBezTo>
                    <a:pt x="106" y="26"/>
                    <a:pt x="119" y="26"/>
                    <a:pt x="125" y="25"/>
                  </a:cubicBezTo>
                  <a:cubicBezTo>
                    <a:pt x="124" y="32"/>
                    <a:pt x="121" y="44"/>
                    <a:pt x="121" y="44"/>
                  </a:cubicBezTo>
                  <a:cubicBezTo>
                    <a:pt x="121" y="44"/>
                    <a:pt x="133" y="49"/>
                    <a:pt x="139" y="51"/>
                  </a:cubicBezTo>
                  <a:cubicBezTo>
                    <a:pt x="135" y="57"/>
                    <a:pt x="127" y="67"/>
                    <a:pt x="127" y="67"/>
                  </a:cubicBezTo>
                  <a:cubicBezTo>
                    <a:pt x="127" y="67"/>
                    <a:pt x="136" y="76"/>
                    <a:pt x="141" y="81"/>
                  </a:cubicBezTo>
                  <a:cubicBezTo>
                    <a:pt x="135" y="84"/>
                    <a:pt x="124" y="90"/>
                    <a:pt x="124" y="90"/>
                  </a:cubicBezTo>
                  <a:cubicBezTo>
                    <a:pt x="124" y="90"/>
                    <a:pt x="128" y="102"/>
                    <a:pt x="131" y="109"/>
                  </a:cubicBezTo>
                  <a:cubicBezTo>
                    <a:pt x="124" y="109"/>
                    <a:pt x="111" y="110"/>
                    <a:pt x="111" y="110"/>
                  </a:cubicBezTo>
                  <a:cubicBezTo>
                    <a:pt x="111" y="110"/>
                    <a:pt x="110" y="123"/>
                    <a:pt x="110" y="130"/>
                  </a:cubicBezTo>
                  <a:cubicBezTo>
                    <a:pt x="104" y="128"/>
                    <a:pt x="91" y="123"/>
                    <a:pt x="91" y="123"/>
                  </a:cubicBezTo>
                  <a:cubicBezTo>
                    <a:pt x="91" y="123"/>
                    <a:pt x="85" y="135"/>
                    <a:pt x="82" y="141"/>
                  </a:cubicBezTo>
                  <a:cubicBezTo>
                    <a:pt x="78" y="136"/>
                    <a:pt x="68" y="127"/>
                    <a:pt x="68" y="127"/>
                  </a:cubicBezTo>
                  <a:cubicBezTo>
                    <a:pt x="68" y="127"/>
                    <a:pt x="58" y="135"/>
                    <a:pt x="53" y="139"/>
                  </a:cubicBezTo>
                  <a:cubicBezTo>
                    <a:pt x="50" y="133"/>
                    <a:pt x="45" y="121"/>
                    <a:pt x="45" y="121"/>
                  </a:cubicBezTo>
                  <a:cubicBezTo>
                    <a:pt x="45" y="121"/>
                    <a:pt x="33" y="125"/>
                    <a:pt x="26" y="126"/>
                  </a:cubicBezTo>
                  <a:cubicBezTo>
                    <a:pt x="27" y="120"/>
                    <a:pt x="27" y="107"/>
                    <a:pt x="27" y="107"/>
                  </a:cubicBezTo>
                  <a:cubicBezTo>
                    <a:pt x="27" y="107"/>
                    <a:pt x="14" y="105"/>
                    <a:pt x="8" y="103"/>
                  </a:cubicBezTo>
                  <a:cubicBezTo>
                    <a:pt x="10" y="97"/>
                    <a:pt x="16" y="86"/>
                    <a:pt x="16" y="86"/>
                  </a:cubicBezTo>
                  <a:cubicBezTo>
                    <a:pt x="16" y="86"/>
                    <a:pt x="5" y="79"/>
                    <a:pt x="0" y="75"/>
                  </a:cubicBezTo>
                  <a:cubicBezTo>
                    <a:pt x="5" y="71"/>
                    <a:pt x="14" y="62"/>
                    <a:pt x="14" y="62"/>
                  </a:cubicBezTo>
                  <a:cubicBezTo>
                    <a:pt x="14" y="62"/>
                    <a:pt x="7" y="51"/>
                    <a:pt x="4" y="46"/>
                  </a:cubicBezTo>
                  <a:cubicBezTo>
                    <a:pt x="10" y="44"/>
                    <a:pt x="23" y="40"/>
                    <a:pt x="23" y="40"/>
                  </a:cubicBezTo>
                  <a:cubicBezTo>
                    <a:pt x="23" y="40"/>
                    <a:pt x="21" y="27"/>
                    <a:pt x="20" y="21"/>
                  </a:cubicBezTo>
                  <a:cubicBezTo>
                    <a:pt x="26" y="22"/>
                    <a:pt x="39" y="23"/>
                    <a:pt x="39" y="23"/>
                  </a:cubicBezTo>
                  <a:cubicBezTo>
                    <a:pt x="39" y="23"/>
                    <a:pt x="43" y="11"/>
                    <a:pt x="44" y="4"/>
                  </a:cubicBezTo>
                  <a:cubicBezTo>
                    <a:pt x="50" y="8"/>
                    <a:pt x="61" y="15"/>
                    <a:pt x="61" y="15"/>
                  </a:cubicBezTo>
                  <a:lnTo>
                    <a:pt x="65" y="10"/>
                  </a:lnTo>
                  <a:close/>
                </a:path>
              </a:pathLst>
            </a:custGeom>
            <a:solidFill>
              <a:srgbClr val="E66914"/>
            </a:solidFill>
            <a:ln>
              <a:noFill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83560324-6C50-4846-9711-EC6BD7827C70}"/>
                </a:ext>
              </a:extLst>
            </p:cNvPr>
            <p:cNvSpPr/>
            <p:nvPr/>
          </p:nvSpPr>
          <p:spPr>
            <a:xfrm>
              <a:off x="7675425" y="4716363"/>
              <a:ext cx="573686" cy="15686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latinLnBrk="0" hangingPunct="0">
                <a:lnSpc>
                  <a:spcPct val="90000"/>
                </a:lnSpc>
                <a:buClr>
                  <a:srgbClr val="3271AA"/>
                </a:buClr>
                <a:buSzPct val="140000"/>
                <a:tabLst>
                  <a:tab pos="4704479" algn="l"/>
                </a:tabLst>
                <a:defRPr/>
              </a:pPr>
              <a:r>
                <a:rPr lang="en-US" altLang="ko-KR" sz="1000" dirty="0">
                  <a:solidFill>
                    <a:prstClr val="whit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sym typeface="Monotype Sorts"/>
                </a:rPr>
                <a:t>END</a:t>
              </a:r>
              <a:endParaRPr lang="ko-KR" altLang="en-US" sz="100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Monotype Sort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04670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5"/>
          <p:cNvSpPr>
            <a:spLocks noChangeArrowheads="1"/>
          </p:cNvSpPr>
          <p:nvPr/>
        </p:nvSpPr>
        <p:spPr bwMode="auto">
          <a:xfrm>
            <a:off x="395288" y="260648"/>
            <a:ext cx="6985000" cy="387350"/>
          </a:xfrm>
          <a:prstGeom prst="roundRect">
            <a:avLst>
              <a:gd name="adj" fmla="val 16667"/>
            </a:avLst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4.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주요 구현 기능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AutoShape 5"/>
          <p:cNvSpPr>
            <a:spLocks noChangeArrowheads="1"/>
          </p:cNvSpPr>
          <p:nvPr/>
        </p:nvSpPr>
        <p:spPr bwMode="auto">
          <a:xfrm>
            <a:off x="395536" y="759460"/>
            <a:ext cx="8496944" cy="193675"/>
          </a:xfrm>
          <a:prstGeom prst="roundRect">
            <a:avLst>
              <a:gd name="adj" fmla="val 16667"/>
            </a:avLst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>
              <a:buFont typeface="Wingdings" pitchFamily="2" charset="2"/>
              <a:buNone/>
              <a:defRPr/>
            </a:pP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4.1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기준 정보 관리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(1/3)</a:t>
            </a:r>
          </a:p>
        </p:txBody>
      </p:sp>
      <p:sp>
        <p:nvSpPr>
          <p:cNvPr id="6" name="Rectangle 58"/>
          <p:cNvSpPr>
            <a:spLocks noChangeArrowheads="1"/>
          </p:cNvSpPr>
          <p:nvPr/>
        </p:nvSpPr>
        <p:spPr bwMode="auto">
          <a:xfrm>
            <a:off x="555142" y="1145069"/>
            <a:ext cx="833733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marL="95250" indent="-952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indent="0">
              <a:defRPr/>
            </a:pP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오더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유형의 속성을 마스터로 관리 한다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각 실행 모듈로 보낼 오더 유형을 관리 한다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55" name="AutoShape 133"/>
          <p:cNvSpPr>
            <a:spLocks noChangeArrowheads="1"/>
          </p:cNvSpPr>
          <p:nvPr/>
        </p:nvSpPr>
        <p:spPr bwMode="gray">
          <a:xfrm>
            <a:off x="6426448" y="1526684"/>
            <a:ext cx="2337045" cy="28098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5400" algn="ctr">
            <a:solidFill>
              <a:schemeClr val="bg1">
                <a:lumMod val="85000"/>
              </a:schemeClr>
            </a:solidFill>
            <a:round/>
            <a:headEnd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스케줄정보관리 기능설명</a:t>
            </a:r>
            <a:endParaRPr lang="ko-KR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5" name="양쪽 모서리가 둥근 사각형 104"/>
          <p:cNvSpPr/>
          <p:nvPr/>
        </p:nvSpPr>
        <p:spPr bwMode="auto">
          <a:xfrm flipH="1">
            <a:off x="251520" y="1659272"/>
            <a:ext cx="5904656" cy="4794064"/>
          </a:xfrm>
          <a:prstGeom prst="round2SameRect">
            <a:avLst>
              <a:gd name="adj1" fmla="val 0"/>
              <a:gd name="adj2" fmla="val 0"/>
            </a:avLst>
          </a:prstGeom>
          <a:noFill/>
          <a:ln w="19050" cap="flat" cmpd="sng" algn="ctr">
            <a:solidFill>
              <a:srgbClr val="0FABE3"/>
            </a:solidFill>
            <a:prstDash val="solid"/>
          </a:ln>
          <a:effectLst>
            <a:outerShdw dist="12700" dir="5400000" algn="t" rotWithShape="0">
              <a:srgbClr val="A9C5D3">
                <a:alpha val="80000"/>
              </a:srgbClr>
            </a:outerShdw>
          </a:effectLst>
        </p:spPr>
        <p:txBody>
          <a:bodyPr lIns="90000" tIns="72000" rIns="90000" bIns="0"/>
          <a:lstStyle/>
          <a:p>
            <a:pPr marL="82538" lvl="2" eaLnBrk="0" latinLnBrk="0" hangingPunct="0">
              <a:spcAft>
                <a:spcPts val="240"/>
              </a:spcAft>
            </a:pPr>
            <a:endParaRPr lang="en-US" altLang="ko-KR" sz="1000" kern="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8" name="양쪽 모서리가 둥근 사각형 127"/>
          <p:cNvSpPr/>
          <p:nvPr/>
        </p:nvSpPr>
        <p:spPr bwMode="auto">
          <a:xfrm flipH="1">
            <a:off x="6300192" y="1659272"/>
            <a:ext cx="2592288" cy="4794064"/>
          </a:xfrm>
          <a:prstGeom prst="round2SameRect">
            <a:avLst>
              <a:gd name="adj1" fmla="val 0"/>
              <a:gd name="adj2" fmla="val 0"/>
            </a:avLst>
          </a:prstGeom>
          <a:noFill/>
          <a:ln w="19050" cap="flat" cmpd="sng" algn="ctr">
            <a:solidFill>
              <a:srgbClr val="0FABE3"/>
            </a:solidFill>
            <a:prstDash val="solid"/>
          </a:ln>
          <a:effectLst>
            <a:outerShdw dist="12700" dir="5400000" algn="t" rotWithShape="0">
              <a:srgbClr val="A9C5D3">
                <a:alpha val="80000"/>
              </a:srgbClr>
            </a:outerShdw>
          </a:effectLst>
        </p:spPr>
        <p:txBody>
          <a:bodyPr lIns="90000" tIns="72000" rIns="90000" bIns="0"/>
          <a:lstStyle/>
          <a:p>
            <a:pPr marL="82538" lvl="2" eaLnBrk="0" latinLnBrk="0" hangingPunct="0">
              <a:spcAft>
                <a:spcPts val="240"/>
              </a:spcAft>
            </a:pPr>
            <a:endParaRPr lang="en-US" altLang="ko-KR" sz="1000" kern="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2" name="AutoShape 133"/>
          <p:cNvSpPr>
            <a:spLocks noChangeArrowheads="1"/>
          </p:cNvSpPr>
          <p:nvPr/>
        </p:nvSpPr>
        <p:spPr bwMode="gray">
          <a:xfrm>
            <a:off x="6426448" y="1526684"/>
            <a:ext cx="2337045" cy="28098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5400" algn="ctr">
            <a:solidFill>
              <a:schemeClr val="bg1">
                <a:lumMod val="85000"/>
              </a:schemeClr>
            </a:solidFill>
            <a:round/>
            <a:headEnd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오더 타입 마스터 화면</a:t>
            </a:r>
            <a:endParaRPr lang="ko-KR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AutoShape 133"/>
          <p:cNvSpPr>
            <a:spLocks noChangeArrowheads="1"/>
          </p:cNvSpPr>
          <p:nvPr/>
        </p:nvSpPr>
        <p:spPr bwMode="gray">
          <a:xfrm>
            <a:off x="456787" y="1513638"/>
            <a:ext cx="3024336" cy="28098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5400" algn="ctr">
            <a:solidFill>
              <a:schemeClr val="bg1">
                <a:lumMod val="85000"/>
              </a:schemeClr>
            </a:solidFill>
            <a:round/>
            <a:headEnd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오더 유형 마스터 화면</a:t>
            </a:r>
            <a:endParaRPr lang="ko-KR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88" y="1890238"/>
            <a:ext cx="5688880" cy="4512570"/>
          </a:xfrm>
          <a:prstGeom prst="rect">
            <a:avLst/>
          </a:prstGeom>
        </p:spPr>
      </p:pic>
      <p:sp>
        <p:nvSpPr>
          <p:cNvPr id="51" name="Rectangle 58"/>
          <p:cNvSpPr>
            <a:spLocks noChangeArrowheads="1"/>
          </p:cNvSpPr>
          <p:nvPr/>
        </p:nvSpPr>
        <p:spPr bwMode="auto">
          <a:xfrm>
            <a:off x="6335441" y="1890239"/>
            <a:ext cx="2428052" cy="1538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marL="95250" indent="-952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171450" indent="-171450">
              <a:buFontTx/>
              <a:buChar char="-"/>
              <a:defRPr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오더 유형 별 속성을 정의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>
              <a:defRPr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(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내수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수출입 오더 유형 구분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0" indent="0">
              <a:defRPr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</a:p>
          <a:p>
            <a:pPr marL="0" indent="0">
              <a:defRPr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Biz Type : Domestic, Warehouse</a:t>
            </a:r>
          </a:p>
          <a:p>
            <a:pPr marL="0" indent="0">
              <a:defRPr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Import, Export</a:t>
            </a:r>
          </a:p>
          <a:p>
            <a:pPr marL="0" indent="0">
              <a:defRPr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서비스 </a:t>
            </a:r>
            <a:r>
              <a:rPr lang="en-US" altLang="ko-KR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Desc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: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서비스 타입 설명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>
              <a:defRPr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</a:p>
          <a:p>
            <a:pPr marL="0" indent="0">
              <a:defRPr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Related System : FIS,TMS,WMS,      	    </a:t>
            </a:r>
            <a:r>
              <a:rPr lang="en-US" altLang="ko-KR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Wh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Transfer</a:t>
            </a:r>
          </a:p>
          <a:p>
            <a:pPr marL="0" indent="0">
              <a:defRPr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분배 기준 모듈 관리</a:t>
            </a:r>
          </a:p>
        </p:txBody>
      </p:sp>
    </p:spTree>
    <p:extLst>
      <p:ext uri="{BB962C8B-B14F-4D97-AF65-F5344CB8AC3E}">
        <p14:creationId xmlns:p14="http://schemas.microsoft.com/office/powerpoint/2010/main" val="276380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5"/>
          <p:cNvSpPr>
            <a:spLocks noChangeArrowheads="1"/>
          </p:cNvSpPr>
          <p:nvPr/>
        </p:nvSpPr>
        <p:spPr bwMode="auto">
          <a:xfrm>
            <a:off x="395288" y="260648"/>
            <a:ext cx="6985000" cy="387350"/>
          </a:xfrm>
          <a:prstGeom prst="roundRect">
            <a:avLst>
              <a:gd name="adj" fmla="val 16667"/>
            </a:avLst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4.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주요 구현 기능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AutoShape 5"/>
          <p:cNvSpPr>
            <a:spLocks noChangeArrowheads="1"/>
          </p:cNvSpPr>
          <p:nvPr/>
        </p:nvSpPr>
        <p:spPr bwMode="auto">
          <a:xfrm>
            <a:off x="395536" y="759460"/>
            <a:ext cx="8496944" cy="193675"/>
          </a:xfrm>
          <a:prstGeom prst="roundRect">
            <a:avLst>
              <a:gd name="adj" fmla="val 16667"/>
            </a:avLst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>
              <a:buFont typeface="Wingdings" pitchFamily="2" charset="2"/>
              <a:buNone/>
              <a:defRPr/>
            </a:pP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4.1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기준 정보 관리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(2/3)</a:t>
            </a:r>
          </a:p>
        </p:txBody>
      </p:sp>
      <p:sp>
        <p:nvSpPr>
          <p:cNvPr id="6" name="Rectangle 58"/>
          <p:cNvSpPr>
            <a:spLocks noChangeArrowheads="1"/>
          </p:cNvSpPr>
          <p:nvPr/>
        </p:nvSpPr>
        <p:spPr bwMode="auto">
          <a:xfrm>
            <a:off x="555142" y="1145069"/>
            <a:ext cx="833733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marL="95250" indent="-952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lvl="0">
              <a:defRPr/>
            </a:pP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kumimoji="0" lang="ko-KR" alt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고객사의 종류에 따라 서비스 오더를 실행 오더로 분배 할 때 기준으로 사용된다</a:t>
            </a:r>
            <a:r>
              <a:rPr kumimoji="0" lang="en-US" altLang="ko-KR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55" name="AutoShape 133"/>
          <p:cNvSpPr>
            <a:spLocks noChangeArrowheads="1"/>
          </p:cNvSpPr>
          <p:nvPr/>
        </p:nvSpPr>
        <p:spPr bwMode="gray">
          <a:xfrm>
            <a:off x="6426448" y="1526684"/>
            <a:ext cx="2337045" cy="28098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5400" algn="ctr">
            <a:solidFill>
              <a:schemeClr val="bg1">
                <a:lumMod val="85000"/>
              </a:schemeClr>
            </a:solidFill>
            <a:round/>
            <a:headEnd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스케줄정보관리 기능설명</a:t>
            </a:r>
            <a:endParaRPr lang="ko-KR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5" name="양쪽 모서리가 둥근 사각형 104"/>
          <p:cNvSpPr/>
          <p:nvPr/>
        </p:nvSpPr>
        <p:spPr bwMode="auto">
          <a:xfrm flipH="1">
            <a:off x="251520" y="1659272"/>
            <a:ext cx="5904656" cy="4794064"/>
          </a:xfrm>
          <a:prstGeom prst="round2SameRect">
            <a:avLst>
              <a:gd name="adj1" fmla="val 0"/>
              <a:gd name="adj2" fmla="val 0"/>
            </a:avLst>
          </a:prstGeom>
          <a:noFill/>
          <a:ln w="19050" cap="flat" cmpd="sng" algn="ctr">
            <a:solidFill>
              <a:srgbClr val="0FABE3"/>
            </a:solidFill>
            <a:prstDash val="solid"/>
          </a:ln>
          <a:effectLst>
            <a:outerShdw dist="12700" dir="5400000" algn="t" rotWithShape="0">
              <a:srgbClr val="A9C5D3">
                <a:alpha val="80000"/>
              </a:srgbClr>
            </a:outerShdw>
          </a:effectLst>
        </p:spPr>
        <p:txBody>
          <a:bodyPr lIns="90000" tIns="72000" rIns="90000" bIns="0"/>
          <a:lstStyle/>
          <a:p>
            <a:pPr marL="82538" lvl="2" eaLnBrk="0" latinLnBrk="0" hangingPunct="0">
              <a:spcAft>
                <a:spcPts val="240"/>
              </a:spcAft>
            </a:pPr>
            <a:endParaRPr lang="en-US" altLang="ko-KR" sz="1000" kern="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8" name="양쪽 모서리가 둥근 사각형 127"/>
          <p:cNvSpPr/>
          <p:nvPr/>
        </p:nvSpPr>
        <p:spPr bwMode="auto">
          <a:xfrm flipH="1">
            <a:off x="6300192" y="1659272"/>
            <a:ext cx="2592288" cy="4794064"/>
          </a:xfrm>
          <a:prstGeom prst="round2SameRect">
            <a:avLst>
              <a:gd name="adj1" fmla="val 0"/>
              <a:gd name="adj2" fmla="val 0"/>
            </a:avLst>
          </a:prstGeom>
          <a:noFill/>
          <a:ln w="19050" cap="flat" cmpd="sng" algn="ctr">
            <a:solidFill>
              <a:srgbClr val="0FABE3"/>
            </a:solidFill>
            <a:prstDash val="solid"/>
          </a:ln>
          <a:effectLst>
            <a:outerShdw dist="12700" dir="5400000" algn="t" rotWithShape="0">
              <a:srgbClr val="A9C5D3">
                <a:alpha val="80000"/>
              </a:srgbClr>
            </a:outerShdw>
          </a:effectLst>
        </p:spPr>
        <p:txBody>
          <a:bodyPr lIns="90000" tIns="72000" rIns="90000" bIns="0"/>
          <a:lstStyle/>
          <a:p>
            <a:pPr marL="82538" lvl="2" eaLnBrk="0" latinLnBrk="0" hangingPunct="0">
              <a:spcAft>
                <a:spcPts val="240"/>
              </a:spcAft>
            </a:pPr>
            <a:endParaRPr lang="en-US" altLang="ko-KR" sz="1000" kern="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2" name="AutoShape 133"/>
          <p:cNvSpPr>
            <a:spLocks noChangeArrowheads="1"/>
          </p:cNvSpPr>
          <p:nvPr/>
        </p:nvSpPr>
        <p:spPr bwMode="gray">
          <a:xfrm>
            <a:off x="6426448" y="1526684"/>
            <a:ext cx="2337045" cy="28098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5400" algn="ctr">
            <a:solidFill>
              <a:schemeClr val="bg1">
                <a:lumMod val="85000"/>
              </a:schemeClr>
            </a:solidFill>
            <a:round/>
            <a:headEnd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고객별 오더 유형 관리 화면</a:t>
            </a:r>
            <a:endParaRPr lang="ko-KR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4" name="AutoShape 193"/>
          <p:cNvSpPr>
            <a:spLocks/>
          </p:cNvSpPr>
          <p:nvPr/>
        </p:nvSpPr>
        <p:spPr bwMode="auto">
          <a:xfrm>
            <a:off x="6332029" y="1915705"/>
            <a:ext cx="2539890" cy="2720524"/>
          </a:xfrm>
          <a:prstGeom prst="roundRect">
            <a:avLst>
              <a:gd name="adj" fmla="val 2880"/>
            </a:avLst>
          </a:prstGeom>
          <a:noFill/>
          <a:ln w="6350">
            <a:solidFill>
              <a:srgbClr val="FFFCF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000" spc="-5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 charset="0"/>
              </a:rPr>
              <a:t>- </a:t>
            </a:r>
            <a:r>
              <a:rPr lang="ko-KR" altLang="en-US" sz="1000" spc="-5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 charset="0"/>
              </a:rPr>
              <a:t>각 </a:t>
            </a:r>
            <a:r>
              <a:rPr lang="ko-KR" altLang="en-US" sz="1000" spc="-51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 charset="0"/>
              </a:rPr>
              <a:t>고객사</a:t>
            </a:r>
            <a:r>
              <a:rPr lang="ko-KR" altLang="en-US" sz="1000" spc="-5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 charset="0"/>
              </a:rPr>
              <a:t> 별로 세팅 된 </a:t>
            </a:r>
            <a:endParaRPr lang="en-US" altLang="ko-KR" sz="1000" spc="-5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Gill Sans" charset="0"/>
            </a:endParaRPr>
          </a:p>
          <a:p>
            <a:pPr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000" spc="-5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 charset="0"/>
              </a:rPr>
              <a:t>    </a:t>
            </a:r>
            <a:r>
              <a:rPr lang="ko-KR" altLang="en-US" sz="1000" spc="-5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 charset="0"/>
              </a:rPr>
              <a:t>오더 유형에 따라 실행 오더로 분배</a:t>
            </a:r>
            <a:endParaRPr lang="en-US" altLang="ko-KR" sz="1000" spc="-5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Gill Sans" charset="0"/>
            </a:endParaRPr>
          </a:p>
          <a:p>
            <a:pPr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000" spc="-5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 charset="0"/>
              </a:rPr>
              <a:t>    기준 관리 화면</a:t>
            </a:r>
            <a:endParaRPr lang="en-US" altLang="ko-KR" sz="1000" spc="-5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Gill Sans" charset="0"/>
            </a:endParaRPr>
          </a:p>
          <a:p>
            <a:pPr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en-US" altLang="ko-KR" sz="1000" spc="-5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Gill Sans" charset="0"/>
            </a:endParaRPr>
          </a:p>
          <a:p>
            <a:pPr marL="171450" indent="-171450" latinLnBrk="0">
              <a:buFontTx/>
              <a:buChar char="-"/>
              <a:defRPr/>
            </a:pPr>
            <a:r>
              <a:rPr lang="en-US" altLang="ko-KR" sz="1000" spc="-5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 charset="0"/>
              </a:rPr>
              <a:t>Control Type (</a:t>
            </a:r>
            <a:r>
              <a:rPr lang="ko-KR" altLang="en-US" sz="1000" spc="-5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 charset="0"/>
              </a:rPr>
              <a:t>왼쪽 그리드</a:t>
            </a:r>
            <a:r>
              <a:rPr lang="en-US" altLang="ko-KR" sz="1000" spc="-5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 charset="0"/>
              </a:rPr>
              <a:t>)</a:t>
            </a:r>
            <a:r>
              <a:rPr lang="ko-KR" altLang="en-US" sz="1000" spc="-5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 charset="0"/>
              </a:rPr>
              <a:t> </a:t>
            </a:r>
            <a:r>
              <a:rPr lang="en-US" altLang="ko-KR" sz="1000" spc="-5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 charset="0"/>
              </a:rPr>
              <a:t>: </a:t>
            </a:r>
          </a:p>
          <a:p>
            <a:pPr lvl="0" latinLnBrk="0"/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Order Control</a:t>
            </a:r>
            <a:r>
              <a:rPr lang="ko-KR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 설정되어 있는 거래처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목록</a:t>
            </a:r>
          </a:p>
          <a:p>
            <a:pPr latinLnBrk="0">
              <a:defRPr/>
            </a:pPr>
            <a:endParaRPr lang="en-US" altLang="ko-KR" sz="1000" spc="-5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Gill Sans" charset="0"/>
            </a:endParaRPr>
          </a:p>
          <a:p>
            <a:pPr marL="171450" indent="-171450" latinLnBrk="0">
              <a:buFontTx/>
              <a:buChar char="-"/>
              <a:defRPr/>
            </a:pPr>
            <a:r>
              <a:rPr lang="en-US" altLang="ko-KR" sz="1000" spc="-5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 charset="0"/>
              </a:rPr>
              <a:t>Control Detail (</a:t>
            </a:r>
            <a:r>
              <a:rPr lang="ko-KR" altLang="en-US" sz="1000" spc="-5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 charset="0"/>
              </a:rPr>
              <a:t>오른쪽 그리드</a:t>
            </a:r>
            <a:r>
              <a:rPr lang="en-US" altLang="ko-KR" sz="1000" spc="-5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 charset="0"/>
              </a:rPr>
              <a:t>)</a:t>
            </a:r>
            <a:r>
              <a:rPr lang="ko-KR" altLang="en-US" sz="1000" spc="-5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 charset="0"/>
              </a:rPr>
              <a:t> </a:t>
            </a:r>
            <a:r>
              <a:rPr lang="en-US" altLang="ko-KR" sz="1000" spc="-5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 charset="0"/>
              </a:rPr>
              <a:t>:</a:t>
            </a:r>
          </a:p>
          <a:p>
            <a:pPr marL="0" indent="0">
              <a:defRPr/>
            </a:pPr>
            <a:r>
              <a:rPr lang="en-US" altLang="ko-KR" sz="1000" spc="-5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 charset="0"/>
              </a:rPr>
              <a:t>    Biz Type :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Domestic, Warehouse</a:t>
            </a:r>
          </a:p>
          <a:p>
            <a:pPr marL="0" indent="0">
              <a:defRPr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Import, Export</a:t>
            </a:r>
          </a:p>
          <a:p>
            <a:pPr marL="0" indent="0">
              <a:defRPr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Method Type : 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복합 오더일 경우 분배     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	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방법 및 순서 정의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	(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동시 진행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완료후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진행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>
              <a:defRPr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	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내부 진행 구분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latinLnBrk="0">
              <a:defRPr/>
            </a:pPr>
            <a:endParaRPr lang="en-US" altLang="ko-KR" sz="1000" spc="-5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Gill Sans" charset="0"/>
            </a:endParaRPr>
          </a:p>
        </p:txBody>
      </p:sp>
      <p:sp>
        <p:nvSpPr>
          <p:cNvPr id="46" name="AutoShape 133"/>
          <p:cNvSpPr>
            <a:spLocks noChangeArrowheads="1"/>
          </p:cNvSpPr>
          <p:nvPr/>
        </p:nvSpPr>
        <p:spPr bwMode="gray">
          <a:xfrm>
            <a:off x="456787" y="1513638"/>
            <a:ext cx="3024336" cy="28098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5400" algn="ctr">
            <a:solidFill>
              <a:schemeClr val="bg1">
                <a:lumMod val="85000"/>
              </a:schemeClr>
            </a:solidFill>
            <a:round/>
            <a:headEnd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고객사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별 오더 유형 관리 화면</a:t>
            </a:r>
            <a:endParaRPr lang="ko-KR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408" y="1842431"/>
            <a:ext cx="5688880" cy="4563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902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5"/>
          <p:cNvSpPr>
            <a:spLocks noChangeArrowheads="1"/>
          </p:cNvSpPr>
          <p:nvPr/>
        </p:nvSpPr>
        <p:spPr bwMode="auto">
          <a:xfrm>
            <a:off x="395288" y="260648"/>
            <a:ext cx="6985000" cy="387350"/>
          </a:xfrm>
          <a:prstGeom prst="roundRect">
            <a:avLst>
              <a:gd name="adj" fmla="val 16667"/>
            </a:avLst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4.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주요 구현 기능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AutoShape 5"/>
          <p:cNvSpPr>
            <a:spLocks noChangeArrowheads="1"/>
          </p:cNvSpPr>
          <p:nvPr/>
        </p:nvSpPr>
        <p:spPr bwMode="auto">
          <a:xfrm>
            <a:off x="395536" y="759460"/>
            <a:ext cx="8496944" cy="193675"/>
          </a:xfrm>
          <a:prstGeom prst="roundRect">
            <a:avLst>
              <a:gd name="adj" fmla="val 16667"/>
            </a:avLst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>
              <a:buFont typeface="Wingdings" pitchFamily="2" charset="2"/>
              <a:buNone/>
              <a:defRPr/>
            </a:pP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4.1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기준 정보 관리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(3/3)</a:t>
            </a:r>
          </a:p>
        </p:txBody>
      </p:sp>
      <p:sp>
        <p:nvSpPr>
          <p:cNvPr id="6" name="Rectangle 58"/>
          <p:cNvSpPr>
            <a:spLocks noChangeArrowheads="1"/>
          </p:cNvSpPr>
          <p:nvPr/>
        </p:nvSpPr>
        <p:spPr bwMode="auto">
          <a:xfrm>
            <a:off x="555142" y="1145069"/>
            <a:ext cx="833733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marL="95250" indent="-952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defRPr/>
            </a:pP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서비스 오더에서 실행 오더로 분배 할 때 필요한 자료를 설정한다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AutoShape 133"/>
          <p:cNvSpPr>
            <a:spLocks noChangeArrowheads="1"/>
          </p:cNvSpPr>
          <p:nvPr/>
        </p:nvSpPr>
        <p:spPr bwMode="gray">
          <a:xfrm>
            <a:off x="6426448" y="1526684"/>
            <a:ext cx="2337045" cy="28098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5400" algn="ctr">
            <a:solidFill>
              <a:schemeClr val="bg1">
                <a:lumMod val="85000"/>
              </a:schemeClr>
            </a:solidFill>
            <a:round/>
            <a:headEnd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스케줄정보관리 기능설명</a:t>
            </a:r>
            <a:endParaRPr lang="ko-KR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5" name="양쪽 모서리가 둥근 사각형 104"/>
          <p:cNvSpPr/>
          <p:nvPr/>
        </p:nvSpPr>
        <p:spPr bwMode="auto">
          <a:xfrm flipH="1">
            <a:off x="251520" y="1659272"/>
            <a:ext cx="5904656" cy="4794064"/>
          </a:xfrm>
          <a:prstGeom prst="round2SameRect">
            <a:avLst>
              <a:gd name="adj1" fmla="val 0"/>
              <a:gd name="adj2" fmla="val 0"/>
            </a:avLst>
          </a:prstGeom>
          <a:noFill/>
          <a:ln w="19050" cap="flat" cmpd="sng" algn="ctr">
            <a:solidFill>
              <a:srgbClr val="0FABE3"/>
            </a:solidFill>
            <a:prstDash val="solid"/>
          </a:ln>
          <a:effectLst>
            <a:outerShdw dist="12700" dir="5400000" algn="t" rotWithShape="0">
              <a:srgbClr val="A9C5D3">
                <a:alpha val="80000"/>
              </a:srgbClr>
            </a:outerShdw>
          </a:effectLst>
        </p:spPr>
        <p:txBody>
          <a:bodyPr lIns="90000" tIns="72000" rIns="90000" bIns="0"/>
          <a:lstStyle/>
          <a:p>
            <a:pPr marL="82538" lvl="2" eaLnBrk="0" latinLnBrk="0" hangingPunct="0">
              <a:spcAft>
                <a:spcPts val="240"/>
              </a:spcAft>
            </a:pPr>
            <a:endParaRPr lang="en-US" altLang="ko-KR" sz="1000" kern="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8" name="양쪽 모서리가 둥근 사각형 127"/>
          <p:cNvSpPr/>
          <p:nvPr/>
        </p:nvSpPr>
        <p:spPr bwMode="auto">
          <a:xfrm flipH="1">
            <a:off x="6300192" y="1659272"/>
            <a:ext cx="2592288" cy="4794064"/>
          </a:xfrm>
          <a:prstGeom prst="round2SameRect">
            <a:avLst>
              <a:gd name="adj1" fmla="val 0"/>
              <a:gd name="adj2" fmla="val 0"/>
            </a:avLst>
          </a:prstGeom>
          <a:noFill/>
          <a:ln w="19050" cap="flat" cmpd="sng" algn="ctr">
            <a:solidFill>
              <a:srgbClr val="0FABE3"/>
            </a:solidFill>
            <a:prstDash val="solid"/>
          </a:ln>
          <a:effectLst>
            <a:outerShdw dist="12700" dir="5400000" algn="t" rotWithShape="0">
              <a:srgbClr val="A9C5D3">
                <a:alpha val="80000"/>
              </a:srgbClr>
            </a:outerShdw>
          </a:effectLst>
        </p:spPr>
        <p:txBody>
          <a:bodyPr lIns="90000" tIns="72000" rIns="90000" bIns="0"/>
          <a:lstStyle/>
          <a:p>
            <a:pPr marL="82538" lvl="2" eaLnBrk="0" latinLnBrk="0" hangingPunct="0">
              <a:spcAft>
                <a:spcPts val="240"/>
              </a:spcAft>
            </a:pPr>
            <a:endParaRPr lang="en-US" altLang="ko-KR" sz="1000" kern="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2" name="AutoShape 133"/>
          <p:cNvSpPr>
            <a:spLocks noChangeArrowheads="1"/>
          </p:cNvSpPr>
          <p:nvPr/>
        </p:nvSpPr>
        <p:spPr bwMode="gray">
          <a:xfrm>
            <a:off x="6426448" y="1526684"/>
            <a:ext cx="2337045" cy="28098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5400" algn="ctr">
            <a:solidFill>
              <a:schemeClr val="bg1">
                <a:lumMod val="85000"/>
              </a:schemeClr>
            </a:solidFill>
            <a:round/>
            <a:headEnd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S/O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Control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화면</a:t>
            </a:r>
            <a:endParaRPr lang="ko-KR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AutoShape 133"/>
          <p:cNvSpPr>
            <a:spLocks noChangeArrowheads="1"/>
          </p:cNvSpPr>
          <p:nvPr/>
        </p:nvSpPr>
        <p:spPr bwMode="gray">
          <a:xfrm>
            <a:off x="456787" y="1513638"/>
            <a:ext cx="3024336" cy="28098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5400" algn="ctr">
            <a:solidFill>
              <a:schemeClr val="bg1">
                <a:lumMod val="85000"/>
              </a:schemeClr>
            </a:solidFill>
            <a:round/>
            <a:headEnd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서비스 오더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Control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화면</a:t>
            </a:r>
            <a:endParaRPr lang="ko-KR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88" y="1828346"/>
            <a:ext cx="5616624" cy="4522830"/>
          </a:xfrm>
          <a:prstGeom prst="rect">
            <a:avLst/>
          </a:prstGeom>
        </p:spPr>
      </p:pic>
      <p:sp>
        <p:nvSpPr>
          <p:cNvPr id="13" name="AutoShape 193"/>
          <p:cNvSpPr>
            <a:spLocks/>
          </p:cNvSpPr>
          <p:nvPr/>
        </p:nvSpPr>
        <p:spPr bwMode="auto">
          <a:xfrm>
            <a:off x="6332029" y="1915705"/>
            <a:ext cx="2539890" cy="2720524"/>
          </a:xfrm>
          <a:prstGeom prst="roundRect">
            <a:avLst>
              <a:gd name="adj" fmla="val 2880"/>
            </a:avLst>
          </a:prstGeom>
          <a:noFill/>
          <a:ln w="6350">
            <a:solidFill>
              <a:srgbClr val="FFFCF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marL="171450" indent="-171450" fontAlgn="base" latinLnBrk="0">
              <a:spcBef>
                <a:spcPct val="0"/>
              </a:spcBef>
              <a:spcAft>
                <a:spcPct val="0"/>
              </a:spcAft>
              <a:buFontTx/>
              <a:buChar char="-"/>
              <a:defRPr/>
            </a:pPr>
            <a:r>
              <a:rPr lang="en-US" altLang="ko-KR" sz="1000" spc="-5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 charset="0"/>
              </a:rPr>
              <a:t>Control Type (</a:t>
            </a:r>
            <a:r>
              <a:rPr lang="ko-KR" altLang="en-US" sz="1000" spc="-5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 charset="0"/>
              </a:rPr>
              <a:t>상위 그리드</a:t>
            </a:r>
            <a:r>
              <a:rPr lang="en-US" altLang="ko-KR" sz="1000" spc="-5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 charset="0"/>
              </a:rPr>
              <a:t>)</a:t>
            </a:r>
            <a:r>
              <a:rPr lang="ko-KR" altLang="en-US" sz="1000" spc="-5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 charset="0"/>
              </a:rPr>
              <a:t> </a:t>
            </a:r>
            <a:r>
              <a:rPr lang="en-US" altLang="ko-KR" sz="1000" spc="-5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 charset="0"/>
              </a:rPr>
              <a:t>: </a:t>
            </a:r>
          </a:p>
          <a:p>
            <a:pPr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000" spc="-5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 charset="0"/>
              </a:rPr>
              <a:t>고객이 입력한 </a:t>
            </a:r>
            <a:r>
              <a:rPr lang="en-US" altLang="ko-KR" sz="1000" spc="-5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 charset="0"/>
              </a:rPr>
              <a:t>Order Condition </a:t>
            </a:r>
            <a:r>
              <a:rPr lang="ko-KR" altLang="en-US" sz="1000" spc="-5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 charset="0"/>
              </a:rPr>
              <a:t>에 따라 </a:t>
            </a:r>
            <a:r>
              <a:rPr lang="en-US" altLang="ko-KR" sz="1000" spc="-5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 charset="0"/>
              </a:rPr>
              <a:t>Order Request </a:t>
            </a:r>
            <a:r>
              <a:rPr lang="ko-KR" altLang="en-US" sz="1000" spc="-5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 charset="0"/>
              </a:rPr>
              <a:t>시 설정된 </a:t>
            </a:r>
            <a:r>
              <a:rPr lang="en-US" altLang="ko-KR" sz="1000" spc="-5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 charset="0"/>
              </a:rPr>
              <a:t>Auto Value Assignment </a:t>
            </a:r>
            <a:r>
              <a:rPr lang="ko-KR" altLang="en-US" sz="1000" spc="-5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 charset="0"/>
              </a:rPr>
              <a:t>값으로 실행 오더가 생성된다</a:t>
            </a:r>
            <a:r>
              <a:rPr lang="en-US" altLang="ko-KR" sz="1000" spc="-5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 charset="0"/>
              </a:rPr>
              <a:t>.</a:t>
            </a:r>
            <a:r>
              <a:rPr lang="ko-KR" altLang="en-US" sz="1000" spc="-5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 charset="0"/>
              </a:rPr>
              <a:t> </a:t>
            </a:r>
            <a:endParaRPr lang="en-US" altLang="ko-KR" sz="1000" spc="-5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Gill Sans" charset="0"/>
            </a:endParaRPr>
          </a:p>
          <a:p>
            <a:pPr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en-US" altLang="ko-KR" sz="1000" spc="-5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Gill Sans" charset="0"/>
            </a:endParaRPr>
          </a:p>
          <a:p>
            <a:pPr marL="171450" indent="-171450" fontAlgn="base" latinLnBrk="0">
              <a:spcBef>
                <a:spcPct val="0"/>
              </a:spcBef>
              <a:spcAft>
                <a:spcPct val="0"/>
              </a:spcAft>
              <a:buFontTx/>
              <a:buChar char="-"/>
              <a:defRPr/>
            </a:pPr>
            <a:r>
              <a:rPr lang="en-US" altLang="ko-KR" sz="1000" spc="-5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 charset="0"/>
              </a:rPr>
              <a:t>Control Detail (</a:t>
            </a:r>
            <a:r>
              <a:rPr lang="ko-KR" altLang="en-US" sz="1000" spc="-5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 charset="0"/>
              </a:rPr>
              <a:t>하위 그리드</a:t>
            </a:r>
            <a:r>
              <a:rPr lang="en-US" altLang="ko-KR" sz="1000" spc="-5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 charset="0"/>
              </a:rPr>
              <a:t>)</a:t>
            </a:r>
            <a:r>
              <a:rPr lang="ko-KR" altLang="en-US" sz="1000" spc="-5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 charset="0"/>
              </a:rPr>
              <a:t> </a:t>
            </a:r>
            <a:r>
              <a:rPr lang="en-US" altLang="ko-KR" sz="1000" spc="-5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 charset="0"/>
              </a:rPr>
              <a:t>:</a:t>
            </a:r>
          </a:p>
          <a:p>
            <a:pPr latinLnBrk="0">
              <a:defRPr/>
            </a:pPr>
            <a:r>
              <a:rPr lang="ko-KR" altLang="en-US" sz="1000" spc="-5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 charset="0"/>
              </a:rPr>
              <a:t>고객이 입력한 </a:t>
            </a:r>
            <a:r>
              <a:rPr lang="en-US" altLang="ko-KR" sz="1000" spc="-5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 charset="0"/>
              </a:rPr>
              <a:t>Order Condition </a:t>
            </a:r>
            <a:r>
              <a:rPr lang="ko-KR" altLang="en-US" sz="1000" spc="-5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 charset="0"/>
              </a:rPr>
              <a:t>에 따라 </a:t>
            </a:r>
            <a:r>
              <a:rPr lang="en-US" altLang="ko-KR" sz="1000" spc="-5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 charset="0"/>
              </a:rPr>
              <a:t>Order Request </a:t>
            </a:r>
            <a:r>
              <a:rPr lang="ko-KR" altLang="en-US" sz="1000" spc="-5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 charset="0"/>
              </a:rPr>
              <a:t>시 설정된 </a:t>
            </a:r>
            <a:r>
              <a:rPr lang="en-US" altLang="ko-KR" sz="1000" spc="-5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 charset="0"/>
              </a:rPr>
              <a:t>Auto Value Assignment </a:t>
            </a:r>
            <a:r>
              <a:rPr lang="ko-KR" altLang="en-US" sz="1000" spc="-5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 charset="0"/>
              </a:rPr>
              <a:t>값으로 실행 오더가 생성된다</a:t>
            </a:r>
            <a:r>
              <a:rPr lang="en-US" altLang="ko-KR" sz="1000" spc="-5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 charset="0"/>
              </a:rPr>
              <a:t>.</a:t>
            </a:r>
            <a:r>
              <a:rPr lang="ko-KR" altLang="en-US" sz="1000" spc="-5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 charset="0"/>
              </a:rPr>
              <a:t> </a:t>
            </a:r>
            <a:endParaRPr lang="en-US" altLang="ko-KR" sz="1000" spc="-5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Gill Sans" charset="0"/>
            </a:endParaRPr>
          </a:p>
          <a:p>
            <a:pPr latinLnBrk="0">
              <a:defRPr/>
            </a:pPr>
            <a:endParaRPr lang="en-US" altLang="ko-KR" sz="1000" spc="-5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Gill Sans" charset="0"/>
            </a:endParaRPr>
          </a:p>
          <a:p>
            <a:pPr marL="171450" indent="-171450" latinLnBrk="0">
              <a:buFontTx/>
              <a:buChar char="-"/>
              <a:defRPr/>
            </a:pPr>
            <a:r>
              <a:rPr lang="ko-KR" altLang="en-US" sz="1000" spc="-5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 charset="0"/>
              </a:rPr>
              <a:t>주요 기능 </a:t>
            </a:r>
            <a:endParaRPr lang="en-US" altLang="ko-KR" sz="1000" spc="-5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Gill Sans" charset="0"/>
            </a:endParaRPr>
          </a:p>
          <a:p>
            <a:pPr latinLnBrk="0">
              <a:defRPr/>
            </a:pPr>
            <a:r>
              <a:rPr lang="en-US" altLang="ko-KR" sz="1000" spc="-5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 charset="0"/>
              </a:rPr>
              <a:t>  1) Check Validation :</a:t>
            </a:r>
          </a:p>
          <a:p>
            <a:pPr latinLnBrk="0">
              <a:defRPr/>
            </a:pPr>
            <a:r>
              <a:rPr lang="en-US" altLang="ko-KR" sz="1000" spc="-5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 charset="0"/>
              </a:rPr>
              <a:t>    </a:t>
            </a:r>
            <a:r>
              <a:rPr lang="ko-KR" altLang="en-US" sz="1000" spc="-5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 charset="0"/>
              </a:rPr>
              <a:t>실행 오더를 최초 생성시 기준 값 </a:t>
            </a:r>
            <a:endParaRPr lang="en-US" altLang="ko-KR" sz="1000" spc="-5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Gill Sans" charset="0"/>
            </a:endParaRPr>
          </a:p>
          <a:p>
            <a:pPr latinLnBrk="0">
              <a:defRPr/>
            </a:pPr>
            <a:r>
              <a:rPr lang="en-US" altLang="ko-KR" sz="1000" spc="-5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 charset="0"/>
              </a:rPr>
              <a:t>  2) Auto Release : </a:t>
            </a:r>
          </a:p>
          <a:p>
            <a:pPr latinLnBrk="0">
              <a:defRPr/>
            </a:pPr>
            <a:r>
              <a:rPr lang="en-US" altLang="ko-KR" sz="1000" spc="-5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 charset="0"/>
              </a:rPr>
              <a:t>   </a:t>
            </a:r>
            <a:r>
              <a:rPr lang="ko-KR" altLang="en-US" sz="1000" spc="-5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 charset="0"/>
              </a:rPr>
              <a:t>화주 </a:t>
            </a:r>
            <a:r>
              <a:rPr lang="en-US" altLang="ko-KR" sz="1000" spc="-5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 charset="0"/>
              </a:rPr>
              <a:t>EDI </a:t>
            </a:r>
            <a:r>
              <a:rPr lang="ko-KR" altLang="en-US" sz="1000" spc="-5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 charset="0"/>
              </a:rPr>
              <a:t>연결 시 실행 오더   자동 생성 유무</a:t>
            </a:r>
            <a:endParaRPr lang="en-US" altLang="ko-KR" sz="1000" spc="-5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Gill Sans" charset="0"/>
            </a:endParaRPr>
          </a:p>
          <a:p>
            <a:pPr latinLnBrk="0">
              <a:defRPr/>
            </a:pPr>
            <a:r>
              <a:rPr lang="en-US" altLang="ko-KR" sz="1000" spc="-5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 charset="0"/>
              </a:rPr>
              <a:t>  3) Auto Value Assignment :</a:t>
            </a:r>
          </a:p>
          <a:p>
            <a:pPr latinLnBrk="0">
              <a:defRPr/>
            </a:pPr>
            <a:r>
              <a:rPr lang="en-US" altLang="ko-KR" sz="1000" spc="-5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 charset="0"/>
              </a:rPr>
              <a:t>   </a:t>
            </a:r>
            <a:r>
              <a:rPr lang="ko-KR" altLang="en-US" sz="1000" spc="-5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 charset="0"/>
              </a:rPr>
              <a:t>실행 오더를</a:t>
            </a:r>
            <a:r>
              <a:rPr lang="en-US" altLang="ko-KR" sz="1000" spc="-5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 charset="0"/>
              </a:rPr>
              <a:t> </a:t>
            </a:r>
            <a:r>
              <a:rPr lang="ko-KR" altLang="en-US" sz="1000" spc="-5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ill Sans" charset="0"/>
              </a:rPr>
              <a:t>최초 생성시 기준 값으로 세팅 </a:t>
            </a:r>
            <a:endParaRPr lang="en-US" altLang="ko-KR" sz="1000" spc="-5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Gill Sans" charset="0"/>
            </a:endParaRPr>
          </a:p>
          <a:p>
            <a:pPr latinLnBrk="0">
              <a:defRPr/>
            </a:pPr>
            <a:endParaRPr lang="en-US" altLang="ko-KR" sz="1000" spc="-5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Gill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7888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5"/>
          <p:cNvSpPr>
            <a:spLocks noChangeArrowheads="1"/>
          </p:cNvSpPr>
          <p:nvPr/>
        </p:nvSpPr>
        <p:spPr bwMode="auto">
          <a:xfrm>
            <a:off x="395288" y="260648"/>
            <a:ext cx="6985000" cy="387350"/>
          </a:xfrm>
          <a:prstGeom prst="roundRect">
            <a:avLst>
              <a:gd name="adj" fmla="val 16667"/>
            </a:avLst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4.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오더 생성 관리</a:t>
            </a:r>
          </a:p>
        </p:txBody>
      </p:sp>
      <p:sp>
        <p:nvSpPr>
          <p:cNvPr id="4" name="AutoShape 5"/>
          <p:cNvSpPr>
            <a:spLocks noChangeArrowheads="1"/>
          </p:cNvSpPr>
          <p:nvPr/>
        </p:nvSpPr>
        <p:spPr bwMode="auto">
          <a:xfrm>
            <a:off x="395536" y="759460"/>
            <a:ext cx="8496944" cy="193675"/>
          </a:xfrm>
          <a:prstGeom prst="roundRect">
            <a:avLst>
              <a:gd name="adj" fmla="val 16667"/>
            </a:avLst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>
              <a:buFont typeface="Wingdings" pitchFamily="2" charset="2"/>
              <a:buNone/>
              <a:defRPr/>
            </a:pP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4.3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고객 오더 관리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수출입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내수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5" name="양쪽 모서리가 둥근 사각형 104"/>
          <p:cNvSpPr/>
          <p:nvPr/>
        </p:nvSpPr>
        <p:spPr bwMode="auto">
          <a:xfrm flipH="1">
            <a:off x="251520" y="1659272"/>
            <a:ext cx="5904656" cy="4794064"/>
          </a:xfrm>
          <a:prstGeom prst="round2SameRect">
            <a:avLst>
              <a:gd name="adj1" fmla="val 0"/>
              <a:gd name="adj2" fmla="val 0"/>
            </a:avLst>
          </a:prstGeom>
          <a:noFill/>
          <a:ln w="19050" cap="flat" cmpd="sng" algn="ctr">
            <a:solidFill>
              <a:srgbClr val="0FABE3"/>
            </a:solidFill>
            <a:prstDash val="solid"/>
          </a:ln>
          <a:effectLst>
            <a:outerShdw dist="12700" dir="5400000" algn="t" rotWithShape="0">
              <a:srgbClr val="A9C5D3">
                <a:alpha val="80000"/>
              </a:srgbClr>
            </a:outerShdw>
          </a:effectLst>
        </p:spPr>
        <p:txBody>
          <a:bodyPr lIns="90000" tIns="72000" rIns="90000" bIns="0"/>
          <a:lstStyle/>
          <a:p>
            <a:pPr marL="82538" lvl="2" eaLnBrk="0" latinLnBrk="0" hangingPunct="0">
              <a:spcAft>
                <a:spcPts val="240"/>
              </a:spcAft>
            </a:pPr>
            <a:endParaRPr lang="en-US" altLang="ko-KR" sz="1000" kern="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AutoShape 133"/>
          <p:cNvSpPr>
            <a:spLocks noChangeArrowheads="1"/>
          </p:cNvSpPr>
          <p:nvPr/>
        </p:nvSpPr>
        <p:spPr bwMode="gray">
          <a:xfrm>
            <a:off x="456787" y="1513638"/>
            <a:ext cx="3024336" cy="28098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5400" algn="ctr">
            <a:solidFill>
              <a:schemeClr val="bg1">
                <a:lumMod val="85000"/>
              </a:schemeClr>
            </a:solidFill>
            <a:round/>
            <a:headEnd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고객 오더 관리 화면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양쪽 모서리가 둥근 사각형 42"/>
          <p:cNvSpPr/>
          <p:nvPr/>
        </p:nvSpPr>
        <p:spPr bwMode="auto">
          <a:xfrm flipH="1">
            <a:off x="6300192" y="1659272"/>
            <a:ext cx="2592288" cy="4794064"/>
          </a:xfrm>
          <a:prstGeom prst="round2SameRect">
            <a:avLst>
              <a:gd name="adj1" fmla="val 0"/>
              <a:gd name="adj2" fmla="val 0"/>
            </a:avLst>
          </a:prstGeom>
          <a:noFill/>
          <a:ln w="19050" cap="flat" cmpd="sng" algn="ctr">
            <a:solidFill>
              <a:srgbClr val="0FABE3"/>
            </a:solidFill>
            <a:prstDash val="solid"/>
          </a:ln>
          <a:effectLst>
            <a:outerShdw dist="12700" dir="5400000" algn="t" rotWithShape="0">
              <a:srgbClr val="A9C5D3">
                <a:alpha val="80000"/>
              </a:srgbClr>
            </a:outerShdw>
          </a:effectLst>
        </p:spPr>
        <p:txBody>
          <a:bodyPr lIns="90000" tIns="72000" rIns="90000" bIns="0"/>
          <a:lstStyle/>
          <a:p>
            <a:pPr marL="82538" lvl="2" eaLnBrk="0" latinLnBrk="0" hangingPunct="0">
              <a:spcAft>
                <a:spcPts val="240"/>
              </a:spcAft>
            </a:pPr>
            <a:endParaRPr lang="en-US" altLang="ko-KR" sz="1000" kern="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AutoShape 133"/>
          <p:cNvSpPr>
            <a:spLocks noChangeArrowheads="1"/>
          </p:cNvSpPr>
          <p:nvPr/>
        </p:nvSpPr>
        <p:spPr bwMode="gray">
          <a:xfrm>
            <a:off x="6426448" y="1526684"/>
            <a:ext cx="2337045" cy="28098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5400" algn="ctr">
            <a:solidFill>
              <a:schemeClr val="bg1">
                <a:lumMod val="85000"/>
              </a:schemeClr>
            </a:solidFill>
            <a:round/>
            <a:headEnd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 오더</a:t>
            </a:r>
            <a:r>
              <a: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관리 기능 설명</a:t>
            </a:r>
            <a:endParaRPr lang="ko-KR" altLang="ko-KR" sz="12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Rectangle 58"/>
          <p:cNvSpPr>
            <a:spLocks noChangeArrowheads="1"/>
          </p:cNvSpPr>
          <p:nvPr/>
        </p:nvSpPr>
        <p:spPr bwMode="auto">
          <a:xfrm>
            <a:off x="555142" y="1145069"/>
            <a:ext cx="833733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marL="95250" indent="-952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defRPr/>
            </a:pP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고객이 입력한 수출입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내수 오더를 관리 합니다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6426448" y="1865873"/>
            <a:ext cx="2394024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900" b="1" dirty="0"/>
              <a:t>고객 오더 관리 에서 고객에게 오더를 접수 받음 </a:t>
            </a:r>
            <a:endParaRPr lang="en-US" altLang="ko-KR" sz="900" b="1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900" b="1" dirty="0"/>
              <a:t>서비스 오더를 만들기 위한 고객 오더들을 </a:t>
            </a:r>
            <a:r>
              <a:rPr lang="en-US" altLang="ko-KR" sz="900" b="1" dirty="0"/>
              <a:t>C/O List </a:t>
            </a:r>
            <a:r>
              <a:rPr lang="ko-KR" altLang="en-US" sz="900" b="1" dirty="0"/>
              <a:t>에서 </a:t>
            </a:r>
            <a:r>
              <a:rPr lang="en-US" altLang="ko-KR" sz="900" b="1" dirty="0"/>
              <a:t>Request </a:t>
            </a:r>
            <a:r>
              <a:rPr lang="ko-KR" altLang="en-US" sz="900" b="1" dirty="0"/>
              <a:t>진행</a:t>
            </a:r>
            <a:endParaRPr lang="en-US" altLang="ko-KR" sz="900" b="1" dirty="0"/>
          </a:p>
          <a:p>
            <a:pPr>
              <a:lnSpc>
                <a:spcPct val="150000"/>
              </a:lnSpc>
            </a:pPr>
            <a:endParaRPr lang="ko-KR" altLang="en-US" sz="900" b="1" dirty="0"/>
          </a:p>
        </p:txBody>
      </p:sp>
      <p:sp>
        <p:nvSpPr>
          <p:cNvPr id="38" name="위로 구부러진 화살표 37"/>
          <p:cNvSpPr/>
          <p:nvPr/>
        </p:nvSpPr>
        <p:spPr bwMode="auto">
          <a:xfrm rot="3008239">
            <a:off x="334732" y="4076356"/>
            <a:ext cx="864959" cy="298904"/>
          </a:xfrm>
          <a:prstGeom prst="curvedUpArrow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8000" tIns="45720" rIns="1800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39" name="위로 구부러진 화살표 38"/>
          <p:cNvSpPr/>
          <p:nvPr/>
        </p:nvSpPr>
        <p:spPr bwMode="auto">
          <a:xfrm rot="2747621">
            <a:off x="1199737" y="5485306"/>
            <a:ext cx="864959" cy="298904"/>
          </a:xfrm>
          <a:prstGeom prst="curvedUpArrow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8000" tIns="45720" rIns="1800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0" name="직사각형 39"/>
          <p:cNvSpPr/>
          <p:nvPr/>
        </p:nvSpPr>
        <p:spPr bwMode="auto">
          <a:xfrm>
            <a:off x="251520" y="4421193"/>
            <a:ext cx="967069" cy="40011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8000" tIns="45720" rIns="1800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71450" marR="0" indent="-17145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1" lang="ko-KR" altLang="en-US" sz="1000" b="1" i="0" u="none" strike="noStrike" cap="none" normalizeH="0" baseline="0" dirty="0" err="1">
                <a:ln>
                  <a:noFill/>
                </a:ln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고객오더</a:t>
            </a:r>
            <a:r>
              <a:rPr kumimoji="1" lang="ko-KR" altLang="en-US" sz="1000" b="1" i="0" u="none" strike="noStrike" cap="none" normalizeH="0" baseline="0" dirty="0">
                <a:ln>
                  <a:noFill/>
                </a:ln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1" lang="ko-KR" altLang="en-US" sz="1000" b="1" i="0" u="none" strike="noStrike" cap="none" normalizeH="0" baseline="0" dirty="0">
                <a:ln>
                  <a:noFill/>
                </a:ln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생성</a:t>
            </a: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069" y="1993562"/>
            <a:ext cx="3904779" cy="1770721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927" y="3544101"/>
            <a:ext cx="3746784" cy="1621752"/>
          </a:xfrm>
          <a:prstGeom prst="rect">
            <a:avLst/>
          </a:prstGeom>
        </p:spPr>
      </p:pic>
      <p:sp>
        <p:nvSpPr>
          <p:cNvPr id="49" name="직사각형 48"/>
          <p:cNvSpPr/>
          <p:nvPr/>
        </p:nvSpPr>
        <p:spPr bwMode="auto">
          <a:xfrm>
            <a:off x="1075455" y="5922531"/>
            <a:ext cx="967069" cy="40011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8000" tIns="45720" rIns="1800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71450" marR="0" indent="-17145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1" lang="ko-KR" altLang="en-US" sz="1000" b="1" i="0" u="none" strike="noStrike" cap="none" normalizeH="0" baseline="0" dirty="0" err="1">
                <a:ln>
                  <a:noFill/>
                </a:ln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고객오더</a:t>
            </a:r>
            <a:r>
              <a:rPr kumimoji="1" lang="ko-KR" altLang="en-US" sz="1000" b="1" i="0" u="none" strike="noStrike" cap="none" normalizeH="0" baseline="0" dirty="0">
                <a:ln>
                  <a:noFill/>
                </a:ln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kumimoji="1" lang="en-US" altLang="ko-KR" sz="1000" b="1" i="0" u="none" strike="noStrike" cap="none" normalizeH="0" baseline="0" dirty="0">
              <a:ln>
                <a:noFill/>
              </a:ln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R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Request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0893" y="4530531"/>
            <a:ext cx="3939855" cy="179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3516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313" y="1844331"/>
            <a:ext cx="4028337" cy="186497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AutoShape 5"/>
          <p:cNvSpPr>
            <a:spLocks noChangeArrowheads="1"/>
          </p:cNvSpPr>
          <p:nvPr/>
        </p:nvSpPr>
        <p:spPr bwMode="auto">
          <a:xfrm>
            <a:off x="395288" y="260648"/>
            <a:ext cx="6985000" cy="387350"/>
          </a:xfrm>
          <a:prstGeom prst="roundRect">
            <a:avLst>
              <a:gd name="adj" fmla="val 16667"/>
            </a:avLst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4.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오더 생성 관리</a:t>
            </a:r>
          </a:p>
        </p:txBody>
      </p:sp>
      <p:sp>
        <p:nvSpPr>
          <p:cNvPr id="4" name="AutoShape 5"/>
          <p:cNvSpPr>
            <a:spLocks noChangeArrowheads="1"/>
          </p:cNvSpPr>
          <p:nvPr/>
        </p:nvSpPr>
        <p:spPr bwMode="auto">
          <a:xfrm>
            <a:off x="395536" y="759460"/>
            <a:ext cx="8496944" cy="193675"/>
          </a:xfrm>
          <a:prstGeom prst="roundRect">
            <a:avLst>
              <a:gd name="adj" fmla="val 16667"/>
            </a:avLst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>
              <a:buFont typeface="Wingdings" pitchFamily="2" charset="2"/>
              <a:buNone/>
              <a:defRPr/>
            </a:pP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4.4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오더 생성 관리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수출입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내수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5" name="양쪽 모서리가 둥근 사각형 104"/>
          <p:cNvSpPr/>
          <p:nvPr/>
        </p:nvSpPr>
        <p:spPr bwMode="auto">
          <a:xfrm flipH="1">
            <a:off x="251520" y="1659272"/>
            <a:ext cx="5904656" cy="4794064"/>
          </a:xfrm>
          <a:prstGeom prst="round2SameRect">
            <a:avLst>
              <a:gd name="adj1" fmla="val 0"/>
              <a:gd name="adj2" fmla="val 0"/>
            </a:avLst>
          </a:prstGeom>
          <a:noFill/>
          <a:ln w="19050" cap="flat" cmpd="sng" algn="ctr">
            <a:solidFill>
              <a:srgbClr val="0FABE3"/>
            </a:solidFill>
            <a:prstDash val="solid"/>
          </a:ln>
          <a:effectLst>
            <a:outerShdw dist="12700" dir="5400000" algn="t" rotWithShape="0">
              <a:srgbClr val="A9C5D3">
                <a:alpha val="80000"/>
              </a:srgbClr>
            </a:outerShdw>
          </a:effectLst>
        </p:spPr>
        <p:txBody>
          <a:bodyPr lIns="90000" tIns="72000" rIns="90000" bIns="0"/>
          <a:lstStyle/>
          <a:p>
            <a:pPr marL="82538" lvl="2" eaLnBrk="0" latinLnBrk="0" hangingPunct="0">
              <a:spcAft>
                <a:spcPts val="240"/>
              </a:spcAft>
            </a:pPr>
            <a:endParaRPr lang="en-US" altLang="ko-KR" sz="1000" kern="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AutoShape 133"/>
          <p:cNvSpPr>
            <a:spLocks noChangeArrowheads="1"/>
          </p:cNvSpPr>
          <p:nvPr/>
        </p:nvSpPr>
        <p:spPr bwMode="gray">
          <a:xfrm>
            <a:off x="456787" y="1513638"/>
            <a:ext cx="3024336" cy="28098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5400" algn="ctr">
            <a:solidFill>
              <a:schemeClr val="bg1">
                <a:lumMod val="85000"/>
              </a:schemeClr>
            </a:solidFill>
            <a:round/>
            <a:headEnd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오더 생성 관리 화면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양쪽 모서리가 둥근 사각형 42"/>
          <p:cNvSpPr/>
          <p:nvPr/>
        </p:nvSpPr>
        <p:spPr bwMode="auto">
          <a:xfrm flipH="1">
            <a:off x="6300192" y="1659272"/>
            <a:ext cx="2592288" cy="4794064"/>
          </a:xfrm>
          <a:prstGeom prst="round2SameRect">
            <a:avLst>
              <a:gd name="adj1" fmla="val 0"/>
              <a:gd name="adj2" fmla="val 0"/>
            </a:avLst>
          </a:prstGeom>
          <a:noFill/>
          <a:ln w="19050" cap="flat" cmpd="sng" algn="ctr">
            <a:solidFill>
              <a:srgbClr val="0FABE3"/>
            </a:solidFill>
            <a:prstDash val="solid"/>
          </a:ln>
          <a:effectLst>
            <a:outerShdw dist="12700" dir="5400000" algn="t" rotWithShape="0">
              <a:srgbClr val="A9C5D3">
                <a:alpha val="80000"/>
              </a:srgbClr>
            </a:outerShdw>
          </a:effectLst>
        </p:spPr>
        <p:txBody>
          <a:bodyPr lIns="90000" tIns="72000" rIns="90000" bIns="0"/>
          <a:lstStyle/>
          <a:p>
            <a:pPr marL="82538" lvl="2" eaLnBrk="0" latinLnBrk="0" hangingPunct="0">
              <a:spcAft>
                <a:spcPts val="240"/>
              </a:spcAft>
            </a:pPr>
            <a:endParaRPr lang="en-US" altLang="ko-KR" sz="1000" kern="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AutoShape 133"/>
          <p:cNvSpPr>
            <a:spLocks noChangeArrowheads="1"/>
          </p:cNvSpPr>
          <p:nvPr/>
        </p:nvSpPr>
        <p:spPr bwMode="gray">
          <a:xfrm>
            <a:off x="6426448" y="1526684"/>
            <a:ext cx="2337045" cy="28098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5400" algn="ctr">
            <a:solidFill>
              <a:schemeClr val="bg1">
                <a:lumMod val="85000"/>
              </a:schemeClr>
            </a:solidFill>
            <a:round/>
            <a:headEnd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sz="12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서비스오더</a:t>
            </a:r>
            <a:r>
              <a: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관리 </a:t>
            </a:r>
            <a:endParaRPr lang="en-US" altLang="ko-KR" sz="12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eaLnBrk="1" hangingPunct="1"/>
            <a:r>
              <a:rPr lang="ko-KR" altLang="en-US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 설명</a:t>
            </a:r>
            <a:endParaRPr lang="ko-KR" altLang="ko-KR" sz="12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직사각형 40"/>
          <p:cNvSpPr/>
          <p:nvPr/>
        </p:nvSpPr>
        <p:spPr bwMode="auto">
          <a:xfrm rot="20307271">
            <a:off x="3506960" y="3738080"/>
            <a:ext cx="1757285" cy="47705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8000" tIns="45720" rIns="1800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25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화면예시</a:t>
            </a:r>
          </a:p>
        </p:txBody>
      </p:sp>
      <p:pic>
        <p:nvPicPr>
          <p:cNvPr id="26" name="그림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79" y="5544922"/>
            <a:ext cx="421573" cy="504056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0217" y="5535830"/>
            <a:ext cx="486375" cy="513148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6379" y="5517232"/>
            <a:ext cx="471710" cy="531746"/>
          </a:xfrm>
          <a:prstGeom prst="rect">
            <a:avLst/>
          </a:prstGeom>
        </p:spPr>
      </p:pic>
      <p:sp>
        <p:nvSpPr>
          <p:cNvPr id="30" name="Rectangle 58"/>
          <p:cNvSpPr>
            <a:spLocks noChangeArrowheads="1"/>
          </p:cNvSpPr>
          <p:nvPr/>
        </p:nvSpPr>
        <p:spPr bwMode="auto">
          <a:xfrm>
            <a:off x="555142" y="1052736"/>
            <a:ext cx="83373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marL="95250" indent="-952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defRPr/>
            </a:pP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고객 오더를 기준으로 서비스 오더를 생성 관리합니다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기준에 따라 고객 오더를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Merge, Split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하여 서비스오더를 생성하고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실행 모듈로 연계합니다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타원 30"/>
          <p:cNvSpPr/>
          <p:nvPr/>
        </p:nvSpPr>
        <p:spPr bwMode="auto">
          <a:xfrm>
            <a:off x="6901718" y="4512356"/>
            <a:ext cx="315058" cy="302955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18000" tIns="45720" rIns="1800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Y헤드라인M" pitchFamily="18" charset="-127"/>
                <a:ea typeface="HY헤드라인M" pitchFamily="18" charset="-127"/>
              </a:rPr>
              <a:t>SO1</a:t>
            </a:r>
            <a:endParaRPr kumimoji="1" lang="ko-KR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32" name="AutoShape 193"/>
          <p:cNvSpPr>
            <a:spLocks/>
          </p:cNvSpPr>
          <p:nvPr/>
        </p:nvSpPr>
        <p:spPr bwMode="auto">
          <a:xfrm>
            <a:off x="6409569" y="5301286"/>
            <a:ext cx="2338895" cy="1008033"/>
          </a:xfrm>
          <a:prstGeom prst="roundRect">
            <a:avLst>
              <a:gd name="adj" fmla="val 2880"/>
            </a:avLst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algn="ctr" latinLnBrk="0">
              <a:defRPr/>
            </a:pPr>
            <a:endParaRPr lang="ko-KR" altLang="ko-KR" sz="4500" spc="-51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Gill Sans" charset="0"/>
            </a:endParaRPr>
          </a:p>
        </p:txBody>
      </p:sp>
      <p:sp>
        <p:nvSpPr>
          <p:cNvPr id="33" name="AutoShape 195"/>
          <p:cNvSpPr>
            <a:spLocks/>
          </p:cNvSpPr>
          <p:nvPr/>
        </p:nvSpPr>
        <p:spPr bwMode="auto">
          <a:xfrm>
            <a:off x="6854073" y="6238541"/>
            <a:ext cx="1449467" cy="142787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12700">
            <a:noFill/>
            <a:miter lim="800000"/>
            <a:headEnd/>
            <a:tailEnd/>
          </a:ln>
          <a:extLst/>
        </p:spPr>
        <p:txBody>
          <a:bodyPr wrap="none" lIns="0" tIns="0" rIns="0" bIns="0" anchor="ctr"/>
          <a:lstStyle/>
          <a:p>
            <a:pPr algn="ctr" latinLnBrk="0">
              <a:defRPr/>
            </a:pPr>
            <a:r>
              <a:rPr lang="ko-KR" altLang="en-US" sz="900" spc="-5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FCF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RixMGo B" charset="-128"/>
              </a:rPr>
              <a:t>실행모듈</a:t>
            </a:r>
          </a:p>
        </p:txBody>
      </p:sp>
      <p:sp>
        <p:nvSpPr>
          <p:cNvPr id="34" name="AutoShape 193"/>
          <p:cNvSpPr>
            <a:spLocks/>
          </p:cNvSpPr>
          <p:nvPr/>
        </p:nvSpPr>
        <p:spPr bwMode="auto">
          <a:xfrm>
            <a:off x="6408902" y="3435987"/>
            <a:ext cx="2338895" cy="1505181"/>
          </a:xfrm>
          <a:prstGeom prst="roundRect">
            <a:avLst>
              <a:gd name="adj" fmla="val 2880"/>
            </a:avLst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algn="ctr" latinLnBrk="0">
              <a:defRPr/>
            </a:pPr>
            <a:endParaRPr lang="ko-KR" altLang="ko-KR" sz="4500" spc="-51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Gill Sans" charset="0"/>
            </a:endParaRPr>
          </a:p>
        </p:txBody>
      </p:sp>
      <p:sp>
        <p:nvSpPr>
          <p:cNvPr id="35" name="AutoShape 195"/>
          <p:cNvSpPr>
            <a:spLocks/>
          </p:cNvSpPr>
          <p:nvPr/>
        </p:nvSpPr>
        <p:spPr bwMode="auto">
          <a:xfrm>
            <a:off x="6853406" y="3356914"/>
            <a:ext cx="1449467" cy="171320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12700">
            <a:noFill/>
            <a:miter lim="800000"/>
            <a:headEnd/>
            <a:tailEnd/>
          </a:ln>
          <a:extLst/>
        </p:spPr>
        <p:txBody>
          <a:bodyPr wrap="none" lIns="0" tIns="0" rIns="0" bIns="0" anchor="ctr"/>
          <a:lstStyle/>
          <a:p>
            <a:pPr algn="ctr" latinLnBrk="0">
              <a:defRPr/>
            </a:pPr>
            <a:r>
              <a:rPr lang="ko-KR" altLang="en-US" sz="900" spc="-5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FFFCF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RixMGo B" charset="-128"/>
              </a:rPr>
              <a:t>오더관리모듈</a:t>
            </a:r>
          </a:p>
        </p:txBody>
      </p:sp>
      <p:sp>
        <p:nvSpPr>
          <p:cNvPr id="36" name="타원 35"/>
          <p:cNvSpPr/>
          <p:nvPr/>
        </p:nvSpPr>
        <p:spPr bwMode="auto">
          <a:xfrm>
            <a:off x="6582942" y="3709302"/>
            <a:ext cx="318776" cy="302955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8000" tIns="45720" rIns="1800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Y헤드라인M" pitchFamily="18" charset="-127"/>
                <a:ea typeface="HY헤드라인M" pitchFamily="18" charset="-127"/>
              </a:rPr>
              <a:t>CO1</a:t>
            </a:r>
            <a:endParaRPr kumimoji="1" lang="ko-KR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5" name="타원 44"/>
          <p:cNvSpPr/>
          <p:nvPr/>
        </p:nvSpPr>
        <p:spPr bwMode="auto">
          <a:xfrm>
            <a:off x="7396035" y="4512355"/>
            <a:ext cx="315058" cy="302955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18000" tIns="45720" rIns="1800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Y헤드라인M" pitchFamily="18" charset="-127"/>
                <a:ea typeface="HY헤드라인M" pitchFamily="18" charset="-127"/>
              </a:rPr>
              <a:t>SO2</a:t>
            </a:r>
            <a:endParaRPr kumimoji="1" lang="ko-KR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7" name="타원 46"/>
          <p:cNvSpPr/>
          <p:nvPr/>
        </p:nvSpPr>
        <p:spPr bwMode="auto">
          <a:xfrm>
            <a:off x="7938913" y="4512354"/>
            <a:ext cx="315058" cy="302955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18000" tIns="45720" rIns="1800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Y헤드라인M" pitchFamily="18" charset="-127"/>
                <a:ea typeface="HY헤드라인M" pitchFamily="18" charset="-127"/>
              </a:rPr>
              <a:t>SO3</a:t>
            </a:r>
            <a:endParaRPr kumimoji="1" lang="ko-KR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Y헤드라인M" pitchFamily="18" charset="-127"/>
              <a:ea typeface="HY헤드라인M" pitchFamily="18" charset="-127"/>
            </a:endParaRPr>
          </a:p>
        </p:txBody>
      </p:sp>
      <p:cxnSp>
        <p:nvCxnSpPr>
          <p:cNvPr id="9" name="직선 화살표 연결선 8"/>
          <p:cNvCxnSpPr>
            <a:stCxn id="36" idx="4"/>
            <a:endCxn id="31" idx="0"/>
          </p:cNvCxnSpPr>
          <p:nvPr/>
        </p:nvCxnSpPr>
        <p:spPr bwMode="auto">
          <a:xfrm>
            <a:off x="6742330" y="4012257"/>
            <a:ext cx="316917" cy="500099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8" name="직선 화살표 연결선 47"/>
          <p:cNvCxnSpPr>
            <a:stCxn id="61" idx="4"/>
            <a:endCxn id="31" idx="0"/>
          </p:cNvCxnSpPr>
          <p:nvPr/>
        </p:nvCxnSpPr>
        <p:spPr bwMode="auto">
          <a:xfrm flipH="1">
            <a:off x="7059247" y="4031555"/>
            <a:ext cx="189119" cy="480801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1" name="직선 화살표 연결선 50"/>
          <p:cNvCxnSpPr>
            <a:stCxn id="62" idx="4"/>
            <a:endCxn id="45" idx="0"/>
          </p:cNvCxnSpPr>
          <p:nvPr/>
        </p:nvCxnSpPr>
        <p:spPr bwMode="auto">
          <a:xfrm flipH="1">
            <a:off x="7553564" y="4031556"/>
            <a:ext cx="721455" cy="480799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4" name="직선 화살표 연결선 53"/>
          <p:cNvCxnSpPr>
            <a:stCxn id="62" idx="4"/>
            <a:endCxn id="47" idx="0"/>
          </p:cNvCxnSpPr>
          <p:nvPr/>
        </p:nvCxnSpPr>
        <p:spPr bwMode="auto">
          <a:xfrm flipH="1">
            <a:off x="8096442" y="4031556"/>
            <a:ext cx="178577" cy="480798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1" name="타원 60"/>
          <p:cNvSpPr/>
          <p:nvPr/>
        </p:nvSpPr>
        <p:spPr bwMode="auto">
          <a:xfrm>
            <a:off x="7088978" y="3728600"/>
            <a:ext cx="318776" cy="302955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8000" tIns="45720" rIns="1800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Y헤드라인M" pitchFamily="18" charset="-127"/>
                <a:ea typeface="HY헤드라인M" pitchFamily="18" charset="-127"/>
              </a:rPr>
              <a:t>CO2</a:t>
            </a:r>
            <a:endParaRPr kumimoji="1" lang="ko-KR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62" name="타원 61"/>
          <p:cNvSpPr/>
          <p:nvPr/>
        </p:nvSpPr>
        <p:spPr bwMode="auto">
          <a:xfrm>
            <a:off x="8115631" y="3728601"/>
            <a:ext cx="318776" cy="302955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8000" tIns="45720" rIns="1800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Y헤드라인M" pitchFamily="18" charset="-127"/>
                <a:ea typeface="HY헤드라인M" pitchFamily="18" charset="-127"/>
              </a:rPr>
              <a:t>CO3</a:t>
            </a:r>
            <a:endParaRPr kumimoji="1" lang="ko-KR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144051" y="4188508"/>
            <a:ext cx="6764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</a:rPr>
              <a:t>Split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6922506" y="4183092"/>
            <a:ext cx="6764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</a:rPr>
              <a:t>Merge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cxnSp>
        <p:nvCxnSpPr>
          <p:cNvPr id="95" name="직선 화살표 연결선 94"/>
          <p:cNvCxnSpPr>
            <a:stCxn id="31" idx="4"/>
            <a:endCxn id="2" idx="0"/>
          </p:cNvCxnSpPr>
          <p:nvPr/>
        </p:nvCxnSpPr>
        <p:spPr bwMode="auto">
          <a:xfrm flipH="1">
            <a:off x="6762234" y="4815311"/>
            <a:ext cx="297013" cy="701921"/>
          </a:xfrm>
          <a:prstGeom prst="straightConnector1">
            <a:avLst/>
          </a:prstGeom>
          <a:noFill/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7" name="직선 화살표 연결선 96"/>
          <p:cNvCxnSpPr>
            <a:stCxn id="31" idx="4"/>
            <a:endCxn id="26" idx="0"/>
          </p:cNvCxnSpPr>
          <p:nvPr/>
        </p:nvCxnSpPr>
        <p:spPr bwMode="auto">
          <a:xfrm>
            <a:off x="7059247" y="4815311"/>
            <a:ext cx="494219" cy="729611"/>
          </a:xfrm>
          <a:prstGeom prst="straightConnector1">
            <a:avLst/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0" name="직선 화살표 연결선 99"/>
          <p:cNvCxnSpPr>
            <a:stCxn id="45" idx="4"/>
            <a:endCxn id="2" idx="0"/>
          </p:cNvCxnSpPr>
          <p:nvPr/>
        </p:nvCxnSpPr>
        <p:spPr bwMode="auto">
          <a:xfrm flipH="1">
            <a:off x="6762234" y="4815310"/>
            <a:ext cx="791330" cy="701922"/>
          </a:xfrm>
          <a:prstGeom prst="straightConnector1">
            <a:avLst/>
          </a:prstGeom>
          <a:noFill/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3" name="직선 화살표 연결선 102"/>
          <p:cNvCxnSpPr>
            <a:stCxn id="47" idx="4"/>
            <a:endCxn id="27" idx="0"/>
          </p:cNvCxnSpPr>
          <p:nvPr/>
        </p:nvCxnSpPr>
        <p:spPr bwMode="auto">
          <a:xfrm>
            <a:off x="8096442" y="4815309"/>
            <a:ext cx="296963" cy="720521"/>
          </a:xfrm>
          <a:prstGeom prst="straightConnector1">
            <a:avLst/>
          </a:prstGeom>
          <a:noFill/>
          <a:ln w="9525" cap="flat" cmpd="sng" algn="ctr">
            <a:solidFill>
              <a:srgbClr val="FFC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6" name="직선 화살표 연결선 105"/>
          <p:cNvCxnSpPr>
            <a:stCxn id="47" idx="4"/>
            <a:endCxn id="26" idx="0"/>
          </p:cNvCxnSpPr>
          <p:nvPr/>
        </p:nvCxnSpPr>
        <p:spPr bwMode="auto">
          <a:xfrm flipH="1">
            <a:off x="7553466" y="4815309"/>
            <a:ext cx="542976" cy="729613"/>
          </a:xfrm>
          <a:prstGeom prst="straightConnector1">
            <a:avLst/>
          </a:prstGeom>
          <a:noFill/>
          <a:ln w="9525" cap="flat" cmpd="sng" algn="ctr">
            <a:solidFill>
              <a:srgbClr val="FFC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10" name="TextBox 109"/>
          <p:cNvSpPr txBox="1"/>
          <p:nvPr/>
        </p:nvSpPr>
        <p:spPr>
          <a:xfrm>
            <a:off x="6426448" y="1865873"/>
            <a:ext cx="2394024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900" b="1" dirty="0"/>
              <a:t>오더관리모듈에서 </a:t>
            </a:r>
            <a:r>
              <a:rPr lang="ko-KR" altLang="en-US" sz="900" b="1" dirty="0" err="1"/>
              <a:t>고객오더를</a:t>
            </a:r>
            <a:r>
              <a:rPr lang="ko-KR" altLang="en-US" sz="900" b="1" dirty="0"/>
              <a:t> </a:t>
            </a:r>
            <a:r>
              <a:rPr lang="en-US" altLang="ko-KR" sz="900" b="1" dirty="0"/>
              <a:t>Merge, Split</a:t>
            </a:r>
            <a:r>
              <a:rPr lang="ko-KR" altLang="en-US" sz="900" b="1" dirty="0"/>
              <a:t>하여 </a:t>
            </a:r>
            <a:r>
              <a:rPr lang="ko-KR" altLang="en-US" sz="900" b="1" dirty="0" err="1"/>
              <a:t>서비스오더</a:t>
            </a:r>
            <a:r>
              <a:rPr lang="ko-KR" altLang="en-US" sz="900" b="1" dirty="0"/>
              <a:t> 생성</a:t>
            </a:r>
            <a:endParaRPr lang="en-US" altLang="ko-KR" sz="900" b="1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900" b="1" dirty="0"/>
              <a:t>서비스오더는 분배 기준에 따라 각 </a:t>
            </a:r>
            <a:r>
              <a:rPr lang="ko-KR" altLang="en-US" sz="900" b="1" dirty="0" err="1"/>
              <a:t>실행모듈로</a:t>
            </a:r>
            <a:r>
              <a:rPr lang="ko-KR" altLang="en-US" sz="900" b="1" dirty="0"/>
              <a:t> 연계</a:t>
            </a:r>
            <a:r>
              <a:rPr lang="en-US" altLang="ko-KR" sz="900" b="1" dirty="0"/>
              <a:t>(FW, TM, WM)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900" b="1" dirty="0"/>
              <a:t>가용성 재고 체크를 통한 재고 체크 기능 제공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4369" y="2865427"/>
            <a:ext cx="4689103" cy="22223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34141" y="4555823"/>
            <a:ext cx="4086792" cy="182550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8" name="위로 구부러진 화살표 37"/>
          <p:cNvSpPr/>
          <p:nvPr/>
        </p:nvSpPr>
        <p:spPr bwMode="auto">
          <a:xfrm rot="3008239">
            <a:off x="334732" y="4076356"/>
            <a:ext cx="864959" cy="298904"/>
          </a:xfrm>
          <a:prstGeom prst="curvedUpArrow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8000" tIns="45720" rIns="1800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39" name="위로 구부러진 화살표 38"/>
          <p:cNvSpPr/>
          <p:nvPr/>
        </p:nvSpPr>
        <p:spPr bwMode="auto">
          <a:xfrm rot="2747621">
            <a:off x="1199737" y="5485306"/>
            <a:ext cx="864959" cy="298904"/>
          </a:xfrm>
          <a:prstGeom prst="curvedUpArrow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8000" tIns="45720" rIns="1800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0" name="직사각형 39"/>
          <p:cNvSpPr/>
          <p:nvPr/>
        </p:nvSpPr>
        <p:spPr bwMode="auto">
          <a:xfrm>
            <a:off x="923055" y="5847075"/>
            <a:ext cx="967069" cy="24622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8000" tIns="45720" rIns="1800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71450" marR="0" indent="-17145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SO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생성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직사각형 41"/>
          <p:cNvSpPr/>
          <p:nvPr/>
        </p:nvSpPr>
        <p:spPr bwMode="auto">
          <a:xfrm>
            <a:off x="413324" y="4386204"/>
            <a:ext cx="839772" cy="40011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8000" tIns="45720" rIns="1800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71450" marR="0" indent="-171450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Merge</a:t>
            </a:r>
          </a:p>
          <a:p>
            <a:pPr marL="171450" marR="0" indent="-171450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1" lang="en-US" altLang="ko-KR" sz="1000" b="1" i="0" u="none" strike="noStrike" cap="none" normalizeH="0" baseline="0" dirty="0">
                <a:ln>
                  <a:noFill/>
                </a:ln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Split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445225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019" y="1824366"/>
            <a:ext cx="5712435" cy="230719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018" y="3883144"/>
            <a:ext cx="5712435" cy="244242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AutoShape 5"/>
          <p:cNvSpPr>
            <a:spLocks noChangeArrowheads="1"/>
          </p:cNvSpPr>
          <p:nvPr/>
        </p:nvSpPr>
        <p:spPr bwMode="auto">
          <a:xfrm>
            <a:off x="395288" y="260648"/>
            <a:ext cx="6985000" cy="387350"/>
          </a:xfrm>
          <a:prstGeom prst="roundRect">
            <a:avLst>
              <a:gd name="adj" fmla="val 16667"/>
            </a:avLst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4.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주요 구현 기능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AutoShape 5"/>
          <p:cNvSpPr>
            <a:spLocks noChangeArrowheads="1"/>
          </p:cNvSpPr>
          <p:nvPr/>
        </p:nvSpPr>
        <p:spPr bwMode="auto">
          <a:xfrm>
            <a:off x="395536" y="759460"/>
            <a:ext cx="8496944" cy="193675"/>
          </a:xfrm>
          <a:prstGeom prst="roundRect">
            <a:avLst>
              <a:gd name="adj" fmla="val 16667"/>
            </a:avLst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>
              <a:buFont typeface="Wingdings" pitchFamily="2" charset="2"/>
              <a:buNone/>
              <a:defRPr/>
            </a:pP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4.5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오더 진행 관리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수출입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내수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5" name="양쪽 모서리가 둥근 사각형 104"/>
          <p:cNvSpPr/>
          <p:nvPr/>
        </p:nvSpPr>
        <p:spPr bwMode="auto">
          <a:xfrm flipH="1">
            <a:off x="251520" y="1659272"/>
            <a:ext cx="5904656" cy="4794064"/>
          </a:xfrm>
          <a:prstGeom prst="round2SameRect">
            <a:avLst>
              <a:gd name="adj1" fmla="val 0"/>
              <a:gd name="adj2" fmla="val 0"/>
            </a:avLst>
          </a:prstGeom>
          <a:noFill/>
          <a:ln w="19050" cap="flat" cmpd="sng" algn="ctr">
            <a:solidFill>
              <a:srgbClr val="0FABE3"/>
            </a:solidFill>
            <a:prstDash val="solid"/>
          </a:ln>
          <a:effectLst>
            <a:outerShdw dist="12700" dir="5400000" algn="t" rotWithShape="0">
              <a:srgbClr val="A9C5D3">
                <a:alpha val="80000"/>
              </a:srgbClr>
            </a:outerShdw>
          </a:effectLst>
        </p:spPr>
        <p:txBody>
          <a:bodyPr lIns="90000" tIns="72000" rIns="90000" bIns="0"/>
          <a:lstStyle/>
          <a:p>
            <a:pPr marL="82538" lvl="2" eaLnBrk="0" latinLnBrk="0" hangingPunct="0">
              <a:spcAft>
                <a:spcPts val="240"/>
              </a:spcAft>
            </a:pPr>
            <a:endParaRPr lang="en-US" altLang="ko-KR" sz="1000" kern="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AutoShape 133"/>
          <p:cNvSpPr>
            <a:spLocks noChangeArrowheads="1"/>
          </p:cNvSpPr>
          <p:nvPr/>
        </p:nvSpPr>
        <p:spPr bwMode="gray">
          <a:xfrm>
            <a:off x="456787" y="1513638"/>
            <a:ext cx="3024336" cy="28098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5400" algn="ctr">
            <a:solidFill>
              <a:schemeClr val="bg1">
                <a:lumMod val="85000"/>
              </a:schemeClr>
            </a:solidFill>
            <a:round/>
            <a:headEnd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오더 진행 관리 화면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양쪽 모서리가 둥근 사각형 42"/>
          <p:cNvSpPr/>
          <p:nvPr/>
        </p:nvSpPr>
        <p:spPr bwMode="auto">
          <a:xfrm flipH="1">
            <a:off x="6300192" y="1659272"/>
            <a:ext cx="2592288" cy="4794064"/>
          </a:xfrm>
          <a:prstGeom prst="round2SameRect">
            <a:avLst>
              <a:gd name="adj1" fmla="val 0"/>
              <a:gd name="adj2" fmla="val 0"/>
            </a:avLst>
          </a:prstGeom>
          <a:noFill/>
          <a:ln w="19050" cap="flat" cmpd="sng" algn="ctr">
            <a:solidFill>
              <a:srgbClr val="0FABE3"/>
            </a:solidFill>
            <a:prstDash val="solid"/>
          </a:ln>
          <a:effectLst>
            <a:outerShdw dist="12700" dir="5400000" algn="t" rotWithShape="0">
              <a:srgbClr val="A9C5D3">
                <a:alpha val="80000"/>
              </a:srgbClr>
            </a:outerShdw>
          </a:effectLst>
        </p:spPr>
        <p:txBody>
          <a:bodyPr lIns="90000" tIns="72000" rIns="90000" bIns="0"/>
          <a:lstStyle/>
          <a:p>
            <a:pPr marL="82538" lvl="2" eaLnBrk="0" latinLnBrk="0" hangingPunct="0">
              <a:spcAft>
                <a:spcPts val="240"/>
              </a:spcAft>
            </a:pPr>
            <a:endParaRPr lang="en-US" altLang="ko-KR" sz="1000" kern="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AutoShape 133"/>
          <p:cNvSpPr>
            <a:spLocks noChangeArrowheads="1"/>
          </p:cNvSpPr>
          <p:nvPr/>
        </p:nvSpPr>
        <p:spPr bwMode="gray">
          <a:xfrm>
            <a:off x="6426448" y="1526684"/>
            <a:ext cx="2337045" cy="28098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5400" algn="ctr">
            <a:solidFill>
              <a:schemeClr val="bg1">
                <a:lumMod val="85000"/>
              </a:schemeClr>
            </a:solidFill>
            <a:round/>
            <a:headEnd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오더 관리 </a:t>
            </a:r>
            <a:r>
              <a:rPr lang="ko-KR" altLang="en-US" sz="12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기능설명</a:t>
            </a:r>
            <a:endParaRPr lang="ko-KR" altLang="ko-KR" sz="12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직사각형 40"/>
          <p:cNvSpPr/>
          <p:nvPr/>
        </p:nvSpPr>
        <p:spPr bwMode="auto">
          <a:xfrm rot="20307271">
            <a:off x="3506960" y="3738080"/>
            <a:ext cx="1757285" cy="47705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8000" tIns="45720" rIns="1800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25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화면예시</a:t>
            </a:r>
          </a:p>
        </p:txBody>
      </p:sp>
      <p:sp>
        <p:nvSpPr>
          <p:cNvPr id="30" name="Rectangle 58"/>
          <p:cNvSpPr>
            <a:spLocks noChangeArrowheads="1"/>
          </p:cNvSpPr>
          <p:nvPr/>
        </p:nvSpPr>
        <p:spPr bwMode="auto">
          <a:xfrm>
            <a:off x="555142" y="1145069"/>
            <a:ext cx="833733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marL="95250" indent="-952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defRPr/>
            </a:pP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생성된 서비스 오더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실행 오더의 진행상태를 확인하고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조건 별 오더 조회를 통한 현황 조회 제공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372200" y="1849323"/>
            <a:ext cx="2394024" cy="1962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900" b="1" dirty="0"/>
              <a:t>실행 오더 개별 진행상태 화면 제공하여 모니터링 기능 제공</a:t>
            </a:r>
            <a:endParaRPr lang="en-US" altLang="ko-KR" sz="900" b="1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900" b="1" dirty="0"/>
              <a:t>서비스 오더 진행상태 화면 제공하여 모니터링 기능 제공</a:t>
            </a:r>
            <a:endParaRPr lang="en-US" altLang="ko-KR" sz="900" b="1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900" b="1" dirty="0"/>
              <a:t>전체 서비스 오더 리스트 현황 조회 기능 제공</a:t>
            </a:r>
            <a:endParaRPr lang="en-US" altLang="ko-KR" sz="900" b="1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900" b="1" dirty="0" err="1"/>
              <a:t>고객사</a:t>
            </a:r>
            <a:r>
              <a:rPr lang="ko-KR" altLang="en-US" sz="900" b="1" dirty="0"/>
              <a:t> 요청에 따라 실행 오더 상태 정보 자동 연계 가능</a:t>
            </a:r>
            <a:endParaRPr lang="en-US" altLang="ko-KR" sz="900" b="1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900" b="1" dirty="0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608" y="4665025"/>
            <a:ext cx="5026648" cy="87866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위로 구부러진 화살표 13"/>
          <p:cNvSpPr/>
          <p:nvPr/>
        </p:nvSpPr>
        <p:spPr bwMode="auto">
          <a:xfrm rot="19114432">
            <a:off x="3193918" y="5865104"/>
            <a:ext cx="864959" cy="298904"/>
          </a:xfrm>
          <a:prstGeom prst="curvedUpArrow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8000" tIns="45720" rIns="1800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5" name="직사각형 14"/>
          <p:cNvSpPr/>
          <p:nvPr/>
        </p:nvSpPr>
        <p:spPr bwMode="auto">
          <a:xfrm>
            <a:off x="3404253" y="5992567"/>
            <a:ext cx="967069" cy="24622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8000" tIns="45720" rIns="1800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71450" marR="0" indent="-17145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CO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모니터링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1900246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9_9KmTr3F0O5v6Kso2u8BQ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9_9KmTr3F0O5v6Kso2u8BQ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9_9KmTr3F0O5v6Kso2u8BQ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9_9KmTr3F0O5v6Kso2u8B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9_9KmTr3F0O5v6Kso2u8BQ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9_9KmTr3F0O5v6Kso2u8BQ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9_9KmTr3F0O5v6Kso2u8B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9_9KmTr3F0O5v6Kso2u8BQ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9_9KmTr3F0O5v6Kso2u8BQ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9_9KmTr3F0O5v6Kso2u8BQ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9_9KmTr3F0O5v6Kso2u8BQ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9_9KmTr3F0O5v6Kso2u8BQ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9_9KmTr3F0O5v6Kso2u8BQ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9_9KmTr3F0O5v6Kso2u8BQ"/>
</p:tagLst>
</file>

<file path=ppt/theme/theme1.xml><?xml version="1.0" encoding="utf-8"?>
<a:theme xmlns:a="http://schemas.openxmlformats.org/drawingml/2006/main" name="1_디자인 사용자 지정">
  <a:themeElements>
    <a:clrScheme name="1_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HY헤드라인M"/>
        <a:ea typeface="HY헤드라인M"/>
        <a:cs typeface=""/>
      </a:majorFont>
      <a:minorFont>
        <a:latin typeface="HY견고딕"/>
        <a:ea typeface="HY견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18000" tIns="45720" rIns="18000" bIns="45720" numCol="1" rtlCol="0" anchor="ctr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Y헤드라인M" pitchFamily="18" charset="-127"/>
            <a:ea typeface="HY헤드라인M" pitchFamily="18" charset="-127"/>
          </a:defRPr>
        </a:defPPr>
      </a:lstStyle>
    </a:spDef>
    <a:lnDef>
      <a:spPr bwMode="auto"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arrow"/>
        </a:ln>
        <a:effectLst/>
      </a:spPr>
      <a:bodyPr/>
      <a:lstStyle/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15914</TotalTime>
  <Words>902</Words>
  <Application>Microsoft Office PowerPoint</Application>
  <PresentationFormat>화면 슬라이드 쇼(4:3)</PresentationFormat>
  <Paragraphs>192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12</vt:i4>
      </vt:variant>
    </vt:vector>
  </HeadingPairs>
  <TitlesOfParts>
    <vt:vector size="26" baseType="lpstr">
      <vt:lpstr>Gill Sans</vt:lpstr>
      <vt:lpstr>HY견고딕</vt:lpstr>
      <vt:lpstr>HY헤드라인M</vt:lpstr>
      <vt:lpstr>Monotype Sorts</vt:lpstr>
      <vt:lpstr>RixMGo B</vt:lpstr>
      <vt:lpstr>Rix고딕 L</vt:lpstr>
      <vt:lpstr>굴림</vt:lpstr>
      <vt:lpstr>돋움</vt:lpstr>
      <vt:lpstr>맑은 고딕</vt:lpstr>
      <vt:lpstr>Arial</vt:lpstr>
      <vt:lpstr>Century Gothic</vt:lpstr>
      <vt:lpstr>Wingdings</vt:lpstr>
      <vt:lpstr>1_디자인 사용자 지정</vt:lpstr>
      <vt:lpstr>기본 디자인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WareValley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이건택</dc:creator>
  <cp:lastModifiedBy>hcw</cp:lastModifiedBy>
  <cp:revision>713</cp:revision>
  <dcterms:created xsi:type="dcterms:W3CDTF">2003-10-28T01:35:22Z</dcterms:created>
  <dcterms:modified xsi:type="dcterms:W3CDTF">2026-01-26T04:15:16Z</dcterms:modified>
</cp:coreProperties>
</file>