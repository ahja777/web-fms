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2" r:id="rId4"/>
    <p:sldId id="260" r:id="rId5"/>
    <p:sldId id="277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4" r:id="rId16"/>
    <p:sldId id="272" r:id="rId17"/>
    <p:sldId id="273" r:id="rId18"/>
    <p:sldId id="278" r:id="rId19"/>
    <p:sldId id="279" r:id="rId20"/>
  </p:sldIdLst>
  <p:sldSz cx="6858000" cy="9906000" type="A4"/>
  <p:notesSz cx="6858000" cy="9144000"/>
  <p:defaultTextStyle>
    <a:defPPr>
      <a:defRPr lang="ko-KR"/>
    </a:defPPr>
    <a:lvl1pPr marL="0" algn="l" defTabSz="663214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1pPr>
    <a:lvl2pPr marL="331607" algn="l" defTabSz="663214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2pPr>
    <a:lvl3pPr marL="663214" algn="l" defTabSz="663214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3pPr>
    <a:lvl4pPr marL="994821" algn="l" defTabSz="663214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4pPr>
    <a:lvl5pPr marL="1326429" algn="l" defTabSz="663214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5pPr>
    <a:lvl6pPr marL="1658036" algn="l" defTabSz="663214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6pPr>
    <a:lvl7pPr marL="1989643" algn="l" defTabSz="663214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7pPr>
    <a:lvl8pPr marL="2321250" algn="l" defTabSz="663214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8pPr>
    <a:lvl9pPr marL="2652857" algn="l" defTabSz="663214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1994" userDrawn="1">
          <p15:clr>
            <a:srgbClr val="A4A3A4"/>
          </p15:clr>
        </p15:guide>
        <p15:guide id="3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29" autoAdjust="0"/>
    <p:restoredTop sz="95320" autoAdjust="0"/>
  </p:normalViewPr>
  <p:slideViewPr>
    <p:cSldViewPr showGuides="1">
      <p:cViewPr varScale="1">
        <p:scale>
          <a:sx n="71" d="100"/>
          <a:sy n="71" d="100"/>
        </p:scale>
        <p:origin x="2130" y="60"/>
      </p:cViewPr>
      <p:guideLst>
        <p:guide orient="horz" pos="3120"/>
        <p:guide pos="1994"/>
        <p:guide pos="2160"/>
      </p:guideLst>
    </p:cSldViewPr>
  </p:slideViewPr>
  <p:outlineViewPr>
    <p:cViewPr>
      <p:scale>
        <a:sx n="33" d="100"/>
        <a:sy n="33" d="100"/>
      </p:scale>
      <p:origin x="0" y="-182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7" d="100"/>
          <a:sy n="67" d="100"/>
        </p:scale>
        <p:origin x="-3276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ACF5F9-BF6D-45A1-8B7F-E33A63BB863C}" type="datetimeFigureOut">
              <a:rPr lang="ko-KR" altLang="en-US" smtClean="0"/>
              <a:t>2022-06-10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DF0817-840A-4486-B261-AF34827343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633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63214" rtl="0" eaLnBrk="1" latinLnBrk="1" hangingPunct="1">
      <a:defRPr sz="870" kern="1200">
        <a:solidFill>
          <a:schemeClr val="tx1"/>
        </a:solidFill>
        <a:latin typeface="+mn-lt"/>
        <a:ea typeface="+mn-ea"/>
        <a:cs typeface="+mn-cs"/>
      </a:defRPr>
    </a:lvl1pPr>
    <a:lvl2pPr marL="331607" algn="l" defTabSz="663214" rtl="0" eaLnBrk="1" latinLnBrk="1" hangingPunct="1">
      <a:defRPr sz="870" kern="1200">
        <a:solidFill>
          <a:schemeClr val="tx1"/>
        </a:solidFill>
        <a:latin typeface="+mn-lt"/>
        <a:ea typeface="+mn-ea"/>
        <a:cs typeface="+mn-cs"/>
      </a:defRPr>
    </a:lvl2pPr>
    <a:lvl3pPr marL="663214" algn="l" defTabSz="663214" rtl="0" eaLnBrk="1" latinLnBrk="1" hangingPunct="1">
      <a:defRPr sz="870" kern="1200">
        <a:solidFill>
          <a:schemeClr val="tx1"/>
        </a:solidFill>
        <a:latin typeface="+mn-lt"/>
        <a:ea typeface="+mn-ea"/>
        <a:cs typeface="+mn-cs"/>
      </a:defRPr>
    </a:lvl3pPr>
    <a:lvl4pPr marL="994821" algn="l" defTabSz="663214" rtl="0" eaLnBrk="1" latinLnBrk="1" hangingPunct="1">
      <a:defRPr sz="870" kern="1200">
        <a:solidFill>
          <a:schemeClr val="tx1"/>
        </a:solidFill>
        <a:latin typeface="+mn-lt"/>
        <a:ea typeface="+mn-ea"/>
        <a:cs typeface="+mn-cs"/>
      </a:defRPr>
    </a:lvl4pPr>
    <a:lvl5pPr marL="1326429" algn="l" defTabSz="663214" rtl="0" eaLnBrk="1" latinLnBrk="1" hangingPunct="1">
      <a:defRPr sz="870" kern="1200">
        <a:solidFill>
          <a:schemeClr val="tx1"/>
        </a:solidFill>
        <a:latin typeface="+mn-lt"/>
        <a:ea typeface="+mn-ea"/>
        <a:cs typeface="+mn-cs"/>
      </a:defRPr>
    </a:lvl5pPr>
    <a:lvl6pPr marL="1658036" algn="l" defTabSz="663214" rtl="0" eaLnBrk="1" latinLnBrk="1" hangingPunct="1">
      <a:defRPr sz="870" kern="1200">
        <a:solidFill>
          <a:schemeClr val="tx1"/>
        </a:solidFill>
        <a:latin typeface="+mn-lt"/>
        <a:ea typeface="+mn-ea"/>
        <a:cs typeface="+mn-cs"/>
      </a:defRPr>
    </a:lvl6pPr>
    <a:lvl7pPr marL="1989643" algn="l" defTabSz="663214" rtl="0" eaLnBrk="1" latinLnBrk="1" hangingPunct="1">
      <a:defRPr sz="870" kern="1200">
        <a:solidFill>
          <a:schemeClr val="tx1"/>
        </a:solidFill>
        <a:latin typeface="+mn-lt"/>
        <a:ea typeface="+mn-ea"/>
        <a:cs typeface="+mn-cs"/>
      </a:defRPr>
    </a:lvl7pPr>
    <a:lvl8pPr marL="2321250" algn="l" defTabSz="663214" rtl="0" eaLnBrk="1" latinLnBrk="1" hangingPunct="1">
      <a:defRPr sz="870" kern="1200">
        <a:solidFill>
          <a:schemeClr val="tx1"/>
        </a:solidFill>
        <a:latin typeface="+mn-lt"/>
        <a:ea typeface="+mn-ea"/>
        <a:cs typeface="+mn-cs"/>
      </a:defRPr>
    </a:lvl8pPr>
    <a:lvl9pPr marL="2652857" algn="l" defTabSz="663214" rtl="0" eaLnBrk="1" latinLnBrk="1" hangingPunct="1">
      <a:defRPr sz="87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EC3E49-596F-4F2C-A186-9AB1291F7978}" type="slidenum">
              <a:rPr lang="en-US" altLang="ko-KR"/>
              <a:pPr/>
              <a:t>4</a:t>
            </a:fld>
            <a:endParaRPr lang="en-US" altLang="ko-KR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05150" y="1077913"/>
            <a:ext cx="3730625" cy="5387975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225789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C3E49-596F-4F2C-A186-9AB1291F7978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66321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05150" y="1077913"/>
            <a:ext cx="3730625" cy="5387975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78004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C3E49-596F-4F2C-A186-9AB1291F7978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66321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05150" y="1077913"/>
            <a:ext cx="3730625" cy="5387975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97458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EC3E49-596F-4F2C-A186-9AB1291F7978}" type="slidenum">
              <a:rPr lang="en-US" altLang="ko-KR"/>
              <a:pPr/>
              <a:t>7</a:t>
            </a:fld>
            <a:endParaRPr lang="en-US" altLang="ko-KR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05150" y="1077913"/>
            <a:ext cx="3730625" cy="5387975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2436626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EC3E49-596F-4F2C-A186-9AB1291F7978}" type="slidenum">
              <a:rPr lang="en-US" altLang="ko-KR"/>
              <a:pPr/>
              <a:t>8</a:t>
            </a:fld>
            <a:endParaRPr lang="en-US" altLang="ko-KR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05150" y="1077913"/>
            <a:ext cx="3730625" cy="5387975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466012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EC3E49-596F-4F2C-A186-9AB1291F7978}" type="slidenum">
              <a:rPr lang="en-US" altLang="ko-KR"/>
              <a:pPr/>
              <a:t>9</a:t>
            </a:fld>
            <a:endParaRPr lang="en-US" altLang="ko-KR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05150" y="1077913"/>
            <a:ext cx="3730625" cy="5387975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12377764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EC3E49-596F-4F2C-A186-9AB1291F7978}" type="slidenum">
              <a:rPr lang="en-US" altLang="ko-KR"/>
              <a:pPr/>
              <a:t>10</a:t>
            </a:fld>
            <a:endParaRPr lang="en-US" altLang="ko-KR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05150" y="1077913"/>
            <a:ext cx="3730625" cy="5387975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2598796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EC3E49-596F-4F2C-A186-9AB1291F7978}" type="slidenum">
              <a:rPr lang="en-US" altLang="ko-KR"/>
              <a:pPr/>
              <a:t>11</a:t>
            </a:fld>
            <a:endParaRPr lang="en-US" altLang="ko-KR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05150" y="1077913"/>
            <a:ext cx="3730625" cy="5387975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792769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EC3E49-596F-4F2C-A186-9AB1291F7978}" type="slidenum">
              <a:rPr lang="en-US" altLang="ko-KR"/>
              <a:pPr/>
              <a:t>12</a:t>
            </a:fld>
            <a:endParaRPr lang="en-US" altLang="ko-KR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05150" y="1077913"/>
            <a:ext cx="3730625" cy="5387975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14204079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EC3E49-596F-4F2C-A186-9AB1291F7978}" type="slidenum">
              <a:rPr lang="en-US" altLang="ko-KR"/>
              <a:pPr/>
              <a:t>13</a:t>
            </a:fld>
            <a:endParaRPr lang="en-US" altLang="ko-KR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05150" y="1077913"/>
            <a:ext cx="3730625" cy="5387975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0103358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EC3E49-596F-4F2C-A186-9AB1291F7978}" type="slidenum">
              <a:rPr lang="en-US" altLang="ko-KR"/>
              <a:pPr/>
              <a:t>14</a:t>
            </a:fld>
            <a:endParaRPr lang="en-US" altLang="ko-KR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05150" y="1077913"/>
            <a:ext cx="3730625" cy="5387975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23002647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C3E49-596F-4F2C-A186-9AB1291F7978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66321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05150" y="1077913"/>
            <a:ext cx="3730625" cy="5387975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29689756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C3E49-596F-4F2C-A186-9AB1291F7978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66321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05150" y="1077913"/>
            <a:ext cx="3730625" cy="5387975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29704908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C3E49-596F-4F2C-A186-9AB1291F7978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66321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05150" y="1077913"/>
            <a:ext cx="3730625" cy="5387975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27084306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C3E49-596F-4F2C-A186-9AB1291F7978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66321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05150" y="1077913"/>
            <a:ext cx="3730625" cy="5387975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0282271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C3E49-596F-4F2C-A186-9AB1291F7978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66321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05150" y="1077913"/>
            <a:ext cx="3730625" cy="5387975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1936305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6004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7181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3431" y="286636"/>
            <a:ext cx="5457825" cy="573264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02224" y="956208"/>
            <a:ext cx="6497516" cy="79339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7697832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405344" y="9489504"/>
            <a:ext cx="6120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 userDrawn="1"/>
        </p:nvSpPr>
        <p:spPr>
          <a:xfrm>
            <a:off x="2132856" y="9561512"/>
            <a:ext cx="28083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8A84CA1-731A-40B1-98F5-F0A3E5C6FD6D}" type="slidenum">
              <a:rPr lang="ko-KR" altLang="en-US" sz="1000" smtClean="0"/>
              <a:pPr algn="ctr"/>
              <a:t>‹#›</a:t>
            </a:fld>
            <a:endParaRPr lang="ko-KR" altLang="en-US" sz="1000" dirty="0"/>
          </a:p>
        </p:txBody>
      </p:sp>
      <p:sp>
        <p:nvSpPr>
          <p:cNvPr id="6" name="Line 17"/>
          <p:cNvSpPr>
            <a:spLocks noChangeShapeType="1"/>
          </p:cNvSpPr>
          <p:nvPr userDrawn="1"/>
        </p:nvSpPr>
        <p:spPr bwMode="auto">
          <a:xfrm>
            <a:off x="384562" y="366432"/>
            <a:ext cx="6120000" cy="17633"/>
          </a:xfrm>
          <a:prstGeom prst="line">
            <a:avLst/>
          </a:prstGeom>
          <a:noFill/>
          <a:ln w="50800" cmpd="thickThin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 sz="1799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5773087" y="91876"/>
            <a:ext cx="8242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0" dirty="0">
                <a:latin typeface="굴림" pitchFamily="50" charset="-127"/>
                <a:ea typeface="굴림" pitchFamily="50" charset="-127"/>
              </a:rPr>
              <a:t>A.</a:t>
            </a:r>
            <a:r>
              <a:rPr lang="ko-KR" altLang="en-US" sz="1000" b="0" dirty="0">
                <a:latin typeface="굴림" pitchFamily="50" charset="-127"/>
                <a:ea typeface="굴림" pitchFamily="50" charset="-127"/>
              </a:rPr>
              <a:t>아키텍처</a:t>
            </a:r>
          </a:p>
        </p:txBody>
      </p:sp>
      <p:pic>
        <p:nvPicPr>
          <p:cNvPr id="12" name="그림 11"/>
          <p:cNvPicPr/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30" t="9790" r="70171" b="84966"/>
          <a:stretch>
            <a:fillRect/>
          </a:stretch>
        </p:blipFill>
        <p:spPr bwMode="auto">
          <a:xfrm>
            <a:off x="384563" y="9542452"/>
            <a:ext cx="1190724" cy="307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2" descr="Y:\00. 표준제안서\00. 제안폴더 표준\06. 표지 및 디자인\한국이디에스컨소시엄.png"/>
          <p:cNvPicPr>
            <a:picLocks noChangeAspect="1" noChangeArrowheads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5261517" y="9582966"/>
            <a:ext cx="1263827" cy="194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 userDrawn="1"/>
        </p:nvSpPr>
        <p:spPr>
          <a:xfrm>
            <a:off x="260648" y="84898"/>
            <a:ext cx="27494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0" b="0" dirty="0">
                <a:latin typeface="굴림" pitchFamily="50" charset="-127"/>
                <a:ea typeface="굴림" pitchFamily="50" charset="-127"/>
              </a:rPr>
              <a:t>디지털무역기반구축사업</a:t>
            </a:r>
            <a:r>
              <a:rPr lang="en-US" altLang="ko-KR" sz="1000" b="0" dirty="0">
                <a:latin typeface="굴림" pitchFamily="50" charset="-127"/>
                <a:ea typeface="굴림" pitchFamily="50" charset="-127"/>
              </a:rPr>
              <a:t>(</a:t>
            </a:r>
            <a:r>
              <a:rPr lang="ko-KR" altLang="en-US" sz="1000" b="0" dirty="0">
                <a:latin typeface="굴림" pitchFamily="50" charset="-127"/>
                <a:ea typeface="굴림" pitchFamily="50" charset="-127"/>
              </a:rPr>
              <a:t>시스템 개발 </a:t>
            </a:r>
            <a:r>
              <a:rPr lang="en-US" altLang="ko-KR" sz="1000" b="0" dirty="0">
                <a:latin typeface="굴림" pitchFamily="50" charset="-127"/>
                <a:ea typeface="굴림" pitchFamily="50" charset="-127"/>
              </a:rPr>
              <a:t>3</a:t>
            </a:r>
            <a:r>
              <a:rPr lang="ko-KR" altLang="en-US" sz="1000" b="0" dirty="0">
                <a:latin typeface="굴림" pitchFamily="50" charset="-127"/>
                <a:ea typeface="굴림" pitchFamily="50" charset="-127"/>
              </a:rPr>
              <a:t>단계</a:t>
            </a:r>
            <a:r>
              <a:rPr lang="en-US" altLang="ko-KR" sz="1000" b="0" dirty="0">
                <a:latin typeface="굴림" pitchFamily="50" charset="-127"/>
                <a:ea typeface="굴림" pitchFamily="50" charset="-127"/>
              </a:rPr>
              <a:t>)</a:t>
            </a:r>
            <a:endParaRPr lang="ko-KR" altLang="en-US" sz="1000" b="0" dirty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4755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914415" rtl="0" eaLnBrk="1" latinLnBrk="1" hangingPunct="1"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5" indent="-342905" algn="l" defTabSz="914415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63" indent="-285755" algn="l" defTabSz="914415" rtl="0" eaLnBrk="1" latinLnBrk="1" hangingPunct="1">
        <a:spcBef>
          <a:spcPct val="20000"/>
        </a:spcBef>
        <a:buFont typeface="Arial" pitchFamily="34" charset="0"/>
        <a:buChar char="–"/>
        <a:defRPr sz="280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8" indent="-228605" algn="l" defTabSz="914415" rtl="0" eaLnBrk="1" latinLnBrk="1" hangingPunct="1">
        <a:spcBef>
          <a:spcPct val="20000"/>
        </a:spcBef>
        <a:buFont typeface="Arial" pitchFamily="34" charset="0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5" indent="-228605" algn="l" defTabSz="914415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33" indent="-228605" algn="l" defTabSz="914415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41" indent="-228605" algn="l" defTabSz="91441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47" indent="-228605" algn="l" defTabSz="91441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56" indent="-228605" algn="l" defTabSz="91441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62" indent="-228605" algn="l" defTabSz="91441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15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914415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914415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3" algn="l" defTabSz="914415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9" algn="l" defTabSz="914415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6" algn="l" defTabSz="914415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4" algn="l" defTabSz="914415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1" algn="l" defTabSz="914415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659" algn="l" defTabSz="914415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hyperlink" Target="mailto:eds@edsk.co.k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081756"/>
              </p:ext>
            </p:extLst>
          </p:nvPr>
        </p:nvGraphicFramePr>
        <p:xfrm>
          <a:off x="116632" y="2792760"/>
          <a:ext cx="6185180" cy="337756"/>
        </p:xfrm>
        <a:graphic>
          <a:graphicData uri="http://schemas.openxmlformats.org/drawingml/2006/table">
            <a:tbl>
              <a:tblPr/>
              <a:tblGrid>
                <a:gridCol w="6185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7756">
                <a:tc>
                  <a:txBody>
                    <a:bodyPr/>
                    <a:lstStyle/>
                    <a:p>
                      <a:pPr algn="r" fontAlgn="t"/>
                      <a:r>
                        <a:rPr lang="ko-KR" altLang="en-US" sz="2000" b="1" i="0" u="none" strike="noStrike" dirty="0">
                          <a:effectLst/>
                          <a:latin typeface="+mn-ea"/>
                          <a:ea typeface="+mn-ea"/>
                        </a:rPr>
                        <a:t>디지털무역기반구축사업</a:t>
                      </a:r>
                      <a:r>
                        <a:rPr lang="en-US" altLang="ko-KR" sz="2000" b="1" i="0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000" b="1" i="0" u="none" strike="noStrike" dirty="0">
                          <a:effectLst/>
                          <a:latin typeface="+mn-ea"/>
                          <a:ea typeface="+mn-ea"/>
                        </a:rPr>
                        <a:t>시스템 개발 </a:t>
                      </a:r>
                      <a:r>
                        <a:rPr lang="en-US" altLang="ko-KR" sz="2000" b="1" i="0" u="none" strike="noStrike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2000" b="1" i="0" u="none" strike="noStrike" dirty="0">
                          <a:effectLst/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2000" b="1" i="0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2000" b="1" i="0" u="none" strike="noStrike" dirty="0">
                        <a:effectLst/>
                        <a:latin typeface="맑은 고딕"/>
                      </a:endParaRPr>
                    </a:p>
                  </a:txBody>
                  <a:tcPr marL="9285" marR="9285" marT="857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600025"/>
              </p:ext>
            </p:extLst>
          </p:nvPr>
        </p:nvGraphicFramePr>
        <p:xfrm>
          <a:off x="1268760" y="3688864"/>
          <a:ext cx="5033052" cy="1152707"/>
        </p:xfrm>
        <a:graphic>
          <a:graphicData uri="http://schemas.openxmlformats.org/drawingml/2006/table">
            <a:tbl>
              <a:tblPr/>
              <a:tblGrid>
                <a:gridCol w="5033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algn="r" fontAlgn="t"/>
                      <a:r>
                        <a:rPr lang="ko-KR" altLang="en-US" sz="28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보고서설계서</a:t>
                      </a:r>
                      <a:endParaRPr lang="en-US" altLang="ko-KR" sz="28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85" marR="9285" marT="857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400" b="1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400" b="1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디지털물류네트워크</a:t>
                      </a:r>
                      <a:r>
                        <a:rPr lang="en-US" altLang="ko-KR" sz="1400" b="1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_Shipping)</a:t>
                      </a:r>
                    </a:p>
                    <a:p>
                      <a:pPr algn="r" fontAlgn="t"/>
                      <a:endParaRPr lang="en-US" altLang="ko-KR" sz="28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85" marR="9285" marT="857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2768200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708487"/>
              </p:ext>
            </p:extLst>
          </p:nvPr>
        </p:nvGraphicFramePr>
        <p:xfrm>
          <a:off x="1268760" y="4751268"/>
          <a:ext cx="5033052" cy="317169"/>
        </p:xfrm>
        <a:graphic>
          <a:graphicData uri="http://schemas.openxmlformats.org/drawingml/2006/table">
            <a:tbl>
              <a:tblPr/>
              <a:tblGrid>
                <a:gridCol w="5033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7169"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2000" b="1" i="0" u="none" strike="noStrike" dirty="0">
                          <a:effectLst/>
                          <a:latin typeface="Arial"/>
                        </a:rPr>
                        <a:t>A0203_G02</a:t>
                      </a:r>
                    </a:p>
                  </a:txBody>
                  <a:tcPr marL="9285" marR="9285" marT="857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Picture 2" descr="Y:\00. 표준제안서\00. 제안폴더 표준\06. 표지 및 디자인\한국이디에스컨소시엄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4865" y="7905376"/>
            <a:ext cx="2629682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2" y="1390038"/>
            <a:ext cx="2736306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86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548681" y="3493095"/>
            <a:ext cx="57606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u="sng" dirty="0">
                <a:latin typeface="+mn-ea"/>
                <a:cs typeface="Arial" pitchFamily="34" charset="0"/>
              </a:rPr>
              <a:t>개 정 이 </a:t>
            </a:r>
            <a:r>
              <a:rPr lang="ko-KR" altLang="en-US" sz="1400" b="1" u="sng" dirty="0" err="1">
                <a:latin typeface="+mn-ea"/>
                <a:cs typeface="Arial" pitchFamily="34" charset="0"/>
              </a:rPr>
              <a:t>력</a:t>
            </a:r>
            <a:endParaRPr lang="ko-KR" altLang="en-US" sz="1400" b="1" u="sng" dirty="0">
              <a:latin typeface="+mn-ea"/>
              <a:cs typeface="Arial" pitchFamily="34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48681" y="8103184"/>
            <a:ext cx="576063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1) </a:t>
            </a:r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버전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: </a:t>
            </a:r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초안은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0.1</a:t>
            </a:r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으로 표시 하고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, </a:t>
            </a:r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검토 된 이후 승인을 득한 이후에는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1.0</a:t>
            </a:r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부터 시작하여 정수 단위로 변경 관리 함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, </a:t>
            </a:r>
            <a:endParaRPr lang="ko-KR" altLang="ko-KR" sz="8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변경 발생 시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, </a:t>
            </a:r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소수점 아래 번호로 관리하고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, </a:t>
            </a:r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목차 내용이 바뀔 정도의 큰 변경이 발생하면 상위 정수를 변경 함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. </a:t>
            </a:r>
            <a:endParaRPr lang="ko-KR" altLang="ko-KR" sz="8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(</a:t>
            </a:r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예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, V1.2 : 2</a:t>
            </a:r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번 수정됨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, </a:t>
            </a:r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목차 내용이 변경되면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V2.0 </a:t>
            </a:r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이 됨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)</a:t>
            </a:r>
            <a:endParaRPr lang="ko-KR" altLang="ko-KR" sz="8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2) </a:t>
            </a:r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변경 내용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: </a:t>
            </a:r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변경 내용을 자세히 기록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(</a:t>
            </a:r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변경된 위치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, </a:t>
            </a:r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즉 페이지 번호와 변경 내용을 기술한다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.)</a:t>
            </a:r>
            <a:endParaRPr lang="ko-KR" altLang="ko-KR" sz="8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graphicFrame>
        <p:nvGraphicFramePr>
          <p:cNvPr id="17" name="Group 1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091798"/>
              </p:ext>
            </p:extLst>
          </p:nvPr>
        </p:nvGraphicFramePr>
        <p:xfrm>
          <a:off x="548682" y="3908700"/>
          <a:ext cx="5760638" cy="3973349"/>
        </p:xfrm>
        <a:graphic>
          <a:graphicData uri="http://schemas.openxmlformats.org/drawingml/2006/table">
            <a:tbl>
              <a:tblPr/>
              <a:tblGrid>
                <a:gridCol w="360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2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NO.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994" marR="35994" marT="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</a:t>
                      </a: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변경내용</a:t>
                      </a: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4" marR="91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0.1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2022.03.30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ko-KR" sz="1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최초 작성</a:t>
                      </a: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허철원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류제관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4" marR="9142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4" marR="91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0.9</a:t>
                      </a:r>
                      <a:endParaRPr lang="ko-KR" sz="1000" dirty="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2022.04.05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ko-KR" altLang="en-US" sz="1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내용 보완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허철원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류제관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4" marR="9142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4" marR="91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1.0</a:t>
                      </a:r>
                      <a:endParaRPr lang="ko-KR" sz="1000" dirty="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2022.05.02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고객 산출물 검토 및 승인 완료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허철원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류제관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4" marR="9142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02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4" marR="91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4" marR="9142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4" marR="9142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4" marR="9142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4" marR="9142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4" marR="9142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514">
                <a:tc>
                  <a:txBody>
                    <a:bodyPr/>
                    <a:lstStyle/>
                    <a:p>
                      <a:pPr algn="ctr" rtl="0"/>
                      <a:endParaRPr lang="ko-KR" sz="1000" dirty="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ko-KR" sz="1000" dirty="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ko-KR" sz="1000" dirty="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dirty="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927">
                <a:tc>
                  <a:txBody>
                    <a:bodyPr/>
                    <a:lstStyle/>
                    <a:p>
                      <a:pPr algn="ctr" rtl="0"/>
                      <a:endParaRPr lang="ko-KR" sz="100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ko-KR" sz="100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ko-KR" sz="100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ko-KR" sz="1000" dirty="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514">
                <a:tc>
                  <a:txBody>
                    <a:bodyPr/>
                    <a:lstStyle/>
                    <a:p>
                      <a:pPr algn="ctr" rtl="0"/>
                      <a:endParaRPr lang="ko-KR" sz="1000" dirty="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ko-KR" sz="1000" dirty="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ko-KR" sz="1000" dirty="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927">
                <a:tc>
                  <a:txBody>
                    <a:bodyPr/>
                    <a:lstStyle/>
                    <a:p>
                      <a:pPr algn="ctr" rtl="0"/>
                      <a:endParaRPr lang="ko-KR" sz="1000" dirty="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ko-KR" sz="1000" dirty="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ko-KR" sz="1000" dirty="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5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9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5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35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35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808425"/>
              </p:ext>
            </p:extLst>
          </p:nvPr>
        </p:nvGraphicFramePr>
        <p:xfrm>
          <a:off x="548682" y="2144688"/>
          <a:ext cx="5760000" cy="815941"/>
        </p:xfrm>
        <a:graphic>
          <a:graphicData uri="http://schemas.openxmlformats.org/drawingml/2006/table">
            <a:tbl>
              <a:tblPr/>
              <a:tblGrid>
                <a:gridCol w="1577144">
                  <a:extLst>
                    <a:ext uri="{9D8B030D-6E8A-4147-A177-3AD203B41FA5}">
                      <a16:colId xmlns:a16="http://schemas.microsoft.com/office/drawing/2014/main" val="1562307125"/>
                    </a:ext>
                  </a:extLst>
                </a:gridCol>
                <a:gridCol w="4182856">
                  <a:extLst>
                    <a:ext uri="{9D8B030D-6E8A-4147-A177-3AD203B41FA5}">
                      <a16:colId xmlns:a16="http://schemas.microsoft.com/office/drawing/2014/main" val="1996962012"/>
                    </a:ext>
                  </a:extLst>
                </a:gridCol>
              </a:tblGrid>
              <a:tr h="282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</a:t>
                      </a:r>
                    </a:p>
                  </a:txBody>
                  <a:tcPr marL="35994" marR="35994" marT="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200" b="1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디지털무역기반구축사업</a:t>
                      </a:r>
                      <a:r>
                        <a:rPr lang="en-US" sz="1200" b="1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200" b="1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시스템 개발</a:t>
                      </a:r>
                      <a:r>
                        <a:rPr lang="en-US" sz="1200" b="1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 3</a:t>
                      </a:r>
                      <a:r>
                        <a:rPr lang="ko-KR" sz="1200" b="1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단계</a:t>
                      </a:r>
                      <a:r>
                        <a:rPr lang="en-US" sz="1200" b="1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ko-KR" sz="12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629019"/>
                  </a:ext>
                </a:extLst>
              </a:tr>
              <a:tr h="2698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문서번호</a:t>
                      </a:r>
                    </a:p>
                  </a:txBody>
                  <a:tcPr marL="35994" marR="35994" marT="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A0203_G02</a:t>
                      </a:r>
                      <a:endParaRPr lang="ko-KR" sz="12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71976"/>
                  </a:ext>
                </a:extLst>
              </a:tr>
              <a:tr h="2635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제 정 일</a:t>
                      </a:r>
                    </a:p>
                  </a:txBody>
                  <a:tcPr marL="35994" marR="35994" marT="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2021.11.10</a:t>
                      </a:r>
                      <a:endParaRPr lang="ko-KR" sz="12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181369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742922"/>
              </p:ext>
            </p:extLst>
          </p:nvPr>
        </p:nvGraphicFramePr>
        <p:xfrm>
          <a:off x="1810379" y="921156"/>
          <a:ext cx="3236606" cy="648651"/>
        </p:xfrm>
        <a:graphic>
          <a:graphicData uri="http://schemas.openxmlformats.org/drawingml/2006/table">
            <a:tbl>
              <a:tblPr/>
              <a:tblGrid>
                <a:gridCol w="3236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28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보고서설계서</a:t>
                      </a:r>
                      <a:endParaRPr lang="en-US" altLang="ko-KR" sz="28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t"/>
                      <a:r>
                        <a:rPr lang="en-US" altLang="ko-KR" sz="1400" b="1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400" b="1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디지털물류네트워크</a:t>
                      </a:r>
                      <a:r>
                        <a:rPr lang="en-US" altLang="ko-KR" sz="1400" b="1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_Shipping)</a:t>
                      </a:r>
                      <a:endParaRPr lang="en-US" altLang="ko-KR" sz="14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85" marR="9285" marT="857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8961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 txBox="1">
            <a:spLocks/>
          </p:cNvSpPr>
          <p:nvPr/>
        </p:nvSpPr>
        <p:spPr bwMode="auto">
          <a:xfrm>
            <a:off x="548679" y="1424608"/>
            <a:ext cx="5832649" cy="561662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/>
            <a:endParaRPr lang="en-US" altLang="ko-KR" sz="800" dirty="0"/>
          </a:p>
          <a:p>
            <a:pPr algn="ctr" eaLnBrk="1" hangingPunct="1"/>
            <a:endParaRPr lang="en-US" altLang="ko-KR" sz="800" dirty="0"/>
          </a:p>
          <a:p>
            <a:pPr eaLnBrk="1" hangingPunct="1"/>
            <a:r>
              <a:rPr lang="en-US" altLang="ko-KR" dirty="0"/>
              <a:t>1. </a:t>
            </a:r>
            <a:r>
              <a:rPr lang="ko-KR" altLang="en-US" dirty="0"/>
              <a:t>견적서       </a:t>
            </a:r>
            <a:r>
              <a:rPr lang="en-US" altLang="ko-KR" dirty="0"/>
              <a:t>------------------------------------------------------------------------ 4</a:t>
            </a:r>
          </a:p>
          <a:p>
            <a:pPr eaLnBrk="1" hangingPunct="1"/>
            <a:endParaRPr lang="en-US" altLang="ko-KR" dirty="0"/>
          </a:p>
          <a:p>
            <a:pPr eaLnBrk="1" hangingPunct="1"/>
            <a:r>
              <a:rPr lang="en-US" altLang="ko-KR" dirty="0"/>
              <a:t>2. </a:t>
            </a:r>
            <a:r>
              <a:rPr lang="ko-KR" altLang="en-US" dirty="0" err="1"/>
              <a:t>부킹확인서</a:t>
            </a:r>
            <a:r>
              <a:rPr lang="ko-KR" altLang="en-US" dirty="0"/>
              <a:t> </a:t>
            </a:r>
            <a:r>
              <a:rPr lang="en-US" altLang="ko-KR" dirty="0"/>
              <a:t> ----------------------------------------------------------------------- 6</a:t>
            </a:r>
          </a:p>
          <a:p>
            <a:pPr eaLnBrk="1" hangingPunct="1"/>
            <a:endParaRPr lang="en-US" altLang="ko-KR" dirty="0"/>
          </a:p>
          <a:p>
            <a:pPr eaLnBrk="1" hangingPunct="1"/>
            <a:r>
              <a:rPr lang="en-US" altLang="ko-KR" dirty="0"/>
              <a:t>3. DO            </a:t>
            </a:r>
            <a:r>
              <a:rPr lang="ko-KR" altLang="en-US" dirty="0"/>
              <a:t> </a:t>
            </a:r>
            <a:r>
              <a:rPr lang="en-US" altLang="ko-KR" dirty="0"/>
              <a:t>---------------------------------------------------------------------- 7</a:t>
            </a:r>
          </a:p>
          <a:p>
            <a:pPr eaLnBrk="1" hangingPunct="1"/>
            <a:endParaRPr lang="en-US" altLang="ko-KR" dirty="0"/>
          </a:p>
          <a:p>
            <a:pPr eaLnBrk="1" hangingPunct="1"/>
            <a:r>
              <a:rPr lang="en-US" altLang="ko-KR" dirty="0"/>
              <a:t>4. </a:t>
            </a:r>
            <a:r>
              <a:rPr lang="ko-KR" altLang="en-US" dirty="0"/>
              <a:t>혼재적하목록 </a:t>
            </a:r>
            <a:r>
              <a:rPr lang="en-US" altLang="ko-KR" dirty="0"/>
              <a:t>---------------------------------------------------------------------- 8</a:t>
            </a:r>
          </a:p>
          <a:p>
            <a:pPr eaLnBrk="1" hangingPunct="1"/>
            <a:endParaRPr lang="en-US" altLang="ko-KR" dirty="0"/>
          </a:p>
          <a:p>
            <a:pPr eaLnBrk="1" hangingPunct="1"/>
            <a:r>
              <a:rPr lang="en-US" altLang="ko-KR" dirty="0"/>
              <a:t>5. </a:t>
            </a:r>
            <a:r>
              <a:rPr lang="ko-KR" altLang="en-US" dirty="0" err="1"/>
              <a:t>혼재적하목록정정신청</a:t>
            </a:r>
            <a:r>
              <a:rPr lang="en-US" altLang="ko-KR" dirty="0"/>
              <a:t> ------------------------------------------------------------ 9</a:t>
            </a:r>
          </a:p>
          <a:p>
            <a:pPr eaLnBrk="1" hangingPunct="1"/>
            <a:endParaRPr lang="en-US" altLang="ko-KR" dirty="0"/>
          </a:p>
          <a:p>
            <a:pPr eaLnBrk="1" hangingPunct="1"/>
            <a:r>
              <a:rPr lang="en-US" altLang="ko-KR" dirty="0"/>
              <a:t>6. </a:t>
            </a:r>
            <a:r>
              <a:rPr lang="ko-KR" altLang="en-US" dirty="0"/>
              <a:t>사유서</a:t>
            </a:r>
            <a:r>
              <a:rPr lang="en-US" altLang="ko-KR" dirty="0"/>
              <a:t>        -----------------------------------------------------------------------10</a:t>
            </a:r>
          </a:p>
          <a:p>
            <a:pPr eaLnBrk="1" hangingPunct="1"/>
            <a:endParaRPr lang="en-US" altLang="ko-KR" dirty="0"/>
          </a:p>
          <a:p>
            <a:pPr eaLnBrk="1" hangingPunct="1"/>
            <a:r>
              <a:rPr lang="en-US" altLang="ko-KR" dirty="0"/>
              <a:t>7. </a:t>
            </a:r>
            <a:r>
              <a:rPr lang="ko-KR" altLang="en-US" dirty="0" err="1"/>
              <a:t>선적요청서</a:t>
            </a:r>
            <a:r>
              <a:rPr lang="en-US" altLang="ko-KR" dirty="0"/>
              <a:t>(SR)</a:t>
            </a:r>
            <a:r>
              <a:rPr lang="ko-KR" altLang="en-US" dirty="0"/>
              <a:t>  </a:t>
            </a:r>
            <a:r>
              <a:rPr lang="en-US" altLang="ko-KR" dirty="0"/>
              <a:t>------------------------------------------------------------------ 11</a:t>
            </a:r>
          </a:p>
          <a:p>
            <a:pPr eaLnBrk="1" hangingPunct="1"/>
            <a:endParaRPr lang="en-US" altLang="ko-KR" dirty="0"/>
          </a:p>
          <a:p>
            <a:pPr eaLnBrk="1" hangingPunct="1"/>
            <a:r>
              <a:rPr lang="en-US" altLang="ko-KR" dirty="0"/>
              <a:t>8. BL(CHECK)</a:t>
            </a:r>
            <a:r>
              <a:rPr lang="ko-KR" altLang="en-US" dirty="0"/>
              <a:t> </a:t>
            </a:r>
            <a:r>
              <a:rPr lang="en-US" altLang="ko-KR" dirty="0"/>
              <a:t>   </a:t>
            </a:r>
            <a:r>
              <a:rPr lang="ko-KR" altLang="en-US" dirty="0"/>
              <a:t>   </a:t>
            </a:r>
            <a:r>
              <a:rPr lang="en-US" altLang="ko-KR" dirty="0"/>
              <a:t>------------------------------------------------------------------ 12</a:t>
            </a:r>
          </a:p>
          <a:p>
            <a:pPr eaLnBrk="1" hangingPunct="1"/>
            <a:endParaRPr lang="en-US" altLang="ko-KR" dirty="0"/>
          </a:p>
          <a:p>
            <a:pPr eaLnBrk="1" hangingPunct="1"/>
            <a:r>
              <a:rPr lang="en-US" altLang="ko-KR" dirty="0"/>
              <a:t>9. BL</a:t>
            </a:r>
            <a:r>
              <a:rPr lang="ko-KR" altLang="en-US" dirty="0"/>
              <a:t> </a:t>
            </a:r>
            <a:r>
              <a:rPr lang="en-US" altLang="ko-KR" dirty="0"/>
              <a:t>   </a:t>
            </a:r>
            <a:r>
              <a:rPr lang="ko-KR" altLang="en-US" dirty="0"/>
              <a:t>             </a:t>
            </a:r>
            <a:r>
              <a:rPr lang="en-US" altLang="ko-KR" dirty="0"/>
              <a:t>------------------------------------------------------------------ 13</a:t>
            </a:r>
          </a:p>
          <a:p>
            <a:pPr eaLnBrk="1" hangingPunct="1"/>
            <a:endParaRPr lang="en-US" altLang="ko-KR" dirty="0"/>
          </a:p>
          <a:p>
            <a:pPr eaLnBrk="1" hangingPunct="1"/>
            <a:r>
              <a:rPr lang="en-US" altLang="ko-KR" dirty="0"/>
              <a:t>10. </a:t>
            </a:r>
            <a:r>
              <a:rPr lang="ko-KR" altLang="en-US" dirty="0"/>
              <a:t>화물도착통지서</a:t>
            </a:r>
            <a:r>
              <a:rPr lang="en-US" altLang="ko-KR" dirty="0"/>
              <a:t>(AN)</a:t>
            </a:r>
            <a:r>
              <a:rPr lang="ko-KR" altLang="en-US" dirty="0"/>
              <a:t>     </a:t>
            </a:r>
            <a:r>
              <a:rPr lang="en-US" altLang="ko-KR" dirty="0"/>
              <a:t>-------------------------------------------------------- 14</a:t>
            </a:r>
          </a:p>
          <a:p>
            <a:pPr eaLnBrk="1" hangingPunct="1"/>
            <a:endParaRPr lang="en-US" altLang="ko-KR" dirty="0"/>
          </a:p>
          <a:p>
            <a:pPr eaLnBrk="1" hangingPunct="1"/>
            <a:r>
              <a:rPr lang="en-US" altLang="ko-KR" dirty="0"/>
              <a:t>11. </a:t>
            </a:r>
            <a:r>
              <a:rPr lang="ko-KR" altLang="en-US" dirty="0" err="1"/>
              <a:t>운송요청서</a:t>
            </a:r>
            <a:r>
              <a:rPr lang="ko-KR" altLang="en-US" dirty="0"/>
              <a:t>    </a:t>
            </a:r>
            <a:r>
              <a:rPr lang="en-US" altLang="ko-KR" dirty="0"/>
              <a:t> ------------------------------------------------------------------ 16</a:t>
            </a:r>
          </a:p>
          <a:p>
            <a:pPr eaLnBrk="1" hangingPunct="1"/>
            <a:endParaRPr lang="en-US" altLang="ko-KR" dirty="0"/>
          </a:p>
          <a:p>
            <a:pPr eaLnBrk="1" hangingPunct="1"/>
            <a:r>
              <a:rPr lang="en-US" altLang="ko-KR" dirty="0"/>
              <a:t>12. VGM</a:t>
            </a:r>
            <a:r>
              <a:rPr lang="ko-KR" altLang="en-US" dirty="0"/>
              <a:t>            </a:t>
            </a:r>
            <a:r>
              <a:rPr lang="en-US" altLang="ko-KR" dirty="0"/>
              <a:t> ------------------------------------------------------------------ 17</a:t>
            </a:r>
          </a:p>
          <a:p>
            <a:pPr eaLnBrk="1" hangingPunct="1"/>
            <a:endParaRPr lang="en-US" altLang="ko-KR" dirty="0"/>
          </a:p>
          <a:p>
            <a:pPr eaLnBrk="1" hangingPunct="1"/>
            <a:r>
              <a:rPr lang="en-US" altLang="ko-KR" dirty="0"/>
              <a:t>13. </a:t>
            </a:r>
            <a:r>
              <a:rPr lang="ko-KR" altLang="en-US" dirty="0" err="1"/>
              <a:t>배정장소</a:t>
            </a:r>
            <a:r>
              <a:rPr lang="ko-KR" altLang="en-US" dirty="0"/>
              <a:t> 보세창고 </a:t>
            </a:r>
            <a:r>
              <a:rPr lang="ko-KR" altLang="en-US" dirty="0" err="1"/>
              <a:t>지정신청서</a:t>
            </a:r>
            <a:r>
              <a:rPr lang="en-US" altLang="ko-KR" dirty="0"/>
              <a:t>(</a:t>
            </a:r>
            <a:r>
              <a:rPr lang="ko-KR" altLang="en-US" dirty="0"/>
              <a:t>신규</a:t>
            </a:r>
            <a:r>
              <a:rPr lang="en-US" altLang="ko-KR" dirty="0"/>
              <a:t>/</a:t>
            </a:r>
            <a:r>
              <a:rPr lang="ko-KR" altLang="en-US" dirty="0"/>
              <a:t>변경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 ----------------------------------- 18</a:t>
            </a:r>
          </a:p>
          <a:p>
            <a:pPr eaLnBrk="1" hangingPunct="1"/>
            <a:endParaRPr lang="en-US" altLang="ko-KR" dirty="0"/>
          </a:p>
          <a:p>
            <a:pPr eaLnBrk="1" hangingPunct="1"/>
            <a:r>
              <a:rPr lang="en-US" altLang="ko-KR" dirty="0"/>
              <a:t>14. </a:t>
            </a:r>
            <a:r>
              <a:rPr lang="ko-KR" altLang="en-US" dirty="0"/>
              <a:t>청구서</a:t>
            </a:r>
            <a:r>
              <a:rPr lang="en-US" altLang="ko-KR" dirty="0"/>
              <a:t>(</a:t>
            </a:r>
            <a:r>
              <a:rPr lang="ko-KR" altLang="en-US" dirty="0"/>
              <a:t>인보이스</a:t>
            </a:r>
            <a:r>
              <a:rPr lang="en-US" altLang="ko-KR" dirty="0"/>
              <a:t>)   -------------------------------------------------------------- 19</a:t>
            </a:r>
          </a:p>
          <a:p>
            <a:pPr eaLnBrk="1" hangingPunct="1"/>
            <a:endParaRPr lang="en-US" altLang="ko-KR" dirty="0"/>
          </a:p>
        </p:txBody>
      </p:sp>
      <p:sp>
        <p:nvSpPr>
          <p:cNvPr id="6" name="제목 1"/>
          <p:cNvSpPr txBox="1">
            <a:spLocks/>
          </p:cNvSpPr>
          <p:nvPr/>
        </p:nvSpPr>
        <p:spPr bwMode="auto">
          <a:xfrm>
            <a:off x="503465" y="848544"/>
            <a:ext cx="5472608" cy="357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/>
            <a:r>
              <a:rPr lang="ko-KR" altLang="en-US" sz="1601" b="1" dirty="0"/>
              <a:t>목     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90936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717671"/>
              </p:ext>
            </p:extLst>
          </p:nvPr>
        </p:nvGraphicFramePr>
        <p:xfrm>
          <a:off x="381915" y="443156"/>
          <a:ext cx="6101742" cy="754104"/>
        </p:xfrm>
        <a:graphic>
          <a:graphicData uri="http://schemas.openxmlformats.org/drawingml/2006/table">
            <a:tbl>
              <a:tblPr/>
              <a:tblGrid>
                <a:gridCol w="78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업무시스템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디지털물류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 네트워크</a:t>
                      </a:r>
                      <a:r>
                        <a:rPr lang="ko-KR" altLang="en-US" sz="1000" b="0" kern="100" baseline="0" dirty="0">
                          <a:latin typeface="+mn-ea"/>
                          <a:ea typeface="+mn-ea"/>
                          <a:cs typeface="Times New Roman"/>
                        </a:rPr>
                        <a:t> 시스템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단위시스템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디지털물류네트워크 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-Shipping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작성자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허철원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보고서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RP-G-01-01-01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latin typeface="+mn-ea"/>
                          <a:ea typeface="+mn-ea"/>
                          <a:cs typeface="Times New Roman"/>
                        </a:rPr>
                        <a:t>보고서명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견적서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56248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요구사항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작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성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일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2022.03.30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93132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359204" y="1388616"/>
            <a:ext cx="4464000" cy="7956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813595" y="1388616"/>
            <a:ext cx="1656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823121" y="1604614"/>
            <a:ext cx="1646474" cy="77408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359120" y="1388616"/>
            <a:ext cx="4464000" cy="215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견적서</a:t>
            </a:r>
          </a:p>
        </p:txBody>
      </p:sp>
      <p:graphicFrame>
        <p:nvGraphicFramePr>
          <p:cNvPr id="60" name="표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535592"/>
              </p:ext>
            </p:extLst>
          </p:nvPr>
        </p:nvGraphicFramePr>
        <p:xfrm>
          <a:off x="4832730" y="1604613"/>
          <a:ext cx="1646474" cy="77408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064">
                  <a:extLst>
                    <a:ext uri="{9D8B030D-6E8A-4147-A177-3AD203B41FA5}">
                      <a16:colId xmlns:a16="http://schemas.microsoft.com/office/drawing/2014/main" val="377206406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372353527"/>
                    </a:ext>
                  </a:extLst>
                </a:gridCol>
                <a:gridCol w="1024370">
                  <a:extLst>
                    <a:ext uri="{9D8B030D-6E8A-4147-A177-3AD203B41FA5}">
                      <a16:colId xmlns:a16="http://schemas.microsoft.com/office/drawing/2014/main" val="237939870"/>
                    </a:ext>
                  </a:extLst>
                </a:gridCol>
              </a:tblGrid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설명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932500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7188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86176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772858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840459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58896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162664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317237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14595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833743"/>
                  </a:ext>
                </a:extLst>
              </a:tr>
            </a:tbl>
          </a:graphicData>
        </a:graphic>
      </p:graphicFrame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60" y="2144688"/>
            <a:ext cx="4157876" cy="557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36381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381915" y="443156"/>
          <a:ext cx="6101742" cy="754104"/>
        </p:xfrm>
        <a:graphic>
          <a:graphicData uri="http://schemas.openxmlformats.org/drawingml/2006/table">
            <a:tbl>
              <a:tblPr/>
              <a:tblGrid>
                <a:gridCol w="78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업무시스템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디지털물류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 네트워크</a:t>
                      </a:r>
                      <a:r>
                        <a:rPr lang="ko-KR" altLang="en-US" sz="1000" b="0" kern="100" baseline="0" dirty="0">
                          <a:latin typeface="+mn-ea"/>
                          <a:ea typeface="+mn-ea"/>
                          <a:cs typeface="Times New Roman"/>
                        </a:rPr>
                        <a:t> 시스템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단위시스템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디지털물류네트워크 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-Shipping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작성자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허철원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보고서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RP-G-01-01-01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latin typeface="+mn-ea"/>
                          <a:ea typeface="+mn-ea"/>
                          <a:cs typeface="Times New Roman"/>
                        </a:rPr>
                        <a:t>보고서명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견적서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56248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요구사항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작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성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일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2022.03.30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93132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359204" y="1388616"/>
            <a:ext cx="4464000" cy="7956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6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813595" y="1388616"/>
            <a:ext cx="1656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설명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823121" y="1604614"/>
            <a:ext cx="1646474" cy="77408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6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59120" y="1388616"/>
            <a:ext cx="4464000" cy="215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견적서</a:t>
            </a:r>
          </a:p>
        </p:txBody>
      </p:sp>
      <p:graphicFrame>
        <p:nvGraphicFramePr>
          <p:cNvPr id="60" name="표 59"/>
          <p:cNvGraphicFramePr>
            <a:graphicFrameLocks noGrp="1"/>
          </p:cNvGraphicFramePr>
          <p:nvPr/>
        </p:nvGraphicFramePr>
        <p:xfrm>
          <a:off x="4832730" y="1604613"/>
          <a:ext cx="1646474" cy="77408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064">
                  <a:extLst>
                    <a:ext uri="{9D8B030D-6E8A-4147-A177-3AD203B41FA5}">
                      <a16:colId xmlns:a16="http://schemas.microsoft.com/office/drawing/2014/main" val="377206406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372353527"/>
                    </a:ext>
                  </a:extLst>
                </a:gridCol>
                <a:gridCol w="1024370">
                  <a:extLst>
                    <a:ext uri="{9D8B030D-6E8A-4147-A177-3AD203B41FA5}">
                      <a16:colId xmlns:a16="http://schemas.microsoft.com/office/drawing/2014/main" val="237939870"/>
                    </a:ext>
                  </a:extLst>
                </a:gridCol>
              </a:tblGrid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설명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932500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7188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86176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772858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840459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58896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162664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317237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14595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833743"/>
                  </a:ext>
                </a:extLst>
              </a:tr>
            </a:tbl>
          </a:graphicData>
        </a:graphic>
      </p:graphicFrame>
      <p:graphicFrame>
        <p:nvGraphicFramePr>
          <p:cNvPr id="9" name="내용 개체 틀 9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6054867"/>
              </p:ext>
            </p:extLst>
          </p:nvPr>
        </p:nvGraphicFramePr>
        <p:xfrm>
          <a:off x="402945" y="1640632"/>
          <a:ext cx="4322200" cy="3377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22200">
                  <a:extLst>
                    <a:ext uri="{9D8B030D-6E8A-4147-A177-3AD203B41FA5}">
                      <a16:colId xmlns:a16="http://schemas.microsoft.com/office/drawing/2014/main" val="4007859294"/>
                    </a:ext>
                  </a:extLst>
                </a:gridCol>
              </a:tblGrid>
              <a:tr h="337792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  <a:tab pos="3200400" algn="l"/>
                          <a:tab pos="3429000" algn="l"/>
                          <a:tab pos="3657600" algn="l"/>
                          <a:tab pos="3886200" algn="l"/>
                          <a:tab pos="4114800" algn="l"/>
                          <a:tab pos="4343400" algn="l"/>
                          <a:tab pos="4572000" algn="l"/>
                          <a:tab pos="4800600" algn="l"/>
                          <a:tab pos="5029200" algn="l"/>
                          <a:tab pos="5257800" algn="l"/>
                          <a:tab pos="5486400" algn="l"/>
                          <a:tab pos="5715000" algn="l"/>
                          <a:tab pos="5943600" algn="l"/>
                          <a:tab pos="6172200" algn="l"/>
                          <a:tab pos="6400800" algn="l"/>
                          <a:tab pos="6629400" algn="l"/>
                        </a:tabLst>
                      </a:pPr>
                      <a:r>
                        <a:rPr lang="en-US" altLang="ko-KR" sz="1500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KOREA</a:t>
                      </a:r>
                      <a:r>
                        <a:rPr lang="en-US" altLang="ko-KR" sz="1500" kern="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EDS LOGISTICS</a:t>
                      </a:r>
                      <a:endParaRPr lang="ko-KR" sz="15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517207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828020"/>
              </p:ext>
            </p:extLst>
          </p:nvPr>
        </p:nvGraphicFramePr>
        <p:xfrm>
          <a:off x="618497" y="2041035"/>
          <a:ext cx="3934649" cy="1359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4649">
                  <a:extLst>
                    <a:ext uri="{9D8B030D-6E8A-4147-A177-3AD203B41FA5}">
                      <a16:colId xmlns:a16="http://schemas.microsoft.com/office/drawing/2014/main" val="3020317755"/>
                    </a:ext>
                  </a:extLst>
                </a:gridCol>
              </a:tblGrid>
              <a:tr h="135901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  <a:tab pos="3200400" algn="l"/>
                          <a:tab pos="3429000" algn="l"/>
                          <a:tab pos="3657600" algn="l"/>
                          <a:tab pos="3886200" algn="l"/>
                          <a:tab pos="4114800" algn="l"/>
                          <a:tab pos="4343400" algn="l"/>
                          <a:tab pos="4572000" algn="l"/>
                          <a:tab pos="4800600" algn="l"/>
                          <a:tab pos="5029200" algn="l"/>
                          <a:tab pos="5257800" algn="l"/>
                          <a:tab pos="5486400" algn="l"/>
                          <a:tab pos="5715000" algn="l"/>
                          <a:tab pos="5943600" algn="l"/>
                          <a:tab pos="6172200" algn="l"/>
                          <a:tab pos="6400800" algn="l"/>
                          <a:tab pos="66294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2F MYUNGKWANG BLDG 391-17 SEOGYO-DONG, MAPO-GU, SEOUL,KOREA</a:t>
                      </a:r>
                      <a:endParaRPr lang="ko-KR" sz="9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999568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561537"/>
              </p:ext>
            </p:extLst>
          </p:nvPr>
        </p:nvGraphicFramePr>
        <p:xfrm>
          <a:off x="618496" y="2183286"/>
          <a:ext cx="3934649" cy="1359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4649">
                  <a:extLst>
                    <a:ext uri="{9D8B030D-6E8A-4147-A177-3AD203B41FA5}">
                      <a16:colId xmlns:a16="http://schemas.microsoft.com/office/drawing/2014/main" val="4258494926"/>
                    </a:ext>
                  </a:extLst>
                </a:gridCol>
              </a:tblGrid>
              <a:tr h="135901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  <a:tab pos="3200400" algn="l"/>
                          <a:tab pos="3429000" algn="l"/>
                          <a:tab pos="3657600" algn="l"/>
                          <a:tab pos="3886200" algn="l"/>
                          <a:tab pos="4114800" algn="l"/>
                          <a:tab pos="4343400" algn="l"/>
                          <a:tab pos="4572000" algn="l"/>
                          <a:tab pos="4800600" algn="l"/>
                          <a:tab pos="5029200" algn="l"/>
                          <a:tab pos="5257800" algn="l"/>
                          <a:tab pos="5486400" algn="l"/>
                          <a:tab pos="5715000" algn="l"/>
                          <a:tab pos="5943600" algn="l"/>
                          <a:tab pos="6172200" algn="l"/>
                          <a:tab pos="6400800" algn="l"/>
                          <a:tab pos="66294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Tel:02-277-8050 Fax:02-277-8080  </a:t>
                      </a:r>
                      <a:r>
                        <a:rPr lang="en-US" sz="800" kern="0" dirty="0" err="1">
                          <a:effectLst/>
                        </a:rPr>
                        <a:t>e-mail:test@test.co.kr</a:t>
                      </a:r>
                      <a:r>
                        <a:rPr lang="en-US" sz="800" kern="0" dirty="0">
                          <a:effectLst/>
                        </a:rPr>
                        <a:t>  URL:</a:t>
                      </a:r>
                      <a:endParaRPr lang="ko-KR" sz="9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7294971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276577"/>
              </p:ext>
            </p:extLst>
          </p:nvPr>
        </p:nvGraphicFramePr>
        <p:xfrm>
          <a:off x="2840685" y="2568841"/>
          <a:ext cx="1020363" cy="129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0363">
                  <a:extLst>
                    <a:ext uri="{9D8B030D-6E8A-4147-A177-3AD203B41FA5}">
                      <a16:colId xmlns:a16="http://schemas.microsoft.com/office/drawing/2014/main" val="546000223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</a:tabLst>
                      </a:pPr>
                      <a:r>
                        <a:rPr lang="ko-KR" altLang="en-US" sz="750" kern="0" dirty="0">
                          <a:effectLst/>
                        </a:rPr>
                        <a:t>담당자</a:t>
                      </a:r>
                      <a:r>
                        <a:rPr lang="en-US" sz="750" kern="0" dirty="0">
                          <a:effectLst/>
                        </a:rPr>
                        <a:t> : </a:t>
                      </a:r>
                      <a:r>
                        <a:rPr lang="ko-KR" altLang="en-US" sz="750" kern="0" dirty="0">
                          <a:effectLst/>
                        </a:rPr>
                        <a:t>홍길동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47821982"/>
                  </a:ext>
                </a:extLst>
              </a:tr>
            </a:tbl>
          </a:graphicData>
        </a:graphic>
      </p:graphicFrame>
      <p:sp>
        <p:nvSpPr>
          <p:cNvPr id="13" name="Line 79"/>
          <p:cNvSpPr>
            <a:spLocks noChangeShapeType="1"/>
          </p:cNvSpPr>
          <p:nvPr/>
        </p:nvSpPr>
        <p:spPr bwMode="auto">
          <a:xfrm>
            <a:off x="381916" y="2747255"/>
            <a:ext cx="443168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+mn-ea"/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807480"/>
              </p:ext>
            </p:extLst>
          </p:nvPr>
        </p:nvGraphicFramePr>
        <p:xfrm>
          <a:off x="381915" y="2566208"/>
          <a:ext cx="1102867" cy="129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2867">
                  <a:extLst>
                    <a:ext uri="{9D8B030D-6E8A-4147-A177-3AD203B41FA5}">
                      <a16:colId xmlns:a16="http://schemas.microsoft.com/office/drawing/2014/main" val="3202878536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</a:tabLst>
                      </a:pPr>
                      <a:r>
                        <a:rPr lang="ko-KR" altLang="en-US" sz="750" kern="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수입  </a:t>
                      </a:r>
                      <a:r>
                        <a:rPr lang="en-US" altLang="ko-KR" sz="750" kern="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750" kern="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해상 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82189232"/>
                  </a:ext>
                </a:extLst>
              </a:tr>
            </a:tbl>
          </a:graphicData>
        </a:graphic>
      </p:graphicFrame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85450"/>
              </p:ext>
            </p:extLst>
          </p:nvPr>
        </p:nvGraphicFramePr>
        <p:xfrm>
          <a:off x="393700" y="2828674"/>
          <a:ext cx="4365327" cy="2527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65327">
                  <a:extLst>
                    <a:ext uri="{9D8B030D-6E8A-4147-A177-3AD203B41FA5}">
                      <a16:colId xmlns:a16="http://schemas.microsoft.com/office/drawing/2014/main" val="341447866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  <a:tab pos="3200400" algn="l"/>
                          <a:tab pos="3429000" algn="l"/>
                          <a:tab pos="3657600" algn="l"/>
                          <a:tab pos="3886200" algn="l"/>
                          <a:tab pos="4114800" algn="l"/>
                          <a:tab pos="4343400" algn="l"/>
                          <a:tab pos="4572000" algn="l"/>
                        </a:tabLst>
                      </a:pPr>
                      <a:r>
                        <a:rPr lang="en-US" altLang="ko-KR" sz="1550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ESTIMATE</a:t>
                      </a:r>
                      <a:r>
                        <a:rPr lang="en-US" altLang="ko-KR" sz="1550" kern="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SHEET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39339414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185039"/>
              </p:ext>
            </p:extLst>
          </p:nvPr>
        </p:nvGraphicFramePr>
        <p:xfrm>
          <a:off x="3883481" y="2571358"/>
          <a:ext cx="924458" cy="1248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4458">
                  <a:extLst>
                    <a:ext uri="{9D8B030D-6E8A-4147-A177-3AD203B41FA5}">
                      <a16:colId xmlns:a16="http://schemas.microsoft.com/office/drawing/2014/main" val="1409704402"/>
                    </a:ext>
                  </a:extLst>
                </a:gridCol>
              </a:tblGrid>
              <a:tr h="124832">
                <a:tc>
                  <a:txBody>
                    <a:bodyPr/>
                    <a:lstStyle/>
                    <a:p>
                      <a:pPr algn="r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US" sz="750" kern="0" dirty="0">
                          <a:effectLst/>
                        </a:rPr>
                        <a:t>Date</a:t>
                      </a:r>
                      <a:r>
                        <a:rPr lang="en-US" sz="750" kern="0" baseline="0" dirty="0">
                          <a:effectLst/>
                        </a:rPr>
                        <a:t> : </a:t>
                      </a:r>
                      <a:r>
                        <a:rPr lang="en-US" sz="750" kern="0" dirty="0">
                          <a:effectLst/>
                        </a:rPr>
                        <a:t>2022‑04‑25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63036035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636178"/>
              </p:ext>
            </p:extLst>
          </p:nvPr>
        </p:nvGraphicFramePr>
        <p:xfrm>
          <a:off x="428243" y="3108594"/>
          <a:ext cx="1061727" cy="152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1727">
                  <a:extLst>
                    <a:ext uri="{9D8B030D-6E8A-4147-A177-3AD203B41FA5}">
                      <a16:colId xmlns:a16="http://schemas.microsoft.com/office/drawing/2014/main" val="958483346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To.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47510840"/>
                  </a:ext>
                </a:extLst>
              </a:tr>
            </a:tbl>
          </a:graphicData>
        </a:graphic>
      </p:graphicFrame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163963"/>
              </p:ext>
            </p:extLst>
          </p:nvPr>
        </p:nvGraphicFramePr>
        <p:xfrm>
          <a:off x="1525858" y="3113725"/>
          <a:ext cx="3237280" cy="1770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37280">
                  <a:extLst>
                    <a:ext uri="{9D8B030D-6E8A-4147-A177-3AD203B41FA5}">
                      <a16:colId xmlns:a16="http://schemas.microsoft.com/office/drawing/2014/main" val="1437383123"/>
                    </a:ext>
                  </a:extLst>
                </a:gridCol>
              </a:tblGrid>
              <a:tr h="177011">
                <a:tc>
                  <a:txBody>
                    <a:bodyPr/>
                    <a:lstStyle/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  <a:tab pos="3200400" algn="l"/>
                          <a:tab pos="3429000" algn="l"/>
                          <a:tab pos="3657600" algn="l"/>
                          <a:tab pos="3886200" algn="l"/>
                          <a:tab pos="4114800" algn="l"/>
                          <a:tab pos="4343400" algn="l"/>
                          <a:tab pos="4572000" algn="l"/>
                          <a:tab pos="4800600" algn="l"/>
                          <a:tab pos="5029200" algn="l"/>
                          <a:tab pos="5257800" algn="l"/>
                          <a:tab pos="5486400" algn="l"/>
                          <a:tab pos="5715000" algn="l"/>
                          <a:tab pos="5943600" algn="l"/>
                        </a:tabLst>
                      </a:pPr>
                      <a:r>
                        <a:rPr lang="ko-KR" sz="800" kern="0" dirty="0" err="1">
                          <a:effectLst/>
                        </a:rPr>
                        <a:t>영도실업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81933644"/>
                  </a:ext>
                </a:extLst>
              </a:tr>
            </a:tbl>
          </a:graphicData>
        </a:graphic>
      </p:graphicFrame>
      <p:sp>
        <p:nvSpPr>
          <p:cNvPr id="37" name="Line 34"/>
          <p:cNvSpPr>
            <a:spLocks noChangeShapeType="1"/>
          </p:cNvSpPr>
          <p:nvPr/>
        </p:nvSpPr>
        <p:spPr bwMode="auto">
          <a:xfrm flipV="1">
            <a:off x="368543" y="3318444"/>
            <a:ext cx="4433796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+mn-ea"/>
            </a:endParaRPr>
          </a:p>
        </p:txBody>
      </p:sp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442775"/>
              </p:ext>
            </p:extLst>
          </p:nvPr>
        </p:nvGraphicFramePr>
        <p:xfrm>
          <a:off x="423056" y="3354217"/>
          <a:ext cx="1061727" cy="152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1727">
                  <a:extLst>
                    <a:ext uri="{9D8B030D-6E8A-4147-A177-3AD203B41FA5}">
                      <a16:colId xmlns:a16="http://schemas.microsoft.com/office/drawing/2014/main" val="958483346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US" altLang="ko-KR" sz="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ATTN.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47510840"/>
                  </a:ext>
                </a:extLst>
              </a:tr>
            </a:tbl>
          </a:graphicData>
        </a:graphic>
      </p:graphicFrame>
      <p:graphicFrame>
        <p:nvGraphicFramePr>
          <p:cNvPr id="39" name="표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831030"/>
              </p:ext>
            </p:extLst>
          </p:nvPr>
        </p:nvGraphicFramePr>
        <p:xfrm>
          <a:off x="1520671" y="3359348"/>
          <a:ext cx="3237280" cy="1770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37280">
                  <a:extLst>
                    <a:ext uri="{9D8B030D-6E8A-4147-A177-3AD203B41FA5}">
                      <a16:colId xmlns:a16="http://schemas.microsoft.com/office/drawing/2014/main" val="1437383123"/>
                    </a:ext>
                  </a:extLst>
                </a:gridCol>
              </a:tblGrid>
              <a:tr h="177011">
                <a:tc>
                  <a:txBody>
                    <a:bodyPr/>
                    <a:lstStyle/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  <a:tab pos="3200400" algn="l"/>
                          <a:tab pos="3429000" algn="l"/>
                          <a:tab pos="3657600" algn="l"/>
                          <a:tab pos="3886200" algn="l"/>
                          <a:tab pos="4114800" algn="l"/>
                          <a:tab pos="4343400" algn="l"/>
                          <a:tab pos="4572000" algn="l"/>
                          <a:tab pos="4800600" algn="l"/>
                          <a:tab pos="5029200" algn="l"/>
                          <a:tab pos="5257800" algn="l"/>
                          <a:tab pos="5486400" algn="l"/>
                          <a:tab pos="5715000" algn="l"/>
                          <a:tab pos="5943600" algn="l"/>
                        </a:tabLst>
                      </a:pPr>
                      <a:r>
                        <a:rPr lang="ko-KR" sz="800" kern="0" dirty="0" err="1">
                          <a:effectLst/>
                        </a:rPr>
                        <a:t>영도실업</a:t>
                      </a:r>
                      <a:r>
                        <a:rPr lang="en-US" altLang="ko-KR" sz="800" kern="0" dirty="0">
                          <a:effectLst/>
                        </a:rPr>
                        <a:t>                          TEL</a:t>
                      </a:r>
                      <a:r>
                        <a:rPr lang="en-US" altLang="ko-KR" sz="800" kern="0" baseline="0" dirty="0">
                          <a:effectLst/>
                        </a:rPr>
                        <a:t> / FAX : 02-657-1234 / 02-657-1235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81933644"/>
                  </a:ext>
                </a:extLst>
              </a:tr>
            </a:tbl>
          </a:graphicData>
        </a:graphic>
      </p:graphicFrame>
      <p:sp>
        <p:nvSpPr>
          <p:cNvPr id="40" name="Line 34"/>
          <p:cNvSpPr>
            <a:spLocks noChangeShapeType="1"/>
          </p:cNvSpPr>
          <p:nvPr/>
        </p:nvSpPr>
        <p:spPr bwMode="auto">
          <a:xfrm flipV="1">
            <a:off x="363356" y="3564067"/>
            <a:ext cx="4433796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+mn-ea"/>
            </a:endParaRPr>
          </a:p>
        </p:txBody>
      </p:sp>
      <p:sp>
        <p:nvSpPr>
          <p:cNvPr id="43" name="Line 34"/>
          <p:cNvSpPr>
            <a:spLocks noChangeShapeType="1"/>
          </p:cNvSpPr>
          <p:nvPr/>
        </p:nvSpPr>
        <p:spPr bwMode="auto">
          <a:xfrm flipV="1">
            <a:off x="363102" y="3794698"/>
            <a:ext cx="4433796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+mn-ea"/>
            </a:endParaRPr>
          </a:p>
        </p:txBody>
      </p:sp>
      <p:sp>
        <p:nvSpPr>
          <p:cNvPr id="46" name="Line 34"/>
          <p:cNvSpPr>
            <a:spLocks noChangeShapeType="1"/>
          </p:cNvSpPr>
          <p:nvPr/>
        </p:nvSpPr>
        <p:spPr bwMode="auto">
          <a:xfrm flipV="1">
            <a:off x="367291" y="4017649"/>
            <a:ext cx="4433796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+mn-ea"/>
            </a:endParaRPr>
          </a:p>
        </p:txBody>
      </p:sp>
      <p:graphicFrame>
        <p:nvGraphicFramePr>
          <p:cNvPr id="49" name="표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805505"/>
              </p:ext>
            </p:extLst>
          </p:nvPr>
        </p:nvGraphicFramePr>
        <p:xfrm>
          <a:off x="1513775" y="3631752"/>
          <a:ext cx="1043802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3802">
                  <a:extLst>
                    <a:ext uri="{9D8B030D-6E8A-4147-A177-3AD203B41FA5}">
                      <a16:colId xmlns:a16="http://schemas.microsoft.com/office/drawing/2014/main" val="4206223728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sz="800" kern="0" dirty="0">
                          <a:effectLst/>
                          <a:latin typeface="+mn-ea"/>
                          <a:ea typeface="+mn-ea"/>
                        </a:rPr>
                        <a:t>CHITTAGONG</a:t>
                      </a:r>
                      <a:endParaRPr lang="ko-KR" sz="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71448778"/>
                  </a:ext>
                </a:extLst>
              </a:tr>
            </a:tbl>
          </a:graphicData>
        </a:graphic>
      </p:graphicFrame>
      <p:graphicFrame>
        <p:nvGraphicFramePr>
          <p:cNvPr id="54" name="표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31796"/>
              </p:ext>
            </p:extLst>
          </p:nvPr>
        </p:nvGraphicFramePr>
        <p:xfrm>
          <a:off x="2765688" y="3606032"/>
          <a:ext cx="995987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5987">
                  <a:extLst>
                    <a:ext uri="{9D8B030D-6E8A-4147-A177-3AD203B41FA5}">
                      <a16:colId xmlns:a16="http://schemas.microsoft.com/office/drawing/2014/main" val="630811505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sz="8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Port of Discharge</a:t>
                      </a:r>
                      <a:endParaRPr lang="ko-KR" sz="8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55040176"/>
                  </a:ext>
                </a:extLst>
              </a:tr>
            </a:tbl>
          </a:graphicData>
        </a:graphic>
      </p:graphicFrame>
      <p:graphicFrame>
        <p:nvGraphicFramePr>
          <p:cNvPr id="55" name="표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630861"/>
              </p:ext>
            </p:extLst>
          </p:nvPr>
        </p:nvGraphicFramePr>
        <p:xfrm>
          <a:off x="3796352" y="3617832"/>
          <a:ext cx="966786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6786">
                  <a:extLst>
                    <a:ext uri="{9D8B030D-6E8A-4147-A177-3AD203B41FA5}">
                      <a16:colId xmlns:a16="http://schemas.microsoft.com/office/drawing/2014/main" val="4206223728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altLang="ko-KR" sz="800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BUSAN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71448778"/>
                  </a:ext>
                </a:extLst>
              </a:tr>
            </a:tbl>
          </a:graphicData>
        </a:graphic>
      </p:graphicFrame>
      <p:graphicFrame>
        <p:nvGraphicFramePr>
          <p:cNvPr id="56" name="표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636321"/>
              </p:ext>
            </p:extLst>
          </p:nvPr>
        </p:nvGraphicFramePr>
        <p:xfrm>
          <a:off x="403915" y="3840242"/>
          <a:ext cx="1080867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867">
                  <a:extLst>
                    <a:ext uri="{9D8B030D-6E8A-4147-A177-3AD203B41FA5}">
                      <a16:colId xmlns:a16="http://schemas.microsoft.com/office/drawing/2014/main" val="3867173163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Port of Delivery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17106068"/>
                  </a:ext>
                </a:extLst>
              </a:tr>
            </a:tbl>
          </a:graphicData>
        </a:graphic>
      </p:graphicFrame>
      <p:graphicFrame>
        <p:nvGraphicFramePr>
          <p:cNvPr id="58" name="표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359760"/>
              </p:ext>
            </p:extLst>
          </p:nvPr>
        </p:nvGraphicFramePr>
        <p:xfrm>
          <a:off x="2747792" y="3847503"/>
          <a:ext cx="1033633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3633">
                  <a:extLst>
                    <a:ext uri="{9D8B030D-6E8A-4147-A177-3AD203B41FA5}">
                      <a16:colId xmlns:a16="http://schemas.microsoft.com/office/drawing/2014/main" val="1344006034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altLang="ko-KR" sz="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Final</a:t>
                      </a:r>
                      <a:r>
                        <a:rPr lang="en-US" altLang="ko-KR" sz="800" kern="100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Destination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16646337"/>
                  </a:ext>
                </a:extLst>
              </a:tr>
            </a:tbl>
          </a:graphicData>
        </a:graphic>
      </p:graphicFrame>
      <p:graphicFrame>
        <p:nvGraphicFramePr>
          <p:cNvPr id="62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138471"/>
              </p:ext>
            </p:extLst>
          </p:nvPr>
        </p:nvGraphicFramePr>
        <p:xfrm>
          <a:off x="406839" y="3613913"/>
          <a:ext cx="1077943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7943">
                  <a:extLst>
                    <a:ext uri="{9D8B030D-6E8A-4147-A177-3AD203B41FA5}">
                      <a16:colId xmlns:a16="http://schemas.microsoft.com/office/drawing/2014/main" val="630811505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sz="8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Port of Loading</a:t>
                      </a:r>
                      <a:endParaRPr lang="ko-KR" sz="8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55040176"/>
                  </a:ext>
                </a:extLst>
              </a:tr>
            </a:tbl>
          </a:graphicData>
        </a:graphic>
      </p:graphicFrame>
      <p:graphicFrame>
        <p:nvGraphicFramePr>
          <p:cNvPr id="63" name="표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342058"/>
              </p:ext>
            </p:extLst>
          </p:nvPr>
        </p:nvGraphicFramePr>
        <p:xfrm>
          <a:off x="1505564" y="3847503"/>
          <a:ext cx="1040664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0664">
                  <a:extLst>
                    <a:ext uri="{9D8B030D-6E8A-4147-A177-3AD203B41FA5}">
                      <a16:colId xmlns:a16="http://schemas.microsoft.com/office/drawing/2014/main" val="4206223728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altLang="ko-KR" sz="800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BUSAN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71448778"/>
                  </a:ext>
                </a:extLst>
              </a:tr>
            </a:tbl>
          </a:graphicData>
        </a:graphic>
      </p:graphicFrame>
      <p:graphicFrame>
        <p:nvGraphicFramePr>
          <p:cNvPr id="64" name="표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420154"/>
              </p:ext>
            </p:extLst>
          </p:nvPr>
        </p:nvGraphicFramePr>
        <p:xfrm>
          <a:off x="3790441" y="3847503"/>
          <a:ext cx="966786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6786">
                  <a:extLst>
                    <a:ext uri="{9D8B030D-6E8A-4147-A177-3AD203B41FA5}">
                      <a16:colId xmlns:a16="http://schemas.microsoft.com/office/drawing/2014/main" val="4206223728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altLang="ko-KR" sz="800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BUSAN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71448778"/>
                  </a:ext>
                </a:extLst>
              </a:tr>
            </a:tbl>
          </a:graphicData>
        </a:graphic>
      </p:graphicFrame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94275"/>
              </p:ext>
            </p:extLst>
          </p:nvPr>
        </p:nvGraphicFramePr>
        <p:xfrm>
          <a:off x="412283" y="4104025"/>
          <a:ext cx="4350855" cy="1614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50855">
                  <a:extLst>
                    <a:ext uri="{9D8B030D-6E8A-4147-A177-3AD203B41FA5}">
                      <a16:colId xmlns:a16="http://schemas.microsoft.com/office/drawing/2014/main" val="3645511984"/>
                    </a:ext>
                  </a:extLst>
                </a:gridCol>
              </a:tblGrid>
              <a:tr h="161410">
                <a:tc>
                  <a:txBody>
                    <a:bodyPr/>
                    <a:lstStyle/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  <a:tab pos="3200400" algn="l"/>
                          <a:tab pos="3429000" algn="l"/>
                          <a:tab pos="3657600" algn="l"/>
                          <a:tab pos="3886200" algn="l"/>
                          <a:tab pos="4114800" algn="l"/>
                          <a:tab pos="4343400" algn="l"/>
                          <a:tab pos="4572000" algn="l"/>
                          <a:tab pos="4800600" algn="l"/>
                          <a:tab pos="5029200" algn="l"/>
                          <a:tab pos="5257800" algn="l"/>
                          <a:tab pos="5486400" algn="l"/>
                          <a:tab pos="5715000" algn="l"/>
                          <a:tab pos="5943600" algn="l"/>
                          <a:tab pos="6172200" algn="l"/>
                          <a:tab pos="6400800" algn="l"/>
                          <a:tab pos="6629400" algn="l"/>
                        </a:tabLst>
                      </a:pPr>
                      <a:r>
                        <a:rPr lang="en-US" sz="900" kern="0" dirty="0">
                          <a:effectLst/>
                        </a:rPr>
                        <a:t>1. </a:t>
                      </a:r>
                      <a:r>
                        <a:rPr lang="ko-KR" sz="900" kern="0" dirty="0">
                          <a:effectLst/>
                        </a:rPr>
                        <a:t>귀사의 일익 번창하심을 기원합니다</a:t>
                      </a:r>
                      <a:r>
                        <a:rPr lang="en-US" sz="900" kern="0" dirty="0">
                          <a:effectLst/>
                        </a:rPr>
                        <a:t>.</a:t>
                      </a:r>
                      <a:endParaRPr lang="ko-KR" sz="9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4016958"/>
                  </a:ext>
                </a:extLst>
              </a:tr>
            </a:tbl>
          </a:graphicData>
        </a:graphic>
      </p:graphicFrame>
      <p:graphicFrame>
        <p:nvGraphicFramePr>
          <p:cNvPr id="65" name="표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050339"/>
              </p:ext>
            </p:extLst>
          </p:nvPr>
        </p:nvGraphicFramePr>
        <p:xfrm>
          <a:off x="402945" y="4327436"/>
          <a:ext cx="4349553" cy="1614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49553">
                  <a:extLst>
                    <a:ext uri="{9D8B030D-6E8A-4147-A177-3AD203B41FA5}">
                      <a16:colId xmlns:a16="http://schemas.microsoft.com/office/drawing/2014/main" val="367545643"/>
                    </a:ext>
                  </a:extLst>
                </a:gridCol>
              </a:tblGrid>
              <a:tr h="161410">
                <a:tc>
                  <a:txBody>
                    <a:bodyPr/>
                    <a:lstStyle/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  <a:tab pos="3200400" algn="l"/>
                          <a:tab pos="3429000" algn="l"/>
                          <a:tab pos="3657600" algn="l"/>
                          <a:tab pos="3886200" algn="l"/>
                          <a:tab pos="4114800" algn="l"/>
                          <a:tab pos="4343400" algn="l"/>
                          <a:tab pos="4572000" algn="l"/>
                          <a:tab pos="4800600" algn="l"/>
                          <a:tab pos="5029200" algn="l"/>
                          <a:tab pos="5257800" algn="l"/>
                          <a:tab pos="5486400" algn="l"/>
                          <a:tab pos="5715000" algn="l"/>
                          <a:tab pos="5943600" algn="l"/>
                          <a:tab pos="6172200" algn="l"/>
                          <a:tab pos="6400800" algn="l"/>
                          <a:tab pos="6629400" algn="l"/>
                        </a:tabLst>
                      </a:pPr>
                      <a:r>
                        <a:rPr lang="en-US" sz="900" kern="0" dirty="0">
                          <a:effectLst/>
                        </a:rPr>
                        <a:t>2. </a:t>
                      </a:r>
                      <a:r>
                        <a:rPr lang="ko-KR" sz="900" kern="0" dirty="0">
                          <a:effectLst/>
                        </a:rPr>
                        <a:t>해상 운임을 다음과 같이</a:t>
                      </a:r>
                      <a:r>
                        <a:rPr lang="en-US" sz="900" kern="0" dirty="0">
                          <a:effectLst/>
                        </a:rPr>
                        <a:t>  </a:t>
                      </a:r>
                      <a:r>
                        <a:rPr lang="ko-KR" sz="900" kern="0" dirty="0">
                          <a:effectLst/>
                        </a:rPr>
                        <a:t>알려드리오니 참조하시어 많은 협조 부탁드립니다</a:t>
                      </a:r>
                      <a:r>
                        <a:rPr lang="en-US" sz="900" kern="0" dirty="0">
                          <a:effectLst/>
                        </a:rPr>
                        <a:t>.</a:t>
                      </a:r>
                      <a:endParaRPr lang="ko-KR" sz="9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658480"/>
                  </a:ext>
                </a:extLst>
              </a:tr>
            </a:tbl>
          </a:graphicData>
        </a:graphic>
      </p:graphicFrame>
      <p:graphicFrame>
        <p:nvGraphicFramePr>
          <p:cNvPr id="102" name="표 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377707"/>
              </p:ext>
            </p:extLst>
          </p:nvPr>
        </p:nvGraphicFramePr>
        <p:xfrm>
          <a:off x="427714" y="4808984"/>
          <a:ext cx="1524000" cy="184023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592832547"/>
                    </a:ext>
                  </a:extLst>
                </a:gridCol>
              </a:tblGrid>
              <a:tr h="175260">
                <a:tc>
                  <a:txBody>
                    <a:bodyPr/>
                    <a:lstStyle/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sz="105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INCORTERMS : CFR</a:t>
                      </a:r>
                      <a:endParaRPr lang="ko-KR" sz="10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5692478"/>
                  </a:ext>
                </a:extLst>
              </a:tr>
            </a:tbl>
          </a:graphicData>
        </a:graphic>
      </p:graphicFrame>
      <p:graphicFrame>
        <p:nvGraphicFramePr>
          <p:cNvPr id="114" name="표 1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464274"/>
              </p:ext>
            </p:extLst>
          </p:nvPr>
        </p:nvGraphicFramePr>
        <p:xfrm>
          <a:off x="1980174" y="4811737"/>
          <a:ext cx="2744970" cy="1840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4970">
                  <a:extLst>
                    <a:ext uri="{9D8B030D-6E8A-4147-A177-3AD203B41FA5}">
                      <a16:colId xmlns:a16="http://schemas.microsoft.com/office/drawing/2014/main" val="3464997160"/>
                    </a:ext>
                  </a:extLst>
                </a:gridCol>
              </a:tblGrid>
              <a:tr h="175260">
                <a:tc>
                  <a:txBody>
                    <a:bodyPr/>
                    <a:lstStyle/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  <a:tab pos="3200400" algn="l"/>
                          <a:tab pos="3429000" algn="l"/>
                          <a:tab pos="3657600" algn="l"/>
                          <a:tab pos="3886200" algn="l"/>
                          <a:tab pos="4114800" algn="l"/>
                          <a:tab pos="4343400" algn="l"/>
                          <a:tab pos="4572000" algn="l"/>
                          <a:tab pos="4800600" algn="l"/>
                          <a:tab pos="5029200" algn="l"/>
                        </a:tabLst>
                      </a:pPr>
                      <a:r>
                        <a:rPr lang="en-US" sz="1050" kern="0" dirty="0">
                          <a:effectLst/>
                        </a:rPr>
                        <a:t>POL</a:t>
                      </a:r>
                      <a:r>
                        <a:rPr lang="en-US" sz="1050" kern="0" baseline="0" dirty="0">
                          <a:effectLst/>
                        </a:rPr>
                        <a:t> : </a:t>
                      </a:r>
                      <a:r>
                        <a:rPr lang="en-US" sz="1050" kern="0" dirty="0">
                          <a:effectLst/>
                        </a:rPr>
                        <a:t>BUSAN KOREA   P.O.D</a:t>
                      </a:r>
                      <a:r>
                        <a:rPr lang="en-US" sz="1050" kern="0" baseline="0" dirty="0">
                          <a:effectLst/>
                        </a:rPr>
                        <a:t> :</a:t>
                      </a:r>
                      <a:r>
                        <a:rPr lang="en-US" sz="1050" kern="0" dirty="0">
                          <a:effectLst/>
                        </a:rPr>
                        <a:t> LONG BEACH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914698"/>
                  </a:ext>
                </a:extLst>
              </a:tr>
            </a:tbl>
          </a:graphicData>
        </a:graphic>
      </p:graphicFrame>
      <p:graphicFrame>
        <p:nvGraphicFramePr>
          <p:cNvPr id="115" name="표 1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728732"/>
              </p:ext>
            </p:extLst>
          </p:nvPr>
        </p:nvGraphicFramePr>
        <p:xfrm>
          <a:off x="428274" y="5133679"/>
          <a:ext cx="1524000" cy="184023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592832547"/>
                    </a:ext>
                  </a:extLst>
                </a:gridCol>
              </a:tblGrid>
              <a:tr h="175260">
                <a:tc>
                  <a:txBody>
                    <a:bodyPr/>
                    <a:lstStyle/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sz="1050" b="0" u="sng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1. FREIGHT CHARGE</a:t>
                      </a:r>
                      <a:endParaRPr lang="ko-KR" sz="1000" b="0" u="sng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5692478"/>
                  </a:ext>
                </a:extLst>
              </a:tr>
            </a:tbl>
          </a:graphicData>
        </a:graphic>
      </p:graphicFrame>
      <p:graphicFrame>
        <p:nvGraphicFramePr>
          <p:cNvPr id="117" name="표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67018"/>
              </p:ext>
            </p:extLst>
          </p:nvPr>
        </p:nvGraphicFramePr>
        <p:xfrm>
          <a:off x="427530" y="5348282"/>
          <a:ext cx="433560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184">
                  <a:extLst>
                    <a:ext uri="{9D8B030D-6E8A-4147-A177-3AD203B41FA5}">
                      <a16:colId xmlns:a16="http://schemas.microsoft.com/office/drawing/2014/main" val="20738009"/>
                    </a:ext>
                  </a:extLst>
                </a:gridCol>
                <a:gridCol w="538045">
                  <a:extLst>
                    <a:ext uri="{9D8B030D-6E8A-4147-A177-3AD203B41FA5}">
                      <a16:colId xmlns:a16="http://schemas.microsoft.com/office/drawing/2014/main" val="2300298393"/>
                    </a:ext>
                  </a:extLst>
                </a:gridCol>
                <a:gridCol w="540106">
                  <a:extLst>
                    <a:ext uri="{9D8B030D-6E8A-4147-A177-3AD203B41FA5}">
                      <a16:colId xmlns:a16="http://schemas.microsoft.com/office/drawing/2014/main" val="1404448684"/>
                    </a:ext>
                  </a:extLst>
                </a:gridCol>
                <a:gridCol w="440922">
                  <a:extLst>
                    <a:ext uri="{9D8B030D-6E8A-4147-A177-3AD203B41FA5}">
                      <a16:colId xmlns:a16="http://schemas.microsoft.com/office/drawing/2014/main" val="3099815245"/>
                    </a:ext>
                  </a:extLst>
                </a:gridCol>
                <a:gridCol w="538721">
                  <a:extLst>
                    <a:ext uri="{9D8B030D-6E8A-4147-A177-3AD203B41FA5}">
                      <a16:colId xmlns:a16="http://schemas.microsoft.com/office/drawing/2014/main" val="728612796"/>
                    </a:ext>
                  </a:extLst>
                </a:gridCol>
                <a:gridCol w="1170683">
                  <a:extLst>
                    <a:ext uri="{9D8B030D-6E8A-4147-A177-3AD203B41FA5}">
                      <a16:colId xmlns:a16="http://schemas.microsoft.com/office/drawing/2014/main" val="1770110909"/>
                    </a:ext>
                  </a:extLst>
                </a:gridCol>
                <a:gridCol w="558947">
                  <a:extLst>
                    <a:ext uri="{9D8B030D-6E8A-4147-A177-3AD203B41FA5}">
                      <a16:colId xmlns:a16="http://schemas.microsoft.com/office/drawing/2014/main" val="2690422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P.O.L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P.O.D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CODE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CUR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LCL</a:t>
                      </a:r>
                    </a:p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(CBM)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Container Type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BULK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147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KRPUS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USLBH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OFC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USD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25.00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20DR</a:t>
                      </a:r>
                      <a:r>
                        <a:rPr lang="en-US" altLang="ko-KR" sz="600" b="1" baseline="0" dirty="0">
                          <a:solidFill>
                            <a:schemeClr val="tx1"/>
                          </a:solidFill>
                        </a:rPr>
                        <a:t> X 1 , 40DR X 1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802489"/>
                  </a:ext>
                </a:extLst>
              </a:tr>
            </a:tbl>
          </a:graphicData>
        </a:graphic>
      </p:graphicFrame>
      <p:graphicFrame>
        <p:nvGraphicFramePr>
          <p:cNvPr id="118" name="표 1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740168"/>
              </p:ext>
            </p:extLst>
          </p:nvPr>
        </p:nvGraphicFramePr>
        <p:xfrm>
          <a:off x="405408" y="6156957"/>
          <a:ext cx="1524000" cy="184023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592832547"/>
                    </a:ext>
                  </a:extLst>
                </a:gridCol>
              </a:tblGrid>
              <a:tr h="175260">
                <a:tc>
                  <a:txBody>
                    <a:bodyPr/>
                    <a:lstStyle/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sz="1050" b="0" u="sng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2. OTHER CHARGE</a:t>
                      </a:r>
                      <a:endParaRPr lang="ko-KR" sz="1000" b="0" u="sng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5692478"/>
                  </a:ext>
                </a:extLst>
              </a:tr>
            </a:tbl>
          </a:graphicData>
        </a:graphic>
      </p:graphicFrame>
      <p:graphicFrame>
        <p:nvGraphicFramePr>
          <p:cNvPr id="119" name="표 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472565"/>
              </p:ext>
            </p:extLst>
          </p:nvPr>
        </p:nvGraphicFramePr>
        <p:xfrm>
          <a:off x="404662" y="6371560"/>
          <a:ext cx="434783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630">
                  <a:extLst>
                    <a:ext uri="{9D8B030D-6E8A-4147-A177-3AD203B41FA5}">
                      <a16:colId xmlns:a16="http://schemas.microsoft.com/office/drawing/2014/main" val="20738009"/>
                    </a:ext>
                  </a:extLst>
                </a:gridCol>
                <a:gridCol w="555170">
                  <a:extLst>
                    <a:ext uri="{9D8B030D-6E8A-4147-A177-3AD203B41FA5}">
                      <a16:colId xmlns:a16="http://schemas.microsoft.com/office/drawing/2014/main" val="2300298393"/>
                    </a:ext>
                  </a:extLst>
                </a:gridCol>
                <a:gridCol w="557295">
                  <a:extLst>
                    <a:ext uri="{9D8B030D-6E8A-4147-A177-3AD203B41FA5}">
                      <a16:colId xmlns:a16="http://schemas.microsoft.com/office/drawing/2014/main" val="1404448684"/>
                    </a:ext>
                  </a:extLst>
                </a:gridCol>
                <a:gridCol w="961299">
                  <a:extLst>
                    <a:ext uri="{9D8B030D-6E8A-4147-A177-3AD203B41FA5}">
                      <a16:colId xmlns:a16="http://schemas.microsoft.com/office/drawing/2014/main" val="3099815245"/>
                    </a:ext>
                  </a:extLst>
                </a:gridCol>
                <a:gridCol w="439769">
                  <a:extLst>
                    <a:ext uri="{9D8B030D-6E8A-4147-A177-3AD203B41FA5}">
                      <a16:colId xmlns:a16="http://schemas.microsoft.com/office/drawing/2014/main" val="728612796"/>
                    </a:ext>
                  </a:extLst>
                </a:gridCol>
                <a:gridCol w="691936">
                  <a:extLst>
                    <a:ext uri="{9D8B030D-6E8A-4147-A177-3AD203B41FA5}">
                      <a16:colId xmlns:a16="http://schemas.microsoft.com/office/drawing/2014/main" val="1770110909"/>
                    </a:ext>
                  </a:extLst>
                </a:gridCol>
                <a:gridCol w="576736">
                  <a:extLst>
                    <a:ext uri="{9D8B030D-6E8A-4147-A177-3AD203B41FA5}">
                      <a16:colId xmlns:a16="http://schemas.microsoft.com/office/drawing/2014/main" val="2690422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P.O.L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P.O.D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CODE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CUR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Rate/CBM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Rate/BL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147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KRPUS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USLBH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DOC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DOCUMENT FEE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USD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802489"/>
                  </a:ext>
                </a:extLst>
              </a:tr>
            </a:tbl>
          </a:graphicData>
        </a:graphic>
      </p:graphicFrame>
      <p:graphicFrame>
        <p:nvGraphicFramePr>
          <p:cNvPr id="120" name="표 1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336371"/>
              </p:ext>
            </p:extLst>
          </p:nvPr>
        </p:nvGraphicFramePr>
        <p:xfrm>
          <a:off x="423801" y="7133406"/>
          <a:ext cx="1524000" cy="184023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592832547"/>
                    </a:ext>
                  </a:extLst>
                </a:gridCol>
              </a:tblGrid>
              <a:tr h="175260">
                <a:tc>
                  <a:txBody>
                    <a:bodyPr/>
                    <a:lstStyle/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sz="1050" b="0" u="sng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3. TRUCKING</a:t>
                      </a:r>
                      <a:r>
                        <a:rPr lang="en-US" sz="1050" b="0" u="sng" kern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CHARGE</a:t>
                      </a:r>
                      <a:endParaRPr lang="ko-KR" sz="1000" b="0" u="sng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5692478"/>
                  </a:ext>
                </a:extLst>
              </a:tr>
            </a:tbl>
          </a:graphicData>
        </a:graphic>
      </p:graphicFrame>
      <p:graphicFrame>
        <p:nvGraphicFramePr>
          <p:cNvPr id="121" name="표 1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883399"/>
              </p:ext>
            </p:extLst>
          </p:nvPr>
        </p:nvGraphicFramePr>
        <p:xfrm>
          <a:off x="423056" y="7348009"/>
          <a:ext cx="43201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972">
                  <a:extLst>
                    <a:ext uri="{9D8B030D-6E8A-4147-A177-3AD203B41FA5}">
                      <a16:colId xmlns:a16="http://schemas.microsoft.com/office/drawing/2014/main" val="20738009"/>
                    </a:ext>
                  </a:extLst>
                </a:gridCol>
                <a:gridCol w="539800">
                  <a:extLst>
                    <a:ext uri="{9D8B030D-6E8A-4147-A177-3AD203B41FA5}">
                      <a16:colId xmlns:a16="http://schemas.microsoft.com/office/drawing/2014/main" val="2300298393"/>
                    </a:ext>
                  </a:extLst>
                </a:gridCol>
                <a:gridCol w="539800">
                  <a:extLst>
                    <a:ext uri="{9D8B030D-6E8A-4147-A177-3AD203B41FA5}">
                      <a16:colId xmlns:a16="http://schemas.microsoft.com/office/drawing/2014/main" val="697508543"/>
                    </a:ext>
                  </a:extLst>
                </a:gridCol>
                <a:gridCol w="786428">
                  <a:extLst>
                    <a:ext uri="{9D8B030D-6E8A-4147-A177-3AD203B41FA5}">
                      <a16:colId xmlns:a16="http://schemas.microsoft.com/office/drawing/2014/main" val="230112124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404448684"/>
                    </a:ext>
                  </a:extLst>
                </a:gridCol>
                <a:gridCol w="467345">
                  <a:extLst>
                    <a:ext uri="{9D8B030D-6E8A-4147-A177-3AD203B41FA5}">
                      <a16:colId xmlns:a16="http://schemas.microsoft.com/office/drawing/2014/main" val="3099815245"/>
                    </a:ext>
                  </a:extLst>
                </a:gridCol>
                <a:gridCol w="467345">
                  <a:extLst>
                    <a:ext uri="{9D8B030D-6E8A-4147-A177-3AD203B41FA5}">
                      <a16:colId xmlns:a16="http://schemas.microsoft.com/office/drawing/2014/main" val="2867107378"/>
                    </a:ext>
                  </a:extLst>
                </a:gridCol>
                <a:gridCol w="427595">
                  <a:extLst>
                    <a:ext uri="{9D8B030D-6E8A-4147-A177-3AD203B41FA5}">
                      <a16:colId xmlns:a16="http://schemas.microsoft.com/office/drawing/2014/main" val="7286127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</a:rPr>
                        <a:t>출발지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</a:rPr>
                        <a:t>도착지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CODE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LCL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20’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40’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ETC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147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KRPUS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USLBH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TRC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Trucking</a:t>
                      </a:r>
                      <a:r>
                        <a:rPr lang="en-US" altLang="ko-KR" sz="600" b="1" baseline="0" dirty="0">
                          <a:solidFill>
                            <a:schemeClr val="tx1"/>
                          </a:solidFill>
                        </a:rPr>
                        <a:t> Charge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802489"/>
                  </a:ext>
                </a:extLst>
              </a:tr>
            </a:tbl>
          </a:graphicData>
        </a:graphic>
      </p:graphicFrame>
      <p:graphicFrame>
        <p:nvGraphicFramePr>
          <p:cNvPr id="122" name="표 1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449372"/>
              </p:ext>
            </p:extLst>
          </p:nvPr>
        </p:nvGraphicFramePr>
        <p:xfrm>
          <a:off x="413028" y="8158713"/>
          <a:ext cx="2223884" cy="184023"/>
        </p:xfrm>
        <a:graphic>
          <a:graphicData uri="http://schemas.openxmlformats.org/drawingml/2006/table">
            <a:tbl>
              <a:tblPr/>
              <a:tblGrid>
                <a:gridCol w="2223884">
                  <a:extLst>
                    <a:ext uri="{9D8B030D-6E8A-4147-A177-3AD203B41FA5}">
                      <a16:colId xmlns:a16="http://schemas.microsoft.com/office/drawing/2014/main" val="2592832547"/>
                    </a:ext>
                  </a:extLst>
                </a:gridCol>
              </a:tblGrid>
              <a:tr h="175260">
                <a:tc>
                  <a:txBody>
                    <a:bodyPr/>
                    <a:lstStyle/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sz="1050" b="0" u="sng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4. WHAREHOUSE</a:t>
                      </a:r>
                      <a:r>
                        <a:rPr lang="en-US" sz="1050" b="0" u="sng" kern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CHARGE</a:t>
                      </a:r>
                      <a:endParaRPr lang="ko-KR" sz="1000" b="0" u="sng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5692478"/>
                  </a:ext>
                </a:extLst>
              </a:tr>
            </a:tbl>
          </a:graphicData>
        </a:graphic>
      </p:graphicFrame>
      <p:graphicFrame>
        <p:nvGraphicFramePr>
          <p:cNvPr id="123" name="표 1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521036"/>
              </p:ext>
            </p:extLst>
          </p:nvPr>
        </p:nvGraphicFramePr>
        <p:xfrm>
          <a:off x="412283" y="8373316"/>
          <a:ext cx="433092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880">
                  <a:extLst>
                    <a:ext uri="{9D8B030D-6E8A-4147-A177-3AD203B41FA5}">
                      <a16:colId xmlns:a16="http://schemas.microsoft.com/office/drawing/2014/main" val="20738009"/>
                    </a:ext>
                  </a:extLst>
                </a:gridCol>
                <a:gridCol w="967646">
                  <a:extLst>
                    <a:ext uri="{9D8B030D-6E8A-4147-A177-3AD203B41FA5}">
                      <a16:colId xmlns:a16="http://schemas.microsoft.com/office/drawing/2014/main" val="2300298393"/>
                    </a:ext>
                  </a:extLst>
                </a:gridCol>
                <a:gridCol w="967646">
                  <a:extLst>
                    <a:ext uri="{9D8B030D-6E8A-4147-A177-3AD203B41FA5}">
                      <a16:colId xmlns:a16="http://schemas.microsoft.com/office/drawing/2014/main" val="697508543"/>
                    </a:ext>
                  </a:extLst>
                </a:gridCol>
                <a:gridCol w="1409752">
                  <a:extLst>
                    <a:ext uri="{9D8B030D-6E8A-4147-A177-3AD203B41FA5}">
                      <a16:colId xmlns:a16="http://schemas.microsoft.com/office/drawing/2014/main" val="2301121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</a:rPr>
                        <a:t>보관일수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</a:rPr>
                        <a:t>창고료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</a:rPr>
                        <a:t>작업료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</a:rPr>
                        <a:t>보험료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147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</a:rPr>
                        <a:t>일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500,000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150,000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100,000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802489"/>
                  </a:ext>
                </a:extLst>
              </a:tr>
            </a:tbl>
          </a:graphicData>
        </a:graphic>
      </p:graphicFrame>
      <p:sp>
        <p:nvSpPr>
          <p:cNvPr id="124" name="Line 34"/>
          <p:cNvSpPr>
            <a:spLocks noChangeShapeType="1"/>
          </p:cNvSpPr>
          <p:nvPr/>
        </p:nvSpPr>
        <p:spPr bwMode="auto">
          <a:xfrm flipV="1">
            <a:off x="363356" y="4592960"/>
            <a:ext cx="4433796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+mn-ea"/>
            </a:endParaRPr>
          </a:p>
        </p:txBody>
      </p:sp>
      <p:sp>
        <p:nvSpPr>
          <p:cNvPr id="125" name="Line 34"/>
          <p:cNvSpPr>
            <a:spLocks noChangeShapeType="1"/>
          </p:cNvSpPr>
          <p:nvPr/>
        </p:nvSpPr>
        <p:spPr bwMode="auto">
          <a:xfrm flipV="1">
            <a:off x="363102" y="2333220"/>
            <a:ext cx="4433796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9262038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23030"/>
              </p:ext>
            </p:extLst>
          </p:nvPr>
        </p:nvGraphicFramePr>
        <p:xfrm>
          <a:off x="381915" y="443156"/>
          <a:ext cx="6101742" cy="754104"/>
        </p:xfrm>
        <a:graphic>
          <a:graphicData uri="http://schemas.openxmlformats.org/drawingml/2006/table">
            <a:tbl>
              <a:tblPr/>
              <a:tblGrid>
                <a:gridCol w="78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업무시스템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디지털물류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 네트워크</a:t>
                      </a:r>
                      <a:r>
                        <a:rPr lang="ko-KR" altLang="en-US" sz="1000" b="0" kern="100" baseline="0" dirty="0">
                          <a:latin typeface="+mn-ea"/>
                          <a:ea typeface="+mn-ea"/>
                          <a:cs typeface="Times New Roman"/>
                        </a:rPr>
                        <a:t> 시스템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단위시스템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디지털물류네트워크 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-Shipping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작성자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허철원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보고서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RP-G-01-01-01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latin typeface="+mn-ea"/>
                          <a:ea typeface="+mn-ea"/>
                          <a:cs typeface="Times New Roman"/>
                        </a:rPr>
                        <a:t>보고서명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부킹확인서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56248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요구사항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작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성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일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2022.03.30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93132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359204" y="1388616"/>
            <a:ext cx="4464000" cy="7956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6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813595" y="1388616"/>
            <a:ext cx="1656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설명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823121" y="1604614"/>
            <a:ext cx="1646474" cy="77408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6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59120" y="1388616"/>
            <a:ext cx="4464000" cy="215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부킹확인서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60" name="표 59"/>
          <p:cNvGraphicFramePr>
            <a:graphicFrameLocks noGrp="1"/>
          </p:cNvGraphicFramePr>
          <p:nvPr/>
        </p:nvGraphicFramePr>
        <p:xfrm>
          <a:off x="4832730" y="1604613"/>
          <a:ext cx="1646474" cy="77408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064">
                  <a:extLst>
                    <a:ext uri="{9D8B030D-6E8A-4147-A177-3AD203B41FA5}">
                      <a16:colId xmlns:a16="http://schemas.microsoft.com/office/drawing/2014/main" val="377206406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372353527"/>
                    </a:ext>
                  </a:extLst>
                </a:gridCol>
                <a:gridCol w="1024370">
                  <a:extLst>
                    <a:ext uri="{9D8B030D-6E8A-4147-A177-3AD203B41FA5}">
                      <a16:colId xmlns:a16="http://schemas.microsoft.com/office/drawing/2014/main" val="237939870"/>
                    </a:ext>
                  </a:extLst>
                </a:gridCol>
              </a:tblGrid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설명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932500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7188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86176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772858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840459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58896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162664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317237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14595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833743"/>
                  </a:ext>
                </a:extLst>
              </a:tr>
            </a:tbl>
          </a:graphicData>
        </a:graphic>
      </p:graphicFrame>
      <p:grpSp>
        <p:nvGrpSpPr>
          <p:cNvPr id="85" name="그룹 84">
            <a:extLst>
              <a:ext uri="{FF2B5EF4-FFF2-40B4-BE49-F238E27FC236}">
                <a16:creationId xmlns:a16="http://schemas.microsoft.com/office/drawing/2014/main" id="{2DF0CD8A-9F94-F843-8C69-7C323CADDC65}"/>
              </a:ext>
            </a:extLst>
          </p:cNvPr>
          <p:cNvGrpSpPr/>
          <p:nvPr/>
        </p:nvGrpSpPr>
        <p:grpSpPr>
          <a:xfrm>
            <a:off x="1531655" y="9127326"/>
            <a:ext cx="2160000" cy="230832"/>
            <a:chOff x="7364412" y="6510536"/>
            <a:chExt cx="2196305" cy="257066"/>
          </a:xfrm>
        </p:grpSpPr>
        <p:sp>
          <p:nvSpPr>
            <p:cNvPr id="86" name="아래쪽 화살표 277">
              <a:extLst>
                <a:ext uri="{FF2B5EF4-FFF2-40B4-BE49-F238E27FC236}">
                  <a16:creationId xmlns:a16="http://schemas.microsoft.com/office/drawing/2014/main" id="{6DFF2407-EAFD-AA49-A069-E3E3DD323E17}"/>
                </a:ext>
              </a:extLst>
            </p:cNvPr>
            <p:cNvSpPr/>
            <p:nvPr userDrawn="1"/>
          </p:nvSpPr>
          <p:spPr bwMode="auto">
            <a:xfrm>
              <a:off x="7364412" y="6535060"/>
              <a:ext cx="2196305" cy="216024"/>
            </a:xfrm>
            <a:prstGeom prst="downArrow">
              <a:avLst>
                <a:gd name="adj1" fmla="val 86082"/>
                <a:gd name="adj2" fmla="val 50000"/>
              </a:avLst>
            </a:prstGeom>
            <a:solidFill>
              <a:srgbClr val="8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173163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charset="-127"/>
                <a:ea typeface="굴림" charset="-127"/>
                <a:cs typeface="+mn-cs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703052F-B7B0-EE45-99E5-05FBA2024434}"/>
                </a:ext>
              </a:extLst>
            </p:cNvPr>
            <p:cNvSpPr txBox="1"/>
            <p:nvPr userDrawn="1"/>
          </p:nvSpPr>
          <p:spPr>
            <a:xfrm>
              <a:off x="7874741" y="6510536"/>
              <a:ext cx="1090760" cy="2570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다음 장에 이어서</a:t>
              </a:r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80" y="2288704"/>
            <a:ext cx="4184715" cy="554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28162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072271"/>
              </p:ext>
            </p:extLst>
          </p:nvPr>
        </p:nvGraphicFramePr>
        <p:xfrm>
          <a:off x="381915" y="443156"/>
          <a:ext cx="6101742" cy="754104"/>
        </p:xfrm>
        <a:graphic>
          <a:graphicData uri="http://schemas.openxmlformats.org/drawingml/2006/table">
            <a:tbl>
              <a:tblPr/>
              <a:tblGrid>
                <a:gridCol w="78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업무시스템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디지털물류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 네트워크</a:t>
                      </a:r>
                      <a:r>
                        <a:rPr lang="ko-KR" altLang="en-US" sz="1000" b="0" kern="100" baseline="0" dirty="0">
                          <a:latin typeface="+mn-ea"/>
                          <a:ea typeface="+mn-ea"/>
                          <a:cs typeface="Times New Roman"/>
                        </a:rPr>
                        <a:t> 시스템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단위시스템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디지털물류네트워크 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-Shipping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작성자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허철원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보고서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RP-G-01-01-01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latin typeface="+mn-ea"/>
                          <a:ea typeface="+mn-ea"/>
                          <a:cs typeface="Times New Roman"/>
                        </a:rPr>
                        <a:t>보고서명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DO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56248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요구사항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작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성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일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2022.03.30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93132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359204" y="1388616"/>
            <a:ext cx="4464000" cy="7956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813595" y="1388616"/>
            <a:ext cx="1656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823121" y="1604614"/>
            <a:ext cx="1646474" cy="77408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359120" y="1388616"/>
            <a:ext cx="4464000" cy="215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DO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60" name="표 59"/>
          <p:cNvGraphicFramePr>
            <a:graphicFrameLocks noGrp="1"/>
          </p:cNvGraphicFramePr>
          <p:nvPr/>
        </p:nvGraphicFramePr>
        <p:xfrm>
          <a:off x="4832730" y="1604613"/>
          <a:ext cx="1646474" cy="77408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064">
                  <a:extLst>
                    <a:ext uri="{9D8B030D-6E8A-4147-A177-3AD203B41FA5}">
                      <a16:colId xmlns:a16="http://schemas.microsoft.com/office/drawing/2014/main" val="377206406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372353527"/>
                    </a:ext>
                  </a:extLst>
                </a:gridCol>
                <a:gridCol w="1024370">
                  <a:extLst>
                    <a:ext uri="{9D8B030D-6E8A-4147-A177-3AD203B41FA5}">
                      <a16:colId xmlns:a16="http://schemas.microsoft.com/office/drawing/2014/main" val="237939870"/>
                    </a:ext>
                  </a:extLst>
                </a:gridCol>
              </a:tblGrid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설명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932500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7188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86176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772858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840459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58896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162664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317237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14595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833743"/>
                  </a:ext>
                </a:extLst>
              </a:tr>
            </a:tbl>
          </a:graphicData>
        </a:graphic>
      </p:graphicFrame>
      <p:grpSp>
        <p:nvGrpSpPr>
          <p:cNvPr id="85" name="그룹 84">
            <a:extLst>
              <a:ext uri="{FF2B5EF4-FFF2-40B4-BE49-F238E27FC236}">
                <a16:creationId xmlns:a16="http://schemas.microsoft.com/office/drawing/2014/main" id="{2DF0CD8A-9F94-F843-8C69-7C323CADDC65}"/>
              </a:ext>
            </a:extLst>
          </p:cNvPr>
          <p:cNvGrpSpPr/>
          <p:nvPr/>
        </p:nvGrpSpPr>
        <p:grpSpPr>
          <a:xfrm>
            <a:off x="1531655" y="9127326"/>
            <a:ext cx="2160000" cy="230832"/>
            <a:chOff x="7364412" y="6510536"/>
            <a:chExt cx="2196305" cy="257066"/>
          </a:xfrm>
        </p:grpSpPr>
        <p:sp>
          <p:nvSpPr>
            <p:cNvPr id="86" name="아래쪽 화살표 277">
              <a:extLst>
                <a:ext uri="{FF2B5EF4-FFF2-40B4-BE49-F238E27FC236}">
                  <a16:creationId xmlns:a16="http://schemas.microsoft.com/office/drawing/2014/main" id="{6DFF2407-EAFD-AA49-A069-E3E3DD323E17}"/>
                </a:ext>
              </a:extLst>
            </p:cNvPr>
            <p:cNvSpPr/>
            <p:nvPr userDrawn="1"/>
          </p:nvSpPr>
          <p:spPr bwMode="auto">
            <a:xfrm>
              <a:off x="7364412" y="6535060"/>
              <a:ext cx="2196305" cy="216024"/>
            </a:xfrm>
            <a:prstGeom prst="downArrow">
              <a:avLst>
                <a:gd name="adj1" fmla="val 86082"/>
                <a:gd name="adj2" fmla="val 50000"/>
              </a:avLst>
            </a:prstGeom>
            <a:solidFill>
              <a:srgbClr val="8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173163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charset="-127"/>
                <a:ea typeface="굴림" charset="-127"/>
                <a:cs typeface="+mn-cs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703052F-B7B0-EE45-99E5-05FBA2024434}"/>
                </a:ext>
              </a:extLst>
            </p:cNvPr>
            <p:cNvSpPr txBox="1"/>
            <p:nvPr userDrawn="1"/>
          </p:nvSpPr>
          <p:spPr>
            <a:xfrm>
              <a:off x="7874741" y="6510536"/>
              <a:ext cx="1090760" cy="2570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다음 장에 이어서</a:t>
              </a:r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38" y="1712640"/>
            <a:ext cx="4307749" cy="669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3638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030307"/>
              </p:ext>
            </p:extLst>
          </p:nvPr>
        </p:nvGraphicFramePr>
        <p:xfrm>
          <a:off x="381915" y="443156"/>
          <a:ext cx="6101742" cy="754104"/>
        </p:xfrm>
        <a:graphic>
          <a:graphicData uri="http://schemas.openxmlformats.org/drawingml/2006/table">
            <a:tbl>
              <a:tblPr/>
              <a:tblGrid>
                <a:gridCol w="78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업무시스템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디지털물류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 네트워크</a:t>
                      </a:r>
                      <a:r>
                        <a:rPr lang="ko-KR" altLang="en-US" sz="1000" b="0" kern="100" baseline="0" dirty="0">
                          <a:latin typeface="+mn-ea"/>
                          <a:ea typeface="+mn-ea"/>
                          <a:cs typeface="Times New Roman"/>
                        </a:rPr>
                        <a:t> 시스템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단위시스템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디지털물류네트워크 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-Shipping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작성자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허철원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보고서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RP-G-01-01-01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latin typeface="+mn-ea"/>
                          <a:ea typeface="+mn-ea"/>
                          <a:cs typeface="Times New Roman"/>
                        </a:rPr>
                        <a:t>보고서명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혼재적하목록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56248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요구사항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작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성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일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2022.03.30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93132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359204" y="1388616"/>
            <a:ext cx="4464000" cy="7956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813595" y="1388616"/>
            <a:ext cx="1656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823121" y="1604614"/>
            <a:ext cx="1646474" cy="77408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359120" y="1388616"/>
            <a:ext cx="4464000" cy="215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혼재적하목록</a:t>
            </a:r>
          </a:p>
        </p:txBody>
      </p:sp>
      <p:graphicFrame>
        <p:nvGraphicFramePr>
          <p:cNvPr id="60" name="표 59"/>
          <p:cNvGraphicFramePr>
            <a:graphicFrameLocks noGrp="1"/>
          </p:cNvGraphicFramePr>
          <p:nvPr/>
        </p:nvGraphicFramePr>
        <p:xfrm>
          <a:off x="4832730" y="1604613"/>
          <a:ext cx="1646474" cy="77408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064">
                  <a:extLst>
                    <a:ext uri="{9D8B030D-6E8A-4147-A177-3AD203B41FA5}">
                      <a16:colId xmlns:a16="http://schemas.microsoft.com/office/drawing/2014/main" val="377206406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372353527"/>
                    </a:ext>
                  </a:extLst>
                </a:gridCol>
                <a:gridCol w="1024370">
                  <a:extLst>
                    <a:ext uri="{9D8B030D-6E8A-4147-A177-3AD203B41FA5}">
                      <a16:colId xmlns:a16="http://schemas.microsoft.com/office/drawing/2014/main" val="237939870"/>
                    </a:ext>
                  </a:extLst>
                </a:gridCol>
              </a:tblGrid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설명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932500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7188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86176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772858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840459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58896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162664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317237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14595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833743"/>
                  </a:ext>
                </a:extLst>
              </a:tr>
            </a:tbl>
          </a:graphicData>
        </a:graphic>
      </p:graphicFrame>
      <p:grpSp>
        <p:nvGrpSpPr>
          <p:cNvPr id="85" name="그룹 84">
            <a:extLst>
              <a:ext uri="{FF2B5EF4-FFF2-40B4-BE49-F238E27FC236}">
                <a16:creationId xmlns:a16="http://schemas.microsoft.com/office/drawing/2014/main" id="{2DF0CD8A-9F94-F843-8C69-7C323CADDC65}"/>
              </a:ext>
            </a:extLst>
          </p:cNvPr>
          <p:cNvGrpSpPr/>
          <p:nvPr/>
        </p:nvGrpSpPr>
        <p:grpSpPr>
          <a:xfrm>
            <a:off x="1531655" y="9127326"/>
            <a:ext cx="2160000" cy="230832"/>
            <a:chOff x="7364412" y="6510536"/>
            <a:chExt cx="2196305" cy="257066"/>
          </a:xfrm>
        </p:grpSpPr>
        <p:sp>
          <p:nvSpPr>
            <p:cNvPr id="86" name="아래쪽 화살표 277">
              <a:extLst>
                <a:ext uri="{FF2B5EF4-FFF2-40B4-BE49-F238E27FC236}">
                  <a16:creationId xmlns:a16="http://schemas.microsoft.com/office/drawing/2014/main" id="{6DFF2407-EAFD-AA49-A069-E3E3DD323E17}"/>
                </a:ext>
              </a:extLst>
            </p:cNvPr>
            <p:cNvSpPr/>
            <p:nvPr userDrawn="1"/>
          </p:nvSpPr>
          <p:spPr bwMode="auto">
            <a:xfrm>
              <a:off x="7364412" y="6535060"/>
              <a:ext cx="2196305" cy="216024"/>
            </a:xfrm>
            <a:prstGeom prst="downArrow">
              <a:avLst>
                <a:gd name="adj1" fmla="val 86082"/>
                <a:gd name="adj2" fmla="val 50000"/>
              </a:avLst>
            </a:prstGeom>
            <a:solidFill>
              <a:srgbClr val="8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173163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charset="-127"/>
                <a:ea typeface="굴림" charset="-127"/>
                <a:cs typeface="+mn-cs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703052F-B7B0-EE45-99E5-05FBA2024434}"/>
                </a:ext>
              </a:extLst>
            </p:cNvPr>
            <p:cNvSpPr txBox="1"/>
            <p:nvPr userDrawn="1"/>
          </p:nvSpPr>
          <p:spPr>
            <a:xfrm>
              <a:off x="7874741" y="6510536"/>
              <a:ext cx="1090760" cy="2570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다음 장에 이어서</a:t>
              </a:r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240" y="1790294"/>
            <a:ext cx="4270904" cy="337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98245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515096"/>
              </p:ext>
            </p:extLst>
          </p:nvPr>
        </p:nvGraphicFramePr>
        <p:xfrm>
          <a:off x="381915" y="443156"/>
          <a:ext cx="6101742" cy="754104"/>
        </p:xfrm>
        <a:graphic>
          <a:graphicData uri="http://schemas.openxmlformats.org/drawingml/2006/table">
            <a:tbl>
              <a:tblPr/>
              <a:tblGrid>
                <a:gridCol w="78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업무시스템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디지털물류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 네트워크</a:t>
                      </a:r>
                      <a:r>
                        <a:rPr lang="ko-KR" altLang="en-US" sz="1000" b="0" kern="100" baseline="0" dirty="0">
                          <a:latin typeface="+mn-ea"/>
                          <a:ea typeface="+mn-ea"/>
                          <a:cs typeface="Times New Roman"/>
                        </a:rPr>
                        <a:t> 시스템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단위시스템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디지털물류네트워크 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-Shipping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작성자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허철원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보고서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RP-G-01-01-01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latin typeface="+mn-ea"/>
                          <a:ea typeface="+mn-ea"/>
                          <a:cs typeface="Times New Roman"/>
                        </a:rPr>
                        <a:t>보고서명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혼재적하목록정정신청서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56248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요구사항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작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성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일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2022.03.30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93132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359204" y="1388616"/>
            <a:ext cx="4464000" cy="7956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813595" y="1388616"/>
            <a:ext cx="1656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823121" y="1604614"/>
            <a:ext cx="1646474" cy="77408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359120" y="1388616"/>
            <a:ext cx="4464000" cy="215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>
                <a:solidFill>
                  <a:schemeClr val="tx1"/>
                </a:solidFill>
              </a:rPr>
              <a:t>혼재적하목록정정신청서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60" name="표 59"/>
          <p:cNvGraphicFramePr>
            <a:graphicFrameLocks noGrp="1"/>
          </p:cNvGraphicFramePr>
          <p:nvPr/>
        </p:nvGraphicFramePr>
        <p:xfrm>
          <a:off x="4832730" y="1604613"/>
          <a:ext cx="1646474" cy="77408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064">
                  <a:extLst>
                    <a:ext uri="{9D8B030D-6E8A-4147-A177-3AD203B41FA5}">
                      <a16:colId xmlns:a16="http://schemas.microsoft.com/office/drawing/2014/main" val="377206406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372353527"/>
                    </a:ext>
                  </a:extLst>
                </a:gridCol>
                <a:gridCol w="1024370">
                  <a:extLst>
                    <a:ext uri="{9D8B030D-6E8A-4147-A177-3AD203B41FA5}">
                      <a16:colId xmlns:a16="http://schemas.microsoft.com/office/drawing/2014/main" val="237939870"/>
                    </a:ext>
                  </a:extLst>
                </a:gridCol>
              </a:tblGrid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설명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932500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7188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86176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772858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840459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58896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162664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317237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14595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833743"/>
                  </a:ext>
                </a:extLst>
              </a:tr>
            </a:tbl>
          </a:graphicData>
        </a:graphic>
      </p:graphicFrame>
      <p:grpSp>
        <p:nvGrpSpPr>
          <p:cNvPr id="85" name="그룹 84">
            <a:extLst>
              <a:ext uri="{FF2B5EF4-FFF2-40B4-BE49-F238E27FC236}">
                <a16:creationId xmlns:a16="http://schemas.microsoft.com/office/drawing/2014/main" id="{2DF0CD8A-9F94-F843-8C69-7C323CADDC65}"/>
              </a:ext>
            </a:extLst>
          </p:cNvPr>
          <p:cNvGrpSpPr/>
          <p:nvPr/>
        </p:nvGrpSpPr>
        <p:grpSpPr>
          <a:xfrm>
            <a:off x="1531655" y="9127326"/>
            <a:ext cx="2160000" cy="230832"/>
            <a:chOff x="7364412" y="6510536"/>
            <a:chExt cx="2196305" cy="257066"/>
          </a:xfrm>
        </p:grpSpPr>
        <p:sp>
          <p:nvSpPr>
            <p:cNvPr id="86" name="아래쪽 화살표 277">
              <a:extLst>
                <a:ext uri="{FF2B5EF4-FFF2-40B4-BE49-F238E27FC236}">
                  <a16:creationId xmlns:a16="http://schemas.microsoft.com/office/drawing/2014/main" id="{6DFF2407-EAFD-AA49-A069-E3E3DD323E17}"/>
                </a:ext>
              </a:extLst>
            </p:cNvPr>
            <p:cNvSpPr/>
            <p:nvPr userDrawn="1"/>
          </p:nvSpPr>
          <p:spPr bwMode="auto">
            <a:xfrm>
              <a:off x="7364412" y="6535060"/>
              <a:ext cx="2196305" cy="216024"/>
            </a:xfrm>
            <a:prstGeom prst="downArrow">
              <a:avLst>
                <a:gd name="adj1" fmla="val 86082"/>
                <a:gd name="adj2" fmla="val 50000"/>
              </a:avLst>
            </a:prstGeom>
            <a:solidFill>
              <a:srgbClr val="8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173163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charset="-127"/>
                <a:ea typeface="굴림" charset="-127"/>
                <a:cs typeface="+mn-cs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703052F-B7B0-EE45-99E5-05FBA2024434}"/>
                </a:ext>
              </a:extLst>
            </p:cNvPr>
            <p:cNvSpPr txBox="1"/>
            <p:nvPr userDrawn="1"/>
          </p:nvSpPr>
          <p:spPr>
            <a:xfrm>
              <a:off x="7874741" y="6510536"/>
              <a:ext cx="1090760" cy="2570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다음 장에 이어서</a:t>
              </a:r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73" y="2432720"/>
            <a:ext cx="4248472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84367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941150"/>
              </p:ext>
            </p:extLst>
          </p:nvPr>
        </p:nvGraphicFramePr>
        <p:xfrm>
          <a:off x="381915" y="443156"/>
          <a:ext cx="6101742" cy="754104"/>
        </p:xfrm>
        <a:graphic>
          <a:graphicData uri="http://schemas.openxmlformats.org/drawingml/2006/table">
            <a:tbl>
              <a:tblPr/>
              <a:tblGrid>
                <a:gridCol w="78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업무시스템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디지털물류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 네트워크</a:t>
                      </a:r>
                      <a:r>
                        <a:rPr lang="ko-KR" altLang="en-US" sz="1000" b="0" kern="100" baseline="0" dirty="0">
                          <a:latin typeface="+mn-ea"/>
                          <a:ea typeface="+mn-ea"/>
                          <a:cs typeface="Times New Roman"/>
                        </a:rPr>
                        <a:t> 시스템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단위시스템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디지털물류네트워크 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-Shipping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작성자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허철원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보고서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RP-G-01-01-01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latin typeface="+mn-ea"/>
                          <a:ea typeface="+mn-ea"/>
                          <a:cs typeface="Times New Roman"/>
                        </a:rPr>
                        <a:t>보고서명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사유서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56248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요구사항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작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성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일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2022.03.30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93132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359204" y="1388616"/>
            <a:ext cx="4464000" cy="7956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813595" y="1388616"/>
            <a:ext cx="1656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823121" y="1604614"/>
            <a:ext cx="1646474" cy="77408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359120" y="1388616"/>
            <a:ext cx="4464000" cy="215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사유서</a:t>
            </a:r>
          </a:p>
        </p:txBody>
      </p:sp>
      <p:graphicFrame>
        <p:nvGraphicFramePr>
          <p:cNvPr id="60" name="표 59"/>
          <p:cNvGraphicFramePr>
            <a:graphicFrameLocks noGrp="1"/>
          </p:cNvGraphicFramePr>
          <p:nvPr/>
        </p:nvGraphicFramePr>
        <p:xfrm>
          <a:off x="4832730" y="1604613"/>
          <a:ext cx="1646474" cy="77408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064">
                  <a:extLst>
                    <a:ext uri="{9D8B030D-6E8A-4147-A177-3AD203B41FA5}">
                      <a16:colId xmlns:a16="http://schemas.microsoft.com/office/drawing/2014/main" val="377206406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372353527"/>
                    </a:ext>
                  </a:extLst>
                </a:gridCol>
                <a:gridCol w="1024370">
                  <a:extLst>
                    <a:ext uri="{9D8B030D-6E8A-4147-A177-3AD203B41FA5}">
                      <a16:colId xmlns:a16="http://schemas.microsoft.com/office/drawing/2014/main" val="237939870"/>
                    </a:ext>
                  </a:extLst>
                </a:gridCol>
              </a:tblGrid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설명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932500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7188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86176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772858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840459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58896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162664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317237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14595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833743"/>
                  </a:ext>
                </a:extLst>
              </a:tr>
            </a:tbl>
          </a:graphicData>
        </a:graphic>
      </p:graphicFrame>
      <p:grpSp>
        <p:nvGrpSpPr>
          <p:cNvPr id="85" name="그룹 84">
            <a:extLst>
              <a:ext uri="{FF2B5EF4-FFF2-40B4-BE49-F238E27FC236}">
                <a16:creationId xmlns:a16="http://schemas.microsoft.com/office/drawing/2014/main" id="{2DF0CD8A-9F94-F843-8C69-7C323CADDC65}"/>
              </a:ext>
            </a:extLst>
          </p:cNvPr>
          <p:cNvGrpSpPr/>
          <p:nvPr/>
        </p:nvGrpSpPr>
        <p:grpSpPr>
          <a:xfrm>
            <a:off x="1531655" y="9127326"/>
            <a:ext cx="2160000" cy="230832"/>
            <a:chOff x="7364412" y="6510536"/>
            <a:chExt cx="2196305" cy="257066"/>
          </a:xfrm>
        </p:grpSpPr>
        <p:sp>
          <p:nvSpPr>
            <p:cNvPr id="86" name="아래쪽 화살표 277">
              <a:extLst>
                <a:ext uri="{FF2B5EF4-FFF2-40B4-BE49-F238E27FC236}">
                  <a16:creationId xmlns:a16="http://schemas.microsoft.com/office/drawing/2014/main" id="{6DFF2407-EAFD-AA49-A069-E3E3DD323E17}"/>
                </a:ext>
              </a:extLst>
            </p:cNvPr>
            <p:cNvSpPr/>
            <p:nvPr userDrawn="1"/>
          </p:nvSpPr>
          <p:spPr bwMode="auto">
            <a:xfrm>
              <a:off x="7364412" y="6535060"/>
              <a:ext cx="2196305" cy="216024"/>
            </a:xfrm>
            <a:prstGeom prst="downArrow">
              <a:avLst>
                <a:gd name="adj1" fmla="val 86082"/>
                <a:gd name="adj2" fmla="val 50000"/>
              </a:avLst>
            </a:prstGeom>
            <a:solidFill>
              <a:srgbClr val="8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173163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charset="-127"/>
                <a:ea typeface="굴림" charset="-127"/>
                <a:cs typeface="+mn-cs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703052F-B7B0-EE45-99E5-05FBA2024434}"/>
                </a:ext>
              </a:extLst>
            </p:cNvPr>
            <p:cNvSpPr txBox="1"/>
            <p:nvPr userDrawn="1"/>
          </p:nvSpPr>
          <p:spPr>
            <a:xfrm>
              <a:off x="7874741" y="6510536"/>
              <a:ext cx="1090760" cy="2570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다음 장에 이어서</a:t>
              </a:r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981" y="1795971"/>
            <a:ext cx="4077796" cy="6181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9012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151703"/>
              </p:ext>
            </p:extLst>
          </p:nvPr>
        </p:nvGraphicFramePr>
        <p:xfrm>
          <a:off x="381915" y="443156"/>
          <a:ext cx="6101742" cy="754104"/>
        </p:xfrm>
        <a:graphic>
          <a:graphicData uri="http://schemas.openxmlformats.org/drawingml/2006/table">
            <a:tbl>
              <a:tblPr/>
              <a:tblGrid>
                <a:gridCol w="78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업무시스템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디지털물류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 네트워크</a:t>
                      </a:r>
                      <a:r>
                        <a:rPr lang="ko-KR" altLang="en-US" sz="1000" b="0" kern="100" baseline="0" dirty="0">
                          <a:latin typeface="+mn-ea"/>
                          <a:ea typeface="+mn-ea"/>
                          <a:cs typeface="Times New Roman"/>
                        </a:rPr>
                        <a:t> 시스템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단위시스템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디지털물류네트워크 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-Shipping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작성자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허철원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보고서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RP-G-01-01-01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latin typeface="+mn-ea"/>
                          <a:ea typeface="+mn-ea"/>
                          <a:cs typeface="Times New Roman"/>
                        </a:rPr>
                        <a:t>보고서명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선적요청서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(SR)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56248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요구사항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작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성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일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2022.03.30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93132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359204" y="1388616"/>
            <a:ext cx="4464000" cy="7956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813595" y="1388616"/>
            <a:ext cx="1656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823121" y="1604614"/>
            <a:ext cx="1646474" cy="77408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359120" y="1388616"/>
            <a:ext cx="4464000" cy="215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>
                <a:solidFill>
                  <a:schemeClr val="tx1"/>
                </a:solidFill>
              </a:rPr>
              <a:t>선적요청서</a:t>
            </a:r>
            <a:r>
              <a:rPr lang="en-US" altLang="ko-KR" sz="1000" b="1" dirty="0">
                <a:solidFill>
                  <a:schemeClr val="tx1"/>
                </a:solidFill>
              </a:rPr>
              <a:t>(SR)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60" name="표 59"/>
          <p:cNvGraphicFramePr>
            <a:graphicFrameLocks noGrp="1"/>
          </p:cNvGraphicFramePr>
          <p:nvPr/>
        </p:nvGraphicFramePr>
        <p:xfrm>
          <a:off x="4832730" y="1604613"/>
          <a:ext cx="1646474" cy="77408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064">
                  <a:extLst>
                    <a:ext uri="{9D8B030D-6E8A-4147-A177-3AD203B41FA5}">
                      <a16:colId xmlns:a16="http://schemas.microsoft.com/office/drawing/2014/main" val="377206406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372353527"/>
                    </a:ext>
                  </a:extLst>
                </a:gridCol>
                <a:gridCol w="1024370">
                  <a:extLst>
                    <a:ext uri="{9D8B030D-6E8A-4147-A177-3AD203B41FA5}">
                      <a16:colId xmlns:a16="http://schemas.microsoft.com/office/drawing/2014/main" val="237939870"/>
                    </a:ext>
                  </a:extLst>
                </a:gridCol>
              </a:tblGrid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설명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932500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7188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86176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772858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840459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58896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162664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317237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14595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833743"/>
                  </a:ext>
                </a:extLst>
              </a:tr>
            </a:tbl>
          </a:graphicData>
        </a:graphic>
      </p:graphicFrame>
      <p:grpSp>
        <p:nvGrpSpPr>
          <p:cNvPr id="85" name="그룹 84">
            <a:extLst>
              <a:ext uri="{FF2B5EF4-FFF2-40B4-BE49-F238E27FC236}">
                <a16:creationId xmlns:a16="http://schemas.microsoft.com/office/drawing/2014/main" id="{2DF0CD8A-9F94-F843-8C69-7C323CADDC65}"/>
              </a:ext>
            </a:extLst>
          </p:cNvPr>
          <p:cNvGrpSpPr/>
          <p:nvPr/>
        </p:nvGrpSpPr>
        <p:grpSpPr>
          <a:xfrm>
            <a:off x="1531655" y="9127326"/>
            <a:ext cx="2160000" cy="230832"/>
            <a:chOff x="7364412" y="6510536"/>
            <a:chExt cx="2196305" cy="257066"/>
          </a:xfrm>
        </p:grpSpPr>
        <p:sp>
          <p:nvSpPr>
            <p:cNvPr id="86" name="아래쪽 화살표 277">
              <a:extLst>
                <a:ext uri="{FF2B5EF4-FFF2-40B4-BE49-F238E27FC236}">
                  <a16:creationId xmlns:a16="http://schemas.microsoft.com/office/drawing/2014/main" id="{6DFF2407-EAFD-AA49-A069-E3E3DD323E17}"/>
                </a:ext>
              </a:extLst>
            </p:cNvPr>
            <p:cNvSpPr/>
            <p:nvPr userDrawn="1"/>
          </p:nvSpPr>
          <p:spPr bwMode="auto">
            <a:xfrm>
              <a:off x="7364412" y="6535060"/>
              <a:ext cx="2196305" cy="216024"/>
            </a:xfrm>
            <a:prstGeom prst="downArrow">
              <a:avLst>
                <a:gd name="adj1" fmla="val 86082"/>
                <a:gd name="adj2" fmla="val 50000"/>
              </a:avLst>
            </a:prstGeom>
            <a:solidFill>
              <a:srgbClr val="8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173163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charset="-127"/>
                <a:ea typeface="굴림" charset="-127"/>
                <a:cs typeface="+mn-cs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703052F-B7B0-EE45-99E5-05FBA2024434}"/>
                </a:ext>
              </a:extLst>
            </p:cNvPr>
            <p:cNvSpPr txBox="1"/>
            <p:nvPr userDrawn="1"/>
          </p:nvSpPr>
          <p:spPr>
            <a:xfrm>
              <a:off x="7874741" y="6510536"/>
              <a:ext cx="1090760" cy="2570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다음 장에 이어서</a:t>
              </a:r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80" y="1712639"/>
            <a:ext cx="4176464" cy="612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57055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095379"/>
              </p:ext>
            </p:extLst>
          </p:nvPr>
        </p:nvGraphicFramePr>
        <p:xfrm>
          <a:off x="381915" y="443156"/>
          <a:ext cx="6101742" cy="754104"/>
        </p:xfrm>
        <a:graphic>
          <a:graphicData uri="http://schemas.openxmlformats.org/drawingml/2006/table">
            <a:tbl>
              <a:tblPr/>
              <a:tblGrid>
                <a:gridCol w="78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업무시스템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디지털물류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 네트워크</a:t>
                      </a:r>
                      <a:r>
                        <a:rPr lang="ko-KR" altLang="en-US" sz="1000" b="0" kern="100" baseline="0" dirty="0">
                          <a:latin typeface="+mn-ea"/>
                          <a:ea typeface="+mn-ea"/>
                          <a:cs typeface="Times New Roman"/>
                        </a:rPr>
                        <a:t> 시스템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단위시스템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디지털물류네트워크 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-Shipping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작성자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허철원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보고서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RP-G-01-01-01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latin typeface="+mn-ea"/>
                          <a:ea typeface="+mn-ea"/>
                          <a:cs typeface="Times New Roman"/>
                        </a:rPr>
                        <a:t>보고서명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BL(CHECK)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56248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요구사항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작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성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일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2022.03.30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93132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359204" y="1388616"/>
            <a:ext cx="4464000" cy="7956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813595" y="1388616"/>
            <a:ext cx="1656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823121" y="1604614"/>
            <a:ext cx="1646474" cy="77408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359120" y="1388616"/>
            <a:ext cx="4464000" cy="215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BL(CHECK)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60" name="표 59"/>
          <p:cNvGraphicFramePr>
            <a:graphicFrameLocks noGrp="1"/>
          </p:cNvGraphicFramePr>
          <p:nvPr/>
        </p:nvGraphicFramePr>
        <p:xfrm>
          <a:off x="4832730" y="1604613"/>
          <a:ext cx="1646474" cy="77408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064">
                  <a:extLst>
                    <a:ext uri="{9D8B030D-6E8A-4147-A177-3AD203B41FA5}">
                      <a16:colId xmlns:a16="http://schemas.microsoft.com/office/drawing/2014/main" val="377206406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372353527"/>
                    </a:ext>
                  </a:extLst>
                </a:gridCol>
                <a:gridCol w="1024370">
                  <a:extLst>
                    <a:ext uri="{9D8B030D-6E8A-4147-A177-3AD203B41FA5}">
                      <a16:colId xmlns:a16="http://schemas.microsoft.com/office/drawing/2014/main" val="237939870"/>
                    </a:ext>
                  </a:extLst>
                </a:gridCol>
              </a:tblGrid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설명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932500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7188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86176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772858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840459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58896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162664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317237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14595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833743"/>
                  </a:ext>
                </a:extLst>
              </a:tr>
            </a:tbl>
          </a:graphicData>
        </a:graphic>
      </p:graphicFrame>
      <p:grpSp>
        <p:nvGrpSpPr>
          <p:cNvPr id="85" name="그룹 84">
            <a:extLst>
              <a:ext uri="{FF2B5EF4-FFF2-40B4-BE49-F238E27FC236}">
                <a16:creationId xmlns:a16="http://schemas.microsoft.com/office/drawing/2014/main" id="{2DF0CD8A-9F94-F843-8C69-7C323CADDC65}"/>
              </a:ext>
            </a:extLst>
          </p:cNvPr>
          <p:cNvGrpSpPr/>
          <p:nvPr/>
        </p:nvGrpSpPr>
        <p:grpSpPr>
          <a:xfrm>
            <a:off x="1531655" y="9127326"/>
            <a:ext cx="2160000" cy="230832"/>
            <a:chOff x="7364412" y="6510536"/>
            <a:chExt cx="2196305" cy="257066"/>
          </a:xfrm>
        </p:grpSpPr>
        <p:sp>
          <p:nvSpPr>
            <p:cNvPr id="86" name="아래쪽 화살표 277">
              <a:extLst>
                <a:ext uri="{FF2B5EF4-FFF2-40B4-BE49-F238E27FC236}">
                  <a16:creationId xmlns:a16="http://schemas.microsoft.com/office/drawing/2014/main" id="{6DFF2407-EAFD-AA49-A069-E3E3DD323E17}"/>
                </a:ext>
              </a:extLst>
            </p:cNvPr>
            <p:cNvSpPr/>
            <p:nvPr userDrawn="1"/>
          </p:nvSpPr>
          <p:spPr bwMode="auto">
            <a:xfrm>
              <a:off x="7364412" y="6535060"/>
              <a:ext cx="2196305" cy="216024"/>
            </a:xfrm>
            <a:prstGeom prst="downArrow">
              <a:avLst>
                <a:gd name="adj1" fmla="val 86082"/>
                <a:gd name="adj2" fmla="val 50000"/>
              </a:avLst>
            </a:prstGeom>
            <a:solidFill>
              <a:srgbClr val="8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173163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charset="-127"/>
                <a:ea typeface="굴림" charset="-127"/>
                <a:cs typeface="+mn-cs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703052F-B7B0-EE45-99E5-05FBA2024434}"/>
                </a:ext>
              </a:extLst>
            </p:cNvPr>
            <p:cNvSpPr txBox="1"/>
            <p:nvPr userDrawn="1"/>
          </p:nvSpPr>
          <p:spPr>
            <a:xfrm>
              <a:off x="7874741" y="6510536"/>
              <a:ext cx="1090760" cy="2570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다음 장에 이어서</a:t>
              </a:r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80" y="1795971"/>
            <a:ext cx="4152443" cy="5741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25436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660923"/>
              </p:ext>
            </p:extLst>
          </p:nvPr>
        </p:nvGraphicFramePr>
        <p:xfrm>
          <a:off x="381915" y="443156"/>
          <a:ext cx="6101742" cy="754104"/>
        </p:xfrm>
        <a:graphic>
          <a:graphicData uri="http://schemas.openxmlformats.org/drawingml/2006/table">
            <a:tbl>
              <a:tblPr/>
              <a:tblGrid>
                <a:gridCol w="78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업무시스템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디지털물류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 네트워크</a:t>
                      </a:r>
                      <a:r>
                        <a:rPr lang="ko-KR" altLang="en-US" sz="1000" b="0" kern="100" baseline="0" dirty="0">
                          <a:latin typeface="+mn-ea"/>
                          <a:ea typeface="+mn-ea"/>
                          <a:cs typeface="Times New Roman"/>
                        </a:rPr>
                        <a:t> 시스템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단위시스템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디지털물류네트워크 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-Shipping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작성자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허철원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보고서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RP-G-01-01-01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latin typeface="+mn-ea"/>
                          <a:ea typeface="+mn-ea"/>
                          <a:cs typeface="Times New Roman"/>
                        </a:rPr>
                        <a:t>보고서명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BL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56248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요구사항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작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성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일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2022.03.30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93132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359204" y="1388616"/>
            <a:ext cx="4464000" cy="7956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813595" y="1388616"/>
            <a:ext cx="1656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823121" y="1604614"/>
            <a:ext cx="1646474" cy="77408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359120" y="1388616"/>
            <a:ext cx="4464000" cy="215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BL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60" name="표 59"/>
          <p:cNvGraphicFramePr>
            <a:graphicFrameLocks noGrp="1"/>
          </p:cNvGraphicFramePr>
          <p:nvPr/>
        </p:nvGraphicFramePr>
        <p:xfrm>
          <a:off x="4832730" y="1604613"/>
          <a:ext cx="1646474" cy="77408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064">
                  <a:extLst>
                    <a:ext uri="{9D8B030D-6E8A-4147-A177-3AD203B41FA5}">
                      <a16:colId xmlns:a16="http://schemas.microsoft.com/office/drawing/2014/main" val="377206406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372353527"/>
                    </a:ext>
                  </a:extLst>
                </a:gridCol>
                <a:gridCol w="1024370">
                  <a:extLst>
                    <a:ext uri="{9D8B030D-6E8A-4147-A177-3AD203B41FA5}">
                      <a16:colId xmlns:a16="http://schemas.microsoft.com/office/drawing/2014/main" val="237939870"/>
                    </a:ext>
                  </a:extLst>
                </a:gridCol>
              </a:tblGrid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설명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932500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7188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86176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772858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840459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58896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162664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317237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14595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833743"/>
                  </a:ext>
                </a:extLst>
              </a:tr>
            </a:tbl>
          </a:graphicData>
        </a:graphic>
      </p:graphicFrame>
      <p:grpSp>
        <p:nvGrpSpPr>
          <p:cNvPr id="85" name="그룹 84">
            <a:extLst>
              <a:ext uri="{FF2B5EF4-FFF2-40B4-BE49-F238E27FC236}">
                <a16:creationId xmlns:a16="http://schemas.microsoft.com/office/drawing/2014/main" id="{2DF0CD8A-9F94-F843-8C69-7C323CADDC65}"/>
              </a:ext>
            </a:extLst>
          </p:cNvPr>
          <p:cNvGrpSpPr/>
          <p:nvPr/>
        </p:nvGrpSpPr>
        <p:grpSpPr>
          <a:xfrm>
            <a:off x="1531655" y="9127326"/>
            <a:ext cx="2160000" cy="230832"/>
            <a:chOff x="7364412" y="6510536"/>
            <a:chExt cx="2196305" cy="257066"/>
          </a:xfrm>
        </p:grpSpPr>
        <p:sp>
          <p:nvSpPr>
            <p:cNvPr id="86" name="아래쪽 화살표 277">
              <a:extLst>
                <a:ext uri="{FF2B5EF4-FFF2-40B4-BE49-F238E27FC236}">
                  <a16:creationId xmlns:a16="http://schemas.microsoft.com/office/drawing/2014/main" id="{6DFF2407-EAFD-AA49-A069-E3E3DD323E17}"/>
                </a:ext>
              </a:extLst>
            </p:cNvPr>
            <p:cNvSpPr/>
            <p:nvPr userDrawn="1"/>
          </p:nvSpPr>
          <p:spPr bwMode="auto">
            <a:xfrm>
              <a:off x="7364412" y="6535060"/>
              <a:ext cx="2196305" cy="216024"/>
            </a:xfrm>
            <a:prstGeom prst="downArrow">
              <a:avLst>
                <a:gd name="adj1" fmla="val 86082"/>
                <a:gd name="adj2" fmla="val 50000"/>
              </a:avLst>
            </a:prstGeom>
            <a:solidFill>
              <a:srgbClr val="8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173163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charset="-127"/>
                <a:ea typeface="굴림" charset="-127"/>
                <a:cs typeface="+mn-cs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703052F-B7B0-EE45-99E5-05FBA2024434}"/>
                </a:ext>
              </a:extLst>
            </p:cNvPr>
            <p:cNvSpPr txBox="1"/>
            <p:nvPr userDrawn="1"/>
          </p:nvSpPr>
          <p:spPr>
            <a:xfrm>
              <a:off x="7874741" y="6510536"/>
              <a:ext cx="1090760" cy="2570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다음 장에 이어서</a:t>
              </a:r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22" y="1760475"/>
            <a:ext cx="4161790" cy="592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3151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158892"/>
              </p:ext>
            </p:extLst>
          </p:nvPr>
        </p:nvGraphicFramePr>
        <p:xfrm>
          <a:off x="381915" y="443156"/>
          <a:ext cx="6101742" cy="754104"/>
        </p:xfrm>
        <a:graphic>
          <a:graphicData uri="http://schemas.openxmlformats.org/drawingml/2006/table">
            <a:tbl>
              <a:tblPr/>
              <a:tblGrid>
                <a:gridCol w="78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업무시스템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디지털물류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 네트워크</a:t>
                      </a:r>
                      <a:r>
                        <a:rPr lang="ko-KR" altLang="en-US" sz="1000" b="0" kern="100" baseline="0" dirty="0">
                          <a:latin typeface="+mn-ea"/>
                          <a:ea typeface="+mn-ea"/>
                          <a:cs typeface="Times New Roman"/>
                        </a:rPr>
                        <a:t> 시스템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단위시스템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디지털물류네트워크 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-Shipping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작성자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허철원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보고서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RP-G-01-01-01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latin typeface="+mn-ea"/>
                          <a:ea typeface="+mn-ea"/>
                          <a:cs typeface="Times New Roman"/>
                        </a:rPr>
                        <a:t>보고서명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화물도착통지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56248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요구사항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작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성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일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2022.03.30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93132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359204" y="1388616"/>
            <a:ext cx="4464000" cy="7956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813595" y="1388616"/>
            <a:ext cx="1656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823121" y="1604614"/>
            <a:ext cx="1646474" cy="77408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359120" y="1388616"/>
            <a:ext cx="4464000" cy="215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화물도착통지</a:t>
            </a:r>
          </a:p>
        </p:txBody>
      </p:sp>
      <p:graphicFrame>
        <p:nvGraphicFramePr>
          <p:cNvPr id="60" name="표 59"/>
          <p:cNvGraphicFramePr>
            <a:graphicFrameLocks noGrp="1"/>
          </p:cNvGraphicFramePr>
          <p:nvPr/>
        </p:nvGraphicFramePr>
        <p:xfrm>
          <a:off x="4832730" y="1604613"/>
          <a:ext cx="1646474" cy="77408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064">
                  <a:extLst>
                    <a:ext uri="{9D8B030D-6E8A-4147-A177-3AD203B41FA5}">
                      <a16:colId xmlns:a16="http://schemas.microsoft.com/office/drawing/2014/main" val="377206406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372353527"/>
                    </a:ext>
                  </a:extLst>
                </a:gridCol>
                <a:gridCol w="1024370">
                  <a:extLst>
                    <a:ext uri="{9D8B030D-6E8A-4147-A177-3AD203B41FA5}">
                      <a16:colId xmlns:a16="http://schemas.microsoft.com/office/drawing/2014/main" val="237939870"/>
                    </a:ext>
                  </a:extLst>
                </a:gridCol>
              </a:tblGrid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설명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932500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7188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86176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772858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840459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58896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162664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317237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14595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833743"/>
                  </a:ext>
                </a:extLst>
              </a:tr>
            </a:tbl>
          </a:graphicData>
        </a:graphic>
      </p:graphicFrame>
      <p:grpSp>
        <p:nvGrpSpPr>
          <p:cNvPr id="85" name="그룹 84">
            <a:extLst>
              <a:ext uri="{FF2B5EF4-FFF2-40B4-BE49-F238E27FC236}">
                <a16:creationId xmlns:a16="http://schemas.microsoft.com/office/drawing/2014/main" id="{2DF0CD8A-9F94-F843-8C69-7C323CADDC65}"/>
              </a:ext>
            </a:extLst>
          </p:cNvPr>
          <p:cNvGrpSpPr/>
          <p:nvPr/>
        </p:nvGrpSpPr>
        <p:grpSpPr>
          <a:xfrm>
            <a:off x="1531655" y="9127326"/>
            <a:ext cx="2160000" cy="230832"/>
            <a:chOff x="7364412" y="6510536"/>
            <a:chExt cx="2196305" cy="257066"/>
          </a:xfrm>
        </p:grpSpPr>
        <p:sp>
          <p:nvSpPr>
            <p:cNvPr id="86" name="아래쪽 화살표 277">
              <a:extLst>
                <a:ext uri="{FF2B5EF4-FFF2-40B4-BE49-F238E27FC236}">
                  <a16:creationId xmlns:a16="http://schemas.microsoft.com/office/drawing/2014/main" id="{6DFF2407-EAFD-AA49-A069-E3E3DD323E17}"/>
                </a:ext>
              </a:extLst>
            </p:cNvPr>
            <p:cNvSpPr/>
            <p:nvPr userDrawn="1"/>
          </p:nvSpPr>
          <p:spPr bwMode="auto">
            <a:xfrm>
              <a:off x="7364412" y="6535060"/>
              <a:ext cx="2196305" cy="216024"/>
            </a:xfrm>
            <a:prstGeom prst="downArrow">
              <a:avLst>
                <a:gd name="adj1" fmla="val 86082"/>
                <a:gd name="adj2" fmla="val 50000"/>
              </a:avLst>
            </a:prstGeom>
            <a:solidFill>
              <a:srgbClr val="8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173163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charset="-127"/>
                <a:ea typeface="굴림" charset="-127"/>
                <a:cs typeface="+mn-cs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703052F-B7B0-EE45-99E5-05FBA2024434}"/>
                </a:ext>
              </a:extLst>
            </p:cNvPr>
            <p:cNvSpPr txBox="1"/>
            <p:nvPr userDrawn="1"/>
          </p:nvSpPr>
          <p:spPr>
            <a:xfrm>
              <a:off x="7874741" y="6510536"/>
              <a:ext cx="1090760" cy="2570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다음 장에 이어서</a:t>
              </a:r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02" y="1795971"/>
            <a:ext cx="4256784" cy="607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82482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381915" y="443156"/>
          <a:ext cx="6101742" cy="754104"/>
        </p:xfrm>
        <a:graphic>
          <a:graphicData uri="http://schemas.openxmlformats.org/drawingml/2006/table">
            <a:tbl>
              <a:tblPr/>
              <a:tblGrid>
                <a:gridCol w="78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업무시스템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디지털물류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 네트워크</a:t>
                      </a:r>
                      <a:r>
                        <a:rPr lang="ko-KR" altLang="en-US" sz="1000" b="0" kern="100" baseline="0" dirty="0">
                          <a:latin typeface="+mn-ea"/>
                          <a:ea typeface="+mn-ea"/>
                          <a:cs typeface="Times New Roman"/>
                        </a:rPr>
                        <a:t> 시스템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단위시스템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디지털물류네트워크 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-Shipping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작성자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허철원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보고서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RP-G-01-01-01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latin typeface="+mn-ea"/>
                          <a:ea typeface="+mn-ea"/>
                          <a:cs typeface="Times New Roman"/>
                        </a:rPr>
                        <a:t>보고서명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화물도착통지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56248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요구사항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작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성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일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2022.03.30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93132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359204" y="1388616"/>
            <a:ext cx="4464000" cy="7956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6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813595" y="1388616"/>
            <a:ext cx="1656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설명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823121" y="1604614"/>
            <a:ext cx="1646474" cy="77408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6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59120" y="1388616"/>
            <a:ext cx="4464000" cy="215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화물도착통지</a:t>
            </a:r>
          </a:p>
        </p:txBody>
      </p:sp>
      <p:graphicFrame>
        <p:nvGraphicFramePr>
          <p:cNvPr id="60" name="표 59"/>
          <p:cNvGraphicFramePr>
            <a:graphicFrameLocks noGrp="1"/>
          </p:cNvGraphicFramePr>
          <p:nvPr/>
        </p:nvGraphicFramePr>
        <p:xfrm>
          <a:off x="4832730" y="1604613"/>
          <a:ext cx="1646474" cy="77408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064">
                  <a:extLst>
                    <a:ext uri="{9D8B030D-6E8A-4147-A177-3AD203B41FA5}">
                      <a16:colId xmlns:a16="http://schemas.microsoft.com/office/drawing/2014/main" val="377206406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372353527"/>
                    </a:ext>
                  </a:extLst>
                </a:gridCol>
                <a:gridCol w="1024370">
                  <a:extLst>
                    <a:ext uri="{9D8B030D-6E8A-4147-A177-3AD203B41FA5}">
                      <a16:colId xmlns:a16="http://schemas.microsoft.com/office/drawing/2014/main" val="237939870"/>
                    </a:ext>
                  </a:extLst>
                </a:gridCol>
              </a:tblGrid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설명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932500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7188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86176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772858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840459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58896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162664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317237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14595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833743"/>
                  </a:ext>
                </a:extLst>
              </a:tr>
            </a:tbl>
          </a:graphicData>
        </a:graphic>
      </p:graphicFrame>
      <p:graphicFrame>
        <p:nvGraphicFramePr>
          <p:cNvPr id="142" name="내용 개체 틀 9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5383388"/>
              </p:ext>
            </p:extLst>
          </p:nvPr>
        </p:nvGraphicFramePr>
        <p:xfrm>
          <a:off x="402945" y="1640632"/>
          <a:ext cx="4322200" cy="3377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22200">
                  <a:extLst>
                    <a:ext uri="{9D8B030D-6E8A-4147-A177-3AD203B41FA5}">
                      <a16:colId xmlns:a16="http://schemas.microsoft.com/office/drawing/2014/main" val="4007859294"/>
                    </a:ext>
                  </a:extLst>
                </a:gridCol>
              </a:tblGrid>
              <a:tr h="337792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  <a:tab pos="3200400" algn="l"/>
                          <a:tab pos="3429000" algn="l"/>
                          <a:tab pos="3657600" algn="l"/>
                          <a:tab pos="3886200" algn="l"/>
                          <a:tab pos="4114800" algn="l"/>
                          <a:tab pos="4343400" algn="l"/>
                          <a:tab pos="4572000" algn="l"/>
                          <a:tab pos="4800600" algn="l"/>
                          <a:tab pos="5029200" algn="l"/>
                          <a:tab pos="5257800" algn="l"/>
                          <a:tab pos="5486400" algn="l"/>
                          <a:tab pos="5715000" algn="l"/>
                          <a:tab pos="5943600" algn="l"/>
                          <a:tab pos="6172200" algn="l"/>
                          <a:tab pos="6400800" algn="l"/>
                          <a:tab pos="6629400" algn="l"/>
                        </a:tabLst>
                      </a:pPr>
                      <a:r>
                        <a:rPr lang="en-US" altLang="ko-KR" sz="1500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KOREA</a:t>
                      </a:r>
                      <a:r>
                        <a:rPr lang="en-US" altLang="ko-KR" sz="1500" kern="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EDS LOGISTICS</a:t>
                      </a:r>
                      <a:endParaRPr lang="ko-KR" sz="15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517207"/>
                  </a:ext>
                </a:extLst>
              </a:tr>
            </a:tbl>
          </a:graphicData>
        </a:graphic>
      </p:graphicFrame>
      <p:graphicFrame>
        <p:nvGraphicFramePr>
          <p:cNvPr id="143" name="표 1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489291"/>
              </p:ext>
            </p:extLst>
          </p:nvPr>
        </p:nvGraphicFramePr>
        <p:xfrm>
          <a:off x="618497" y="2041035"/>
          <a:ext cx="3934649" cy="1359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4649">
                  <a:extLst>
                    <a:ext uri="{9D8B030D-6E8A-4147-A177-3AD203B41FA5}">
                      <a16:colId xmlns:a16="http://schemas.microsoft.com/office/drawing/2014/main" val="3020317755"/>
                    </a:ext>
                  </a:extLst>
                </a:gridCol>
              </a:tblGrid>
              <a:tr h="135901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  <a:tab pos="3200400" algn="l"/>
                          <a:tab pos="3429000" algn="l"/>
                          <a:tab pos="3657600" algn="l"/>
                          <a:tab pos="3886200" algn="l"/>
                          <a:tab pos="4114800" algn="l"/>
                          <a:tab pos="4343400" algn="l"/>
                          <a:tab pos="4572000" algn="l"/>
                          <a:tab pos="4800600" algn="l"/>
                          <a:tab pos="5029200" algn="l"/>
                          <a:tab pos="5257800" algn="l"/>
                          <a:tab pos="5486400" algn="l"/>
                          <a:tab pos="5715000" algn="l"/>
                          <a:tab pos="5943600" algn="l"/>
                          <a:tab pos="6172200" algn="l"/>
                          <a:tab pos="6400800" algn="l"/>
                          <a:tab pos="66294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2F MYUNGKWANG BLDG 391-17 SEOGYO-DONG, MAPO-GU, SEOUL,KOREA</a:t>
                      </a:r>
                      <a:endParaRPr lang="ko-KR" sz="9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999568"/>
                  </a:ext>
                </a:extLst>
              </a:tr>
            </a:tbl>
          </a:graphicData>
        </a:graphic>
      </p:graphicFrame>
      <p:graphicFrame>
        <p:nvGraphicFramePr>
          <p:cNvPr id="144" name="표 1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340446"/>
              </p:ext>
            </p:extLst>
          </p:nvPr>
        </p:nvGraphicFramePr>
        <p:xfrm>
          <a:off x="618496" y="2183286"/>
          <a:ext cx="3934649" cy="1359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4649">
                  <a:extLst>
                    <a:ext uri="{9D8B030D-6E8A-4147-A177-3AD203B41FA5}">
                      <a16:colId xmlns:a16="http://schemas.microsoft.com/office/drawing/2014/main" val="4258494926"/>
                    </a:ext>
                  </a:extLst>
                </a:gridCol>
              </a:tblGrid>
              <a:tr h="135901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  <a:tab pos="3200400" algn="l"/>
                          <a:tab pos="3429000" algn="l"/>
                          <a:tab pos="3657600" algn="l"/>
                          <a:tab pos="3886200" algn="l"/>
                          <a:tab pos="4114800" algn="l"/>
                          <a:tab pos="4343400" algn="l"/>
                          <a:tab pos="4572000" algn="l"/>
                          <a:tab pos="4800600" algn="l"/>
                          <a:tab pos="5029200" algn="l"/>
                          <a:tab pos="5257800" algn="l"/>
                          <a:tab pos="5486400" algn="l"/>
                          <a:tab pos="5715000" algn="l"/>
                          <a:tab pos="5943600" algn="l"/>
                          <a:tab pos="6172200" algn="l"/>
                          <a:tab pos="6400800" algn="l"/>
                          <a:tab pos="66294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Tel:02-6277-8050 Fax:02-6277-8080  e-mail:@yht.co.kr  URL:</a:t>
                      </a:r>
                      <a:endParaRPr lang="ko-KR" sz="9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7294971"/>
                  </a:ext>
                </a:extLst>
              </a:tr>
            </a:tbl>
          </a:graphicData>
        </a:graphic>
      </p:graphicFrame>
      <p:graphicFrame>
        <p:nvGraphicFramePr>
          <p:cNvPr id="3085" name="표 30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994738"/>
              </p:ext>
            </p:extLst>
          </p:nvPr>
        </p:nvGraphicFramePr>
        <p:xfrm>
          <a:off x="3781425" y="2589026"/>
          <a:ext cx="1020363" cy="129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0363">
                  <a:extLst>
                    <a:ext uri="{9D8B030D-6E8A-4147-A177-3AD203B41FA5}">
                      <a16:colId xmlns:a16="http://schemas.microsoft.com/office/drawing/2014/main" val="546000223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</a:tabLst>
                      </a:pPr>
                      <a:r>
                        <a:rPr lang="en-US" sz="750" kern="0" dirty="0">
                          <a:effectLst/>
                        </a:rPr>
                        <a:t>Printed By : </a:t>
                      </a:r>
                      <a:r>
                        <a:rPr lang="ko-KR" altLang="en-US" sz="750" kern="0" dirty="0">
                          <a:effectLst/>
                        </a:rPr>
                        <a:t>홍길동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47821982"/>
                  </a:ext>
                </a:extLst>
              </a:tr>
            </a:tbl>
          </a:graphicData>
        </a:graphic>
      </p:graphicFrame>
      <p:sp>
        <p:nvSpPr>
          <p:cNvPr id="3086" name="Line 79"/>
          <p:cNvSpPr>
            <a:spLocks noChangeShapeType="1"/>
          </p:cNvSpPr>
          <p:nvPr/>
        </p:nvSpPr>
        <p:spPr bwMode="auto">
          <a:xfrm>
            <a:off x="381916" y="2747255"/>
            <a:ext cx="443168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+mn-ea"/>
            </a:endParaRPr>
          </a:p>
        </p:txBody>
      </p:sp>
      <p:graphicFrame>
        <p:nvGraphicFramePr>
          <p:cNvPr id="3087" name="표 30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609599"/>
              </p:ext>
            </p:extLst>
          </p:nvPr>
        </p:nvGraphicFramePr>
        <p:xfrm>
          <a:off x="2765688" y="2588566"/>
          <a:ext cx="358140" cy="1223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8140">
                  <a:extLst>
                    <a:ext uri="{9D8B030D-6E8A-4147-A177-3AD203B41FA5}">
                      <a16:colId xmlns:a16="http://schemas.microsoft.com/office/drawing/2014/main" val="1139635425"/>
                    </a:ext>
                  </a:extLst>
                </a:gridCol>
              </a:tblGrid>
              <a:tr h="10668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750" kern="0" dirty="0">
                          <a:effectLst/>
                        </a:rPr>
                        <a:t>Date :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66999977"/>
                  </a:ext>
                </a:extLst>
              </a:tr>
            </a:tbl>
          </a:graphicData>
        </a:graphic>
      </p:graphicFrame>
      <p:graphicFrame>
        <p:nvGraphicFramePr>
          <p:cNvPr id="3089" name="표 30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34207"/>
              </p:ext>
            </p:extLst>
          </p:nvPr>
        </p:nvGraphicFramePr>
        <p:xfrm>
          <a:off x="381915" y="2559281"/>
          <a:ext cx="937823" cy="129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7823">
                  <a:extLst>
                    <a:ext uri="{9D8B030D-6E8A-4147-A177-3AD203B41FA5}">
                      <a16:colId xmlns:a16="http://schemas.microsoft.com/office/drawing/2014/main" val="3202878536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</a:tabLst>
                      </a:pPr>
                      <a:r>
                        <a:rPr lang="en-US" sz="750" kern="0" dirty="0">
                          <a:effectLst/>
                        </a:rPr>
                        <a:t>(OCEAN INBOUND)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982189232"/>
                  </a:ext>
                </a:extLst>
              </a:tr>
            </a:tbl>
          </a:graphicData>
        </a:graphic>
      </p:graphicFrame>
      <p:graphicFrame>
        <p:nvGraphicFramePr>
          <p:cNvPr id="3090" name="표 30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399414"/>
              </p:ext>
            </p:extLst>
          </p:nvPr>
        </p:nvGraphicFramePr>
        <p:xfrm>
          <a:off x="448494" y="2828674"/>
          <a:ext cx="4276651" cy="2527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76651">
                  <a:extLst>
                    <a:ext uri="{9D8B030D-6E8A-4147-A177-3AD203B41FA5}">
                      <a16:colId xmlns:a16="http://schemas.microsoft.com/office/drawing/2014/main" val="341447866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  <a:tab pos="3200400" algn="l"/>
                          <a:tab pos="3429000" algn="l"/>
                          <a:tab pos="3657600" algn="l"/>
                          <a:tab pos="3886200" algn="l"/>
                          <a:tab pos="4114800" algn="l"/>
                          <a:tab pos="4343400" algn="l"/>
                          <a:tab pos="4572000" algn="l"/>
                        </a:tabLst>
                      </a:pPr>
                      <a:r>
                        <a:rPr lang="en-US" sz="1550" kern="0" dirty="0">
                          <a:effectLst/>
                        </a:rPr>
                        <a:t>ARRIVAL NOTICE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39339414"/>
                  </a:ext>
                </a:extLst>
              </a:tr>
            </a:tbl>
          </a:graphicData>
        </a:graphic>
      </p:graphicFrame>
      <p:graphicFrame>
        <p:nvGraphicFramePr>
          <p:cNvPr id="3091" name="표 30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720488"/>
              </p:ext>
            </p:extLst>
          </p:nvPr>
        </p:nvGraphicFramePr>
        <p:xfrm>
          <a:off x="3106355" y="2596000"/>
          <a:ext cx="655320" cy="1223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5320">
                  <a:extLst>
                    <a:ext uri="{9D8B030D-6E8A-4147-A177-3AD203B41FA5}">
                      <a16:colId xmlns:a16="http://schemas.microsoft.com/office/drawing/2014/main" val="14097044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algn="r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US" sz="750" kern="0" dirty="0">
                          <a:effectLst/>
                        </a:rPr>
                        <a:t>2022‑04‑25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63036035"/>
                  </a:ext>
                </a:extLst>
              </a:tr>
            </a:tbl>
          </a:graphicData>
        </a:graphic>
      </p:graphicFrame>
      <p:sp>
        <p:nvSpPr>
          <p:cNvPr id="153" name="Line 34"/>
          <p:cNvSpPr>
            <a:spLocks noChangeShapeType="1"/>
          </p:cNvSpPr>
          <p:nvPr/>
        </p:nvSpPr>
        <p:spPr bwMode="auto">
          <a:xfrm flipV="1">
            <a:off x="494958" y="3241571"/>
            <a:ext cx="417113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+mn-ea"/>
            </a:endParaRPr>
          </a:p>
        </p:txBody>
      </p:sp>
      <p:sp>
        <p:nvSpPr>
          <p:cNvPr id="154" name="Line 33"/>
          <p:cNvSpPr>
            <a:spLocks noChangeShapeType="1"/>
          </p:cNvSpPr>
          <p:nvPr/>
        </p:nvSpPr>
        <p:spPr bwMode="auto">
          <a:xfrm flipV="1">
            <a:off x="379716" y="5324832"/>
            <a:ext cx="2207547" cy="1647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5" name="Line 32"/>
          <p:cNvSpPr>
            <a:spLocks noChangeShapeType="1"/>
          </p:cNvSpPr>
          <p:nvPr/>
        </p:nvSpPr>
        <p:spPr bwMode="auto">
          <a:xfrm flipV="1">
            <a:off x="401731" y="6404357"/>
            <a:ext cx="4361407" cy="5566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800">
              <a:latin typeface="+mn-ea"/>
            </a:endParaRPr>
          </a:p>
        </p:txBody>
      </p:sp>
      <p:sp>
        <p:nvSpPr>
          <p:cNvPr id="158" name="Line 29"/>
          <p:cNvSpPr>
            <a:spLocks noChangeShapeType="1"/>
          </p:cNvSpPr>
          <p:nvPr/>
        </p:nvSpPr>
        <p:spPr bwMode="auto">
          <a:xfrm flipH="1">
            <a:off x="1476720" y="6404356"/>
            <a:ext cx="190" cy="845482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800">
              <a:latin typeface="+mn-ea"/>
            </a:endParaRPr>
          </a:p>
        </p:txBody>
      </p:sp>
      <p:sp>
        <p:nvSpPr>
          <p:cNvPr id="159" name="Line 28"/>
          <p:cNvSpPr>
            <a:spLocks noChangeShapeType="1"/>
          </p:cNvSpPr>
          <p:nvPr/>
        </p:nvSpPr>
        <p:spPr bwMode="auto">
          <a:xfrm flipH="1">
            <a:off x="2574916" y="3241572"/>
            <a:ext cx="6876" cy="4008898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+mn-ea"/>
            </a:endParaRPr>
          </a:p>
        </p:txBody>
      </p:sp>
      <p:sp>
        <p:nvSpPr>
          <p:cNvPr id="161" name="Line 26"/>
          <p:cNvSpPr>
            <a:spLocks noChangeShapeType="1"/>
          </p:cNvSpPr>
          <p:nvPr/>
        </p:nvSpPr>
        <p:spPr bwMode="auto">
          <a:xfrm>
            <a:off x="2700325" y="3655510"/>
            <a:ext cx="2058327" cy="846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+mn-ea"/>
            </a:endParaRPr>
          </a:p>
        </p:txBody>
      </p:sp>
      <p:sp>
        <p:nvSpPr>
          <p:cNvPr id="162" name="Line 25"/>
          <p:cNvSpPr>
            <a:spLocks noChangeShapeType="1"/>
          </p:cNvSpPr>
          <p:nvPr/>
        </p:nvSpPr>
        <p:spPr bwMode="auto">
          <a:xfrm flipV="1">
            <a:off x="400863" y="7549181"/>
            <a:ext cx="4362275" cy="17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aphicFrame>
        <p:nvGraphicFramePr>
          <p:cNvPr id="3092" name="표 30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208025"/>
              </p:ext>
            </p:extLst>
          </p:nvPr>
        </p:nvGraphicFramePr>
        <p:xfrm>
          <a:off x="412283" y="3315192"/>
          <a:ext cx="2073147" cy="1386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73147">
                  <a:extLst>
                    <a:ext uri="{9D8B030D-6E8A-4147-A177-3AD203B41FA5}">
                      <a16:colId xmlns:a16="http://schemas.microsoft.com/office/drawing/2014/main" val="3051886258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</a:tabLst>
                      </a:pPr>
                      <a:r>
                        <a:rPr lang="en-US" sz="850" kern="0" dirty="0">
                          <a:effectLst/>
                        </a:rPr>
                        <a:t>Shipper.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64885732"/>
                  </a:ext>
                </a:extLst>
              </a:tr>
            </a:tbl>
          </a:graphicData>
        </a:graphic>
      </p:graphicFrame>
      <p:graphicFrame>
        <p:nvGraphicFramePr>
          <p:cNvPr id="3093" name="표 30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374656"/>
              </p:ext>
            </p:extLst>
          </p:nvPr>
        </p:nvGraphicFramePr>
        <p:xfrm>
          <a:off x="404664" y="3483822"/>
          <a:ext cx="2080767" cy="7596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0767">
                  <a:extLst>
                    <a:ext uri="{9D8B030D-6E8A-4147-A177-3AD203B41FA5}">
                      <a16:colId xmlns:a16="http://schemas.microsoft.com/office/drawing/2014/main" val="1555084819"/>
                    </a:ext>
                  </a:extLst>
                </a:gridCol>
              </a:tblGrid>
              <a:tr h="759631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</a:tabLst>
                      </a:pPr>
                      <a:r>
                        <a:rPr lang="en-US" sz="850" kern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SAEOUL TOPIA CO., LTD</a:t>
                      </a:r>
                    </a:p>
                    <a:p>
                      <a:pPr marL="0" marR="0" indent="0" algn="l" defTabSz="914415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</a:tabLst>
                        <a:defRPr/>
                      </a:pPr>
                      <a:r>
                        <a:rPr lang="en-US" altLang="ko-KR" sz="850" kern="0" dirty="0">
                          <a:effectLst/>
                        </a:rPr>
                        <a:t>304HO SAEOUL BUILDING, DOKSAN-DONG</a:t>
                      </a:r>
                      <a:endParaRPr lang="ko-KR" altLang="ko-KR" sz="10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914415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</a:tabLst>
                        <a:defRPr/>
                      </a:pPr>
                      <a:r>
                        <a:rPr lang="en-US" altLang="ko-KR" sz="850" kern="0" dirty="0">
                          <a:effectLst/>
                        </a:rPr>
                        <a:t>TEL:02-833-2723  FAX:02-833-2672</a:t>
                      </a:r>
                      <a:endParaRPr lang="en-US" sz="850" kern="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</a:tabLst>
                      </a:pPr>
                      <a:endParaRPr lang="en-US" altLang="ko-KR" sz="850" kern="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40783163"/>
                  </a:ext>
                </a:extLst>
              </a:tr>
            </a:tbl>
          </a:graphicData>
        </a:graphic>
      </p:graphicFrame>
      <p:graphicFrame>
        <p:nvGraphicFramePr>
          <p:cNvPr id="3096" name="표 30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448553"/>
              </p:ext>
            </p:extLst>
          </p:nvPr>
        </p:nvGraphicFramePr>
        <p:xfrm>
          <a:off x="400862" y="7346771"/>
          <a:ext cx="4351635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51635">
                  <a:extLst>
                    <a:ext uri="{9D8B030D-6E8A-4147-A177-3AD203B41FA5}">
                      <a16:colId xmlns:a16="http://schemas.microsoft.com/office/drawing/2014/main" val="813983560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</a:tabLst>
                      </a:pPr>
                      <a:r>
                        <a:rPr lang="en-US" altLang="ko-KR" sz="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Mark</a:t>
                      </a:r>
                      <a:r>
                        <a:rPr lang="en-US" altLang="ko-KR" sz="800" kern="100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&amp; Number          No of Package           Description of goods    Weight   </a:t>
                      </a:r>
                      <a:r>
                        <a:rPr lang="en-US" altLang="ko-KR" sz="800" kern="100" baseline="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Measurment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46802887"/>
                  </a:ext>
                </a:extLst>
              </a:tr>
            </a:tbl>
          </a:graphicData>
        </a:graphic>
      </p:graphicFrame>
      <p:graphicFrame>
        <p:nvGraphicFramePr>
          <p:cNvPr id="3097" name="표 30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664220"/>
              </p:ext>
            </p:extLst>
          </p:nvPr>
        </p:nvGraphicFramePr>
        <p:xfrm>
          <a:off x="400863" y="6448062"/>
          <a:ext cx="1045350" cy="1386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5350">
                  <a:extLst>
                    <a:ext uri="{9D8B030D-6E8A-4147-A177-3AD203B41FA5}">
                      <a16:colId xmlns:a16="http://schemas.microsoft.com/office/drawing/2014/main" val="630811505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sz="85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Port of Loading</a:t>
                      </a:r>
                      <a:endParaRPr lang="ko-KR" sz="10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55040176"/>
                  </a:ext>
                </a:extLst>
              </a:tr>
            </a:tbl>
          </a:graphicData>
        </a:graphic>
      </p:graphicFrame>
      <p:graphicFrame>
        <p:nvGraphicFramePr>
          <p:cNvPr id="3098" name="표 30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369294"/>
              </p:ext>
            </p:extLst>
          </p:nvPr>
        </p:nvGraphicFramePr>
        <p:xfrm>
          <a:off x="2686562" y="3286214"/>
          <a:ext cx="408953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8953">
                  <a:extLst>
                    <a:ext uri="{9D8B030D-6E8A-4147-A177-3AD203B41FA5}">
                      <a16:colId xmlns:a16="http://schemas.microsoft.com/office/drawing/2014/main" val="3849172545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MRN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14726421"/>
                  </a:ext>
                </a:extLst>
              </a:tr>
            </a:tbl>
          </a:graphicData>
        </a:graphic>
      </p:graphicFrame>
      <p:graphicFrame>
        <p:nvGraphicFramePr>
          <p:cNvPr id="3099" name="표 30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334478"/>
              </p:ext>
            </p:extLst>
          </p:nvPr>
        </p:nvGraphicFramePr>
        <p:xfrm>
          <a:off x="3051139" y="3279267"/>
          <a:ext cx="848452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8452">
                  <a:extLst>
                    <a:ext uri="{9D8B030D-6E8A-4147-A177-3AD203B41FA5}">
                      <a16:colId xmlns:a16="http://schemas.microsoft.com/office/drawing/2014/main" val="786566442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13HJSC03753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86106526"/>
                  </a:ext>
                </a:extLst>
              </a:tr>
            </a:tbl>
          </a:graphicData>
        </a:graphic>
      </p:graphicFrame>
      <p:graphicFrame>
        <p:nvGraphicFramePr>
          <p:cNvPr id="3100" name="표 30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174195"/>
              </p:ext>
            </p:extLst>
          </p:nvPr>
        </p:nvGraphicFramePr>
        <p:xfrm>
          <a:off x="3875380" y="3267472"/>
          <a:ext cx="342900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1327061379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MSN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15561441"/>
                  </a:ext>
                </a:extLst>
              </a:tr>
            </a:tbl>
          </a:graphicData>
        </a:graphic>
      </p:graphicFrame>
      <p:graphicFrame>
        <p:nvGraphicFramePr>
          <p:cNvPr id="3101" name="표 3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296541"/>
              </p:ext>
            </p:extLst>
          </p:nvPr>
        </p:nvGraphicFramePr>
        <p:xfrm>
          <a:off x="4228899" y="3262750"/>
          <a:ext cx="534239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4239">
                  <a:extLst>
                    <a:ext uri="{9D8B030D-6E8A-4147-A177-3AD203B41FA5}">
                      <a16:colId xmlns:a16="http://schemas.microsoft.com/office/drawing/2014/main" val="4195720068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0044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267805679"/>
                  </a:ext>
                </a:extLst>
              </a:tr>
            </a:tbl>
          </a:graphicData>
        </a:graphic>
      </p:graphicFrame>
      <p:graphicFrame>
        <p:nvGraphicFramePr>
          <p:cNvPr id="3102" name="표 3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302118"/>
              </p:ext>
            </p:extLst>
          </p:nvPr>
        </p:nvGraphicFramePr>
        <p:xfrm>
          <a:off x="2686562" y="3460689"/>
          <a:ext cx="555081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5081">
                  <a:extLst>
                    <a:ext uri="{9D8B030D-6E8A-4147-A177-3AD203B41FA5}">
                      <a16:colId xmlns:a16="http://schemas.microsoft.com/office/drawing/2014/main" val="1245828660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M.B/L No.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65178408"/>
                  </a:ext>
                </a:extLst>
              </a:tr>
            </a:tbl>
          </a:graphicData>
        </a:graphic>
      </p:graphicFrame>
      <p:graphicFrame>
        <p:nvGraphicFramePr>
          <p:cNvPr id="3103" name="표 3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123973"/>
              </p:ext>
            </p:extLst>
          </p:nvPr>
        </p:nvGraphicFramePr>
        <p:xfrm>
          <a:off x="3275151" y="3460689"/>
          <a:ext cx="1483502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3502">
                  <a:extLst>
                    <a:ext uri="{9D8B030D-6E8A-4147-A177-3AD203B41FA5}">
                      <a16:colId xmlns:a16="http://schemas.microsoft.com/office/drawing/2014/main" val="811709355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HJSCDAC302818700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88273817"/>
                  </a:ext>
                </a:extLst>
              </a:tr>
            </a:tbl>
          </a:graphicData>
        </a:graphic>
      </p:graphicFrame>
      <p:sp>
        <p:nvSpPr>
          <p:cNvPr id="177" name="Line 26"/>
          <p:cNvSpPr>
            <a:spLocks noChangeShapeType="1"/>
          </p:cNvSpPr>
          <p:nvPr/>
        </p:nvSpPr>
        <p:spPr bwMode="auto">
          <a:xfrm flipV="1">
            <a:off x="379716" y="4276526"/>
            <a:ext cx="4422072" cy="8154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+mn-ea"/>
            </a:endParaRPr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674581"/>
              </p:ext>
            </p:extLst>
          </p:nvPr>
        </p:nvGraphicFramePr>
        <p:xfrm>
          <a:off x="2693971" y="4084606"/>
          <a:ext cx="699087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9087">
                  <a:extLst>
                    <a:ext uri="{9D8B030D-6E8A-4147-A177-3AD203B41FA5}">
                      <a16:colId xmlns:a16="http://schemas.microsoft.com/office/drawing/2014/main" val="3849172545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US" altLang="ko-KR" sz="800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Call</a:t>
                      </a:r>
                      <a:r>
                        <a:rPr lang="en-US" altLang="ko-KR" sz="800" kern="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Sign.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14726421"/>
                  </a:ext>
                </a:extLst>
              </a:tr>
            </a:tbl>
          </a:graphicData>
        </a:graphic>
      </p:graphicFrame>
      <p:graphicFrame>
        <p:nvGraphicFramePr>
          <p:cNvPr id="179" name="표 1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23125"/>
              </p:ext>
            </p:extLst>
          </p:nvPr>
        </p:nvGraphicFramePr>
        <p:xfrm>
          <a:off x="3475365" y="3881972"/>
          <a:ext cx="1270108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0108">
                  <a:extLst>
                    <a:ext uri="{9D8B030D-6E8A-4147-A177-3AD203B41FA5}">
                      <a16:colId xmlns:a16="http://schemas.microsoft.com/office/drawing/2014/main" val="786566442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</a:tabLst>
                      </a:pPr>
                      <a:r>
                        <a:rPr lang="en-US" altLang="ko-KR" sz="800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2022-04-25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86106526"/>
                  </a:ext>
                </a:extLst>
              </a:tr>
            </a:tbl>
          </a:graphicData>
        </a:graphic>
      </p:graphicFrame>
      <p:graphicFrame>
        <p:nvGraphicFramePr>
          <p:cNvPr id="180" name="표 1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65578"/>
              </p:ext>
            </p:extLst>
          </p:nvPr>
        </p:nvGraphicFramePr>
        <p:xfrm>
          <a:off x="2713187" y="4378174"/>
          <a:ext cx="463821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3821">
                  <a:extLst>
                    <a:ext uri="{9D8B030D-6E8A-4147-A177-3AD203B41FA5}">
                      <a16:colId xmlns:a16="http://schemas.microsoft.com/office/drawing/2014/main" val="1327061379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altLang="ko-KR" sz="800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TO.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561441"/>
                  </a:ext>
                </a:extLst>
              </a:tr>
            </a:tbl>
          </a:graphicData>
        </a:graphic>
      </p:graphicFrame>
      <p:graphicFrame>
        <p:nvGraphicFramePr>
          <p:cNvPr id="181" name="표 1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635049"/>
              </p:ext>
            </p:extLst>
          </p:nvPr>
        </p:nvGraphicFramePr>
        <p:xfrm>
          <a:off x="3430857" y="4082414"/>
          <a:ext cx="1321641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1641">
                  <a:extLst>
                    <a:ext uri="{9D8B030D-6E8A-4147-A177-3AD203B41FA5}">
                      <a16:colId xmlns:a16="http://schemas.microsoft.com/office/drawing/2014/main" val="4195720068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US" altLang="ko-KR" sz="800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VW50510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267805679"/>
                  </a:ext>
                </a:extLst>
              </a:tr>
            </a:tbl>
          </a:graphicData>
        </a:graphic>
      </p:graphicFrame>
      <p:graphicFrame>
        <p:nvGraphicFramePr>
          <p:cNvPr id="182" name="표 1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380799"/>
              </p:ext>
            </p:extLst>
          </p:nvPr>
        </p:nvGraphicFramePr>
        <p:xfrm>
          <a:off x="2677873" y="3695822"/>
          <a:ext cx="555081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5081">
                  <a:extLst>
                    <a:ext uri="{9D8B030D-6E8A-4147-A177-3AD203B41FA5}">
                      <a16:colId xmlns:a16="http://schemas.microsoft.com/office/drawing/2014/main" val="1245828660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H.B/L No.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65178408"/>
                  </a:ext>
                </a:extLst>
              </a:tr>
            </a:tbl>
          </a:graphicData>
        </a:graphic>
      </p:graphicFrame>
      <p:graphicFrame>
        <p:nvGraphicFramePr>
          <p:cNvPr id="183" name="표 1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796608"/>
              </p:ext>
            </p:extLst>
          </p:nvPr>
        </p:nvGraphicFramePr>
        <p:xfrm>
          <a:off x="3268996" y="3707939"/>
          <a:ext cx="1483502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3502">
                  <a:extLst>
                    <a:ext uri="{9D8B030D-6E8A-4147-A177-3AD203B41FA5}">
                      <a16:colId xmlns:a16="http://schemas.microsoft.com/office/drawing/2014/main" val="811709355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SCDAC302818700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88273817"/>
                  </a:ext>
                </a:extLst>
              </a:tr>
            </a:tbl>
          </a:graphicData>
        </a:graphic>
      </p:graphicFrame>
      <p:graphicFrame>
        <p:nvGraphicFramePr>
          <p:cNvPr id="184" name="표 1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681780"/>
              </p:ext>
            </p:extLst>
          </p:nvPr>
        </p:nvGraphicFramePr>
        <p:xfrm>
          <a:off x="2684877" y="3885944"/>
          <a:ext cx="771013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1013">
                  <a:extLst>
                    <a:ext uri="{9D8B030D-6E8A-4147-A177-3AD203B41FA5}">
                      <a16:colId xmlns:a16="http://schemas.microsoft.com/office/drawing/2014/main" val="811709355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Arrival</a:t>
                      </a:r>
                      <a:r>
                        <a:rPr lang="en-US" sz="800" kern="0" baseline="0" dirty="0">
                          <a:effectLst/>
                        </a:rPr>
                        <a:t> Date . 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88273817"/>
                  </a:ext>
                </a:extLst>
              </a:tr>
            </a:tbl>
          </a:graphicData>
        </a:graphic>
      </p:graphicFrame>
      <p:graphicFrame>
        <p:nvGraphicFramePr>
          <p:cNvPr id="185" name="표 1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678161"/>
              </p:ext>
            </p:extLst>
          </p:nvPr>
        </p:nvGraphicFramePr>
        <p:xfrm>
          <a:off x="418782" y="4332374"/>
          <a:ext cx="2073147" cy="1386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73147">
                  <a:extLst>
                    <a:ext uri="{9D8B030D-6E8A-4147-A177-3AD203B41FA5}">
                      <a16:colId xmlns:a16="http://schemas.microsoft.com/office/drawing/2014/main" val="3051886258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</a:tabLst>
                      </a:pPr>
                      <a:r>
                        <a:rPr lang="en-US" altLang="ko-KR" sz="850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Consignee</a:t>
                      </a:r>
                      <a:r>
                        <a:rPr lang="en-US" altLang="ko-KR" sz="850" kern="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64885732"/>
                  </a:ext>
                </a:extLst>
              </a:tr>
            </a:tbl>
          </a:graphicData>
        </a:graphic>
      </p:graphicFrame>
      <p:graphicFrame>
        <p:nvGraphicFramePr>
          <p:cNvPr id="186" name="표 1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571507"/>
              </p:ext>
            </p:extLst>
          </p:nvPr>
        </p:nvGraphicFramePr>
        <p:xfrm>
          <a:off x="411163" y="4501004"/>
          <a:ext cx="2080767" cy="7596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0767">
                  <a:extLst>
                    <a:ext uri="{9D8B030D-6E8A-4147-A177-3AD203B41FA5}">
                      <a16:colId xmlns:a16="http://schemas.microsoft.com/office/drawing/2014/main" val="1555084819"/>
                    </a:ext>
                  </a:extLst>
                </a:gridCol>
              </a:tblGrid>
              <a:tr h="759631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</a:tabLst>
                      </a:pPr>
                      <a:r>
                        <a:rPr lang="en-US" sz="850" kern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SAEOUL TOPIA CO., LTD</a:t>
                      </a:r>
                    </a:p>
                    <a:p>
                      <a:pPr marL="0" marR="0" indent="0" algn="l" defTabSz="914415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</a:tabLst>
                        <a:defRPr/>
                      </a:pPr>
                      <a:r>
                        <a:rPr lang="en-US" altLang="ko-KR" sz="850" kern="0" dirty="0">
                          <a:effectLst/>
                        </a:rPr>
                        <a:t>304HO SAEOUL BUILDING, DOKSAN-DONG</a:t>
                      </a:r>
                      <a:endParaRPr lang="ko-KR" altLang="ko-KR" sz="10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914415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</a:tabLst>
                        <a:defRPr/>
                      </a:pPr>
                      <a:r>
                        <a:rPr lang="en-US" altLang="ko-KR" sz="850" kern="0" dirty="0">
                          <a:effectLst/>
                        </a:rPr>
                        <a:t>TEL:02-833-2723  FAX:02-833-2672</a:t>
                      </a:r>
                      <a:endParaRPr lang="en-US" sz="850" kern="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</a:tabLst>
                      </a:pPr>
                      <a:endParaRPr lang="en-US" altLang="ko-KR" sz="850" kern="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40783163"/>
                  </a:ext>
                </a:extLst>
              </a:tr>
            </a:tbl>
          </a:graphicData>
        </a:graphic>
      </p:graphicFrame>
      <p:graphicFrame>
        <p:nvGraphicFramePr>
          <p:cNvPr id="187" name="표 1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301312"/>
              </p:ext>
            </p:extLst>
          </p:nvPr>
        </p:nvGraphicFramePr>
        <p:xfrm>
          <a:off x="418781" y="5405209"/>
          <a:ext cx="2073147" cy="1386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73147">
                  <a:extLst>
                    <a:ext uri="{9D8B030D-6E8A-4147-A177-3AD203B41FA5}">
                      <a16:colId xmlns:a16="http://schemas.microsoft.com/office/drawing/2014/main" val="3051886258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</a:tabLst>
                      </a:pPr>
                      <a:r>
                        <a:rPr lang="en-US" sz="850" kern="0" dirty="0" err="1">
                          <a:effectLst/>
                        </a:rPr>
                        <a:t>Notity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64885732"/>
                  </a:ext>
                </a:extLst>
              </a:tr>
            </a:tbl>
          </a:graphicData>
        </a:graphic>
      </p:graphicFrame>
      <p:graphicFrame>
        <p:nvGraphicFramePr>
          <p:cNvPr id="188" name="표 1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717136"/>
              </p:ext>
            </p:extLst>
          </p:nvPr>
        </p:nvGraphicFramePr>
        <p:xfrm>
          <a:off x="411162" y="5573839"/>
          <a:ext cx="2080767" cy="7596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0767">
                  <a:extLst>
                    <a:ext uri="{9D8B030D-6E8A-4147-A177-3AD203B41FA5}">
                      <a16:colId xmlns:a16="http://schemas.microsoft.com/office/drawing/2014/main" val="1555084819"/>
                    </a:ext>
                  </a:extLst>
                </a:gridCol>
              </a:tblGrid>
              <a:tr h="759631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</a:tabLst>
                      </a:pPr>
                      <a:r>
                        <a:rPr lang="en-US" sz="850" kern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SAEOUL TOPIA CO., LTD</a:t>
                      </a:r>
                    </a:p>
                    <a:p>
                      <a:pPr marL="0" marR="0" indent="0" algn="l" defTabSz="914415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</a:tabLst>
                        <a:defRPr/>
                      </a:pPr>
                      <a:r>
                        <a:rPr lang="en-US" altLang="ko-KR" sz="850" kern="0" dirty="0">
                          <a:effectLst/>
                        </a:rPr>
                        <a:t>304HO SAEOUL BUILDING, DOKSAN-DONG</a:t>
                      </a:r>
                      <a:endParaRPr lang="ko-KR" altLang="ko-KR" sz="10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914415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</a:tabLst>
                        <a:defRPr/>
                      </a:pPr>
                      <a:r>
                        <a:rPr lang="en-US" altLang="ko-KR" sz="850" kern="0" dirty="0">
                          <a:effectLst/>
                        </a:rPr>
                        <a:t>TEL:02-833-2723  FAX:02-833-2672</a:t>
                      </a:r>
                      <a:endParaRPr lang="en-US" sz="850" kern="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</a:tabLst>
                      </a:pPr>
                      <a:endParaRPr lang="en-US" altLang="ko-KR" sz="850" kern="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40783163"/>
                  </a:ext>
                </a:extLst>
              </a:tr>
            </a:tbl>
          </a:graphicData>
        </a:graphic>
      </p:graphicFrame>
      <p:graphicFrame>
        <p:nvGraphicFramePr>
          <p:cNvPr id="189" name="표 1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573589"/>
              </p:ext>
            </p:extLst>
          </p:nvPr>
        </p:nvGraphicFramePr>
        <p:xfrm>
          <a:off x="2706564" y="4630713"/>
          <a:ext cx="463821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3821">
                  <a:extLst>
                    <a:ext uri="{9D8B030D-6E8A-4147-A177-3AD203B41FA5}">
                      <a16:colId xmlns:a16="http://schemas.microsoft.com/office/drawing/2014/main" val="1327061379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ATTN.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561441"/>
                  </a:ext>
                </a:extLst>
              </a:tr>
            </a:tbl>
          </a:graphicData>
        </a:graphic>
      </p:graphicFrame>
      <p:graphicFrame>
        <p:nvGraphicFramePr>
          <p:cNvPr id="190" name="표 1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57788"/>
              </p:ext>
            </p:extLst>
          </p:nvPr>
        </p:nvGraphicFramePr>
        <p:xfrm>
          <a:off x="2706564" y="4870552"/>
          <a:ext cx="463821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3821">
                  <a:extLst>
                    <a:ext uri="{9D8B030D-6E8A-4147-A177-3AD203B41FA5}">
                      <a16:colId xmlns:a16="http://schemas.microsoft.com/office/drawing/2014/main" val="1327061379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TEL.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561441"/>
                  </a:ext>
                </a:extLst>
              </a:tr>
            </a:tbl>
          </a:graphicData>
        </a:graphic>
      </p:graphicFrame>
      <p:graphicFrame>
        <p:nvGraphicFramePr>
          <p:cNvPr id="191" name="표 1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342006"/>
              </p:ext>
            </p:extLst>
          </p:nvPr>
        </p:nvGraphicFramePr>
        <p:xfrm>
          <a:off x="2713187" y="5138703"/>
          <a:ext cx="463821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3821">
                  <a:extLst>
                    <a:ext uri="{9D8B030D-6E8A-4147-A177-3AD203B41FA5}">
                      <a16:colId xmlns:a16="http://schemas.microsoft.com/office/drawing/2014/main" val="1327061379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FAX.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561441"/>
                  </a:ext>
                </a:extLst>
              </a:tr>
            </a:tbl>
          </a:graphicData>
        </a:graphic>
      </p:graphicFrame>
      <p:graphicFrame>
        <p:nvGraphicFramePr>
          <p:cNvPr id="192" name="표 1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52303"/>
              </p:ext>
            </p:extLst>
          </p:nvPr>
        </p:nvGraphicFramePr>
        <p:xfrm>
          <a:off x="2742036" y="5473819"/>
          <a:ext cx="463821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3821">
                  <a:extLst>
                    <a:ext uri="{9D8B030D-6E8A-4147-A177-3AD203B41FA5}">
                      <a16:colId xmlns:a16="http://schemas.microsoft.com/office/drawing/2014/main" val="1327061379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FROM.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561441"/>
                  </a:ext>
                </a:extLst>
              </a:tr>
            </a:tbl>
          </a:graphicData>
        </a:graphic>
      </p:graphicFrame>
      <p:graphicFrame>
        <p:nvGraphicFramePr>
          <p:cNvPr id="193" name="표 1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583571"/>
              </p:ext>
            </p:extLst>
          </p:nvPr>
        </p:nvGraphicFramePr>
        <p:xfrm>
          <a:off x="2735413" y="5713658"/>
          <a:ext cx="463821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3821">
                  <a:extLst>
                    <a:ext uri="{9D8B030D-6E8A-4147-A177-3AD203B41FA5}">
                      <a16:colId xmlns:a16="http://schemas.microsoft.com/office/drawing/2014/main" val="1327061379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ATTN.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561441"/>
                  </a:ext>
                </a:extLst>
              </a:tr>
            </a:tbl>
          </a:graphicData>
        </a:graphic>
      </p:graphicFrame>
      <p:graphicFrame>
        <p:nvGraphicFramePr>
          <p:cNvPr id="194" name="표 1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73315"/>
              </p:ext>
            </p:extLst>
          </p:nvPr>
        </p:nvGraphicFramePr>
        <p:xfrm>
          <a:off x="2735413" y="5953497"/>
          <a:ext cx="463821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3821">
                  <a:extLst>
                    <a:ext uri="{9D8B030D-6E8A-4147-A177-3AD203B41FA5}">
                      <a16:colId xmlns:a16="http://schemas.microsoft.com/office/drawing/2014/main" val="1327061379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TEL.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561441"/>
                  </a:ext>
                </a:extLst>
              </a:tr>
            </a:tbl>
          </a:graphicData>
        </a:graphic>
      </p:graphicFrame>
      <p:graphicFrame>
        <p:nvGraphicFramePr>
          <p:cNvPr id="195" name="표 1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609800"/>
              </p:ext>
            </p:extLst>
          </p:nvPr>
        </p:nvGraphicFramePr>
        <p:xfrm>
          <a:off x="2742036" y="6221648"/>
          <a:ext cx="463821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3821">
                  <a:extLst>
                    <a:ext uri="{9D8B030D-6E8A-4147-A177-3AD203B41FA5}">
                      <a16:colId xmlns:a16="http://schemas.microsoft.com/office/drawing/2014/main" val="1327061379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FAX.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561441"/>
                  </a:ext>
                </a:extLst>
              </a:tr>
            </a:tbl>
          </a:graphicData>
        </a:graphic>
      </p:graphicFrame>
      <p:graphicFrame>
        <p:nvGraphicFramePr>
          <p:cNvPr id="196" name="표 1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631505"/>
              </p:ext>
            </p:extLst>
          </p:nvPr>
        </p:nvGraphicFramePr>
        <p:xfrm>
          <a:off x="3393022" y="4385344"/>
          <a:ext cx="1321641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1641">
                  <a:extLst>
                    <a:ext uri="{9D8B030D-6E8A-4147-A177-3AD203B41FA5}">
                      <a16:colId xmlns:a16="http://schemas.microsoft.com/office/drawing/2014/main" val="4195720068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ko-KR" altLang="en-US" sz="800" kern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한글상호명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805679"/>
                  </a:ext>
                </a:extLst>
              </a:tr>
            </a:tbl>
          </a:graphicData>
        </a:graphic>
      </p:graphicFrame>
      <p:graphicFrame>
        <p:nvGraphicFramePr>
          <p:cNvPr id="197" name="표 1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652986"/>
              </p:ext>
            </p:extLst>
          </p:nvPr>
        </p:nvGraphicFramePr>
        <p:xfrm>
          <a:off x="3396192" y="4626436"/>
          <a:ext cx="1321641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1641">
                  <a:extLst>
                    <a:ext uri="{9D8B030D-6E8A-4147-A177-3AD203B41FA5}">
                      <a16:colId xmlns:a16="http://schemas.microsoft.com/office/drawing/2014/main" val="4195720068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ko-KR" altLang="en-US" sz="800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담당자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805679"/>
                  </a:ext>
                </a:extLst>
              </a:tr>
            </a:tbl>
          </a:graphicData>
        </a:graphic>
      </p:graphicFrame>
      <p:graphicFrame>
        <p:nvGraphicFramePr>
          <p:cNvPr id="198" name="표 1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491093"/>
              </p:ext>
            </p:extLst>
          </p:nvPr>
        </p:nvGraphicFramePr>
        <p:xfrm>
          <a:off x="3393021" y="4869407"/>
          <a:ext cx="1321641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1641">
                  <a:extLst>
                    <a:ext uri="{9D8B030D-6E8A-4147-A177-3AD203B41FA5}">
                      <a16:colId xmlns:a16="http://schemas.microsoft.com/office/drawing/2014/main" val="4195720068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ko-KR" altLang="en-US" sz="800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전화번호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805679"/>
                  </a:ext>
                </a:extLst>
              </a:tr>
            </a:tbl>
          </a:graphicData>
        </a:graphic>
      </p:graphicFrame>
      <p:graphicFrame>
        <p:nvGraphicFramePr>
          <p:cNvPr id="199" name="표 1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851648"/>
              </p:ext>
            </p:extLst>
          </p:nvPr>
        </p:nvGraphicFramePr>
        <p:xfrm>
          <a:off x="3399516" y="5136415"/>
          <a:ext cx="1321641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1641">
                  <a:extLst>
                    <a:ext uri="{9D8B030D-6E8A-4147-A177-3AD203B41FA5}">
                      <a16:colId xmlns:a16="http://schemas.microsoft.com/office/drawing/2014/main" val="4195720068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ko-KR" altLang="en-US" sz="800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팩스번호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805679"/>
                  </a:ext>
                </a:extLst>
              </a:tr>
            </a:tbl>
          </a:graphicData>
        </a:graphic>
      </p:graphicFrame>
      <p:graphicFrame>
        <p:nvGraphicFramePr>
          <p:cNvPr id="200" name="표 1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19534"/>
              </p:ext>
            </p:extLst>
          </p:nvPr>
        </p:nvGraphicFramePr>
        <p:xfrm>
          <a:off x="3399516" y="5475370"/>
          <a:ext cx="1321641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1641">
                  <a:extLst>
                    <a:ext uri="{9D8B030D-6E8A-4147-A177-3AD203B41FA5}">
                      <a16:colId xmlns:a16="http://schemas.microsoft.com/office/drawing/2014/main" val="4195720068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ko-KR" altLang="en-US" sz="800" kern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한글상호명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805679"/>
                  </a:ext>
                </a:extLst>
              </a:tr>
            </a:tbl>
          </a:graphicData>
        </a:graphic>
      </p:graphicFrame>
      <p:graphicFrame>
        <p:nvGraphicFramePr>
          <p:cNvPr id="201" name="표 2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884776"/>
              </p:ext>
            </p:extLst>
          </p:nvPr>
        </p:nvGraphicFramePr>
        <p:xfrm>
          <a:off x="3399516" y="5736410"/>
          <a:ext cx="1321641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1641">
                  <a:extLst>
                    <a:ext uri="{9D8B030D-6E8A-4147-A177-3AD203B41FA5}">
                      <a16:colId xmlns:a16="http://schemas.microsoft.com/office/drawing/2014/main" val="4195720068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ko-KR" altLang="en-US" sz="800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담당자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805679"/>
                  </a:ext>
                </a:extLst>
              </a:tr>
            </a:tbl>
          </a:graphicData>
        </a:graphic>
      </p:graphicFrame>
      <p:graphicFrame>
        <p:nvGraphicFramePr>
          <p:cNvPr id="202" name="표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949170"/>
              </p:ext>
            </p:extLst>
          </p:nvPr>
        </p:nvGraphicFramePr>
        <p:xfrm>
          <a:off x="3399516" y="6001554"/>
          <a:ext cx="1321641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1641">
                  <a:extLst>
                    <a:ext uri="{9D8B030D-6E8A-4147-A177-3AD203B41FA5}">
                      <a16:colId xmlns:a16="http://schemas.microsoft.com/office/drawing/2014/main" val="4195720068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ko-KR" altLang="en-US" sz="800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전화번호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805679"/>
                  </a:ext>
                </a:extLst>
              </a:tr>
            </a:tbl>
          </a:graphicData>
        </a:graphic>
      </p:graphicFrame>
      <p:graphicFrame>
        <p:nvGraphicFramePr>
          <p:cNvPr id="203" name="표 2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677900"/>
              </p:ext>
            </p:extLst>
          </p:nvPr>
        </p:nvGraphicFramePr>
        <p:xfrm>
          <a:off x="3402399" y="6249198"/>
          <a:ext cx="1321641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1641">
                  <a:extLst>
                    <a:ext uri="{9D8B030D-6E8A-4147-A177-3AD203B41FA5}">
                      <a16:colId xmlns:a16="http://schemas.microsoft.com/office/drawing/2014/main" val="4195720068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ko-KR" altLang="en-US" sz="800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팩스번호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805679"/>
                  </a:ext>
                </a:extLst>
              </a:tr>
            </a:tbl>
          </a:graphicData>
        </a:graphic>
      </p:graphicFrame>
      <p:graphicFrame>
        <p:nvGraphicFramePr>
          <p:cNvPr id="3104" name="표 31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0873"/>
              </p:ext>
            </p:extLst>
          </p:nvPr>
        </p:nvGraphicFramePr>
        <p:xfrm>
          <a:off x="402411" y="6624822"/>
          <a:ext cx="1043802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3802">
                  <a:extLst>
                    <a:ext uri="{9D8B030D-6E8A-4147-A177-3AD203B41FA5}">
                      <a16:colId xmlns:a16="http://schemas.microsoft.com/office/drawing/2014/main" val="4206223728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sz="800" kern="0" dirty="0">
                          <a:effectLst/>
                          <a:latin typeface="+mn-ea"/>
                          <a:ea typeface="+mn-ea"/>
                        </a:rPr>
                        <a:t>CHITTAGONG</a:t>
                      </a:r>
                      <a:endParaRPr lang="ko-KR" sz="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71448778"/>
                  </a:ext>
                </a:extLst>
              </a:tr>
            </a:tbl>
          </a:graphicData>
        </a:graphic>
      </p:graphicFrame>
      <p:graphicFrame>
        <p:nvGraphicFramePr>
          <p:cNvPr id="3105" name="표 3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399765"/>
              </p:ext>
            </p:extLst>
          </p:nvPr>
        </p:nvGraphicFramePr>
        <p:xfrm>
          <a:off x="1540973" y="6452602"/>
          <a:ext cx="942173" cy="1386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2173">
                  <a:extLst>
                    <a:ext uri="{9D8B030D-6E8A-4147-A177-3AD203B41FA5}">
                      <a16:colId xmlns:a16="http://schemas.microsoft.com/office/drawing/2014/main" val="3867173163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sz="850" kern="0" dirty="0">
                          <a:effectLst/>
                        </a:rPr>
                        <a:t>Port of Receipt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17106068"/>
                  </a:ext>
                </a:extLst>
              </a:tr>
            </a:tbl>
          </a:graphicData>
        </a:graphic>
      </p:graphicFrame>
      <p:graphicFrame>
        <p:nvGraphicFramePr>
          <p:cNvPr id="3106" name="표 3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084223"/>
              </p:ext>
            </p:extLst>
          </p:nvPr>
        </p:nvGraphicFramePr>
        <p:xfrm>
          <a:off x="1516836" y="6615705"/>
          <a:ext cx="971072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1072">
                  <a:extLst>
                    <a:ext uri="{9D8B030D-6E8A-4147-A177-3AD203B41FA5}">
                      <a16:colId xmlns:a16="http://schemas.microsoft.com/office/drawing/2014/main" val="1992531421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CHITTAGONG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07220171"/>
                  </a:ext>
                </a:extLst>
              </a:tr>
            </a:tbl>
          </a:graphicData>
        </a:graphic>
      </p:graphicFrame>
      <p:graphicFrame>
        <p:nvGraphicFramePr>
          <p:cNvPr id="3107" name="표 31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915711"/>
              </p:ext>
            </p:extLst>
          </p:nvPr>
        </p:nvGraphicFramePr>
        <p:xfrm>
          <a:off x="2619591" y="6460727"/>
          <a:ext cx="1150020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0020">
                  <a:extLst>
                    <a:ext uri="{9D8B030D-6E8A-4147-A177-3AD203B41FA5}">
                      <a16:colId xmlns:a16="http://schemas.microsoft.com/office/drawing/2014/main" val="1344006034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Vessel Name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16646337"/>
                  </a:ext>
                </a:extLst>
              </a:tr>
            </a:tbl>
          </a:graphicData>
        </a:graphic>
      </p:graphicFrame>
      <p:graphicFrame>
        <p:nvGraphicFramePr>
          <p:cNvPr id="3108" name="표 3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053802"/>
              </p:ext>
            </p:extLst>
          </p:nvPr>
        </p:nvGraphicFramePr>
        <p:xfrm>
          <a:off x="2611655" y="6629796"/>
          <a:ext cx="1150020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0020">
                  <a:extLst>
                    <a:ext uri="{9D8B030D-6E8A-4147-A177-3AD203B41FA5}">
                      <a16:colId xmlns:a16="http://schemas.microsoft.com/office/drawing/2014/main" val="3004291366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HANJIN MONTEVIDEO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11830391"/>
                  </a:ext>
                </a:extLst>
              </a:tr>
            </a:tbl>
          </a:graphicData>
        </a:graphic>
      </p:graphicFrame>
      <p:graphicFrame>
        <p:nvGraphicFramePr>
          <p:cNvPr id="3109" name="표 31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456460"/>
              </p:ext>
            </p:extLst>
          </p:nvPr>
        </p:nvGraphicFramePr>
        <p:xfrm>
          <a:off x="3781738" y="6446025"/>
          <a:ext cx="949189" cy="1386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9189">
                  <a:extLst>
                    <a:ext uri="{9D8B030D-6E8A-4147-A177-3AD203B41FA5}">
                      <a16:colId xmlns:a16="http://schemas.microsoft.com/office/drawing/2014/main" val="872453632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sz="850" kern="0" dirty="0">
                          <a:effectLst/>
                        </a:rPr>
                        <a:t>Voyage No.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86499470"/>
                  </a:ext>
                </a:extLst>
              </a:tr>
            </a:tbl>
          </a:graphicData>
        </a:graphic>
      </p:graphicFrame>
      <p:graphicFrame>
        <p:nvGraphicFramePr>
          <p:cNvPr id="3110" name="표 31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998073"/>
              </p:ext>
            </p:extLst>
          </p:nvPr>
        </p:nvGraphicFramePr>
        <p:xfrm>
          <a:off x="3768519" y="6630753"/>
          <a:ext cx="948524" cy="1386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8524">
                  <a:extLst>
                    <a:ext uri="{9D8B030D-6E8A-4147-A177-3AD203B41FA5}">
                      <a16:colId xmlns:a16="http://schemas.microsoft.com/office/drawing/2014/main" val="3620643156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sz="850" kern="0" dirty="0">
                          <a:effectLst/>
                        </a:rPr>
                        <a:t>0027E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87341544"/>
                  </a:ext>
                </a:extLst>
              </a:tr>
            </a:tbl>
          </a:graphicData>
        </a:graphic>
      </p:graphicFrame>
      <p:sp>
        <p:nvSpPr>
          <p:cNvPr id="213" name="Line 32"/>
          <p:cNvSpPr>
            <a:spLocks noChangeShapeType="1"/>
          </p:cNvSpPr>
          <p:nvPr/>
        </p:nvSpPr>
        <p:spPr bwMode="auto">
          <a:xfrm flipV="1">
            <a:off x="391091" y="6788840"/>
            <a:ext cx="4361407" cy="5566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800">
              <a:latin typeface="+mn-ea"/>
            </a:endParaRPr>
          </a:p>
        </p:txBody>
      </p:sp>
      <p:sp>
        <p:nvSpPr>
          <p:cNvPr id="214" name="Line 31"/>
          <p:cNvSpPr>
            <a:spLocks noChangeShapeType="1"/>
          </p:cNvSpPr>
          <p:nvPr/>
        </p:nvSpPr>
        <p:spPr bwMode="auto">
          <a:xfrm flipV="1">
            <a:off x="372840" y="7252632"/>
            <a:ext cx="4372633" cy="4335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800">
              <a:latin typeface="+mn-ea"/>
            </a:endParaRPr>
          </a:p>
        </p:txBody>
      </p:sp>
      <p:graphicFrame>
        <p:nvGraphicFramePr>
          <p:cNvPr id="215" name="표 2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828136"/>
              </p:ext>
            </p:extLst>
          </p:nvPr>
        </p:nvGraphicFramePr>
        <p:xfrm>
          <a:off x="393987" y="6863058"/>
          <a:ext cx="1045350" cy="1386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5350">
                  <a:extLst>
                    <a:ext uri="{9D8B030D-6E8A-4147-A177-3AD203B41FA5}">
                      <a16:colId xmlns:a16="http://schemas.microsoft.com/office/drawing/2014/main" val="630811505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sz="85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Port of Discharge</a:t>
                      </a:r>
                      <a:endParaRPr lang="ko-KR" sz="10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55040176"/>
                  </a:ext>
                </a:extLst>
              </a:tr>
            </a:tbl>
          </a:graphicData>
        </a:graphic>
      </p:graphicFrame>
      <p:graphicFrame>
        <p:nvGraphicFramePr>
          <p:cNvPr id="216" name="표 2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419572"/>
              </p:ext>
            </p:extLst>
          </p:nvPr>
        </p:nvGraphicFramePr>
        <p:xfrm>
          <a:off x="395535" y="7039818"/>
          <a:ext cx="1043802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3802">
                  <a:extLst>
                    <a:ext uri="{9D8B030D-6E8A-4147-A177-3AD203B41FA5}">
                      <a16:colId xmlns:a16="http://schemas.microsoft.com/office/drawing/2014/main" val="4206223728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altLang="ko-KR" sz="800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BUSAN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71448778"/>
                  </a:ext>
                </a:extLst>
              </a:tr>
            </a:tbl>
          </a:graphicData>
        </a:graphic>
      </p:graphicFrame>
      <p:graphicFrame>
        <p:nvGraphicFramePr>
          <p:cNvPr id="217" name="표 2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594650"/>
              </p:ext>
            </p:extLst>
          </p:nvPr>
        </p:nvGraphicFramePr>
        <p:xfrm>
          <a:off x="1534097" y="6867598"/>
          <a:ext cx="942173" cy="1386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2173">
                  <a:extLst>
                    <a:ext uri="{9D8B030D-6E8A-4147-A177-3AD203B41FA5}">
                      <a16:colId xmlns:a16="http://schemas.microsoft.com/office/drawing/2014/main" val="3867173163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sz="850" kern="0" dirty="0">
                          <a:effectLst/>
                        </a:rPr>
                        <a:t>Port of Delivery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17106068"/>
                  </a:ext>
                </a:extLst>
              </a:tr>
            </a:tbl>
          </a:graphicData>
        </a:graphic>
      </p:graphicFrame>
      <p:graphicFrame>
        <p:nvGraphicFramePr>
          <p:cNvPr id="218" name="표 2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003005"/>
              </p:ext>
            </p:extLst>
          </p:nvPr>
        </p:nvGraphicFramePr>
        <p:xfrm>
          <a:off x="1509960" y="7030701"/>
          <a:ext cx="971072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1072">
                  <a:extLst>
                    <a:ext uri="{9D8B030D-6E8A-4147-A177-3AD203B41FA5}">
                      <a16:colId xmlns:a16="http://schemas.microsoft.com/office/drawing/2014/main" val="1992531421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altLang="ko-KR" sz="800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BUSAN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07220171"/>
                  </a:ext>
                </a:extLst>
              </a:tr>
            </a:tbl>
          </a:graphicData>
        </a:graphic>
      </p:graphicFrame>
      <p:graphicFrame>
        <p:nvGraphicFramePr>
          <p:cNvPr id="219" name="표 2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582865"/>
              </p:ext>
            </p:extLst>
          </p:nvPr>
        </p:nvGraphicFramePr>
        <p:xfrm>
          <a:off x="2612715" y="6875723"/>
          <a:ext cx="1150020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0020">
                  <a:extLst>
                    <a:ext uri="{9D8B030D-6E8A-4147-A177-3AD203B41FA5}">
                      <a16:colId xmlns:a16="http://schemas.microsoft.com/office/drawing/2014/main" val="1344006034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altLang="ko-KR" sz="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Final</a:t>
                      </a:r>
                      <a:r>
                        <a:rPr lang="en-US" altLang="ko-KR" sz="800" kern="100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Destination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16646337"/>
                  </a:ext>
                </a:extLst>
              </a:tr>
            </a:tbl>
          </a:graphicData>
        </a:graphic>
      </p:graphicFrame>
      <p:graphicFrame>
        <p:nvGraphicFramePr>
          <p:cNvPr id="220" name="표 2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752066"/>
              </p:ext>
            </p:extLst>
          </p:nvPr>
        </p:nvGraphicFramePr>
        <p:xfrm>
          <a:off x="2604779" y="7044792"/>
          <a:ext cx="1150020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0020">
                  <a:extLst>
                    <a:ext uri="{9D8B030D-6E8A-4147-A177-3AD203B41FA5}">
                      <a16:colId xmlns:a16="http://schemas.microsoft.com/office/drawing/2014/main" val="3004291366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altLang="ko-KR" sz="800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BUSAN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11830391"/>
                  </a:ext>
                </a:extLst>
              </a:tr>
            </a:tbl>
          </a:graphicData>
        </a:graphic>
      </p:graphicFrame>
      <p:graphicFrame>
        <p:nvGraphicFramePr>
          <p:cNvPr id="221" name="표 2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538881"/>
              </p:ext>
            </p:extLst>
          </p:nvPr>
        </p:nvGraphicFramePr>
        <p:xfrm>
          <a:off x="3774862" y="6861021"/>
          <a:ext cx="949189" cy="1386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9189">
                  <a:extLst>
                    <a:ext uri="{9D8B030D-6E8A-4147-A177-3AD203B41FA5}">
                      <a16:colId xmlns:a16="http://schemas.microsoft.com/office/drawing/2014/main" val="872453632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altLang="ko-KR" sz="850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E.T.D</a:t>
                      </a:r>
                      <a:r>
                        <a:rPr lang="en-US" altLang="ko-KR" sz="850" kern="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          E.T.A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86499470"/>
                  </a:ext>
                </a:extLst>
              </a:tr>
            </a:tbl>
          </a:graphicData>
        </a:graphic>
      </p:graphicFrame>
      <p:graphicFrame>
        <p:nvGraphicFramePr>
          <p:cNvPr id="222" name="표 2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700756"/>
              </p:ext>
            </p:extLst>
          </p:nvPr>
        </p:nvGraphicFramePr>
        <p:xfrm>
          <a:off x="3761642" y="7045749"/>
          <a:ext cx="1051870" cy="129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870">
                  <a:extLst>
                    <a:ext uri="{9D8B030D-6E8A-4147-A177-3AD203B41FA5}">
                      <a16:colId xmlns:a16="http://schemas.microsoft.com/office/drawing/2014/main" val="3620643156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altLang="ko-KR" sz="700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2022-04-25</a:t>
                      </a:r>
                      <a:r>
                        <a:rPr lang="en-US" altLang="ko-KR" sz="700" kern="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  2022-04-26</a:t>
                      </a:r>
                      <a:endParaRPr lang="ko-KR" sz="7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87341544"/>
                  </a:ext>
                </a:extLst>
              </a:tr>
            </a:tbl>
          </a:graphicData>
        </a:graphic>
      </p:graphicFrame>
      <p:sp>
        <p:nvSpPr>
          <p:cNvPr id="160" name="Line 27"/>
          <p:cNvSpPr>
            <a:spLocks noChangeShapeType="1"/>
          </p:cNvSpPr>
          <p:nvPr/>
        </p:nvSpPr>
        <p:spPr bwMode="auto">
          <a:xfrm>
            <a:off x="3736082" y="6422505"/>
            <a:ext cx="0" cy="693738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800">
              <a:latin typeface="+mn-ea"/>
            </a:endParaRPr>
          </a:p>
        </p:txBody>
      </p:sp>
      <p:sp>
        <p:nvSpPr>
          <p:cNvPr id="223" name="직사각형 222"/>
          <p:cNvSpPr/>
          <p:nvPr/>
        </p:nvSpPr>
        <p:spPr>
          <a:xfrm>
            <a:off x="401543" y="8787999"/>
            <a:ext cx="792088" cy="273135"/>
          </a:xfrm>
          <a:prstGeom prst="rect">
            <a:avLst/>
          </a:prstGeom>
          <a:solidFill>
            <a:srgbClr val="E1E6F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1" i="0" u="none" strike="noStrike" kern="1200" cap="none" spc="0" normalizeH="0" baseline="0" noProof="0" dirty="0">
                <a:ln>
                  <a:noFill/>
                </a:ln>
                <a:solidFill>
                  <a:srgbClr val="5E4B61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Remark</a:t>
            </a:r>
          </a:p>
        </p:txBody>
      </p:sp>
      <p:sp>
        <p:nvSpPr>
          <p:cNvPr id="224" name="직사각형 223"/>
          <p:cNvSpPr/>
          <p:nvPr/>
        </p:nvSpPr>
        <p:spPr>
          <a:xfrm>
            <a:off x="1259956" y="8845110"/>
            <a:ext cx="3485518" cy="195197"/>
          </a:xfrm>
          <a:prstGeom prst="rect">
            <a:avLst/>
          </a:prstGeom>
          <a:solidFill>
            <a:schemeClr val="bg1"/>
          </a:solidFill>
          <a:ln w="635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`</a:t>
            </a: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5" name="직사각형 224"/>
          <p:cNvSpPr/>
          <p:nvPr/>
        </p:nvSpPr>
        <p:spPr>
          <a:xfrm>
            <a:off x="403504" y="9106854"/>
            <a:ext cx="4348993" cy="186423"/>
          </a:xfrm>
          <a:prstGeom prst="rect">
            <a:avLst/>
          </a:prstGeom>
          <a:solidFill>
            <a:schemeClr val="bg1"/>
          </a:solidFill>
          <a:ln w="635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귀하</a:t>
            </a:r>
            <a:r>
              <a:rPr kumimoji="0" lang="en-US" altLang="ko-KR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(</a:t>
            </a:r>
            <a:r>
              <a:rPr kumimoji="0" lang="ko-KR" alt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시</a:t>
            </a:r>
            <a:r>
              <a:rPr kumimoji="0" lang="en-US" altLang="ko-KR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) </a:t>
            </a:r>
            <a:r>
              <a:rPr kumimoji="0" lang="ko-KR" alt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명의의 화물이 도착</a:t>
            </a:r>
            <a:r>
              <a:rPr kumimoji="0" lang="en-US" altLang="ko-KR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(</a:t>
            </a:r>
            <a:r>
              <a:rPr kumimoji="0" lang="ko-KR" alt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예정</a:t>
            </a:r>
            <a:r>
              <a:rPr kumimoji="0" lang="en-US" altLang="ko-KR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)</a:t>
            </a:r>
            <a:r>
              <a:rPr kumimoji="0" lang="ko-KR" alt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하였기에 통지 하오니 </a:t>
            </a:r>
            <a:r>
              <a:rPr kumimoji="0" lang="en-US" altLang="ko-KR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ORIGINAL B/L</a:t>
            </a:r>
            <a:r>
              <a:rPr kumimoji="0" lang="ko-KR" alt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를 지참하시고</a:t>
            </a:r>
            <a:r>
              <a:rPr kumimoji="0" lang="en-US" altLang="ko-KR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0" lang="ko-KR" alt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관련비용을 납부하여 </a:t>
            </a:r>
            <a:r>
              <a:rPr kumimoji="0" lang="en-US" altLang="ko-KR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D/O</a:t>
            </a:r>
            <a:r>
              <a:rPr kumimoji="0" lang="ko-KR" alt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를 발급받아 화물을 인수하여 주시기 바랍니다</a:t>
            </a:r>
            <a:r>
              <a:rPr kumimoji="0" lang="en-US" altLang="ko-KR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.</a:t>
            </a:r>
            <a:endParaRPr kumimoji="0" lang="ko-KR" alt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226" name="직선 연결선 225"/>
          <p:cNvCxnSpPr/>
          <p:nvPr/>
        </p:nvCxnSpPr>
        <p:spPr>
          <a:xfrm>
            <a:off x="403383" y="8780469"/>
            <a:ext cx="4342090" cy="7530"/>
          </a:xfrm>
          <a:prstGeom prst="line">
            <a:avLst/>
          </a:prstGeom>
          <a:ln>
            <a:solidFill>
              <a:srgbClr val="D6D6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/>
          <p:cNvCxnSpPr/>
          <p:nvPr/>
        </p:nvCxnSpPr>
        <p:spPr>
          <a:xfrm>
            <a:off x="402908" y="9061134"/>
            <a:ext cx="6505200" cy="0"/>
          </a:xfrm>
          <a:prstGeom prst="line">
            <a:avLst/>
          </a:prstGeom>
          <a:ln>
            <a:solidFill>
              <a:srgbClr val="D6D6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33309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833478"/>
              </p:ext>
            </p:extLst>
          </p:nvPr>
        </p:nvGraphicFramePr>
        <p:xfrm>
          <a:off x="381915" y="443156"/>
          <a:ext cx="6101742" cy="754104"/>
        </p:xfrm>
        <a:graphic>
          <a:graphicData uri="http://schemas.openxmlformats.org/drawingml/2006/table">
            <a:tbl>
              <a:tblPr/>
              <a:tblGrid>
                <a:gridCol w="78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업무시스템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디지털물류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 네트워크</a:t>
                      </a:r>
                      <a:r>
                        <a:rPr lang="ko-KR" altLang="en-US" sz="1000" b="0" kern="100" baseline="0" dirty="0">
                          <a:latin typeface="+mn-ea"/>
                          <a:ea typeface="+mn-ea"/>
                          <a:cs typeface="Times New Roman"/>
                        </a:rPr>
                        <a:t> 시스템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단위시스템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디지털물류네트워크 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-Shipping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작성자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허철원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보고서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RP-G-01-01-01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latin typeface="+mn-ea"/>
                          <a:ea typeface="+mn-ea"/>
                          <a:cs typeface="Times New Roman"/>
                        </a:rPr>
                        <a:t>보고서명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운송요청서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56248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요구사항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작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성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일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2022.03.30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93132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359204" y="1388616"/>
            <a:ext cx="4464000" cy="7956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6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813595" y="1388616"/>
            <a:ext cx="1656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설명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823121" y="1604614"/>
            <a:ext cx="1646474" cy="77408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6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59120" y="1388616"/>
            <a:ext cx="4464000" cy="215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운송요청서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60" name="표 59"/>
          <p:cNvGraphicFramePr>
            <a:graphicFrameLocks noGrp="1"/>
          </p:cNvGraphicFramePr>
          <p:nvPr/>
        </p:nvGraphicFramePr>
        <p:xfrm>
          <a:off x="4832730" y="1604613"/>
          <a:ext cx="1646474" cy="77408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064">
                  <a:extLst>
                    <a:ext uri="{9D8B030D-6E8A-4147-A177-3AD203B41FA5}">
                      <a16:colId xmlns:a16="http://schemas.microsoft.com/office/drawing/2014/main" val="377206406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372353527"/>
                    </a:ext>
                  </a:extLst>
                </a:gridCol>
                <a:gridCol w="1024370">
                  <a:extLst>
                    <a:ext uri="{9D8B030D-6E8A-4147-A177-3AD203B41FA5}">
                      <a16:colId xmlns:a16="http://schemas.microsoft.com/office/drawing/2014/main" val="237939870"/>
                    </a:ext>
                  </a:extLst>
                </a:gridCol>
              </a:tblGrid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설명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932500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7188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86176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772858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840459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58896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162664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317237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14595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833743"/>
                  </a:ext>
                </a:extLst>
              </a:tr>
            </a:tbl>
          </a:graphicData>
        </a:graphic>
      </p:graphicFrame>
      <p:grpSp>
        <p:nvGrpSpPr>
          <p:cNvPr id="85" name="그룹 84">
            <a:extLst>
              <a:ext uri="{FF2B5EF4-FFF2-40B4-BE49-F238E27FC236}">
                <a16:creationId xmlns:a16="http://schemas.microsoft.com/office/drawing/2014/main" id="{2DF0CD8A-9F94-F843-8C69-7C323CADDC65}"/>
              </a:ext>
            </a:extLst>
          </p:cNvPr>
          <p:cNvGrpSpPr/>
          <p:nvPr/>
        </p:nvGrpSpPr>
        <p:grpSpPr>
          <a:xfrm>
            <a:off x="1531655" y="9127326"/>
            <a:ext cx="2160000" cy="230832"/>
            <a:chOff x="7364412" y="6510536"/>
            <a:chExt cx="2196305" cy="257066"/>
          </a:xfrm>
        </p:grpSpPr>
        <p:sp>
          <p:nvSpPr>
            <p:cNvPr id="86" name="아래쪽 화살표 277">
              <a:extLst>
                <a:ext uri="{FF2B5EF4-FFF2-40B4-BE49-F238E27FC236}">
                  <a16:creationId xmlns:a16="http://schemas.microsoft.com/office/drawing/2014/main" id="{6DFF2407-EAFD-AA49-A069-E3E3DD323E17}"/>
                </a:ext>
              </a:extLst>
            </p:cNvPr>
            <p:cNvSpPr/>
            <p:nvPr userDrawn="1"/>
          </p:nvSpPr>
          <p:spPr bwMode="auto">
            <a:xfrm>
              <a:off x="7364412" y="6535060"/>
              <a:ext cx="2196305" cy="216024"/>
            </a:xfrm>
            <a:prstGeom prst="downArrow">
              <a:avLst>
                <a:gd name="adj1" fmla="val 86082"/>
                <a:gd name="adj2" fmla="val 50000"/>
              </a:avLst>
            </a:prstGeom>
            <a:solidFill>
              <a:srgbClr val="8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173163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charset="-127"/>
                <a:ea typeface="굴림" charset="-127"/>
                <a:cs typeface="+mn-cs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703052F-B7B0-EE45-99E5-05FBA2024434}"/>
                </a:ext>
              </a:extLst>
            </p:cNvPr>
            <p:cNvSpPr txBox="1"/>
            <p:nvPr userDrawn="1"/>
          </p:nvSpPr>
          <p:spPr>
            <a:xfrm>
              <a:off x="7874741" y="6510536"/>
              <a:ext cx="1090760" cy="2570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다음 장에 이어서</a:t>
              </a:r>
            </a:p>
          </p:txBody>
        </p:sp>
      </p:grp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63" y="1856656"/>
            <a:ext cx="4199213" cy="577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83577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359384"/>
              </p:ext>
            </p:extLst>
          </p:nvPr>
        </p:nvGraphicFramePr>
        <p:xfrm>
          <a:off x="381915" y="443156"/>
          <a:ext cx="6101742" cy="754104"/>
        </p:xfrm>
        <a:graphic>
          <a:graphicData uri="http://schemas.openxmlformats.org/drawingml/2006/table">
            <a:tbl>
              <a:tblPr/>
              <a:tblGrid>
                <a:gridCol w="78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업무시스템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디지털물류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 네트워크</a:t>
                      </a:r>
                      <a:r>
                        <a:rPr lang="ko-KR" altLang="en-US" sz="1000" b="0" kern="100" baseline="0" dirty="0">
                          <a:latin typeface="+mn-ea"/>
                          <a:ea typeface="+mn-ea"/>
                          <a:cs typeface="Times New Roman"/>
                        </a:rPr>
                        <a:t> 시스템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단위시스템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디지털물류네트워크 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-Shipping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작성자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허철원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보고서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RP-G-01-01-01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latin typeface="+mn-ea"/>
                          <a:ea typeface="+mn-ea"/>
                          <a:cs typeface="Times New Roman"/>
                        </a:rPr>
                        <a:t>보고서명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VGM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56248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요구사항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작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성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일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2022.03.30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93132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359204" y="1388616"/>
            <a:ext cx="4464000" cy="7956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6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813595" y="1388616"/>
            <a:ext cx="1656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설명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823121" y="1604614"/>
            <a:ext cx="1646474" cy="77408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6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59120" y="1388616"/>
            <a:ext cx="4464000" cy="215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VGM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60" name="표 59"/>
          <p:cNvGraphicFramePr>
            <a:graphicFrameLocks noGrp="1"/>
          </p:cNvGraphicFramePr>
          <p:nvPr/>
        </p:nvGraphicFramePr>
        <p:xfrm>
          <a:off x="4832730" y="1604613"/>
          <a:ext cx="1646474" cy="77408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064">
                  <a:extLst>
                    <a:ext uri="{9D8B030D-6E8A-4147-A177-3AD203B41FA5}">
                      <a16:colId xmlns:a16="http://schemas.microsoft.com/office/drawing/2014/main" val="377206406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372353527"/>
                    </a:ext>
                  </a:extLst>
                </a:gridCol>
                <a:gridCol w="1024370">
                  <a:extLst>
                    <a:ext uri="{9D8B030D-6E8A-4147-A177-3AD203B41FA5}">
                      <a16:colId xmlns:a16="http://schemas.microsoft.com/office/drawing/2014/main" val="237939870"/>
                    </a:ext>
                  </a:extLst>
                </a:gridCol>
              </a:tblGrid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설명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932500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7188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86176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772858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840459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58896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162664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317237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14595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833743"/>
                  </a:ext>
                </a:extLst>
              </a:tr>
            </a:tbl>
          </a:graphicData>
        </a:graphic>
      </p:graphicFrame>
      <p:grpSp>
        <p:nvGrpSpPr>
          <p:cNvPr id="85" name="그룹 84">
            <a:extLst>
              <a:ext uri="{FF2B5EF4-FFF2-40B4-BE49-F238E27FC236}">
                <a16:creationId xmlns:a16="http://schemas.microsoft.com/office/drawing/2014/main" id="{2DF0CD8A-9F94-F843-8C69-7C323CADDC65}"/>
              </a:ext>
            </a:extLst>
          </p:cNvPr>
          <p:cNvGrpSpPr/>
          <p:nvPr/>
        </p:nvGrpSpPr>
        <p:grpSpPr>
          <a:xfrm>
            <a:off x="1531655" y="9127326"/>
            <a:ext cx="2160000" cy="230832"/>
            <a:chOff x="7364412" y="6510536"/>
            <a:chExt cx="2196305" cy="257066"/>
          </a:xfrm>
        </p:grpSpPr>
        <p:sp>
          <p:nvSpPr>
            <p:cNvPr id="86" name="아래쪽 화살표 277">
              <a:extLst>
                <a:ext uri="{FF2B5EF4-FFF2-40B4-BE49-F238E27FC236}">
                  <a16:creationId xmlns:a16="http://schemas.microsoft.com/office/drawing/2014/main" id="{6DFF2407-EAFD-AA49-A069-E3E3DD323E17}"/>
                </a:ext>
              </a:extLst>
            </p:cNvPr>
            <p:cNvSpPr/>
            <p:nvPr userDrawn="1"/>
          </p:nvSpPr>
          <p:spPr bwMode="auto">
            <a:xfrm>
              <a:off x="7364412" y="6535060"/>
              <a:ext cx="2196305" cy="216024"/>
            </a:xfrm>
            <a:prstGeom prst="downArrow">
              <a:avLst>
                <a:gd name="adj1" fmla="val 86082"/>
                <a:gd name="adj2" fmla="val 50000"/>
              </a:avLst>
            </a:prstGeom>
            <a:solidFill>
              <a:srgbClr val="8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173163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charset="-127"/>
                <a:ea typeface="굴림" charset="-127"/>
                <a:cs typeface="+mn-cs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703052F-B7B0-EE45-99E5-05FBA2024434}"/>
                </a:ext>
              </a:extLst>
            </p:cNvPr>
            <p:cNvSpPr txBox="1"/>
            <p:nvPr userDrawn="1"/>
          </p:nvSpPr>
          <p:spPr>
            <a:xfrm>
              <a:off x="7874741" y="6510536"/>
              <a:ext cx="1090760" cy="2570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다음 장에 이어서</a:t>
              </a: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29" y="1795971"/>
            <a:ext cx="4182567" cy="593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6723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10848"/>
              </p:ext>
            </p:extLst>
          </p:nvPr>
        </p:nvGraphicFramePr>
        <p:xfrm>
          <a:off x="381915" y="443156"/>
          <a:ext cx="6101742" cy="754104"/>
        </p:xfrm>
        <a:graphic>
          <a:graphicData uri="http://schemas.openxmlformats.org/drawingml/2006/table">
            <a:tbl>
              <a:tblPr/>
              <a:tblGrid>
                <a:gridCol w="78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업무시스템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디지털물류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 네트워크</a:t>
                      </a:r>
                      <a:r>
                        <a:rPr lang="ko-KR" altLang="en-US" sz="1000" b="0" kern="100" baseline="0" dirty="0">
                          <a:latin typeface="+mn-ea"/>
                          <a:ea typeface="+mn-ea"/>
                          <a:cs typeface="Times New Roman"/>
                        </a:rPr>
                        <a:t> 시스템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단위시스템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디지털물류네트워크 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-Shipping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작성자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허철원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보고서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RP-G-01-01-01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latin typeface="+mn-ea"/>
                          <a:ea typeface="+mn-ea"/>
                          <a:cs typeface="Times New Roman"/>
                        </a:rPr>
                        <a:t>보고서명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배정장소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 보세창고 </a:t>
                      </a: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지정신청서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(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신규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/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변경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)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56248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요구사항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작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성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일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2022.03.30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93132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359204" y="1388616"/>
            <a:ext cx="4464000" cy="7956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6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813595" y="1388616"/>
            <a:ext cx="1656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설명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823121" y="1604614"/>
            <a:ext cx="1646474" cy="77408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6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59120" y="1388616"/>
            <a:ext cx="4464000" cy="215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배정장소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보세창고 </a:t>
            </a: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지정신청서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신규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변경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60" name="표 59"/>
          <p:cNvGraphicFramePr>
            <a:graphicFrameLocks noGrp="1"/>
          </p:cNvGraphicFramePr>
          <p:nvPr/>
        </p:nvGraphicFramePr>
        <p:xfrm>
          <a:off x="4832730" y="1604613"/>
          <a:ext cx="1646474" cy="77408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064">
                  <a:extLst>
                    <a:ext uri="{9D8B030D-6E8A-4147-A177-3AD203B41FA5}">
                      <a16:colId xmlns:a16="http://schemas.microsoft.com/office/drawing/2014/main" val="377206406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372353527"/>
                    </a:ext>
                  </a:extLst>
                </a:gridCol>
                <a:gridCol w="1024370">
                  <a:extLst>
                    <a:ext uri="{9D8B030D-6E8A-4147-A177-3AD203B41FA5}">
                      <a16:colId xmlns:a16="http://schemas.microsoft.com/office/drawing/2014/main" val="237939870"/>
                    </a:ext>
                  </a:extLst>
                </a:gridCol>
              </a:tblGrid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설명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932500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7188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86176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772858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840459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58896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162664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317237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14595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833743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633722"/>
              </p:ext>
            </p:extLst>
          </p:nvPr>
        </p:nvGraphicFramePr>
        <p:xfrm>
          <a:off x="405169" y="1712640"/>
          <a:ext cx="4373119" cy="68701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2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368">
                  <a:extLst>
                    <a:ext uri="{9D8B030D-6E8A-4147-A177-3AD203B41FA5}">
                      <a16:colId xmlns:a16="http://schemas.microsoft.com/office/drawing/2014/main" val="841711779"/>
                    </a:ext>
                  </a:extLst>
                </a:gridCol>
                <a:gridCol w="955154">
                  <a:extLst>
                    <a:ext uri="{9D8B030D-6E8A-4147-A177-3AD203B41FA5}">
                      <a16:colId xmlns:a16="http://schemas.microsoft.com/office/drawing/2014/main" val="144171936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473140412"/>
                    </a:ext>
                  </a:extLst>
                </a:gridCol>
                <a:gridCol w="917240">
                  <a:extLst>
                    <a:ext uri="{9D8B030D-6E8A-4147-A177-3AD203B41FA5}">
                      <a16:colId xmlns:a16="http://schemas.microsoft.com/office/drawing/2014/main" val="2742416724"/>
                    </a:ext>
                  </a:extLst>
                </a:gridCol>
              </a:tblGrid>
              <a:tr h="221343">
                <a:tc gridSpan="6">
                  <a:txBody>
                    <a:bodyPr/>
                    <a:lstStyle/>
                    <a:p>
                      <a:pPr marR="2540" algn="ctr" latinLnBrk="0">
                        <a:spcAft>
                          <a:spcPts val="0"/>
                        </a:spcAft>
                      </a:pPr>
                      <a:r>
                        <a:rPr lang="ko-KR" altLang="en-US" sz="1500" b="1" kern="0" dirty="0" err="1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배정장소</a:t>
                      </a:r>
                      <a:r>
                        <a:rPr lang="ko-KR" altLang="en-US" sz="1500" b="1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보세창고 </a:t>
                      </a:r>
                      <a:r>
                        <a:rPr lang="ko-KR" altLang="en-US" sz="1500" b="1" kern="0" dirty="0" err="1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지정신청서</a:t>
                      </a:r>
                      <a:r>
                        <a:rPr lang="en-US" altLang="ko-KR" sz="1500" b="1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500" b="1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신규</a:t>
                      </a:r>
                      <a:r>
                        <a:rPr lang="en-US" altLang="ko-KR" sz="1500" b="1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lang="ko-KR" altLang="en-US" sz="1500" b="1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변경</a:t>
                      </a:r>
                      <a:r>
                        <a:rPr lang="en-US" altLang="ko-KR" sz="1500" b="1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ko-KR" sz="1500" b="1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11">
                <a:tc rowSpan="5"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ko-KR" altLang="en-US" sz="25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화주</a:t>
                      </a:r>
                      <a:r>
                        <a:rPr lang="en-US" sz="25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ko-KR" sz="25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9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9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ko-KR" altLang="en-US" sz="90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상</a:t>
                      </a:r>
                      <a:endParaRPr lang="en-US" alt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ko-KR" altLang="en-US" sz="90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호</a:t>
                      </a: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한 글</a:t>
                      </a:r>
                      <a:r>
                        <a:rPr lang="en-US" altLang="ko-KR" sz="9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ko-KR" alt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9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0">
                        <a:spcAft>
                          <a:spcPts val="0"/>
                        </a:spcAft>
                      </a:pPr>
                      <a:endParaRPr lang="ko-KR" sz="8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4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영 문 </a:t>
                      </a:r>
                      <a:endParaRPr lang="ko-KR" alt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0">
                        <a:spcAft>
                          <a:spcPts val="0"/>
                        </a:spcAft>
                      </a:pPr>
                      <a:endParaRPr lang="ko-KR" sz="8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519538"/>
                  </a:ext>
                </a:extLst>
              </a:tr>
              <a:tr h="5290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주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소</a:t>
                      </a: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9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9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488">
                <a:tc vMerge="1">
                  <a:txBody>
                    <a:bodyPr/>
                    <a:lstStyle/>
                    <a:p>
                      <a:pPr algn="just" latinLnBrk="0">
                        <a:spcAft>
                          <a:spcPts val="0"/>
                        </a:spcAft>
                      </a:pPr>
                      <a:endParaRPr lang="ko-KR" sz="8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ko-KR" altLang="en-US" sz="90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사업자등록번호</a:t>
                      </a: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just" latinLnBrk="0">
                        <a:spcAft>
                          <a:spcPts val="0"/>
                        </a:spcAft>
                      </a:pPr>
                      <a:endParaRPr lang="ko-KR" sz="8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ko-KR" altLang="en-US" sz="90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전 화</a:t>
                      </a: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1797639"/>
                  </a:ext>
                </a:extLst>
              </a:tr>
              <a:tr h="2654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ko-KR" altLang="en-US" sz="90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담 당 자</a:t>
                      </a: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just" latinLnBrk="0">
                        <a:spcAft>
                          <a:spcPts val="0"/>
                        </a:spcAft>
                      </a:pPr>
                      <a:endParaRPr lang="ko-KR" sz="8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ko-KR" altLang="en-US" sz="90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팩 스</a:t>
                      </a: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959896"/>
                  </a:ext>
                </a:extLst>
              </a:tr>
              <a:tr h="330754">
                <a:tc rowSpan="2"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ko-KR" altLang="en-US" sz="900" kern="0" dirty="0" err="1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살제신청자</a:t>
                      </a:r>
                      <a:endParaRPr lang="en-US" altLang="ko-KR" sz="900" kern="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9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900" kern="0" dirty="0" err="1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포워더부호</a:t>
                      </a:r>
                      <a:r>
                        <a:rPr lang="en-US" altLang="ko-KR" sz="9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:       )</a:t>
                      </a:r>
                      <a:r>
                        <a:rPr lang="en-US" sz="9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ko-KR" altLang="en-US" sz="90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상 호</a:t>
                      </a: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9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9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전 화</a:t>
                      </a: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ko-KR" altLang="en-US" sz="90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담 당 자</a:t>
                      </a: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팩 스</a:t>
                      </a: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352744"/>
                  </a:ext>
                </a:extLst>
              </a:tr>
              <a:tr h="352670"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ko-KR" altLang="en-US" sz="9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구분</a:t>
                      </a: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ko-KR" altLang="en-US" sz="900" kern="0" dirty="0" err="1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배정장소</a:t>
                      </a:r>
                      <a:r>
                        <a:rPr lang="ko-KR" altLang="en-US" sz="9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보세창고 </a:t>
                      </a:r>
                      <a:r>
                        <a:rPr lang="ko-KR" altLang="en-US" sz="900" kern="0" dirty="0" err="1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명침</a:t>
                      </a:r>
                      <a:r>
                        <a:rPr lang="ko-KR" altLang="en-US" sz="900" kern="0" baseline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및 </a:t>
                      </a:r>
                      <a:r>
                        <a:rPr lang="ko-KR" altLang="en-US" sz="900" kern="0" baseline="0" dirty="0" err="1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배정코드</a:t>
                      </a:r>
                      <a:r>
                        <a:rPr lang="en-US" sz="9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9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ko-KR" altLang="en-US" sz="900" kern="100" dirty="0" err="1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관할세관</a:t>
                      </a: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672"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ko-KR" altLang="en-US" sz="90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변 경 전</a:t>
                      </a: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r" latinLnBrk="0">
                        <a:spcAft>
                          <a:spcPts val="0"/>
                        </a:spcAft>
                      </a:pPr>
                      <a:r>
                        <a:rPr lang="en-US" altLang="ko-KR" sz="90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900" kern="100" dirty="0" err="1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배정코드</a:t>
                      </a:r>
                      <a:r>
                        <a:rPr lang="ko-KR" altLang="en-US" sz="90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90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:        )</a:t>
                      </a: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290329"/>
                  </a:ext>
                </a:extLst>
              </a:tr>
              <a:tr h="352670"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ko-KR" altLang="en-US" sz="900" b="1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변 경 후</a:t>
                      </a:r>
                      <a:r>
                        <a:rPr lang="en-US" altLang="ko-KR" sz="900" b="1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900" b="1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신규</a:t>
                      </a:r>
                      <a:r>
                        <a:rPr lang="en-US" altLang="ko-KR" sz="900" b="1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ko-KR" sz="900" b="1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indent="0" algn="r" defTabSz="9144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900" kern="100" dirty="0" err="1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배정코드</a:t>
                      </a:r>
                      <a:r>
                        <a:rPr lang="ko-KR" altLang="en-US" sz="90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90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:        )</a:t>
                      </a:r>
                      <a:endParaRPr lang="ko-KR" alt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424932"/>
                  </a:ext>
                </a:extLst>
              </a:tr>
              <a:tr h="3187332">
                <a:tc gridSpan="6">
                  <a:txBody>
                    <a:bodyPr/>
                    <a:lstStyle/>
                    <a:p>
                      <a:pPr algn="just" latinLnBrk="0">
                        <a:spcAft>
                          <a:spcPts val="0"/>
                        </a:spcAft>
                      </a:pPr>
                      <a:r>
                        <a:rPr lang="en-US" sz="9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9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r>
                        <a:rPr lang="ko-KR" altLang="en-US" sz="10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보세화물 관리에 관한 고시 제</a:t>
                      </a:r>
                      <a:r>
                        <a:rPr lang="en-US" altLang="ko-KR" sz="10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ko-KR" altLang="en-US" sz="10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조 관련 규정에 의거 위와 같이</a:t>
                      </a:r>
                      <a:br>
                        <a:rPr lang="en-US" altLang="ko-KR" sz="10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ko-KR" altLang="en-US" sz="10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수입항공화물 </a:t>
                      </a:r>
                      <a:r>
                        <a:rPr lang="ko-KR" altLang="en-US" sz="1000" kern="0" dirty="0" err="1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배정장소</a:t>
                      </a:r>
                      <a:r>
                        <a:rPr lang="ko-KR" altLang="en-US" sz="10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보세창고 지정</a:t>
                      </a:r>
                      <a:r>
                        <a:rPr lang="en-US" altLang="ko-KR" sz="10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0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변경</a:t>
                      </a:r>
                      <a:r>
                        <a:rPr lang="en-US" altLang="ko-KR" sz="10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r>
                        <a:rPr lang="ko-KR" altLang="en-US" sz="10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을 신청합니다</a:t>
                      </a:r>
                      <a:r>
                        <a:rPr lang="en-US" altLang="ko-KR" sz="10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l" latinLnBrk="0"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l" latinLnBrk="0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                                                                             20     </a:t>
                      </a:r>
                      <a:r>
                        <a:rPr lang="ko-KR" altLang="en-US" sz="10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년      월      일</a:t>
                      </a:r>
                      <a:endParaRPr lang="en-US" altLang="ko-KR" sz="1000" kern="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just" latinLnBrk="0">
                        <a:spcAft>
                          <a:spcPts val="0"/>
                        </a:spcAft>
                      </a:pPr>
                      <a:endParaRPr lang="en-US" altLang="ko-KR" sz="1000" kern="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just" latinLnBrk="0">
                        <a:spcAft>
                          <a:spcPts val="0"/>
                        </a:spcAft>
                      </a:pPr>
                      <a:r>
                        <a:rPr lang="ko-KR" altLang="en-US" sz="10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    화    주</a:t>
                      </a:r>
                      <a:endParaRPr lang="en-US" altLang="ko-KR" sz="1000" kern="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just" latinLnBrk="0">
                        <a:spcAft>
                          <a:spcPts val="0"/>
                        </a:spcAft>
                      </a:pPr>
                      <a:r>
                        <a:rPr lang="ko-KR" altLang="en-US" sz="10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           상  호 </a:t>
                      </a:r>
                      <a:endParaRPr lang="en-US" altLang="ko-KR" sz="1000" kern="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just" latinLnBrk="0">
                        <a:spcAft>
                          <a:spcPts val="0"/>
                        </a:spcAft>
                      </a:pPr>
                      <a:r>
                        <a:rPr lang="ko-KR" altLang="en-US" sz="10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           주  소</a:t>
                      </a:r>
                      <a:endParaRPr lang="en-US" altLang="ko-KR" sz="1000" kern="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just" latinLnBrk="0">
                        <a:spcAft>
                          <a:spcPts val="0"/>
                        </a:spcAft>
                      </a:pPr>
                      <a:r>
                        <a:rPr lang="ko-KR" altLang="en-US" sz="10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           대표자                                                                  </a:t>
                      </a:r>
                      <a:r>
                        <a:rPr lang="en-US" altLang="ko-KR" sz="10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0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인</a:t>
                      </a:r>
                      <a:r>
                        <a:rPr lang="en-US" altLang="ko-KR" sz="10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algn="just" latinLnBrk="0">
                        <a:spcAft>
                          <a:spcPts val="0"/>
                        </a:spcAft>
                      </a:pPr>
                      <a:endParaRPr lang="en-US" altLang="ko-KR" sz="1000" kern="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just" latinLnBrk="0">
                        <a:spcAft>
                          <a:spcPts val="0"/>
                        </a:spcAft>
                      </a:pPr>
                      <a:endParaRPr lang="en-US" altLang="ko-KR" sz="1000" kern="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just" latinLnBrk="0">
                        <a:spcAft>
                          <a:spcPts val="0"/>
                        </a:spcAft>
                      </a:pPr>
                      <a:r>
                        <a:rPr lang="ko-KR" altLang="en-US" sz="10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    보세창고</a:t>
                      </a:r>
                      <a:endParaRPr lang="en-US" altLang="ko-KR" sz="1000" kern="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just" latinLnBrk="0">
                        <a:spcAft>
                          <a:spcPts val="0"/>
                        </a:spcAft>
                      </a:pPr>
                      <a:r>
                        <a:rPr lang="ko-KR" altLang="en-US" sz="10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           상  호 </a:t>
                      </a:r>
                      <a:endParaRPr lang="en-US" altLang="ko-KR" sz="1000" kern="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just" latinLnBrk="0">
                        <a:spcAft>
                          <a:spcPts val="0"/>
                        </a:spcAft>
                      </a:pPr>
                      <a:r>
                        <a:rPr lang="ko-KR" altLang="en-US" sz="10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           주  소</a:t>
                      </a:r>
                      <a:endParaRPr lang="en-US" altLang="ko-KR" sz="1000" kern="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just" latinLnBrk="0">
                        <a:spcAft>
                          <a:spcPts val="0"/>
                        </a:spcAft>
                      </a:pPr>
                      <a:r>
                        <a:rPr lang="ko-KR" altLang="en-US" sz="10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           대표자                                                                  </a:t>
                      </a:r>
                      <a:r>
                        <a:rPr lang="en-US" altLang="ko-KR" sz="10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0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인</a:t>
                      </a:r>
                      <a:r>
                        <a:rPr lang="en-US" altLang="ko-KR" sz="10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algn="just" latinLnBrk="0">
                        <a:spcAft>
                          <a:spcPts val="0"/>
                        </a:spcAft>
                      </a:pPr>
                      <a:endParaRPr lang="en-US" altLang="ko-KR" sz="900" kern="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just" latinLnBrk="0">
                        <a:spcAft>
                          <a:spcPts val="0"/>
                        </a:spcAft>
                      </a:pPr>
                      <a:r>
                        <a:rPr lang="ko-KR" altLang="en-US" sz="1200" b="1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한국무역정보통신 귀하</a:t>
                      </a:r>
                      <a:endParaRPr lang="en-US" altLang="ko-KR" sz="1200" b="1" kern="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just" latinLnBrk="0">
                        <a:spcAft>
                          <a:spcPts val="0"/>
                        </a:spcAft>
                      </a:pPr>
                      <a:endParaRPr lang="en-US" altLang="ko-KR" sz="900" kern="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just" latinLnBrk="0">
                        <a:spcAft>
                          <a:spcPts val="0"/>
                        </a:spcAft>
                      </a:pPr>
                      <a:endParaRPr lang="en-US" altLang="ko-KR" sz="900" kern="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just" latinLnBrk="0">
                        <a:spcAft>
                          <a:spcPts val="0"/>
                        </a:spcAft>
                      </a:pPr>
                      <a:endParaRPr lang="en-US" altLang="ko-KR" sz="900" kern="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l" latinLnBrk="0">
                        <a:spcAft>
                          <a:spcPts val="0"/>
                        </a:spcAft>
                      </a:pPr>
                      <a:r>
                        <a:rPr lang="ko-KR" altLang="en-US" sz="9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첨부서류 </a:t>
                      </a:r>
                      <a:r>
                        <a:rPr lang="en-US" altLang="ko-KR" sz="9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: </a:t>
                      </a:r>
                      <a:r>
                        <a:rPr lang="ko-KR" altLang="en-US" sz="9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화주 사업자등록증 사본 </a:t>
                      </a:r>
                      <a:r>
                        <a:rPr lang="en-US" altLang="ko-KR" sz="9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ko-KR" altLang="en-US" sz="900" kern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부</a:t>
                      </a:r>
                      <a:endParaRPr lang="ko-KR" sz="9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just" latinLnBrk="0">
                        <a:spcAft>
                          <a:spcPts val="0"/>
                        </a:spcAft>
                      </a:pPr>
                      <a:endParaRPr lang="ko-KR" sz="800" kern="10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423" marR="17423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49678" y="8934926"/>
            <a:ext cx="44154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/>
              <a:t>보낼곳</a:t>
            </a:r>
            <a:r>
              <a:rPr lang="ko-KR" altLang="en-US" sz="800" dirty="0"/>
              <a:t> </a:t>
            </a:r>
            <a:r>
              <a:rPr lang="en-US" altLang="ko-KR" sz="800" dirty="0"/>
              <a:t>: </a:t>
            </a:r>
            <a:r>
              <a:rPr lang="ko-KR" altLang="en-US" sz="800" dirty="0"/>
              <a:t>서울특별시 강남구 삼성동 </a:t>
            </a:r>
            <a:r>
              <a:rPr lang="en-US" altLang="ko-KR" sz="800" dirty="0"/>
              <a:t>159-1 </a:t>
            </a:r>
            <a:r>
              <a:rPr lang="ko-KR" altLang="en-US" sz="800" dirty="0"/>
              <a:t>무역센터 트레이드타워</a:t>
            </a:r>
            <a:r>
              <a:rPr lang="en-US" altLang="ko-KR" sz="800" dirty="0"/>
              <a:t>3202</a:t>
            </a:r>
            <a:r>
              <a:rPr lang="ko-KR" altLang="en-US" sz="800" dirty="0"/>
              <a:t>호 한국무역정보통신</a:t>
            </a:r>
            <a:endParaRPr lang="en-US" altLang="ko-KR" sz="800" dirty="0"/>
          </a:p>
          <a:p>
            <a:r>
              <a:rPr lang="ko-KR" altLang="en-US" sz="800" dirty="0"/>
              <a:t>           </a:t>
            </a:r>
            <a:r>
              <a:rPr lang="ko-KR" altLang="en-US" sz="800" dirty="0" err="1"/>
              <a:t>고객지원팀</a:t>
            </a:r>
            <a:r>
              <a:rPr lang="en-US" altLang="ko-KR" sz="800" dirty="0"/>
              <a:t>(TEL : 02-1566-2119, FAX : 02-6000-2138)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188453016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073570"/>
              </p:ext>
            </p:extLst>
          </p:nvPr>
        </p:nvGraphicFramePr>
        <p:xfrm>
          <a:off x="381915" y="443156"/>
          <a:ext cx="6101742" cy="754104"/>
        </p:xfrm>
        <a:graphic>
          <a:graphicData uri="http://schemas.openxmlformats.org/drawingml/2006/table">
            <a:tbl>
              <a:tblPr/>
              <a:tblGrid>
                <a:gridCol w="78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업무시스템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디지털물류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 네트워크</a:t>
                      </a:r>
                      <a:r>
                        <a:rPr lang="ko-KR" altLang="en-US" sz="1000" b="0" kern="100" baseline="0" dirty="0">
                          <a:latin typeface="+mn-ea"/>
                          <a:ea typeface="+mn-ea"/>
                          <a:cs typeface="Times New Roman"/>
                        </a:rPr>
                        <a:t> 시스템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단위시스템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디지털물류네트워크 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-Shipping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작성자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허철원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보고서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RP-G-01-01-01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latin typeface="+mn-ea"/>
                          <a:ea typeface="+mn-ea"/>
                          <a:cs typeface="Times New Roman"/>
                        </a:rPr>
                        <a:t>보고서명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청구서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(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인보이스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)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56248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요구사항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작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성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일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2022.05.13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93132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359204" y="1388616"/>
            <a:ext cx="4464000" cy="7956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6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813595" y="1388616"/>
            <a:ext cx="1656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설명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823121" y="1604614"/>
            <a:ext cx="1646474" cy="77408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6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59120" y="1388616"/>
            <a:ext cx="4464000" cy="215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632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청구서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인보이스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60" name="표 59"/>
          <p:cNvGraphicFramePr>
            <a:graphicFrameLocks noGrp="1"/>
          </p:cNvGraphicFramePr>
          <p:nvPr/>
        </p:nvGraphicFramePr>
        <p:xfrm>
          <a:off x="4832730" y="1604613"/>
          <a:ext cx="1646474" cy="77408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064">
                  <a:extLst>
                    <a:ext uri="{9D8B030D-6E8A-4147-A177-3AD203B41FA5}">
                      <a16:colId xmlns:a16="http://schemas.microsoft.com/office/drawing/2014/main" val="377206406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372353527"/>
                    </a:ext>
                  </a:extLst>
                </a:gridCol>
                <a:gridCol w="1024370">
                  <a:extLst>
                    <a:ext uri="{9D8B030D-6E8A-4147-A177-3AD203B41FA5}">
                      <a16:colId xmlns:a16="http://schemas.microsoft.com/office/drawing/2014/main" val="237939870"/>
                    </a:ext>
                  </a:extLst>
                </a:gridCol>
              </a:tblGrid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설명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932500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7188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86176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772858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840459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58896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162664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317237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14595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833743"/>
                  </a:ext>
                </a:extLst>
              </a:tr>
            </a:tbl>
          </a:graphicData>
        </a:graphic>
      </p:graphicFrame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186" y="1665298"/>
            <a:ext cx="658926" cy="130673"/>
          </a:xfrm>
          <a:prstGeom prst="rect">
            <a:avLst/>
          </a:prstGeom>
        </p:spPr>
      </p:pic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970127"/>
              </p:ext>
            </p:extLst>
          </p:nvPr>
        </p:nvGraphicFramePr>
        <p:xfrm>
          <a:off x="1069638" y="1648139"/>
          <a:ext cx="3695463" cy="3075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5463">
                  <a:extLst>
                    <a:ext uri="{9D8B030D-6E8A-4147-A177-3AD203B41FA5}">
                      <a16:colId xmlns:a16="http://schemas.microsoft.com/office/drawing/2014/main" val="313911996"/>
                    </a:ext>
                  </a:extLst>
                </a:gridCol>
              </a:tblGrid>
              <a:tr h="30750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  <a:tab pos="3200400" algn="l"/>
                          <a:tab pos="3429000" algn="l"/>
                          <a:tab pos="3657600" algn="l"/>
                          <a:tab pos="3886200" algn="l"/>
                          <a:tab pos="4114800" algn="l"/>
                          <a:tab pos="4343400" algn="l"/>
                          <a:tab pos="4572000" algn="l"/>
                          <a:tab pos="4800600" algn="l"/>
                          <a:tab pos="5029200" algn="l"/>
                          <a:tab pos="5257800" algn="l"/>
                          <a:tab pos="5486400" algn="l"/>
                          <a:tab pos="5715000" algn="l"/>
                          <a:tab pos="5943600" algn="l"/>
                          <a:tab pos="6172200" algn="l"/>
                          <a:tab pos="6400800" algn="l"/>
                          <a:tab pos="6629400" algn="l"/>
                        </a:tabLst>
                      </a:pPr>
                      <a:r>
                        <a:rPr lang="en-US" altLang="ko-KR" sz="1900" kern="0" dirty="0">
                          <a:effectLst/>
                        </a:rPr>
                        <a:t>KOREA E.D.S</a:t>
                      </a:r>
                      <a:r>
                        <a:rPr lang="en-US" altLang="ko-KR" sz="1900" kern="0" baseline="0" dirty="0">
                          <a:effectLst/>
                        </a:rPr>
                        <a:t> LOGISTICS</a:t>
                      </a:r>
                      <a:endParaRPr lang="ko-KR" sz="9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246574"/>
                  </a:ext>
                </a:extLst>
              </a:tr>
            </a:tbl>
          </a:graphicData>
        </a:graphic>
      </p:graphicFrame>
      <p:graphicFrame>
        <p:nvGraphicFramePr>
          <p:cNvPr id="5201" name="표 52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548164"/>
              </p:ext>
            </p:extLst>
          </p:nvPr>
        </p:nvGraphicFramePr>
        <p:xfrm>
          <a:off x="433760" y="1960838"/>
          <a:ext cx="4331341" cy="5643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31341">
                  <a:extLst>
                    <a:ext uri="{9D8B030D-6E8A-4147-A177-3AD203B41FA5}">
                      <a16:colId xmlns:a16="http://schemas.microsoft.com/office/drawing/2014/main" val="1882970623"/>
                    </a:ext>
                  </a:extLst>
                </a:gridCol>
              </a:tblGrid>
              <a:tr h="135901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  <a:tab pos="3200400" algn="l"/>
                          <a:tab pos="3429000" algn="l"/>
                          <a:tab pos="3657600" algn="l"/>
                          <a:tab pos="3886200" algn="l"/>
                          <a:tab pos="4114800" algn="l"/>
                          <a:tab pos="4343400" algn="l"/>
                          <a:tab pos="4572000" algn="l"/>
                          <a:tab pos="4800600" algn="l"/>
                          <a:tab pos="5029200" algn="l"/>
                          <a:tab pos="5257800" algn="l"/>
                          <a:tab pos="5486400" algn="l"/>
                          <a:tab pos="5715000" algn="l"/>
                          <a:tab pos="5943600" algn="l"/>
                          <a:tab pos="6172200" algn="l"/>
                          <a:tab pos="6400800" algn="l"/>
                          <a:tab pos="6629400" algn="l"/>
                        </a:tabLst>
                      </a:pPr>
                      <a:r>
                        <a:rPr lang="en-US" altLang="ko-KR" sz="800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Pine</a:t>
                      </a:r>
                      <a:r>
                        <a:rPr lang="en-US" altLang="ko-KR" sz="800" kern="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B.D 149-5, </a:t>
                      </a:r>
                      <a:r>
                        <a:rPr lang="en-US" altLang="ko-KR" sz="800" kern="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Seochojungang-ro,Seocho-gu</a:t>
                      </a:r>
                      <a:r>
                        <a:rPr lang="en-US" altLang="ko-KR" sz="800" kern="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, Seoul, 06596, Rep of KOREA</a:t>
                      </a:r>
                      <a:endParaRPr lang="ko-KR" sz="9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491864"/>
                  </a:ext>
                </a:extLst>
              </a:tr>
              <a:tr h="135901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  <a:tab pos="3200400" algn="l"/>
                          <a:tab pos="3429000" algn="l"/>
                          <a:tab pos="3657600" algn="l"/>
                          <a:tab pos="3886200" algn="l"/>
                          <a:tab pos="4114800" algn="l"/>
                          <a:tab pos="4343400" algn="l"/>
                          <a:tab pos="4572000" algn="l"/>
                          <a:tab pos="4800600" algn="l"/>
                          <a:tab pos="5029200" algn="l"/>
                          <a:tab pos="5257800" algn="l"/>
                          <a:tab pos="5486400" algn="l"/>
                          <a:tab pos="5715000" algn="l"/>
                          <a:tab pos="5943600" algn="l"/>
                          <a:tab pos="6172200" algn="l"/>
                          <a:tab pos="6400800" algn="l"/>
                          <a:tab pos="6629400" algn="l"/>
                        </a:tabLst>
                      </a:pPr>
                      <a:r>
                        <a:rPr lang="en-US" altLang="ko-KR" sz="9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ko-KR" sz="900" kern="100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9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900" kern="100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+82-2-3473-6973     F +82-2-3473-6971</a:t>
                      </a:r>
                    </a:p>
                    <a:p>
                      <a:pPr marL="0" marR="0" indent="0" algn="ctr" defTabSz="914415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  <a:tab pos="3200400" algn="l"/>
                          <a:tab pos="3429000" algn="l"/>
                          <a:tab pos="3657600" algn="l"/>
                          <a:tab pos="3886200" algn="l"/>
                          <a:tab pos="4114800" algn="l"/>
                          <a:tab pos="4343400" algn="l"/>
                          <a:tab pos="4572000" algn="l"/>
                          <a:tab pos="4800600" algn="l"/>
                          <a:tab pos="5029200" algn="l"/>
                          <a:tab pos="5257800" algn="l"/>
                          <a:tab pos="5486400" algn="l"/>
                          <a:tab pos="5715000" algn="l"/>
                          <a:tab pos="5943600" algn="l"/>
                          <a:tab pos="6172200" algn="l"/>
                          <a:tab pos="6400800" algn="l"/>
                          <a:tab pos="6629400" algn="l"/>
                        </a:tabLst>
                        <a:defRPr/>
                      </a:pPr>
                      <a:r>
                        <a:rPr lang="en-US" altLang="ko-KR" sz="900" kern="100" baseline="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 M +82-10-3473-6973    E     </a:t>
                      </a:r>
                      <a:r>
                        <a:rPr lang="en-US" altLang="ko-KR" sz="900" kern="100" baseline="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  <a:hlinkClick r:id="rId4"/>
                        </a:rPr>
                        <a:t>eds@edsk.co.kr</a:t>
                      </a:r>
                      <a:r>
                        <a:rPr lang="en-US" altLang="ko-KR" sz="900" kern="100" baseline="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  </a:t>
                      </a:r>
                    </a:p>
                    <a:p>
                      <a:pPr marL="0" marR="0" indent="0" algn="l" defTabSz="914415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  <a:tab pos="3200400" algn="l"/>
                          <a:tab pos="3429000" algn="l"/>
                          <a:tab pos="3657600" algn="l"/>
                          <a:tab pos="3886200" algn="l"/>
                          <a:tab pos="4114800" algn="l"/>
                          <a:tab pos="4343400" algn="l"/>
                          <a:tab pos="4572000" algn="l"/>
                          <a:tab pos="4800600" algn="l"/>
                          <a:tab pos="5029200" algn="l"/>
                          <a:tab pos="5257800" algn="l"/>
                          <a:tab pos="5486400" algn="l"/>
                          <a:tab pos="5715000" algn="l"/>
                          <a:tab pos="5943600" algn="l"/>
                          <a:tab pos="6172200" algn="l"/>
                          <a:tab pos="6400800" algn="l"/>
                          <a:tab pos="6629400" algn="l"/>
                        </a:tabLst>
                        <a:defRPr/>
                      </a:pPr>
                      <a:r>
                        <a:rPr lang="en-US" altLang="ko-KR" sz="900" kern="100" baseline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                         http</a:t>
                      </a:r>
                      <a:r>
                        <a:rPr lang="en-US" altLang="ko-KR" sz="900" kern="100" baseline="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://www.edsk.co.kr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2336262"/>
                  </a:ext>
                </a:extLst>
              </a:tr>
            </a:tbl>
          </a:graphicData>
        </a:graphic>
      </p:graphicFrame>
      <p:sp>
        <p:nvSpPr>
          <p:cNvPr id="5206" name="Rectangle 169"/>
          <p:cNvSpPr>
            <a:spLocks noChangeArrowheads="1"/>
          </p:cNvSpPr>
          <p:nvPr/>
        </p:nvSpPr>
        <p:spPr bwMode="auto">
          <a:xfrm>
            <a:off x="869950" y="13127038"/>
            <a:ext cx="6734175" cy="24606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230" name="Line 145"/>
          <p:cNvSpPr>
            <a:spLocks noChangeShapeType="1"/>
          </p:cNvSpPr>
          <p:nvPr/>
        </p:nvSpPr>
        <p:spPr bwMode="auto">
          <a:xfrm>
            <a:off x="869950" y="12565063"/>
            <a:ext cx="6721475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239" name="Line 136"/>
          <p:cNvSpPr>
            <a:spLocks noChangeShapeType="1"/>
          </p:cNvSpPr>
          <p:nvPr/>
        </p:nvSpPr>
        <p:spPr bwMode="auto">
          <a:xfrm>
            <a:off x="869950" y="12774613"/>
            <a:ext cx="673417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240" name="Line 135"/>
          <p:cNvSpPr>
            <a:spLocks noChangeShapeType="1"/>
          </p:cNvSpPr>
          <p:nvPr/>
        </p:nvSpPr>
        <p:spPr bwMode="auto">
          <a:xfrm>
            <a:off x="869950" y="12993688"/>
            <a:ext cx="673417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241" name="Line 134"/>
          <p:cNvSpPr>
            <a:spLocks noChangeShapeType="1"/>
          </p:cNvSpPr>
          <p:nvPr/>
        </p:nvSpPr>
        <p:spPr bwMode="auto">
          <a:xfrm>
            <a:off x="860425" y="13107988"/>
            <a:ext cx="67437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242" name="Line 133"/>
          <p:cNvSpPr>
            <a:spLocks noChangeShapeType="1"/>
          </p:cNvSpPr>
          <p:nvPr/>
        </p:nvSpPr>
        <p:spPr bwMode="auto">
          <a:xfrm>
            <a:off x="869950" y="13374688"/>
            <a:ext cx="67056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243" name="Line 132"/>
          <p:cNvSpPr>
            <a:spLocks noChangeShapeType="1"/>
          </p:cNvSpPr>
          <p:nvPr/>
        </p:nvSpPr>
        <p:spPr bwMode="auto">
          <a:xfrm>
            <a:off x="5546725" y="15790863"/>
            <a:ext cx="19907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244" name="Line 131"/>
          <p:cNvSpPr>
            <a:spLocks noChangeShapeType="1"/>
          </p:cNvSpPr>
          <p:nvPr/>
        </p:nvSpPr>
        <p:spPr bwMode="auto">
          <a:xfrm>
            <a:off x="869950" y="14806613"/>
            <a:ext cx="67437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245" name="Line 174"/>
          <p:cNvSpPr>
            <a:spLocks noChangeShapeType="1"/>
          </p:cNvSpPr>
          <p:nvPr/>
        </p:nvSpPr>
        <p:spPr bwMode="auto">
          <a:xfrm>
            <a:off x="447675" y="2648744"/>
            <a:ext cx="4317426" cy="0"/>
          </a:xfrm>
          <a:prstGeom prst="line">
            <a:avLst/>
          </a:prstGeom>
          <a:noFill/>
          <a:ln w="3175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aphicFrame>
        <p:nvGraphicFramePr>
          <p:cNvPr id="190" name="표 1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305543"/>
              </p:ext>
            </p:extLst>
          </p:nvPr>
        </p:nvGraphicFramePr>
        <p:xfrm>
          <a:off x="398464" y="2936776"/>
          <a:ext cx="4366638" cy="2324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66638">
                  <a:extLst>
                    <a:ext uri="{9D8B030D-6E8A-4147-A177-3AD203B41FA5}">
                      <a16:colId xmlns:a16="http://schemas.microsoft.com/office/drawing/2014/main" val="341447866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  <a:tab pos="3200400" algn="l"/>
                          <a:tab pos="3429000" algn="l"/>
                          <a:tab pos="3657600" algn="l"/>
                          <a:tab pos="3886200" algn="l"/>
                          <a:tab pos="4114800" algn="l"/>
                          <a:tab pos="4343400" algn="l"/>
                          <a:tab pos="4572000" algn="l"/>
                        </a:tabLst>
                      </a:pPr>
                      <a:r>
                        <a:rPr lang="en-US" sz="1550" kern="0" dirty="0">
                          <a:effectLst/>
                        </a:rPr>
                        <a:t>INVOICE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39339414"/>
                  </a:ext>
                </a:extLst>
              </a:tr>
            </a:tbl>
          </a:graphicData>
        </a:graphic>
      </p:graphicFrame>
      <p:graphicFrame>
        <p:nvGraphicFramePr>
          <p:cNvPr id="191" name="표 1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571025"/>
              </p:ext>
            </p:extLst>
          </p:nvPr>
        </p:nvGraphicFramePr>
        <p:xfrm>
          <a:off x="2780928" y="2723385"/>
          <a:ext cx="1020363" cy="129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0363">
                  <a:extLst>
                    <a:ext uri="{9D8B030D-6E8A-4147-A177-3AD203B41FA5}">
                      <a16:colId xmlns:a16="http://schemas.microsoft.com/office/drawing/2014/main" val="546000223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</a:tabLst>
                      </a:pPr>
                      <a:r>
                        <a:rPr lang="ko-KR" altLang="en-US" sz="750" kern="0" dirty="0">
                          <a:effectLst/>
                        </a:rPr>
                        <a:t>담당자</a:t>
                      </a:r>
                      <a:r>
                        <a:rPr lang="en-US" sz="750" kern="0" dirty="0">
                          <a:effectLst/>
                        </a:rPr>
                        <a:t> : </a:t>
                      </a:r>
                      <a:r>
                        <a:rPr lang="ko-KR" altLang="en-US" sz="750" kern="0" dirty="0">
                          <a:effectLst/>
                        </a:rPr>
                        <a:t>홍길동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47821982"/>
                  </a:ext>
                </a:extLst>
              </a:tr>
            </a:tbl>
          </a:graphicData>
        </a:graphic>
      </p:graphicFrame>
      <p:graphicFrame>
        <p:nvGraphicFramePr>
          <p:cNvPr id="193" name="표 1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323948"/>
              </p:ext>
            </p:extLst>
          </p:nvPr>
        </p:nvGraphicFramePr>
        <p:xfrm>
          <a:off x="381915" y="2720752"/>
          <a:ext cx="1102867" cy="129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2867">
                  <a:extLst>
                    <a:ext uri="{9D8B030D-6E8A-4147-A177-3AD203B41FA5}">
                      <a16:colId xmlns:a16="http://schemas.microsoft.com/office/drawing/2014/main" val="3202878536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</a:tabLst>
                      </a:pPr>
                      <a:r>
                        <a:rPr lang="ko-KR" altLang="en-US" sz="750" kern="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수입  </a:t>
                      </a:r>
                      <a:r>
                        <a:rPr lang="en-US" altLang="ko-KR" sz="750" kern="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750" kern="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해상 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82189232"/>
                  </a:ext>
                </a:extLst>
              </a:tr>
            </a:tbl>
          </a:graphicData>
        </a:graphic>
      </p:graphicFrame>
      <p:graphicFrame>
        <p:nvGraphicFramePr>
          <p:cNvPr id="195" name="표 1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174341"/>
              </p:ext>
            </p:extLst>
          </p:nvPr>
        </p:nvGraphicFramePr>
        <p:xfrm>
          <a:off x="3823724" y="2725902"/>
          <a:ext cx="924458" cy="1248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4458">
                  <a:extLst>
                    <a:ext uri="{9D8B030D-6E8A-4147-A177-3AD203B41FA5}">
                      <a16:colId xmlns:a16="http://schemas.microsoft.com/office/drawing/2014/main" val="1409704402"/>
                    </a:ext>
                  </a:extLst>
                </a:gridCol>
              </a:tblGrid>
              <a:tr h="124832">
                <a:tc>
                  <a:txBody>
                    <a:bodyPr/>
                    <a:lstStyle/>
                    <a:p>
                      <a:pPr algn="r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US" sz="750" kern="0" dirty="0">
                          <a:effectLst/>
                        </a:rPr>
                        <a:t>Date</a:t>
                      </a:r>
                      <a:r>
                        <a:rPr lang="en-US" sz="750" kern="0" baseline="0" dirty="0">
                          <a:effectLst/>
                        </a:rPr>
                        <a:t> : </a:t>
                      </a:r>
                      <a:r>
                        <a:rPr lang="en-US" sz="750" kern="0" dirty="0">
                          <a:effectLst/>
                        </a:rPr>
                        <a:t>2022‑04‑25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63036035"/>
                  </a:ext>
                </a:extLst>
              </a:tr>
            </a:tbl>
          </a:graphicData>
        </a:graphic>
      </p:graphicFrame>
      <p:graphicFrame>
        <p:nvGraphicFramePr>
          <p:cNvPr id="196" name="표 1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851454"/>
              </p:ext>
            </p:extLst>
          </p:nvPr>
        </p:nvGraphicFramePr>
        <p:xfrm>
          <a:off x="428243" y="3199408"/>
          <a:ext cx="1061727" cy="152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1727">
                  <a:extLst>
                    <a:ext uri="{9D8B030D-6E8A-4147-A177-3AD203B41FA5}">
                      <a16:colId xmlns:a16="http://schemas.microsoft.com/office/drawing/2014/main" val="958483346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To.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47510840"/>
                  </a:ext>
                </a:extLst>
              </a:tr>
            </a:tbl>
          </a:graphicData>
        </a:graphic>
      </p:graphicFrame>
      <p:graphicFrame>
        <p:nvGraphicFramePr>
          <p:cNvPr id="197" name="표 1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667093"/>
              </p:ext>
            </p:extLst>
          </p:nvPr>
        </p:nvGraphicFramePr>
        <p:xfrm>
          <a:off x="1525858" y="3204539"/>
          <a:ext cx="3237280" cy="1770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37280">
                  <a:extLst>
                    <a:ext uri="{9D8B030D-6E8A-4147-A177-3AD203B41FA5}">
                      <a16:colId xmlns:a16="http://schemas.microsoft.com/office/drawing/2014/main" val="1437383123"/>
                    </a:ext>
                  </a:extLst>
                </a:gridCol>
              </a:tblGrid>
              <a:tr h="177011">
                <a:tc>
                  <a:txBody>
                    <a:bodyPr/>
                    <a:lstStyle/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  <a:tab pos="3200400" algn="l"/>
                          <a:tab pos="3429000" algn="l"/>
                          <a:tab pos="3657600" algn="l"/>
                          <a:tab pos="3886200" algn="l"/>
                          <a:tab pos="4114800" algn="l"/>
                          <a:tab pos="4343400" algn="l"/>
                          <a:tab pos="4572000" algn="l"/>
                          <a:tab pos="4800600" algn="l"/>
                          <a:tab pos="5029200" algn="l"/>
                          <a:tab pos="5257800" algn="l"/>
                          <a:tab pos="5486400" algn="l"/>
                          <a:tab pos="5715000" algn="l"/>
                          <a:tab pos="5943600" algn="l"/>
                        </a:tabLst>
                      </a:pPr>
                      <a:r>
                        <a:rPr lang="ko-KR" sz="800" kern="0" dirty="0" err="1">
                          <a:effectLst/>
                        </a:rPr>
                        <a:t>영도실업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81933644"/>
                  </a:ext>
                </a:extLst>
              </a:tr>
            </a:tbl>
          </a:graphicData>
        </a:graphic>
      </p:graphicFrame>
      <p:sp>
        <p:nvSpPr>
          <p:cNvPr id="198" name="Line 34"/>
          <p:cNvSpPr>
            <a:spLocks noChangeShapeType="1"/>
          </p:cNvSpPr>
          <p:nvPr/>
        </p:nvSpPr>
        <p:spPr bwMode="auto">
          <a:xfrm flipV="1">
            <a:off x="368543" y="3409258"/>
            <a:ext cx="4433796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+mn-ea"/>
            </a:endParaRPr>
          </a:p>
        </p:txBody>
      </p:sp>
      <p:graphicFrame>
        <p:nvGraphicFramePr>
          <p:cNvPr id="199" name="표 1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477835"/>
              </p:ext>
            </p:extLst>
          </p:nvPr>
        </p:nvGraphicFramePr>
        <p:xfrm>
          <a:off x="423056" y="3445031"/>
          <a:ext cx="1061727" cy="152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1727">
                  <a:extLst>
                    <a:ext uri="{9D8B030D-6E8A-4147-A177-3AD203B41FA5}">
                      <a16:colId xmlns:a16="http://schemas.microsoft.com/office/drawing/2014/main" val="958483346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US" altLang="ko-KR" sz="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ATTN.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47510840"/>
                  </a:ext>
                </a:extLst>
              </a:tr>
            </a:tbl>
          </a:graphicData>
        </a:graphic>
      </p:graphicFrame>
      <p:graphicFrame>
        <p:nvGraphicFramePr>
          <p:cNvPr id="200" name="표 1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76609"/>
              </p:ext>
            </p:extLst>
          </p:nvPr>
        </p:nvGraphicFramePr>
        <p:xfrm>
          <a:off x="1520671" y="3450162"/>
          <a:ext cx="3237280" cy="1770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37280">
                  <a:extLst>
                    <a:ext uri="{9D8B030D-6E8A-4147-A177-3AD203B41FA5}">
                      <a16:colId xmlns:a16="http://schemas.microsoft.com/office/drawing/2014/main" val="1437383123"/>
                    </a:ext>
                  </a:extLst>
                </a:gridCol>
              </a:tblGrid>
              <a:tr h="177011">
                <a:tc>
                  <a:txBody>
                    <a:bodyPr/>
                    <a:lstStyle/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  <a:tab pos="3200400" algn="l"/>
                          <a:tab pos="3429000" algn="l"/>
                          <a:tab pos="3657600" algn="l"/>
                          <a:tab pos="3886200" algn="l"/>
                          <a:tab pos="4114800" algn="l"/>
                          <a:tab pos="4343400" algn="l"/>
                          <a:tab pos="4572000" algn="l"/>
                          <a:tab pos="4800600" algn="l"/>
                          <a:tab pos="5029200" algn="l"/>
                          <a:tab pos="5257800" algn="l"/>
                          <a:tab pos="5486400" algn="l"/>
                          <a:tab pos="5715000" algn="l"/>
                          <a:tab pos="5943600" algn="l"/>
                        </a:tabLst>
                      </a:pPr>
                      <a:r>
                        <a:rPr lang="ko-KR" altLang="en-US" sz="800" kern="0" dirty="0">
                          <a:effectLst/>
                        </a:rPr>
                        <a:t>김철수         </a:t>
                      </a:r>
                      <a:r>
                        <a:rPr lang="en-US" altLang="ko-KR" sz="800" kern="0" dirty="0">
                          <a:effectLst/>
                        </a:rPr>
                        <a:t>                     TEL</a:t>
                      </a:r>
                      <a:r>
                        <a:rPr lang="en-US" altLang="ko-KR" sz="800" kern="0" baseline="0" dirty="0">
                          <a:effectLst/>
                        </a:rPr>
                        <a:t> / FAX : 02-657-1234 / 02-657-1235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81933644"/>
                  </a:ext>
                </a:extLst>
              </a:tr>
            </a:tbl>
          </a:graphicData>
        </a:graphic>
      </p:graphicFrame>
      <p:sp>
        <p:nvSpPr>
          <p:cNvPr id="201" name="Line 34"/>
          <p:cNvSpPr>
            <a:spLocks noChangeShapeType="1"/>
          </p:cNvSpPr>
          <p:nvPr/>
        </p:nvSpPr>
        <p:spPr bwMode="auto">
          <a:xfrm flipV="1">
            <a:off x="363356" y="3654881"/>
            <a:ext cx="4433796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+mn-ea"/>
            </a:endParaRPr>
          </a:p>
        </p:txBody>
      </p:sp>
      <p:sp>
        <p:nvSpPr>
          <p:cNvPr id="202" name="Line 34"/>
          <p:cNvSpPr>
            <a:spLocks noChangeShapeType="1"/>
          </p:cNvSpPr>
          <p:nvPr/>
        </p:nvSpPr>
        <p:spPr bwMode="auto">
          <a:xfrm flipV="1">
            <a:off x="363102" y="3885512"/>
            <a:ext cx="4433796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+mn-ea"/>
            </a:endParaRPr>
          </a:p>
        </p:txBody>
      </p:sp>
      <p:sp>
        <p:nvSpPr>
          <p:cNvPr id="203" name="Line 34"/>
          <p:cNvSpPr>
            <a:spLocks noChangeShapeType="1"/>
          </p:cNvSpPr>
          <p:nvPr/>
        </p:nvSpPr>
        <p:spPr bwMode="auto">
          <a:xfrm flipV="1">
            <a:off x="367291" y="4108463"/>
            <a:ext cx="4433796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+mn-ea"/>
            </a:endParaRPr>
          </a:p>
        </p:txBody>
      </p:sp>
      <p:graphicFrame>
        <p:nvGraphicFramePr>
          <p:cNvPr id="204" name="표 2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803205"/>
              </p:ext>
            </p:extLst>
          </p:nvPr>
        </p:nvGraphicFramePr>
        <p:xfrm>
          <a:off x="1513775" y="3722566"/>
          <a:ext cx="1043802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3802">
                  <a:extLst>
                    <a:ext uri="{9D8B030D-6E8A-4147-A177-3AD203B41FA5}">
                      <a16:colId xmlns:a16="http://schemas.microsoft.com/office/drawing/2014/main" val="4206223728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endParaRPr lang="ko-KR" sz="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71448778"/>
                  </a:ext>
                </a:extLst>
              </a:tr>
            </a:tbl>
          </a:graphicData>
        </a:graphic>
      </p:graphicFrame>
      <p:graphicFrame>
        <p:nvGraphicFramePr>
          <p:cNvPr id="205" name="표 2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240958"/>
              </p:ext>
            </p:extLst>
          </p:nvPr>
        </p:nvGraphicFramePr>
        <p:xfrm>
          <a:off x="2619817" y="3696846"/>
          <a:ext cx="1176161" cy="129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6161">
                  <a:extLst>
                    <a:ext uri="{9D8B030D-6E8A-4147-A177-3AD203B41FA5}">
                      <a16:colId xmlns:a16="http://schemas.microsoft.com/office/drawing/2014/main" val="630811505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ko-KR" altLang="en-US" sz="800" b="0" kern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청구일자</a:t>
                      </a:r>
                      <a:endParaRPr lang="ko-KR" sz="8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55040176"/>
                  </a:ext>
                </a:extLst>
              </a:tr>
            </a:tbl>
          </a:graphicData>
        </a:graphic>
      </p:graphicFrame>
      <p:graphicFrame>
        <p:nvGraphicFramePr>
          <p:cNvPr id="206" name="표 2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386475"/>
              </p:ext>
            </p:extLst>
          </p:nvPr>
        </p:nvGraphicFramePr>
        <p:xfrm>
          <a:off x="3796352" y="3708646"/>
          <a:ext cx="966786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6786">
                  <a:extLst>
                    <a:ext uri="{9D8B030D-6E8A-4147-A177-3AD203B41FA5}">
                      <a16:colId xmlns:a16="http://schemas.microsoft.com/office/drawing/2014/main" val="4206223728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71448778"/>
                  </a:ext>
                </a:extLst>
              </a:tr>
            </a:tbl>
          </a:graphicData>
        </a:graphic>
      </p:graphicFrame>
      <p:graphicFrame>
        <p:nvGraphicFramePr>
          <p:cNvPr id="208" name="표 2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255338"/>
              </p:ext>
            </p:extLst>
          </p:nvPr>
        </p:nvGraphicFramePr>
        <p:xfrm>
          <a:off x="2596408" y="3938317"/>
          <a:ext cx="1185018" cy="129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5018">
                  <a:extLst>
                    <a:ext uri="{9D8B030D-6E8A-4147-A177-3AD203B41FA5}">
                      <a16:colId xmlns:a16="http://schemas.microsoft.com/office/drawing/2014/main" val="1344006034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altLang="ko-KR" sz="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E.T.D / E.T.A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16646337"/>
                  </a:ext>
                </a:extLst>
              </a:tr>
            </a:tbl>
          </a:graphicData>
        </a:graphic>
      </p:graphicFrame>
      <p:graphicFrame>
        <p:nvGraphicFramePr>
          <p:cNvPr id="209" name="표 2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934198"/>
              </p:ext>
            </p:extLst>
          </p:nvPr>
        </p:nvGraphicFramePr>
        <p:xfrm>
          <a:off x="406839" y="3704727"/>
          <a:ext cx="1077943" cy="129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7943">
                  <a:extLst>
                    <a:ext uri="{9D8B030D-6E8A-4147-A177-3AD203B41FA5}">
                      <a16:colId xmlns:a16="http://schemas.microsoft.com/office/drawing/2014/main" val="630811505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ko-KR" altLang="en-US" sz="800" b="0" kern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청구번호</a:t>
                      </a:r>
                      <a:endParaRPr lang="ko-KR" sz="8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55040176"/>
                  </a:ext>
                </a:extLst>
              </a:tr>
            </a:tbl>
          </a:graphicData>
        </a:graphic>
      </p:graphicFrame>
      <p:graphicFrame>
        <p:nvGraphicFramePr>
          <p:cNvPr id="211" name="표 2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592136"/>
              </p:ext>
            </p:extLst>
          </p:nvPr>
        </p:nvGraphicFramePr>
        <p:xfrm>
          <a:off x="3790441" y="3938317"/>
          <a:ext cx="966786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6786">
                  <a:extLst>
                    <a:ext uri="{9D8B030D-6E8A-4147-A177-3AD203B41FA5}">
                      <a16:colId xmlns:a16="http://schemas.microsoft.com/office/drawing/2014/main" val="4206223728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71448778"/>
                  </a:ext>
                </a:extLst>
              </a:tr>
            </a:tbl>
          </a:graphicData>
        </a:graphic>
      </p:graphicFrame>
      <p:sp>
        <p:nvSpPr>
          <p:cNvPr id="212" name="Line 34"/>
          <p:cNvSpPr>
            <a:spLocks noChangeShapeType="1"/>
          </p:cNvSpPr>
          <p:nvPr/>
        </p:nvSpPr>
        <p:spPr bwMode="auto">
          <a:xfrm flipV="1">
            <a:off x="359421" y="4108463"/>
            <a:ext cx="4433796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+mn-ea"/>
            </a:endParaRPr>
          </a:p>
        </p:txBody>
      </p:sp>
      <p:sp>
        <p:nvSpPr>
          <p:cNvPr id="214" name="Line 34"/>
          <p:cNvSpPr>
            <a:spLocks noChangeShapeType="1"/>
          </p:cNvSpPr>
          <p:nvPr/>
        </p:nvSpPr>
        <p:spPr bwMode="auto">
          <a:xfrm flipV="1">
            <a:off x="363356" y="4311104"/>
            <a:ext cx="4433796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+mn-ea"/>
            </a:endParaRPr>
          </a:p>
        </p:txBody>
      </p:sp>
      <p:graphicFrame>
        <p:nvGraphicFramePr>
          <p:cNvPr id="216" name="표 2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853810"/>
              </p:ext>
            </p:extLst>
          </p:nvPr>
        </p:nvGraphicFramePr>
        <p:xfrm>
          <a:off x="398972" y="3938440"/>
          <a:ext cx="1176161" cy="129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6161">
                  <a:extLst>
                    <a:ext uri="{9D8B030D-6E8A-4147-A177-3AD203B41FA5}">
                      <a16:colId xmlns:a16="http://schemas.microsoft.com/office/drawing/2014/main" val="630811505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sz="8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Port of Loading</a:t>
                      </a:r>
                      <a:endParaRPr lang="ko-KR" sz="8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55040176"/>
                  </a:ext>
                </a:extLst>
              </a:tr>
            </a:tbl>
          </a:graphicData>
        </a:graphic>
      </p:graphicFrame>
      <p:graphicFrame>
        <p:nvGraphicFramePr>
          <p:cNvPr id="217" name="표 2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097301"/>
              </p:ext>
            </p:extLst>
          </p:nvPr>
        </p:nvGraphicFramePr>
        <p:xfrm>
          <a:off x="1575507" y="3950240"/>
          <a:ext cx="966786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6786">
                  <a:extLst>
                    <a:ext uri="{9D8B030D-6E8A-4147-A177-3AD203B41FA5}">
                      <a16:colId xmlns:a16="http://schemas.microsoft.com/office/drawing/2014/main" val="4206223728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71448778"/>
                  </a:ext>
                </a:extLst>
              </a:tr>
            </a:tbl>
          </a:graphicData>
        </a:graphic>
      </p:graphicFrame>
      <p:graphicFrame>
        <p:nvGraphicFramePr>
          <p:cNvPr id="218" name="표 2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525231"/>
              </p:ext>
            </p:extLst>
          </p:nvPr>
        </p:nvGraphicFramePr>
        <p:xfrm>
          <a:off x="399980" y="4133697"/>
          <a:ext cx="1080867" cy="129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867">
                  <a:extLst>
                    <a:ext uri="{9D8B030D-6E8A-4147-A177-3AD203B41FA5}">
                      <a16:colId xmlns:a16="http://schemas.microsoft.com/office/drawing/2014/main" val="3867173163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Port of Delivery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17106068"/>
                  </a:ext>
                </a:extLst>
              </a:tr>
            </a:tbl>
          </a:graphicData>
        </a:graphic>
      </p:graphicFrame>
      <p:graphicFrame>
        <p:nvGraphicFramePr>
          <p:cNvPr id="219" name="표 2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718741"/>
              </p:ext>
            </p:extLst>
          </p:nvPr>
        </p:nvGraphicFramePr>
        <p:xfrm>
          <a:off x="2592473" y="4140958"/>
          <a:ext cx="1185018" cy="129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5018">
                  <a:extLst>
                    <a:ext uri="{9D8B030D-6E8A-4147-A177-3AD203B41FA5}">
                      <a16:colId xmlns:a16="http://schemas.microsoft.com/office/drawing/2014/main" val="1344006034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altLang="ko-KR" sz="8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Port of Discharge</a:t>
                      </a:r>
                      <a:endParaRPr lang="ko-KR" altLang="ko-KR" sz="8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16646337"/>
                  </a:ext>
                </a:extLst>
              </a:tr>
            </a:tbl>
          </a:graphicData>
        </a:graphic>
      </p:graphicFrame>
      <p:graphicFrame>
        <p:nvGraphicFramePr>
          <p:cNvPr id="221" name="표 2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660295"/>
              </p:ext>
            </p:extLst>
          </p:nvPr>
        </p:nvGraphicFramePr>
        <p:xfrm>
          <a:off x="1501629" y="4140958"/>
          <a:ext cx="1040664" cy="129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0664">
                  <a:extLst>
                    <a:ext uri="{9D8B030D-6E8A-4147-A177-3AD203B41FA5}">
                      <a16:colId xmlns:a16="http://schemas.microsoft.com/office/drawing/2014/main" val="4206223728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altLang="ko-KR" sz="800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BUSAN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71448778"/>
                  </a:ext>
                </a:extLst>
              </a:tr>
            </a:tbl>
          </a:graphicData>
        </a:graphic>
      </p:graphicFrame>
      <p:graphicFrame>
        <p:nvGraphicFramePr>
          <p:cNvPr id="222" name="표 2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800397"/>
              </p:ext>
            </p:extLst>
          </p:nvPr>
        </p:nvGraphicFramePr>
        <p:xfrm>
          <a:off x="3786506" y="4140958"/>
          <a:ext cx="966786" cy="129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6786">
                  <a:extLst>
                    <a:ext uri="{9D8B030D-6E8A-4147-A177-3AD203B41FA5}">
                      <a16:colId xmlns:a16="http://schemas.microsoft.com/office/drawing/2014/main" val="4206223728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altLang="ko-KR" sz="800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BUSAN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71448778"/>
                  </a:ext>
                </a:extLst>
              </a:tr>
            </a:tbl>
          </a:graphicData>
        </a:graphic>
      </p:graphicFrame>
      <p:sp>
        <p:nvSpPr>
          <p:cNvPr id="225" name="Line 34"/>
          <p:cNvSpPr>
            <a:spLocks noChangeShapeType="1"/>
          </p:cNvSpPr>
          <p:nvPr/>
        </p:nvSpPr>
        <p:spPr bwMode="auto">
          <a:xfrm flipV="1">
            <a:off x="364407" y="4524843"/>
            <a:ext cx="4433796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+mn-ea"/>
            </a:endParaRPr>
          </a:p>
        </p:txBody>
      </p:sp>
      <p:sp>
        <p:nvSpPr>
          <p:cNvPr id="226" name="Line 34"/>
          <p:cNvSpPr>
            <a:spLocks noChangeShapeType="1"/>
          </p:cNvSpPr>
          <p:nvPr/>
        </p:nvSpPr>
        <p:spPr bwMode="auto">
          <a:xfrm flipV="1">
            <a:off x="360129" y="4747794"/>
            <a:ext cx="4433796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+mn-ea"/>
            </a:endParaRPr>
          </a:p>
        </p:txBody>
      </p:sp>
      <p:graphicFrame>
        <p:nvGraphicFramePr>
          <p:cNvPr id="227" name="표 2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450126"/>
              </p:ext>
            </p:extLst>
          </p:nvPr>
        </p:nvGraphicFramePr>
        <p:xfrm>
          <a:off x="1508730" y="4361897"/>
          <a:ext cx="1043802" cy="129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3802">
                  <a:extLst>
                    <a:ext uri="{9D8B030D-6E8A-4147-A177-3AD203B41FA5}">
                      <a16:colId xmlns:a16="http://schemas.microsoft.com/office/drawing/2014/main" val="4206223728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sz="800" kern="0" dirty="0">
                          <a:effectLst/>
                          <a:latin typeface="+mn-ea"/>
                          <a:ea typeface="+mn-ea"/>
                        </a:rPr>
                        <a:t>CHITTAGONG</a:t>
                      </a:r>
                      <a:endParaRPr lang="ko-KR" sz="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71448778"/>
                  </a:ext>
                </a:extLst>
              </a:tr>
            </a:tbl>
          </a:graphicData>
        </a:graphic>
      </p:graphicFrame>
      <p:graphicFrame>
        <p:nvGraphicFramePr>
          <p:cNvPr id="228" name="표 2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075874"/>
              </p:ext>
            </p:extLst>
          </p:nvPr>
        </p:nvGraphicFramePr>
        <p:xfrm>
          <a:off x="2606305" y="4336177"/>
          <a:ext cx="1176161" cy="129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6161">
                  <a:extLst>
                    <a:ext uri="{9D8B030D-6E8A-4147-A177-3AD203B41FA5}">
                      <a16:colId xmlns:a16="http://schemas.microsoft.com/office/drawing/2014/main" val="630811505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altLang="ko-KR" sz="8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PACKAGE</a:t>
                      </a:r>
                      <a:r>
                        <a:rPr lang="en-US" altLang="ko-KR" sz="800" b="0" kern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/G.WEIGHT</a:t>
                      </a:r>
                      <a:endParaRPr lang="ko-KR" sz="8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55040176"/>
                  </a:ext>
                </a:extLst>
              </a:tr>
            </a:tbl>
          </a:graphicData>
        </a:graphic>
      </p:graphicFrame>
      <p:graphicFrame>
        <p:nvGraphicFramePr>
          <p:cNvPr id="229" name="표 2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565760"/>
              </p:ext>
            </p:extLst>
          </p:nvPr>
        </p:nvGraphicFramePr>
        <p:xfrm>
          <a:off x="3791307" y="4347977"/>
          <a:ext cx="966786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6786">
                  <a:extLst>
                    <a:ext uri="{9D8B030D-6E8A-4147-A177-3AD203B41FA5}">
                      <a16:colId xmlns:a16="http://schemas.microsoft.com/office/drawing/2014/main" val="4206223728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71448778"/>
                  </a:ext>
                </a:extLst>
              </a:tr>
            </a:tbl>
          </a:graphicData>
        </a:graphic>
      </p:graphicFrame>
      <p:graphicFrame>
        <p:nvGraphicFramePr>
          <p:cNvPr id="230" name="표 2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775055"/>
              </p:ext>
            </p:extLst>
          </p:nvPr>
        </p:nvGraphicFramePr>
        <p:xfrm>
          <a:off x="390403" y="4570387"/>
          <a:ext cx="1080867" cy="129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867">
                  <a:extLst>
                    <a:ext uri="{9D8B030D-6E8A-4147-A177-3AD203B41FA5}">
                      <a16:colId xmlns:a16="http://schemas.microsoft.com/office/drawing/2014/main" val="3867173163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MEASUREMENT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17106068"/>
                  </a:ext>
                </a:extLst>
              </a:tr>
            </a:tbl>
          </a:graphicData>
        </a:graphic>
      </p:graphicFrame>
      <p:graphicFrame>
        <p:nvGraphicFramePr>
          <p:cNvPr id="231" name="표 2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378014"/>
              </p:ext>
            </p:extLst>
          </p:nvPr>
        </p:nvGraphicFramePr>
        <p:xfrm>
          <a:off x="2582896" y="4577648"/>
          <a:ext cx="1220618" cy="129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0618">
                  <a:extLst>
                    <a:ext uri="{9D8B030D-6E8A-4147-A177-3AD203B41FA5}">
                      <a16:colId xmlns:a16="http://schemas.microsoft.com/office/drawing/2014/main" val="1344006034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altLang="ko-KR" sz="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INCOTERMS/CONATANIER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16646337"/>
                  </a:ext>
                </a:extLst>
              </a:tr>
            </a:tbl>
          </a:graphicData>
        </a:graphic>
      </p:graphicFrame>
      <p:graphicFrame>
        <p:nvGraphicFramePr>
          <p:cNvPr id="232" name="표 2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096387"/>
              </p:ext>
            </p:extLst>
          </p:nvPr>
        </p:nvGraphicFramePr>
        <p:xfrm>
          <a:off x="401794" y="4344058"/>
          <a:ext cx="1077943" cy="129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7943">
                  <a:extLst>
                    <a:ext uri="{9D8B030D-6E8A-4147-A177-3AD203B41FA5}">
                      <a16:colId xmlns:a16="http://schemas.microsoft.com/office/drawing/2014/main" val="630811505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altLang="ko-KR" sz="8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Final</a:t>
                      </a:r>
                      <a:r>
                        <a:rPr lang="en-US" altLang="ko-KR" sz="800" kern="100" baseline="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 Destination</a:t>
                      </a:r>
                      <a:endParaRPr lang="ko-KR" altLang="ko-KR" sz="8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55040176"/>
                  </a:ext>
                </a:extLst>
              </a:tr>
            </a:tbl>
          </a:graphicData>
        </a:graphic>
      </p:graphicFrame>
      <p:graphicFrame>
        <p:nvGraphicFramePr>
          <p:cNvPr id="233" name="표 2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993104"/>
              </p:ext>
            </p:extLst>
          </p:nvPr>
        </p:nvGraphicFramePr>
        <p:xfrm>
          <a:off x="1492052" y="4577648"/>
          <a:ext cx="1040664" cy="130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0664">
                  <a:extLst>
                    <a:ext uri="{9D8B030D-6E8A-4147-A177-3AD203B41FA5}">
                      <a16:colId xmlns:a16="http://schemas.microsoft.com/office/drawing/2014/main" val="4206223728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71448778"/>
                  </a:ext>
                </a:extLst>
              </a:tr>
            </a:tbl>
          </a:graphicData>
        </a:graphic>
      </p:graphicFrame>
      <p:graphicFrame>
        <p:nvGraphicFramePr>
          <p:cNvPr id="234" name="표 2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480296"/>
              </p:ext>
            </p:extLst>
          </p:nvPr>
        </p:nvGraphicFramePr>
        <p:xfrm>
          <a:off x="3795979" y="4577648"/>
          <a:ext cx="966786" cy="129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6786">
                  <a:extLst>
                    <a:ext uri="{9D8B030D-6E8A-4147-A177-3AD203B41FA5}">
                      <a16:colId xmlns:a16="http://schemas.microsoft.com/office/drawing/2014/main" val="4206223728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altLang="ko-KR" sz="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CFR</a:t>
                      </a:r>
                      <a:r>
                        <a:rPr lang="en-US" altLang="ko-KR" sz="800" kern="100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/ FCL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71448778"/>
                  </a:ext>
                </a:extLst>
              </a:tr>
            </a:tbl>
          </a:graphicData>
        </a:graphic>
      </p:graphicFrame>
      <p:graphicFrame>
        <p:nvGraphicFramePr>
          <p:cNvPr id="235" name="표 2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597611"/>
              </p:ext>
            </p:extLst>
          </p:nvPr>
        </p:nvGraphicFramePr>
        <p:xfrm>
          <a:off x="375400" y="4880992"/>
          <a:ext cx="4413487" cy="6858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70994">
                  <a:extLst>
                    <a:ext uri="{9D8B030D-6E8A-4147-A177-3AD203B41FA5}">
                      <a16:colId xmlns:a16="http://schemas.microsoft.com/office/drawing/2014/main" val="20738009"/>
                    </a:ext>
                  </a:extLst>
                </a:gridCol>
                <a:gridCol w="582957">
                  <a:extLst>
                    <a:ext uri="{9D8B030D-6E8A-4147-A177-3AD203B41FA5}">
                      <a16:colId xmlns:a16="http://schemas.microsoft.com/office/drawing/2014/main" val="2300298393"/>
                    </a:ext>
                  </a:extLst>
                </a:gridCol>
                <a:gridCol w="451427">
                  <a:extLst>
                    <a:ext uri="{9D8B030D-6E8A-4147-A177-3AD203B41FA5}">
                      <a16:colId xmlns:a16="http://schemas.microsoft.com/office/drawing/2014/main" val="3099815245"/>
                    </a:ext>
                  </a:extLst>
                </a:gridCol>
                <a:gridCol w="549716">
                  <a:extLst>
                    <a:ext uri="{9D8B030D-6E8A-4147-A177-3AD203B41FA5}">
                      <a16:colId xmlns:a16="http://schemas.microsoft.com/office/drawing/2014/main" val="728612796"/>
                    </a:ext>
                  </a:extLst>
                </a:gridCol>
                <a:gridCol w="644092">
                  <a:extLst>
                    <a:ext uri="{9D8B030D-6E8A-4147-A177-3AD203B41FA5}">
                      <a16:colId xmlns:a16="http://schemas.microsoft.com/office/drawing/2014/main" val="3938746385"/>
                    </a:ext>
                  </a:extLst>
                </a:gridCol>
                <a:gridCol w="644092">
                  <a:extLst>
                    <a:ext uri="{9D8B030D-6E8A-4147-A177-3AD203B41FA5}">
                      <a16:colId xmlns:a16="http://schemas.microsoft.com/office/drawing/2014/main" val="1770110909"/>
                    </a:ext>
                  </a:extLst>
                </a:gridCol>
                <a:gridCol w="570209">
                  <a:extLst>
                    <a:ext uri="{9D8B030D-6E8A-4147-A177-3AD203B41FA5}">
                      <a16:colId xmlns:a16="http://schemas.microsoft.com/office/drawing/2014/main" val="2690422265"/>
                    </a:ext>
                  </a:extLst>
                </a:gridCol>
              </a:tblGrid>
              <a:tr h="1256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운임명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/>
                        <a:t>통화단위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단가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환율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금액</a:t>
                      </a:r>
                      <a:r>
                        <a:rPr lang="en-US" altLang="ko-KR" sz="600" dirty="0"/>
                        <a:t>(</a:t>
                      </a:r>
                      <a:r>
                        <a:rPr lang="ko-KR" altLang="en-US" sz="600" dirty="0"/>
                        <a:t>외화</a:t>
                      </a:r>
                      <a:r>
                        <a:rPr lang="en-US" altLang="ko-KR" sz="600" dirty="0"/>
                        <a:t>)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금액</a:t>
                      </a:r>
                      <a:r>
                        <a:rPr lang="en-US" altLang="ko-KR" sz="600" dirty="0"/>
                        <a:t>(</a:t>
                      </a:r>
                      <a:r>
                        <a:rPr lang="ko-KR" altLang="en-US" sz="600" dirty="0"/>
                        <a:t>원화</a:t>
                      </a:r>
                      <a:r>
                        <a:rPr lang="en-US" altLang="ko-KR" sz="600" dirty="0"/>
                        <a:t>)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/>
                        <a:t>부가세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6147429"/>
                  </a:ext>
                </a:extLst>
              </a:tr>
              <a:tr h="125604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sz="500" kern="0" dirty="0">
                          <a:effectLst/>
                        </a:rPr>
                        <a:t>OCEAN FREIGHT CHARGE</a:t>
                      </a:r>
                      <a:endParaRPr lang="ko-KR" sz="5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USD</a:t>
                      </a:r>
                      <a:endParaRPr lang="ko-KR" altLang="en-US" sz="5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60.00</a:t>
                      </a:r>
                      <a:endParaRPr lang="ko-KR" altLang="en-US" sz="5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1000.00</a:t>
                      </a:r>
                      <a:endParaRPr lang="ko-KR" altLang="en-US" sz="5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120.00</a:t>
                      </a:r>
                      <a:endParaRPr lang="ko-KR" altLang="en-US" sz="5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120,000</a:t>
                      </a:r>
                      <a:endParaRPr lang="ko-KR" altLang="en-US" sz="5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802489"/>
                  </a:ext>
                </a:extLst>
              </a:tr>
              <a:tr h="125604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sz="500" kern="0" dirty="0">
                          <a:effectLst/>
                        </a:rPr>
                        <a:t>C.F.S</a:t>
                      </a:r>
                      <a:r>
                        <a:rPr lang="en-US" sz="500" kern="0" baseline="0" dirty="0">
                          <a:effectLst/>
                        </a:rPr>
                        <a:t> CHARGE</a:t>
                      </a:r>
                      <a:endParaRPr lang="ko-KR" sz="5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KRW</a:t>
                      </a:r>
                      <a:endParaRPr lang="ko-KR" altLang="en-US" sz="5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3,000</a:t>
                      </a:r>
                      <a:endParaRPr lang="ko-KR" altLang="en-US" sz="5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1.00</a:t>
                      </a:r>
                      <a:endParaRPr lang="ko-KR" altLang="en-US" sz="5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3000</a:t>
                      </a:r>
                      <a:endParaRPr lang="ko-KR" altLang="en-US" sz="5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096186"/>
                  </a:ext>
                </a:extLst>
              </a:tr>
              <a:tr h="125604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altLang="ko-KR" sz="500" kern="100" dirty="0">
                          <a:effectLst/>
                        </a:rPr>
                        <a:t>DOCUMENT FEE</a:t>
                      </a:r>
                      <a:endParaRPr lang="ko-KR" sz="5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KRW</a:t>
                      </a:r>
                      <a:endParaRPr lang="ko-KR" altLang="en-US" sz="5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15,000</a:t>
                      </a:r>
                      <a:endParaRPr lang="ko-KR" altLang="en-US" sz="5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1.00</a:t>
                      </a:r>
                      <a:endParaRPr lang="ko-KR" altLang="en-US" sz="5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15,000</a:t>
                      </a:r>
                      <a:endParaRPr lang="ko-KR" altLang="en-US" sz="5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1,500</a:t>
                      </a:r>
                      <a:endParaRPr lang="ko-KR" altLang="en-US" sz="5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70028"/>
                  </a:ext>
                </a:extLst>
              </a:tr>
            </a:tbl>
          </a:graphicData>
        </a:graphic>
      </p:graphicFrame>
      <p:graphicFrame>
        <p:nvGraphicFramePr>
          <p:cNvPr id="5246" name="표 52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839324"/>
              </p:ext>
            </p:extLst>
          </p:nvPr>
        </p:nvGraphicFramePr>
        <p:xfrm>
          <a:off x="390381" y="5704508"/>
          <a:ext cx="4404857" cy="129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04857">
                  <a:extLst>
                    <a:ext uri="{9D8B030D-6E8A-4147-A177-3AD203B41FA5}">
                      <a16:colId xmlns:a16="http://schemas.microsoft.com/office/drawing/2014/main" val="432994193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ko-KR" altLang="en-US" sz="700" b="1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소계 </a:t>
                      </a:r>
                      <a:r>
                        <a:rPr lang="en-US" altLang="ko-KR" sz="700" b="1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ko-KR" sz="7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90297153"/>
                  </a:ext>
                </a:extLst>
              </a:tr>
            </a:tbl>
          </a:graphicData>
        </a:graphic>
      </p:graphicFrame>
      <p:graphicFrame>
        <p:nvGraphicFramePr>
          <p:cNvPr id="238" name="표 2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689371"/>
              </p:ext>
            </p:extLst>
          </p:nvPr>
        </p:nvGraphicFramePr>
        <p:xfrm>
          <a:off x="3176730" y="5888443"/>
          <a:ext cx="1636966" cy="129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6966">
                  <a:extLst>
                    <a:ext uri="{9D8B030D-6E8A-4147-A177-3AD203B41FA5}">
                      <a16:colId xmlns:a16="http://schemas.microsoft.com/office/drawing/2014/main" val="432994193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r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ko-KR" altLang="en-US" sz="700" b="0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총합계 </a:t>
                      </a:r>
                      <a:r>
                        <a:rPr lang="en-US" altLang="ko-KR" sz="700" b="0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: (KRW) 139,500</a:t>
                      </a:r>
                      <a:endParaRPr lang="ko-KR" sz="700" b="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90297153"/>
                  </a:ext>
                </a:extLst>
              </a:tr>
            </a:tbl>
          </a:graphicData>
        </a:graphic>
      </p:graphicFrame>
      <p:graphicFrame>
        <p:nvGraphicFramePr>
          <p:cNvPr id="239" name="표 2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609928"/>
              </p:ext>
            </p:extLst>
          </p:nvPr>
        </p:nvGraphicFramePr>
        <p:xfrm>
          <a:off x="3830656" y="5704095"/>
          <a:ext cx="375543" cy="129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5543">
                  <a:extLst>
                    <a:ext uri="{9D8B030D-6E8A-4147-A177-3AD203B41FA5}">
                      <a16:colId xmlns:a16="http://schemas.microsoft.com/office/drawing/2014/main" val="432994193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altLang="ko-KR" sz="700" b="0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138,000</a:t>
                      </a:r>
                      <a:endParaRPr lang="ko-KR" sz="700" b="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90297153"/>
                  </a:ext>
                </a:extLst>
              </a:tr>
            </a:tbl>
          </a:graphicData>
        </a:graphic>
      </p:graphicFrame>
      <p:graphicFrame>
        <p:nvGraphicFramePr>
          <p:cNvPr id="241" name="표 2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109616"/>
              </p:ext>
            </p:extLst>
          </p:nvPr>
        </p:nvGraphicFramePr>
        <p:xfrm>
          <a:off x="4439724" y="5709598"/>
          <a:ext cx="375543" cy="129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5543">
                  <a:extLst>
                    <a:ext uri="{9D8B030D-6E8A-4147-A177-3AD203B41FA5}">
                      <a16:colId xmlns:a16="http://schemas.microsoft.com/office/drawing/2014/main" val="432994193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altLang="ko-KR" sz="700" b="0" kern="0" dirty="0">
                          <a:effectLst/>
                          <a:latin typeface="+mn-lt"/>
                          <a:ea typeface="+mn-ea"/>
                          <a:cs typeface="+mn-cs"/>
                        </a:rPr>
                        <a:t>1,500</a:t>
                      </a:r>
                      <a:endParaRPr lang="ko-KR" sz="700" b="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90297153"/>
                  </a:ext>
                </a:extLst>
              </a:tr>
            </a:tbl>
          </a:graphicData>
        </a:graphic>
      </p:graphicFrame>
      <p:sp>
        <p:nvSpPr>
          <p:cNvPr id="242" name="Line 34"/>
          <p:cNvSpPr>
            <a:spLocks noChangeShapeType="1"/>
          </p:cNvSpPr>
          <p:nvPr/>
        </p:nvSpPr>
        <p:spPr bwMode="auto">
          <a:xfrm flipV="1">
            <a:off x="364007" y="5853269"/>
            <a:ext cx="4433796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+mn-ea"/>
            </a:endParaRPr>
          </a:p>
        </p:txBody>
      </p:sp>
      <p:graphicFrame>
        <p:nvGraphicFramePr>
          <p:cNvPr id="129" name="표 1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322407"/>
              </p:ext>
            </p:extLst>
          </p:nvPr>
        </p:nvGraphicFramePr>
        <p:xfrm>
          <a:off x="388937" y="6255832"/>
          <a:ext cx="4429421" cy="129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29421">
                  <a:extLst>
                    <a:ext uri="{9D8B030D-6E8A-4147-A177-3AD203B41FA5}">
                      <a16:colId xmlns:a16="http://schemas.microsoft.com/office/drawing/2014/main" val="2962293003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</a:tabLst>
                      </a:pPr>
                      <a:r>
                        <a:rPr lang="en-US" sz="750" kern="0" dirty="0">
                          <a:effectLst/>
                        </a:rPr>
                        <a:t>REMARK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53217239"/>
                  </a:ext>
                </a:extLst>
              </a:tr>
            </a:tbl>
          </a:graphicData>
        </a:graphic>
      </p:graphicFrame>
      <p:sp>
        <p:nvSpPr>
          <p:cNvPr id="246" name="Line 34"/>
          <p:cNvSpPr>
            <a:spLocks noChangeShapeType="1"/>
          </p:cNvSpPr>
          <p:nvPr/>
        </p:nvSpPr>
        <p:spPr bwMode="auto">
          <a:xfrm flipV="1">
            <a:off x="369706" y="6393160"/>
            <a:ext cx="4433796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+mn-ea"/>
            </a:endParaRPr>
          </a:p>
        </p:txBody>
      </p:sp>
      <p:sp>
        <p:nvSpPr>
          <p:cNvPr id="247" name="Line 34"/>
          <p:cNvSpPr>
            <a:spLocks noChangeShapeType="1"/>
          </p:cNvSpPr>
          <p:nvPr/>
        </p:nvSpPr>
        <p:spPr bwMode="auto">
          <a:xfrm flipV="1">
            <a:off x="369706" y="7689304"/>
            <a:ext cx="4433796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+mn-ea"/>
            </a:endParaRPr>
          </a:p>
        </p:txBody>
      </p:sp>
      <p:graphicFrame>
        <p:nvGraphicFramePr>
          <p:cNvPr id="130" name="표 1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588657"/>
              </p:ext>
            </p:extLst>
          </p:nvPr>
        </p:nvGraphicFramePr>
        <p:xfrm>
          <a:off x="392748" y="7823264"/>
          <a:ext cx="4396140" cy="1158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96140">
                  <a:extLst>
                    <a:ext uri="{9D8B030D-6E8A-4147-A177-3AD203B41FA5}">
                      <a16:colId xmlns:a16="http://schemas.microsoft.com/office/drawing/2014/main" val="2783610423"/>
                    </a:ext>
                  </a:extLst>
                </a:gridCol>
              </a:tblGrid>
              <a:tr h="11582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  <a:tab pos="3200400" algn="l"/>
                          <a:tab pos="3429000" algn="l"/>
                          <a:tab pos="3657600" algn="l"/>
                          <a:tab pos="3886200" algn="l"/>
                          <a:tab pos="4114800" algn="l"/>
                          <a:tab pos="4343400" algn="l"/>
                          <a:tab pos="4572000" algn="l"/>
                          <a:tab pos="4800600" algn="l"/>
                          <a:tab pos="5029200" algn="l"/>
                          <a:tab pos="5257800" algn="l"/>
                          <a:tab pos="5486400" algn="l"/>
                        </a:tabLst>
                      </a:pPr>
                      <a:r>
                        <a:rPr lang="ko-KR" sz="800" kern="0" dirty="0">
                          <a:effectLst/>
                        </a:rPr>
                        <a:t>☞ 입금 계좌번호 ☜</a:t>
                      </a:r>
                      <a:endParaRPr lang="ko-KR" sz="800" kern="100" dirty="0">
                        <a:effectLst/>
                      </a:endParaRPr>
                    </a:p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  <a:tab pos="3200400" algn="l"/>
                          <a:tab pos="3429000" algn="l"/>
                          <a:tab pos="3657600" algn="l"/>
                          <a:tab pos="3886200" algn="l"/>
                          <a:tab pos="4114800" algn="l"/>
                          <a:tab pos="4343400" algn="l"/>
                          <a:tab pos="4572000" algn="l"/>
                          <a:tab pos="4800600" algn="l"/>
                          <a:tab pos="5029200" algn="l"/>
                          <a:tab pos="5257800" algn="l"/>
                          <a:tab pos="54864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─────────────────────</a:t>
                      </a:r>
                      <a:endParaRPr lang="ko-KR" sz="800" kern="100" dirty="0">
                        <a:effectLst/>
                      </a:endParaRPr>
                    </a:p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  <a:tab pos="3200400" algn="l"/>
                          <a:tab pos="3429000" algn="l"/>
                          <a:tab pos="3657600" algn="l"/>
                          <a:tab pos="3886200" algn="l"/>
                          <a:tab pos="4114800" algn="l"/>
                          <a:tab pos="4343400" algn="l"/>
                          <a:tab pos="4572000" algn="l"/>
                          <a:tab pos="4800600" algn="l"/>
                          <a:tab pos="5029200" algn="l"/>
                          <a:tab pos="5257800" algn="l"/>
                          <a:tab pos="54864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  </a:t>
                      </a:r>
                      <a:r>
                        <a:rPr lang="ko-KR" sz="800" kern="0" dirty="0">
                          <a:effectLst/>
                        </a:rPr>
                        <a:t>우리은행</a:t>
                      </a:r>
                      <a:r>
                        <a:rPr lang="en-US" sz="800" kern="0" dirty="0">
                          <a:effectLst/>
                        </a:rPr>
                        <a:t>        : 1205-701-232090</a:t>
                      </a:r>
                      <a:endParaRPr lang="ko-KR" sz="800" kern="100" dirty="0">
                        <a:effectLst/>
                      </a:endParaRPr>
                    </a:p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  <a:tab pos="3200400" algn="l"/>
                          <a:tab pos="3429000" algn="l"/>
                          <a:tab pos="3657600" algn="l"/>
                          <a:tab pos="3886200" algn="l"/>
                          <a:tab pos="4114800" algn="l"/>
                          <a:tab pos="4343400" algn="l"/>
                          <a:tab pos="4572000" algn="l"/>
                          <a:tab pos="4800600" algn="l"/>
                          <a:tab pos="5029200" algn="l"/>
                          <a:tab pos="5257800" algn="l"/>
                          <a:tab pos="54864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  </a:t>
                      </a:r>
                      <a:r>
                        <a:rPr lang="ko-KR" altLang="en-US" sz="800" kern="0" dirty="0">
                          <a:effectLst/>
                        </a:rPr>
                        <a:t>하나</a:t>
                      </a:r>
                      <a:r>
                        <a:rPr lang="ko-KR" sz="800" kern="0" dirty="0">
                          <a:effectLst/>
                        </a:rPr>
                        <a:t>은행</a:t>
                      </a:r>
                      <a:r>
                        <a:rPr lang="en-US" sz="800" kern="0" dirty="0">
                          <a:effectLst/>
                        </a:rPr>
                        <a:t>        : 680-005995-809</a:t>
                      </a:r>
                      <a:endParaRPr lang="ko-KR" sz="800" kern="100" dirty="0">
                        <a:effectLst/>
                      </a:endParaRPr>
                    </a:p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  <a:tab pos="3200400" algn="l"/>
                          <a:tab pos="3429000" algn="l"/>
                          <a:tab pos="3657600" algn="l"/>
                          <a:tab pos="3886200" algn="l"/>
                          <a:tab pos="4114800" algn="l"/>
                          <a:tab pos="4343400" algn="l"/>
                          <a:tab pos="4572000" algn="l"/>
                          <a:tab pos="4800600" algn="l"/>
                          <a:tab pos="5029200" algn="l"/>
                          <a:tab pos="5257800" algn="l"/>
                          <a:tab pos="54864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  </a:t>
                      </a:r>
                      <a:r>
                        <a:rPr lang="ko-KR" altLang="en-US" sz="800" kern="0" dirty="0">
                          <a:effectLst/>
                        </a:rPr>
                        <a:t>하나</a:t>
                      </a:r>
                      <a:r>
                        <a:rPr lang="ko-KR" sz="800" kern="0" dirty="0">
                          <a:effectLst/>
                        </a:rPr>
                        <a:t>은행</a:t>
                      </a:r>
                      <a:r>
                        <a:rPr lang="en-US" sz="800" kern="0" dirty="0">
                          <a:effectLst/>
                        </a:rPr>
                        <a:t>(</a:t>
                      </a:r>
                      <a:r>
                        <a:rPr lang="ko-KR" sz="800" kern="0" dirty="0">
                          <a:effectLst/>
                        </a:rPr>
                        <a:t>외화</a:t>
                      </a:r>
                      <a:r>
                        <a:rPr lang="en-US" sz="800" kern="0" dirty="0">
                          <a:effectLst/>
                        </a:rPr>
                        <a:t>) : 690-006225-781(</a:t>
                      </a:r>
                      <a:r>
                        <a:rPr lang="ko-KR" altLang="en-US" sz="800" kern="0" dirty="0" err="1">
                          <a:effectLst/>
                        </a:rPr>
                        <a:t>교</a:t>
                      </a:r>
                      <a:r>
                        <a:rPr lang="ko-KR" sz="800" kern="0" dirty="0" err="1">
                          <a:effectLst/>
                        </a:rPr>
                        <a:t>대역지점</a:t>
                      </a:r>
                      <a:r>
                        <a:rPr lang="en-US" sz="800" kern="0" dirty="0">
                          <a:effectLst/>
                        </a:rPr>
                        <a:t>)</a:t>
                      </a:r>
                      <a:endParaRPr lang="ko-KR" sz="800" kern="100" dirty="0">
                        <a:effectLst/>
                      </a:endParaRPr>
                    </a:p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  <a:tab pos="3200400" algn="l"/>
                          <a:tab pos="3429000" algn="l"/>
                          <a:tab pos="3657600" algn="l"/>
                          <a:tab pos="3886200" algn="l"/>
                          <a:tab pos="4114800" algn="l"/>
                          <a:tab pos="4343400" algn="l"/>
                          <a:tab pos="4572000" algn="l"/>
                          <a:tab pos="4800600" algn="l"/>
                          <a:tab pos="5029200" algn="l"/>
                          <a:tab pos="5257800" algn="l"/>
                          <a:tab pos="54864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 </a:t>
                      </a:r>
                      <a:endParaRPr lang="ko-KR" sz="800" kern="100" dirty="0">
                        <a:effectLst/>
                      </a:endParaRPr>
                    </a:p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  <a:tab pos="3200400" algn="l"/>
                          <a:tab pos="3429000" algn="l"/>
                          <a:tab pos="3657600" algn="l"/>
                          <a:tab pos="3886200" algn="l"/>
                          <a:tab pos="4114800" algn="l"/>
                          <a:tab pos="4343400" algn="l"/>
                          <a:tab pos="4572000" algn="l"/>
                          <a:tab pos="4800600" algn="l"/>
                          <a:tab pos="5029200" algn="l"/>
                          <a:tab pos="5257800" algn="l"/>
                          <a:tab pos="5486400" algn="l"/>
                        </a:tabLst>
                      </a:pPr>
                      <a:r>
                        <a:rPr lang="en-US" sz="800" kern="0" dirty="0">
                          <a:effectLst/>
                        </a:rPr>
                        <a:t>  </a:t>
                      </a:r>
                      <a:r>
                        <a:rPr lang="ko-KR" sz="800" kern="0" dirty="0">
                          <a:effectLst/>
                        </a:rPr>
                        <a:t>예 금 주</a:t>
                      </a:r>
                      <a:r>
                        <a:rPr lang="en-US" sz="800" kern="0" dirty="0">
                          <a:effectLst/>
                        </a:rPr>
                        <a:t> : </a:t>
                      </a:r>
                      <a:r>
                        <a:rPr lang="ko-KR" altLang="en-US" sz="800" kern="0" dirty="0">
                          <a:effectLst/>
                        </a:rPr>
                        <a:t>㈜</a:t>
                      </a:r>
                      <a:r>
                        <a:rPr lang="ko-KR" altLang="en-US" sz="800" kern="0" dirty="0" err="1">
                          <a:effectLst/>
                        </a:rPr>
                        <a:t>한국이디에스</a:t>
                      </a:r>
                      <a:r>
                        <a:rPr lang="ko-KR" altLang="en-US" sz="800" kern="0" dirty="0">
                          <a:effectLst/>
                        </a:rPr>
                        <a:t> </a:t>
                      </a:r>
                      <a:r>
                        <a:rPr lang="ko-KR" altLang="en-US" sz="800" kern="0" dirty="0" err="1">
                          <a:effectLst/>
                        </a:rPr>
                        <a:t>로지스틳스</a:t>
                      </a:r>
                      <a:endParaRPr lang="ko-KR" sz="800" kern="100" dirty="0">
                        <a:effectLst/>
                      </a:endParaRPr>
                    </a:p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  <a:tab pos="3200400" algn="l"/>
                          <a:tab pos="3429000" algn="l"/>
                          <a:tab pos="3657600" algn="l"/>
                          <a:tab pos="3886200" algn="l"/>
                          <a:tab pos="4114800" algn="l"/>
                          <a:tab pos="4343400" algn="l"/>
                          <a:tab pos="4572000" algn="l"/>
                          <a:tab pos="4800600" algn="l"/>
                          <a:tab pos="5029200" algn="l"/>
                          <a:tab pos="5257800" algn="l"/>
                          <a:tab pos="5486400" algn="l"/>
                        </a:tabLst>
                      </a:pPr>
                      <a:r>
                        <a:rPr lang="ko-KR" sz="800" kern="0" dirty="0">
                          <a:effectLst/>
                        </a:rPr>
                        <a:t>─────────────────────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280061916"/>
                  </a:ext>
                </a:extLst>
              </a:tr>
            </a:tbl>
          </a:graphicData>
        </a:graphic>
      </p:graphicFrame>
      <p:graphicFrame>
        <p:nvGraphicFramePr>
          <p:cNvPr id="71" name="표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40404"/>
              </p:ext>
            </p:extLst>
          </p:nvPr>
        </p:nvGraphicFramePr>
        <p:xfrm>
          <a:off x="2924944" y="9123493"/>
          <a:ext cx="680967" cy="1499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0967">
                  <a:extLst>
                    <a:ext uri="{9D8B030D-6E8A-4147-A177-3AD203B41FA5}">
                      <a16:colId xmlns:a16="http://schemas.microsoft.com/office/drawing/2014/main" val="432994193"/>
                    </a:ext>
                  </a:extLst>
                </a:gridCol>
              </a:tblGrid>
              <a:tr h="134214">
                <a:tc>
                  <a:txBody>
                    <a:bodyPr/>
                    <a:lstStyle/>
                    <a:p>
                      <a:pPr algn="r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alt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Signature</a:t>
                      </a:r>
                      <a:r>
                        <a:rPr lang="en-US" altLang="ko-KR" sz="1000" b="1" kern="100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: </a:t>
                      </a:r>
                      <a:endParaRPr lang="ko-KR" sz="1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297153"/>
                  </a:ext>
                </a:extLst>
              </a:tr>
            </a:tbl>
          </a:graphicData>
        </a:graphic>
      </p:graphicFrame>
      <p:sp>
        <p:nvSpPr>
          <p:cNvPr id="72" name="Line 34"/>
          <p:cNvSpPr>
            <a:spLocks noChangeShapeType="1"/>
          </p:cNvSpPr>
          <p:nvPr/>
        </p:nvSpPr>
        <p:spPr bwMode="auto">
          <a:xfrm flipV="1">
            <a:off x="3677918" y="9273480"/>
            <a:ext cx="1110970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+mn-ea"/>
            </a:endParaRPr>
          </a:p>
        </p:txBody>
      </p:sp>
      <p:graphicFrame>
        <p:nvGraphicFramePr>
          <p:cNvPr id="73" name="표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428668"/>
              </p:ext>
            </p:extLst>
          </p:nvPr>
        </p:nvGraphicFramePr>
        <p:xfrm>
          <a:off x="3312887" y="5704085"/>
          <a:ext cx="404145" cy="129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4145">
                  <a:extLst>
                    <a:ext uri="{9D8B030D-6E8A-4147-A177-3AD203B41FA5}">
                      <a16:colId xmlns:a16="http://schemas.microsoft.com/office/drawing/2014/main" val="432994193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lang="en-US" altLang="ko-KR" sz="700" b="0" kern="100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120.00</a:t>
                      </a:r>
                      <a:endParaRPr lang="ko-KR" sz="700" b="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90297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981590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2097</TotalTime>
  <Words>1936</Words>
  <Application>Microsoft Office PowerPoint</Application>
  <PresentationFormat>A4 용지(210x297mm)</PresentationFormat>
  <Paragraphs>955</Paragraphs>
  <Slides>19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굴림</vt:lpstr>
      <vt:lpstr>맑은 고딕</vt:lpstr>
      <vt:lpstr>Arial</vt:lpstr>
      <vt:lpstr>Courier New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ahja777</dc:creator>
  <cp:lastModifiedBy>Windows User</cp:lastModifiedBy>
  <cp:revision>139</cp:revision>
  <dcterms:created xsi:type="dcterms:W3CDTF">2013-01-15T05:34:45Z</dcterms:created>
  <dcterms:modified xsi:type="dcterms:W3CDTF">2022-06-10T07:57:54Z</dcterms:modified>
</cp:coreProperties>
</file>