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62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6858000" cy="9906000" type="A4"/>
  <p:notesSz cx="6858000" cy="9144000"/>
  <p:defaultTextStyle>
    <a:defPPr>
      <a:defRPr lang="ko-KR"/>
    </a:defPPr>
    <a:lvl1pPr marL="0" algn="l" defTabSz="663214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1pPr>
    <a:lvl2pPr marL="331607" algn="l" defTabSz="663214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2pPr>
    <a:lvl3pPr marL="663214" algn="l" defTabSz="663214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3pPr>
    <a:lvl4pPr marL="994821" algn="l" defTabSz="663214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4pPr>
    <a:lvl5pPr marL="1326429" algn="l" defTabSz="663214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5pPr>
    <a:lvl6pPr marL="1658036" algn="l" defTabSz="663214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6pPr>
    <a:lvl7pPr marL="1989643" algn="l" defTabSz="663214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7pPr>
    <a:lvl8pPr marL="2321250" algn="l" defTabSz="663214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8pPr>
    <a:lvl9pPr marL="2652857" algn="l" defTabSz="663214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1994" userDrawn="1">
          <p15:clr>
            <a:srgbClr val="A4A3A4"/>
          </p15:clr>
        </p15:guide>
        <p15:guide id="3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28" autoAdjust="0"/>
    <p:restoredTop sz="96523" autoAdjust="0"/>
  </p:normalViewPr>
  <p:slideViewPr>
    <p:cSldViewPr showGuides="1">
      <p:cViewPr varScale="1">
        <p:scale>
          <a:sx n="74" d="100"/>
          <a:sy n="74" d="100"/>
        </p:scale>
        <p:origin x="1896" y="78"/>
      </p:cViewPr>
      <p:guideLst>
        <p:guide orient="horz" pos="3120"/>
        <p:guide pos="1994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7" d="100"/>
          <a:sy n="67" d="100"/>
        </p:scale>
        <p:origin x="-3276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 Seongjin" userId="97fdad39-41b3-4424-abe9-b53491888954" providerId="ADAL" clId="{43833527-F28F-7F4A-AC37-2096BFDFD801}"/>
    <pc:docChg chg="custSel modSld">
      <pc:chgData name="Lee Seongjin" userId="97fdad39-41b3-4424-abe9-b53491888954" providerId="ADAL" clId="{43833527-F28F-7F4A-AC37-2096BFDFD801}" dt="2022-05-27T00:36:19.435" v="1" actId="1076"/>
      <pc:docMkLst>
        <pc:docMk/>
      </pc:docMkLst>
      <pc:sldChg chg="delSp modSp mod">
        <pc:chgData name="Lee Seongjin" userId="97fdad39-41b3-4424-abe9-b53491888954" providerId="ADAL" clId="{43833527-F28F-7F4A-AC37-2096BFDFD801}" dt="2022-05-27T00:36:19.435" v="1" actId="1076"/>
        <pc:sldMkLst>
          <pc:docMk/>
          <pc:sldMk cId="3028099333" sldId="265"/>
        </pc:sldMkLst>
        <pc:picChg chg="mod">
          <ac:chgData name="Lee Seongjin" userId="97fdad39-41b3-4424-abe9-b53491888954" providerId="ADAL" clId="{43833527-F28F-7F4A-AC37-2096BFDFD801}" dt="2022-05-27T00:36:19.435" v="1" actId="1076"/>
          <ac:picMkLst>
            <pc:docMk/>
            <pc:sldMk cId="3028099333" sldId="265"/>
            <ac:picMk id="24" creationId="{00000000-0000-0000-0000-000000000000}"/>
          </ac:picMkLst>
        </pc:picChg>
        <pc:picChg chg="del">
          <ac:chgData name="Lee Seongjin" userId="97fdad39-41b3-4424-abe9-b53491888954" providerId="ADAL" clId="{43833527-F28F-7F4A-AC37-2096BFDFD801}" dt="2022-05-27T00:36:16.415" v="0" actId="21"/>
          <ac:picMkLst>
            <pc:docMk/>
            <pc:sldMk cId="3028099333" sldId="265"/>
            <ac:picMk id="2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CF5F9-BF6D-45A1-8B7F-E33A63BB863C}" type="datetimeFigureOut">
              <a:rPr lang="ko-KR" altLang="en-US" smtClean="0"/>
              <a:t>2022-06-10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DF0817-840A-4486-B261-AF3482734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633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63214" rtl="0" eaLnBrk="1" latinLnBrk="1" hangingPunct="1">
      <a:defRPr sz="870" kern="1200">
        <a:solidFill>
          <a:schemeClr val="tx1"/>
        </a:solidFill>
        <a:latin typeface="+mn-lt"/>
        <a:ea typeface="+mn-ea"/>
        <a:cs typeface="+mn-cs"/>
      </a:defRPr>
    </a:lvl1pPr>
    <a:lvl2pPr marL="331607" algn="l" defTabSz="663214" rtl="0" eaLnBrk="1" latinLnBrk="1" hangingPunct="1">
      <a:defRPr sz="870" kern="1200">
        <a:solidFill>
          <a:schemeClr val="tx1"/>
        </a:solidFill>
        <a:latin typeface="+mn-lt"/>
        <a:ea typeface="+mn-ea"/>
        <a:cs typeface="+mn-cs"/>
      </a:defRPr>
    </a:lvl2pPr>
    <a:lvl3pPr marL="663214" algn="l" defTabSz="663214" rtl="0" eaLnBrk="1" latinLnBrk="1" hangingPunct="1">
      <a:defRPr sz="870" kern="1200">
        <a:solidFill>
          <a:schemeClr val="tx1"/>
        </a:solidFill>
        <a:latin typeface="+mn-lt"/>
        <a:ea typeface="+mn-ea"/>
        <a:cs typeface="+mn-cs"/>
      </a:defRPr>
    </a:lvl3pPr>
    <a:lvl4pPr marL="994821" algn="l" defTabSz="663214" rtl="0" eaLnBrk="1" latinLnBrk="1" hangingPunct="1">
      <a:defRPr sz="870" kern="1200">
        <a:solidFill>
          <a:schemeClr val="tx1"/>
        </a:solidFill>
        <a:latin typeface="+mn-lt"/>
        <a:ea typeface="+mn-ea"/>
        <a:cs typeface="+mn-cs"/>
      </a:defRPr>
    </a:lvl4pPr>
    <a:lvl5pPr marL="1326429" algn="l" defTabSz="663214" rtl="0" eaLnBrk="1" latinLnBrk="1" hangingPunct="1">
      <a:defRPr sz="870" kern="1200">
        <a:solidFill>
          <a:schemeClr val="tx1"/>
        </a:solidFill>
        <a:latin typeface="+mn-lt"/>
        <a:ea typeface="+mn-ea"/>
        <a:cs typeface="+mn-cs"/>
      </a:defRPr>
    </a:lvl5pPr>
    <a:lvl6pPr marL="1658036" algn="l" defTabSz="663214" rtl="0" eaLnBrk="1" latinLnBrk="1" hangingPunct="1">
      <a:defRPr sz="870" kern="1200">
        <a:solidFill>
          <a:schemeClr val="tx1"/>
        </a:solidFill>
        <a:latin typeface="+mn-lt"/>
        <a:ea typeface="+mn-ea"/>
        <a:cs typeface="+mn-cs"/>
      </a:defRPr>
    </a:lvl6pPr>
    <a:lvl7pPr marL="1989643" algn="l" defTabSz="663214" rtl="0" eaLnBrk="1" latinLnBrk="1" hangingPunct="1">
      <a:defRPr sz="870" kern="1200">
        <a:solidFill>
          <a:schemeClr val="tx1"/>
        </a:solidFill>
        <a:latin typeface="+mn-lt"/>
        <a:ea typeface="+mn-ea"/>
        <a:cs typeface="+mn-cs"/>
      </a:defRPr>
    </a:lvl7pPr>
    <a:lvl8pPr marL="2321250" algn="l" defTabSz="663214" rtl="0" eaLnBrk="1" latinLnBrk="1" hangingPunct="1">
      <a:defRPr sz="870" kern="1200">
        <a:solidFill>
          <a:schemeClr val="tx1"/>
        </a:solidFill>
        <a:latin typeface="+mn-lt"/>
        <a:ea typeface="+mn-ea"/>
        <a:cs typeface="+mn-cs"/>
      </a:defRPr>
    </a:lvl8pPr>
    <a:lvl9pPr marL="2652857" algn="l" defTabSz="663214" rtl="0" eaLnBrk="1" latinLnBrk="1" hangingPunct="1">
      <a:defRPr sz="87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EC3E49-596F-4F2C-A186-9AB1291F7978}" type="slidenum">
              <a:rPr lang="en-US" altLang="ko-KR"/>
              <a:pPr/>
              <a:t>4</a:t>
            </a:fld>
            <a:endParaRPr lang="en-US" altLang="ko-KR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25789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EC3E49-596F-4F2C-A186-9AB1291F7978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895949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EC3E49-596F-4F2C-A186-9AB1291F7978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4105382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EC3E49-596F-4F2C-A186-9AB1291F7978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622240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EC3E49-596F-4F2C-A186-9AB1291F7978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479040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EC3E49-596F-4F2C-A186-9AB1291F7978}" type="slidenum">
              <a:rPr lang="en-US" altLang="ko-KR"/>
              <a:pPr/>
              <a:t>9</a:t>
            </a:fld>
            <a:endParaRPr lang="en-US" altLang="ko-KR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053080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EC3E49-596F-4F2C-A186-9AB1291F7978}" type="slidenum">
              <a:rPr lang="en-US" altLang="ko-KR"/>
              <a:pPr/>
              <a:t>10</a:t>
            </a:fld>
            <a:endParaRPr lang="en-US" altLang="ko-KR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4178218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EC3E49-596F-4F2C-A186-9AB1291F7978}" type="slidenum">
              <a:rPr lang="en-US" altLang="ko-KR"/>
              <a:pPr/>
              <a:t>11</a:t>
            </a:fld>
            <a:endParaRPr lang="en-US" altLang="ko-KR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3290392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EC3E49-596F-4F2C-A186-9AB1291F7978}" type="slidenum">
              <a:rPr lang="en-US" altLang="ko-KR"/>
              <a:pPr/>
              <a:t>12</a:t>
            </a:fld>
            <a:endParaRPr lang="en-US" altLang="ko-KR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19923865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EC3E49-596F-4F2C-A186-9AB1291F7978}" type="slidenum">
              <a:rPr lang="en-US" altLang="ko-KR"/>
              <a:pPr/>
              <a:t>13</a:t>
            </a:fld>
            <a:endParaRPr lang="en-US" altLang="ko-KR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1314089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EC3E49-596F-4F2C-A186-9AB1291F7978}" type="slidenum">
              <a:rPr lang="en-US" altLang="ko-KR"/>
              <a:pPr/>
              <a:t>14</a:t>
            </a:fld>
            <a:endParaRPr lang="en-US" altLang="ko-KR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571045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EC3E49-596F-4F2C-A186-9AB1291F7978}" type="slidenum">
              <a:rPr lang="en-US" altLang="ko-KR"/>
              <a:pPr/>
              <a:t>15</a:t>
            </a:fld>
            <a:endParaRPr lang="en-US" altLang="ko-KR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05150" y="1077913"/>
            <a:ext cx="3730625" cy="5387975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1894418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6004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7181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3431" y="286636"/>
            <a:ext cx="5457825" cy="573264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02224" y="956208"/>
            <a:ext cx="6497516" cy="79339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7697832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405344" y="9489504"/>
            <a:ext cx="612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 userDrawn="1"/>
        </p:nvSpPr>
        <p:spPr>
          <a:xfrm>
            <a:off x="2132856" y="9561512"/>
            <a:ext cx="2808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8A84CA1-731A-40B1-98F5-F0A3E5C6FD6D}" type="slidenum">
              <a:rPr lang="ko-KR" altLang="en-US" sz="1000" smtClean="0"/>
              <a:pPr algn="ctr"/>
              <a:t>‹#›</a:t>
            </a:fld>
            <a:endParaRPr lang="ko-KR" altLang="en-US" sz="1000" dirty="0"/>
          </a:p>
        </p:txBody>
      </p:sp>
      <p:sp>
        <p:nvSpPr>
          <p:cNvPr id="6" name="Line 17"/>
          <p:cNvSpPr>
            <a:spLocks noChangeShapeType="1"/>
          </p:cNvSpPr>
          <p:nvPr userDrawn="1"/>
        </p:nvSpPr>
        <p:spPr bwMode="auto">
          <a:xfrm>
            <a:off x="384562" y="366432"/>
            <a:ext cx="6120000" cy="17633"/>
          </a:xfrm>
          <a:prstGeom prst="line">
            <a:avLst/>
          </a:prstGeom>
          <a:noFill/>
          <a:ln w="50800" cmpd="thickThin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 sz="1799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5773087" y="91876"/>
            <a:ext cx="8242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0" dirty="0">
                <a:latin typeface="굴림" pitchFamily="50" charset="-127"/>
                <a:ea typeface="굴림" pitchFamily="50" charset="-127"/>
              </a:rPr>
              <a:t>A.</a:t>
            </a:r>
            <a:r>
              <a:rPr lang="ko-KR" altLang="en-US" sz="1000" b="0" dirty="0">
                <a:latin typeface="굴림" pitchFamily="50" charset="-127"/>
                <a:ea typeface="굴림" pitchFamily="50" charset="-127"/>
              </a:rPr>
              <a:t>아키텍처</a:t>
            </a:r>
          </a:p>
        </p:txBody>
      </p:sp>
      <p:pic>
        <p:nvPicPr>
          <p:cNvPr id="12" name="그림 11"/>
          <p:cNvPicPr/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30" t="9790" r="70171" b="84966"/>
          <a:stretch>
            <a:fillRect/>
          </a:stretch>
        </p:blipFill>
        <p:spPr bwMode="auto">
          <a:xfrm>
            <a:off x="384563" y="9542452"/>
            <a:ext cx="1190724" cy="307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2" descr="Y:\00. 표준제안서\00. 제안폴더 표준\06. 표지 및 디자인\한국이디에스컨소시엄.png"/>
          <p:cNvPicPr>
            <a:picLocks noChangeAspect="1" noChangeArrowheads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5261517" y="9582966"/>
            <a:ext cx="1263827" cy="194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 userDrawn="1"/>
        </p:nvSpPr>
        <p:spPr>
          <a:xfrm>
            <a:off x="260648" y="84898"/>
            <a:ext cx="27494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b="0" dirty="0">
                <a:latin typeface="굴림" pitchFamily="50" charset="-127"/>
                <a:ea typeface="굴림" pitchFamily="50" charset="-127"/>
              </a:rPr>
              <a:t>디지털무역기반구축사업</a:t>
            </a:r>
            <a:r>
              <a:rPr lang="en-US" altLang="ko-KR" sz="1000" b="0" dirty="0">
                <a:latin typeface="굴림" pitchFamily="50" charset="-127"/>
                <a:ea typeface="굴림" pitchFamily="50" charset="-127"/>
              </a:rPr>
              <a:t>(</a:t>
            </a:r>
            <a:r>
              <a:rPr lang="ko-KR" altLang="en-US" sz="1000" b="0" dirty="0">
                <a:latin typeface="굴림" pitchFamily="50" charset="-127"/>
                <a:ea typeface="굴림" pitchFamily="50" charset="-127"/>
              </a:rPr>
              <a:t>시스템 개발 </a:t>
            </a:r>
            <a:r>
              <a:rPr lang="en-US" altLang="ko-KR" sz="1000" b="0" dirty="0">
                <a:latin typeface="굴림" pitchFamily="50" charset="-127"/>
                <a:ea typeface="굴림" pitchFamily="50" charset="-127"/>
              </a:rPr>
              <a:t>3</a:t>
            </a:r>
            <a:r>
              <a:rPr lang="ko-KR" altLang="en-US" sz="1000" b="0" dirty="0">
                <a:latin typeface="굴림" pitchFamily="50" charset="-127"/>
                <a:ea typeface="굴림" pitchFamily="50" charset="-127"/>
              </a:rPr>
              <a:t>단계</a:t>
            </a:r>
            <a:r>
              <a:rPr lang="en-US" altLang="ko-KR" sz="1000" b="0" dirty="0">
                <a:latin typeface="굴림" pitchFamily="50" charset="-127"/>
                <a:ea typeface="굴림" pitchFamily="50" charset="-127"/>
              </a:rPr>
              <a:t>)</a:t>
            </a:r>
            <a:endParaRPr lang="ko-KR" altLang="en-US" sz="1000" b="0" dirty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4755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914415" rtl="0" eaLnBrk="1" latinLnBrk="1" hangingPunct="1"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5" indent="-342905" algn="l" defTabSz="914415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63" indent="-285755" algn="l" defTabSz="914415" rtl="0" eaLnBrk="1" latinLnBrk="1" hangingPunct="1">
        <a:spcBef>
          <a:spcPct val="20000"/>
        </a:spcBef>
        <a:buFont typeface="Arial" pitchFamily="34" charset="0"/>
        <a:buChar char="–"/>
        <a:defRPr sz="280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8" indent="-228605" algn="l" defTabSz="914415" rtl="0" eaLnBrk="1" latinLnBrk="1" hangingPunct="1">
        <a:spcBef>
          <a:spcPct val="20000"/>
        </a:spcBef>
        <a:buFont typeface="Arial" pitchFamily="34" charset="0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5" indent="-228605" algn="l" defTabSz="914415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33" indent="-228605" algn="l" defTabSz="914415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41" indent="-228605" algn="l" defTabSz="91441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47" indent="-228605" algn="l" defTabSz="91441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56" indent="-228605" algn="l" defTabSz="91441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62" indent="-228605" algn="l" defTabSz="91441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1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91441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91441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3" algn="l" defTabSz="91441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9" algn="l" defTabSz="91441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6" algn="l" defTabSz="91441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4" algn="l" defTabSz="91441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1" algn="l" defTabSz="91441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659" algn="l" defTabSz="91441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081756"/>
              </p:ext>
            </p:extLst>
          </p:nvPr>
        </p:nvGraphicFramePr>
        <p:xfrm>
          <a:off x="116632" y="2792760"/>
          <a:ext cx="6185180" cy="337756"/>
        </p:xfrm>
        <a:graphic>
          <a:graphicData uri="http://schemas.openxmlformats.org/drawingml/2006/table">
            <a:tbl>
              <a:tblPr/>
              <a:tblGrid>
                <a:gridCol w="6185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7756">
                <a:tc>
                  <a:txBody>
                    <a:bodyPr/>
                    <a:lstStyle/>
                    <a:p>
                      <a:pPr algn="r" fontAlgn="t"/>
                      <a:r>
                        <a:rPr lang="ko-KR" altLang="en-US" sz="2000" b="1" i="0" u="none" strike="noStrike" dirty="0">
                          <a:effectLst/>
                          <a:latin typeface="+mn-ea"/>
                          <a:ea typeface="+mn-ea"/>
                        </a:rPr>
                        <a:t>디지털무역기반구축사업</a:t>
                      </a:r>
                      <a:r>
                        <a:rPr lang="en-US" altLang="ko-KR" sz="2000" b="1" i="0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000" b="1" i="0" u="none" strike="noStrike" dirty="0">
                          <a:effectLst/>
                          <a:latin typeface="+mn-ea"/>
                          <a:ea typeface="+mn-ea"/>
                        </a:rPr>
                        <a:t>시스템 개발 </a:t>
                      </a:r>
                      <a:r>
                        <a:rPr lang="en-US" altLang="ko-KR" sz="2000" b="1" i="0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2000" b="1" i="0" u="none" strike="noStrike" dirty="0">
                          <a:effectLst/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2000" b="1" i="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2000" b="1" i="0" u="none" strike="noStrike" dirty="0">
                        <a:effectLst/>
                        <a:latin typeface="맑은 고딕"/>
                      </a:endParaRPr>
                    </a:p>
                  </a:txBody>
                  <a:tcPr marL="9285" marR="9285" marT="857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743942"/>
              </p:ext>
            </p:extLst>
          </p:nvPr>
        </p:nvGraphicFramePr>
        <p:xfrm>
          <a:off x="1268760" y="3688864"/>
          <a:ext cx="5033052" cy="1152707"/>
        </p:xfrm>
        <a:graphic>
          <a:graphicData uri="http://schemas.openxmlformats.org/drawingml/2006/table">
            <a:tbl>
              <a:tblPr/>
              <a:tblGrid>
                <a:gridCol w="5033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algn="r" fontAlgn="t"/>
                      <a:r>
                        <a:rPr lang="ko-KR" altLang="en-US" sz="28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보고서설계서</a:t>
                      </a:r>
                      <a:endParaRPr lang="en-US" altLang="ko-KR" sz="28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85" marR="9285" marT="857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4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4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디지털물류네트워크</a:t>
                      </a:r>
                      <a:r>
                        <a:rPr lang="en-US" altLang="ko-KR" sz="14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_Transport)</a:t>
                      </a:r>
                    </a:p>
                    <a:p>
                      <a:pPr algn="r" fontAlgn="t"/>
                      <a:endParaRPr lang="en-US" altLang="ko-KR" sz="28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85" marR="9285" marT="857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2768200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708487"/>
              </p:ext>
            </p:extLst>
          </p:nvPr>
        </p:nvGraphicFramePr>
        <p:xfrm>
          <a:off x="1268760" y="4751268"/>
          <a:ext cx="5033052" cy="317169"/>
        </p:xfrm>
        <a:graphic>
          <a:graphicData uri="http://schemas.openxmlformats.org/drawingml/2006/table">
            <a:tbl>
              <a:tblPr/>
              <a:tblGrid>
                <a:gridCol w="5033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169"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2000" b="1" i="0" u="none" strike="noStrike" dirty="0">
                          <a:effectLst/>
                          <a:latin typeface="Arial"/>
                        </a:rPr>
                        <a:t>A0203_G02</a:t>
                      </a:r>
                    </a:p>
                  </a:txBody>
                  <a:tcPr marL="9285" marR="9285" marT="857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Picture 2" descr="Y:\00. 표준제안서\00. 제안폴더 표준\06. 표지 및 디자인\한국이디에스컨소시엄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4865" y="7905376"/>
            <a:ext cx="2629682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2" y="1390038"/>
            <a:ext cx="2736306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86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548681" y="3493095"/>
            <a:ext cx="5760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u="sng" dirty="0">
                <a:latin typeface="+mn-ea"/>
                <a:cs typeface="Arial" pitchFamily="34" charset="0"/>
              </a:rPr>
              <a:t>개 정 이 </a:t>
            </a:r>
            <a:r>
              <a:rPr lang="ko-KR" altLang="en-US" sz="1400" b="1" u="sng" dirty="0" err="1">
                <a:latin typeface="+mn-ea"/>
                <a:cs typeface="Arial" pitchFamily="34" charset="0"/>
              </a:rPr>
              <a:t>력</a:t>
            </a:r>
            <a:endParaRPr lang="ko-KR" altLang="en-US" sz="1400" b="1" u="sng" dirty="0">
              <a:latin typeface="+mn-ea"/>
              <a:cs typeface="Arial" pitchFamily="34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48681" y="8103184"/>
            <a:ext cx="57606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1) 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버전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: 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초안은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0.1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으로 표시 하고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, 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검토 된 이후 승인을 득한 이후에는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1.0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부터 시작하여 정수 단위로 변경 관리 함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, </a:t>
            </a:r>
            <a:endParaRPr lang="ko-KR" altLang="ko-KR" sz="8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변경 발생 시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, 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소수점 아래 번호로 관리하고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, 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목차 내용이 바뀔 정도의 큰 변경이 발생하면 상위 정수를 변경 함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. </a:t>
            </a:r>
            <a:endParaRPr lang="ko-KR" altLang="ko-KR" sz="8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(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예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, V1.2 : 2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번 수정됨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, 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목차 내용이 변경되면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V2.0 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이 됨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)</a:t>
            </a:r>
            <a:endParaRPr lang="ko-KR" altLang="ko-KR" sz="8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2) 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변경 내용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: 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변경 내용을 자세히 기록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(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변경된 위치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, </a:t>
            </a:r>
            <a:r>
              <a:rPr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즉 페이지 번호와 변경 내용을 기술한다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.)</a:t>
            </a:r>
            <a:endParaRPr lang="ko-KR" altLang="ko-KR" sz="8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graphicFrame>
        <p:nvGraphicFramePr>
          <p:cNvPr id="17" name="Group 1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496317"/>
              </p:ext>
            </p:extLst>
          </p:nvPr>
        </p:nvGraphicFramePr>
        <p:xfrm>
          <a:off x="548682" y="3908700"/>
          <a:ext cx="5760638" cy="3973349"/>
        </p:xfrm>
        <a:graphic>
          <a:graphicData uri="http://schemas.openxmlformats.org/drawingml/2006/table">
            <a:tbl>
              <a:tblPr/>
              <a:tblGrid>
                <a:gridCol w="360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2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NO.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994" marR="35994" marT="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</a:t>
                      </a: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변경내용</a:t>
                      </a: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4" marR="91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0.1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2022.03.30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ko-KR" sz="1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최초 작성</a:t>
                      </a: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김은경</a:t>
                      </a: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류제관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4" marR="9142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4" marR="91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0.9</a:t>
                      </a:r>
                      <a:endParaRPr 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2022.04.05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ko-KR" altLang="en-US" sz="1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내용 보완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김은경</a:t>
                      </a: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류제관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4" marR="9142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4" marR="91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1.0</a:t>
                      </a:r>
                      <a:endParaRPr 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2022.05.02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고객 산출물 검토 및 승인 완료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김은경</a:t>
                      </a: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류제관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4" marR="9142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02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4" marR="91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4" marR="9142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4" marR="9142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4" marR="9142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4" marR="9142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4" marR="9142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514">
                <a:tc>
                  <a:txBody>
                    <a:bodyPr/>
                    <a:lstStyle/>
                    <a:p>
                      <a:pPr algn="ctr" rtl="0"/>
                      <a:endParaRPr 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927">
                <a:tc>
                  <a:txBody>
                    <a:bodyPr/>
                    <a:lstStyle/>
                    <a:p>
                      <a:pPr algn="ctr" rtl="0"/>
                      <a:endParaRPr lang="ko-KR" sz="100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ko-KR" sz="100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ko-KR" sz="100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514">
                <a:tc>
                  <a:txBody>
                    <a:bodyPr/>
                    <a:lstStyle/>
                    <a:p>
                      <a:pPr algn="ctr" rtl="0"/>
                      <a:endParaRPr 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927">
                <a:tc>
                  <a:txBody>
                    <a:bodyPr/>
                    <a:lstStyle/>
                    <a:p>
                      <a:pPr algn="ctr" rtl="0"/>
                      <a:endParaRPr 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ko-KR" sz="1000" dirty="0">
                        <a:latin typeface="+mn-ea"/>
                        <a:ea typeface="+mn-ea"/>
                      </a:endParaRPr>
                    </a:p>
                  </a:txBody>
                  <a:tcPr marL="35994" marR="35994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5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9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5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5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35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35994" marR="35994" marT="0" marB="10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808425"/>
              </p:ext>
            </p:extLst>
          </p:nvPr>
        </p:nvGraphicFramePr>
        <p:xfrm>
          <a:off x="548682" y="2144688"/>
          <a:ext cx="5760000" cy="815941"/>
        </p:xfrm>
        <a:graphic>
          <a:graphicData uri="http://schemas.openxmlformats.org/drawingml/2006/table">
            <a:tbl>
              <a:tblPr/>
              <a:tblGrid>
                <a:gridCol w="1577144">
                  <a:extLst>
                    <a:ext uri="{9D8B030D-6E8A-4147-A177-3AD203B41FA5}">
                      <a16:colId xmlns:a16="http://schemas.microsoft.com/office/drawing/2014/main" val="1562307125"/>
                    </a:ext>
                  </a:extLst>
                </a:gridCol>
                <a:gridCol w="4182856">
                  <a:extLst>
                    <a:ext uri="{9D8B030D-6E8A-4147-A177-3AD203B41FA5}">
                      <a16:colId xmlns:a16="http://schemas.microsoft.com/office/drawing/2014/main" val="1996962012"/>
                    </a:ext>
                  </a:extLst>
                </a:gridCol>
              </a:tblGrid>
              <a:tr h="282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</a:t>
                      </a:r>
                    </a:p>
                  </a:txBody>
                  <a:tcPr marL="35994" marR="35994" marT="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b="1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디지털무역기반구축사업</a:t>
                      </a:r>
                      <a:r>
                        <a:rPr lang="en-US" sz="1200" b="1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200" b="1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시스템 개발</a:t>
                      </a:r>
                      <a:r>
                        <a:rPr lang="en-US" sz="1200" b="1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 3</a:t>
                      </a:r>
                      <a:r>
                        <a:rPr lang="ko-KR" sz="1200" b="1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단계</a:t>
                      </a:r>
                      <a:r>
                        <a:rPr lang="en-US" sz="1200" b="1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ko-KR" sz="12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629019"/>
                  </a:ext>
                </a:extLst>
              </a:tr>
              <a:tr h="2698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문서번호</a:t>
                      </a:r>
                    </a:p>
                  </a:txBody>
                  <a:tcPr marL="35994" marR="35994" marT="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A0203_G02</a:t>
                      </a:r>
                      <a:endParaRPr lang="ko-KR" sz="12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71976"/>
                  </a:ext>
                </a:extLst>
              </a:tr>
              <a:tr h="2635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제 정 일</a:t>
                      </a:r>
                    </a:p>
                  </a:txBody>
                  <a:tcPr marL="35994" marR="35994" marT="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2021.11.10</a:t>
                      </a:r>
                      <a:endParaRPr lang="ko-KR" sz="12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81369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447097"/>
              </p:ext>
            </p:extLst>
          </p:nvPr>
        </p:nvGraphicFramePr>
        <p:xfrm>
          <a:off x="1810379" y="921156"/>
          <a:ext cx="3236606" cy="648651"/>
        </p:xfrm>
        <a:graphic>
          <a:graphicData uri="http://schemas.openxmlformats.org/drawingml/2006/table">
            <a:tbl>
              <a:tblPr/>
              <a:tblGrid>
                <a:gridCol w="3236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28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보고서설계서</a:t>
                      </a:r>
                      <a:endParaRPr lang="en-US" altLang="ko-KR" sz="28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t"/>
                      <a:r>
                        <a:rPr lang="en-US" altLang="ko-KR" sz="14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4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디지털물류네트워크</a:t>
                      </a:r>
                      <a:r>
                        <a:rPr lang="en-US" altLang="ko-KR" sz="1400" b="1" i="0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_Transport)</a:t>
                      </a:r>
                      <a:endParaRPr lang="en-US" altLang="ko-KR" sz="14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85" marR="9285" marT="857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961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 bwMode="auto">
          <a:xfrm>
            <a:off x="503465" y="848544"/>
            <a:ext cx="5472608" cy="357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/>
            <a:r>
              <a:rPr lang="ko-KR" altLang="en-US" sz="1601" b="1" dirty="0"/>
              <a:t>목     차</a:t>
            </a:r>
            <a:endParaRPr lang="ko-KR" alt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 bwMode="auto">
          <a:xfrm>
            <a:off x="548679" y="1611971"/>
            <a:ext cx="5832649" cy="478882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/>
            <a:endParaRPr lang="en-US" altLang="ko-KR" sz="800" dirty="0"/>
          </a:p>
          <a:p>
            <a:pPr algn="ctr" eaLnBrk="1" hangingPunct="1"/>
            <a:endParaRPr lang="en-US" altLang="ko-KR" sz="800" dirty="0"/>
          </a:p>
          <a:p>
            <a:pPr marL="228600" indent="-228600" eaLnBrk="1" hangingPunct="1">
              <a:buAutoNum type="arabicPeriod"/>
            </a:pPr>
            <a:r>
              <a:rPr lang="ko-KR" altLang="en-US" dirty="0" err="1"/>
              <a:t>입고지시서</a:t>
            </a:r>
            <a:r>
              <a:rPr lang="ko-KR" altLang="en-US" dirty="0"/>
              <a:t> </a:t>
            </a:r>
            <a:r>
              <a:rPr lang="en-US" altLang="ko-KR" dirty="0"/>
              <a:t>----------------------------------------------------------------------- 4</a:t>
            </a:r>
          </a:p>
          <a:p>
            <a:pPr marL="228600" indent="-228600" eaLnBrk="1" hangingPunct="1">
              <a:buAutoNum type="arabicPeriod"/>
            </a:pPr>
            <a:endParaRPr lang="en-US" altLang="ko-KR" dirty="0"/>
          </a:p>
          <a:p>
            <a:pPr marL="228600" indent="-228600" eaLnBrk="1" hangingPunct="1">
              <a:buFontTx/>
              <a:buAutoNum type="arabicPeriod"/>
            </a:pPr>
            <a:r>
              <a:rPr lang="ko-KR" altLang="en-US" dirty="0" err="1"/>
              <a:t>입고확인서</a:t>
            </a:r>
            <a:r>
              <a:rPr lang="ko-KR" altLang="en-US" dirty="0"/>
              <a:t> </a:t>
            </a:r>
            <a:r>
              <a:rPr lang="en-US" altLang="ko-KR" dirty="0"/>
              <a:t>----------------------------------------------------------------------- 5</a:t>
            </a:r>
          </a:p>
          <a:p>
            <a:pPr marL="228600" indent="-228600" eaLnBrk="1" hangingPunct="1">
              <a:buAutoNum type="arabicPeriod"/>
            </a:pPr>
            <a:endParaRPr lang="en-US" altLang="ko-KR" dirty="0"/>
          </a:p>
          <a:p>
            <a:pPr marL="228600" indent="-228600" eaLnBrk="1" hangingPunct="1">
              <a:buFontTx/>
              <a:buAutoNum type="arabicPeriod"/>
            </a:pPr>
            <a:r>
              <a:rPr lang="ko-KR" altLang="en-US" dirty="0" err="1"/>
              <a:t>검정확인서</a:t>
            </a:r>
            <a:r>
              <a:rPr lang="ko-KR" altLang="en-US" dirty="0"/>
              <a:t> </a:t>
            </a:r>
            <a:r>
              <a:rPr lang="en-US" altLang="ko-KR" dirty="0"/>
              <a:t>----------------------------------------------------------------------- 6</a:t>
            </a:r>
          </a:p>
          <a:p>
            <a:pPr marL="228600" indent="-228600" eaLnBrk="1" hangingPunct="1">
              <a:buAutoNum type="arabicPeriod"/>
            </a:pPr>
            <a:endParaRPr lang="en-US" altLang="ko-KR" dirty="0"/>
          </a:p>
          <a:p>
            <a:pPr marL="228600" indent="-228600" eaLnBrk="1" hangingPunct="1">
              <a:buFontTx/>
              <a:buAutoNum type="arabicPeriod"/>
            </a:pPr>
            <a:r>
              <a:rPr lang="ko-KR" altLang="en-US" dirty="0" err="1"/>
              <a:t>출고지시서</a:t>
            </a:r>
            <a:r>
              <a:rPr lang="ko-KR" altLang="en-US" dirty="0"/>
              <a:t> </a:t>
            </a:r>
            <a:r>
              <a:rPr lang="en-US" altLang="ko-KR" dirty="0"/>
              <a:t>----------------------------------------------------------------------- 7</a:t>
            </a:r>
          </a:p>
          <a:p>
            <a:pPr marL="228600" indent="-228600" eaLnBrk="1" hangingPunct="1">
              <a:buAutoNum type="arabicPeriod"/>
            </a:pPr>
            <a:endParaRPr lang="en-US" altLang="ko-KR" dirty="0"/>
          </a:p>
          <a:p>
            <a:pPr marL="228600" indent="-228600" eaLnBrk="1" hangingPunct="1">
              <a:buFontTx/>
              <a:buAutoNum type="arabicPeriod"/>
            </a:pPr>
            <a:r>
              <a:rPr lang="ko-KR" altLang="en-US" dirty="0" err="1"/>
              <a:t>화물접수증</a:t>
            </a:r>
            <a:r>
              <a:rPr lang="ko-KR" altLang="en-US" dirty="0"/>
              <a:t> </a:t>
            </a:r>
            <a:r>
              <a:rPr lang="en-US" altLang="ko-KR" dirty="0"/>
              <a:t>----------------------------------------------------------------------- 8</a:t>
            </a:r>
          </a:p>
          <a:p>
            <a:pPr marL="228600" indent="-228600" eaLnBrk="1" hangingPunct="1">
              <a:buAutoNum type="arabicPeriod"/>
            </a:pPr>
            <a:endParaRPr lang="en-US" altLang="ko-KR" dirty="0"/>
          </a:p>
          <a:p>
            <a:pPr marL="228600" indent="-228600" eaLnBrk="1" hangingPunct="1">
              <a:buFontTx/>
              <a:buAutoNum type="arabicPeriod"/>
            </a:pPr>
            <a:r>
              <a:rPr lang="ko-KR" altLang="en-US" dirty="0" err="1"/>
              <a:t>입금증</a:t>
            </a:r>
            <a:r>
              <a:rPr lang="ko-KR" altLang="en-US" dirty="0"/>
              <a:t> </a:t>
            </a:r>
            <a:r>
              <a:rPr lang="en-US" altLang="ko-KR" dirty="0"/>
              <a:t>---------------------------------------------------------------------------- 9</a:t>
            </a:r>
          </a:p>
          <a:p>
            <a:pPr marL="228600" indent="-228600" eaLnBrk="1" hangingPunct="1">
              <a:buAutoNum type="arabicPeriod"/>
            </a:pPr>
            <a:endParaRPr lang="en-US" altLang="ko-KR" dirty="0"/>
          </a:p>
          <a:p>
            <a:pPr marL="228600" indent="-228600" eaLnBrk="1" hangingPunct="1">
              <a:buFontTx/>
              <a:buAutoNum type="arabicPeriod"/>
            </a:pPr>
            <a:r>
              <a:rPr lang="ko-KR" altLang="en-US" dirty="0"/>
              <a:t>창고 입출고 체크리스트 </a:t>
            </a:r>
            <a:r>
              <a:rPr lang="en-US" altLang="ko-KR" dirty="0"/>
              <a:t>-------------------------------------------------------- 10</a:t>
            </a:r>
          </a:p>
          <a:p>
            <a:pPr marL="228600" indent="-228600" eaLnBrk="1" hangingPunct="1">
              <a:buAutoNum type="arabicPeriod"/>
            </a:pPr>
            <a:endParaRPr lang="en-US" altLang="ko-KR" dirty="0"/>
          </a:p>
          <a:p>
            <a:pPr marL="228600" indent="-228600" eaLnBrk="1" hangingPunct="1">
              <a:buFontTx/>
              <a:buAutoNum type="arabicPeriod"/>
            </a:pPr>
            <a:r>
              <a:rPr lang="ko-KR" altLang="en-US" dirty="0"/>
              <a:t>전자인수도증 </a:t>
            </a:r>
            <a:r>
              <a:rPr lang="en-US" altLang="ko-KR" dirty="0"/>
              <a:t>-------------------------------------------------------------------- 11</a:t>
            </a:r>
          </a:p>
          <a:p>
            <a:pPr marL="228600" indent="-228600" eaLnBrk="1" hangingPunct="1">
              <a:buAutoNum type="arabicPeriod"/>
            </a:pPr>
            <a:endParaRPr lang="en-US" altLang="ko-KR" dirty="0"/>
          </a:p>
          <a:p>
            <a:pPr marL="228600" indent="-228600" eaLnBrk="1" hangingPunct="1">
              <a:buFontTx/>
              <a:buAutoNum type="arabicPeriod"/>
            </a:pPr>
            <a:r>
              <a:rPr lang="en-US" altLang="ko-KR" dirty="0"/>
              <a:t>E-SLIP</a:t>
            </a:r>
            <a:r>
              <a:rPr lang="ko-KR" altLang="en-US" dirty="0"/>
              <a:t> </a:t>
            </a:r>
            <a:r>
              <a:rPr lang="en-US" altLang="ko-KR" dirty="0"/>
              <a:t>---------------------------------------------------------------------------- 12</a:t>
            </a:r>
          </a:p>
          <a:p>
            <a:pPr marL="228600" indent="-228600" eaLnBrk="1" hangingPunct="1">
              <a:buAutoNum type="arabicPeriod"/>
            </a:pPr>
            <a:endParaRPr lang="en-US" altLang="ko-KR" dirty="0"/>
          </a:p>
          <a:p>
            <a:pPr marL="228600" indent="-228600" eaLnBrk="1" hangingPunct="1">
              <a:buFontTx/>
              <a:buAutoNum type="arabicPeriod"/>
            </a:pPr>
            <a:r>
              <a:rPr lang="en-US" altLang="ko-KR" dirty="0"/>
              <a:t>CLP/STUFFING ORDER</a:t>
            </a:r>
            <a:r>
              <a:rPr lang="ko-KR" altLang="en-US" dirty="0"/>
              <a:t> </a:t>
            </a:r>
            <a:r>
              <a:rPr lang="en-US" altLang="ko-KR" dirty="0"/>
              <a:t>---------------------------------------------------------- 13</a:t>
            </a:r>
          </a:p>
          <a:p>
            <a:pPr marL="228600" indent="-228600" eaLnBrk="1" hangingPunct="1">
              <a:buAutoNum type="arabicPeriod"/>
            </a:pPr>
            <a:endParaRPr lang="en-US" altLang="ko-KR" dirty="0"/>
          </a:p>
          <a:p>
            <a:pPr marL="228600" indent="-228600" eaLnBrk="1" hangingPunct="1">
              <a:buFontTx/>
              <a:buAutoNum type="arabicPeriod"/>
            </a:pPr>
            <a:r>
              <a:rPr lang="en-US" altLang="ko-KR" dirty="0"/>
              <a:t>VGM</a:t>
            </a:r>
            <a:r>
              <a:rPr lang="ko-KR" altLang="en-US" dirty="0"/>
              <a:t> </a:t>
            </a:r>
            <a:r>
              <a:rPr lang="en-US" altLang="ko-KR" dirty="0"/>
              <a:t>----------------------------------------------------------------------------- 14</a:t>
            </a:r>
          </a:p>
          <a:p>
            <a:pPr marL="228600" indent="-228600" eaLnBrk="1" hangingPunct="1">
              <a:buAutoNum type="arabicPeriod"/>
            </a:pPr>
            <a:endParaRPr lang="en-US" altLang="ko-KR" dirty="0"/>
          </a:p>
          <a:p>
            <a:pPr marL="228600" indent="-228600" eaLnBrk="1" hangingPunct="1">
              <a:buFontTx/>
              <a:buAutoNum type="arabicPeriod"/>
            </a:pPr>
            <a:r>
              <a:rPr lang="ko-KR" altLang="en-US" dirty="0"/>
              <a:t>화물운송요청서 </a:t>
            </a:r>
            <a:r>
              <a:rPr lang="en-US" altLang="ko-KR" dirty="0"/>
              <a:t>----------------------------------------------------------------- 15</a:t>
            </a:r>
          </a:p>
          <a:p>
            <a:pPr eaLnBrk="1" hangingPunct="1"/>
            <a:endParaRPr lang="en-US" altLang="ko-KR" sz="800" dirty="0"/>
          </a:p>
        </p:txBody>
      </p:sp>
    </p:spTree>
    <p:extLst>
      <p:ext uri="{BB962C8B-B14F-4D97-AF65-F5344CB8AC3E}">
        <p14:creationId xmlns:p14="http://schemas.microsoft.com/office/powerpoint/2010/main" val="4290936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708077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-Transport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김은경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RT-G-01-13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입고지시서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altLang="ko-KR" sz="1000" dirty="0"/>
                        <a:t>REQ-G-F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>
                <a:solidFill>
                  <a:schemeClr val="tx1"/>
                </a:solidFill>
              </a:rPr>
              <a:t>입고지시서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535592"/>
              </p:ext>
            </p:extLst>
          </p:nvPr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90" y="2577888"/>
            <a:ext cx="4126598" cy="584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36381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975689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-Transport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김은경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RT-G-01-14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입고확인서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altLang="ko-KR" sz="1000" dirty="0"/>
                        <a:t>REQ-G-F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>
                <a:solidFill>
                  <a:schemeClr val="tx1"/>
                </a:solidFill>
              </a:rPr>
              <a:t>입고확인서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93" y="2327455"/>
            <a:ext cx="4043299" cy="553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07027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866391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-Transport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김은경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RT-G-01-15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검정확인서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altLang="ko-KR" sz="1000" dirty="0"/>
                        <a:t>REQ-G-F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>
                <a:solidFill>
                  <a:schemeClr val="tx1"/>
                </a:solidFill>
              </a:rPr>
              <a:t>검정확인서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pic>
        <p:nvPicPr>
          <p:cNvPr id="23" name="그림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87" y="2485286"/>
            <a:ext cx="4411233" cy="596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62962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36119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-Transport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김은경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RT-G-01-16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출고지시서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altLang="ko-KR" sz="1000" dirty="0"/>
                        <a:t>REQ-G-F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>
                <a:solidFill>
                  <a:schemeClr val="tx1"/>
                </a:solidFill>
              </a:rPr>
              <a:t>출고지시서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88" y="3872880"/>
            <a:ext cx="4182376" cy="2725004"/>
          </a:xfrm>
          <a:prstGeom prst="rect">
            <a:avLst/>
          </a:prstGeom>
        </p:spPr>
      </p:pic>
      <p:cxnSp>
        <p:nvCxnSpPr>
          <p:cNvPr id="3" name="직선 연결선 2"/>
          <p:cNvCxnSpPr/>
          <p:nvPr/>
        </p:nvCxnSpPr>
        <p:spPr>
          <a:xfrm>
            <a:off x="404664" y="5169024"/>
            <a:ext cx="42744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09933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842268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-Transport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김은경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RT-G-01-17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화물접수증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altLang="ko-KR" sz="1000" dirty="0"/>
                        <a:t>REQ-G-F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>
                <a:solidFill>
                  <a:schemeClr val="tx1"/>
                </a:solidFill>
              </a:rPr>
              <a:t>화물접수증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31" y="2025865"/>
            <a:ext cx="3532178" cy="462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92943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375896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-Transport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김은경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RT-G-01-18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입금증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altLang="ko-KR" sz="1000" dirty="0"/>
                        <a:t>REQ-G-F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>
                <a:solidFill>
                  <a:schemeClr val="tx1"/>
                </a:solidFill>
              </a:rPr>
              <a:t>입금증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51" y="2288704"/>
            <a:ext cx="4419269" cy="29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3764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955139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-Transport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김은경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RT-G-01-19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창고 입출고 체크리스트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altLang="ko-KR" sz="1000" dirty="0"/>
                        <a:t>REQ-G-F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창고 입출고 체크리스트</a:t>
            </a: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43" y="2864768"/>
            <a:ext cx="4115953" cy="290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91773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2241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-Transport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김은경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RT-G-01-20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전자인수도증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altLang="ko-KR" sz="1000" dirty="0"/>
                        <a:t>REQ-G-F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전자인수도증</a:t>
            </a: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A70E7571-2733-374D-A5B7-D1E1769BE9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352" b="4034"/>
          <a:stretch/>
        </p:blipFill>
        <p:spPr>
          <a:xfrm>
            <a:off x="825031" y="2504728"/>
            <a:ext cx="3532178" cy="39604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672BD6-E1DF-3643-BAF6-628B851D37B8}"/>
              </a:ext>
            </a:extLst>
          </p:cNvPr>
          <p:cNvSpPr txBox="1"/>
          <p:nvPr/>
        </p:nvSpPr>
        <p:spPr>
          <a:xfrm>
            <a:off x="1962966" y="2283451"/>
            <a:ext cx="1184940" cy="293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dirty="0"/>
              <a:t>전자인수도증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C01131-6E23-1249-A663-5BBC0F1446B6}"/>
              </a:ext>
            </a:extLst>
          </p:cNvPr>
          <p:cNvSpPr txBox="1"/>
          <p:nvPr/>
        </p:nvSpPr>
        <p:spPr>
          <a:xfrm>
            <a:off x="3620448" y="6530347"/>
            <a:ext cx="620683" cy="293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(</a:t>
            </a:r>
            <a:r>
              <a:rPr kumimoji="1" lang="ko-KR" altLang="en-US" dirty="0"/>
              <a:t>서명</a:t>
            </a:r>
            <a:r>
              <a:rPr kumimoji="1" lang="en-US" altLang="ko-KR" dirty="0"/>
              <a:t>)</a:t>
            </a:r>
            <a:endParaRPr kumimoji="1" lang="ko-Kore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838E14-D4FA-6A44-B84E-8EFA9133C72B}"/>
              </a:ext>
            </a:extLst>
          </p:cNvPr>
          <p:cNvSpPr/>
          <p:nvPr/>
        </p:nvSpPr>
        <p:spPr>
          <a:xfrm>
            <a:off x="899252" y="2280087"/>
            <a:ext cx="3380572" cy="2770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00ABB0F-AAA7-2E40-B5DE-169A487AF4FA}"/>
              </a:ext>
            </a:extLst>
          </p:cNvPr>
          <p:cNvSpPr/>
          <p:nvPr/>
        </p:nvSpPr>
        <p:spPr>
          <a:xfrm>
            <a:off x="908720" y="6457025"/>
            <a:ext cx="729548" cy="43178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dirty="0"/>
              <a:t>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DDF7BDA-81EF-2E47-A42A-CAB0FE5835A1}"/>
              </a:ext>
            </a:extLst>
          </p:cNvPr>
          <p:cNvSpPr/>
          <p:nvPr/>
        </p:nvSpPr>
        <p:spPr>
          <a:xfrm>
            <a:off x="1638267" y="6456181"/>
            <a:ext cx="2602863" cy="43178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dirty="0"/>
              <a:t>ㄴㄴ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CA87A1-9308-194E-8892-FAC26DB3073E}"/>
              </a:ext>
            </a:extLst>
          </p:cNvPr>
          <p:cNvSpPr txBox="1"/>
          <p:nvPr/>
        </p:nvSpPr>
        <p:spPr>
          <a:xfrm>
            <a:off x="908719" y="6556667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100" dirty="0" err="1"/>
              <a:t>인수자명</a:t>
            </a:r>
            <a:endParaRPr kumimoji="1" lang="ko-Kore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09811222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603799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-Transport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김은경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RT-G-01-21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E-SLIP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altLang="ko-KR" sz="1000" dirty="0"/>
                        <a:t>REQ-G-F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E-SLIP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726" y="1888824"/>
            <a:ext cx="2971439" cy="36004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36" y="5889104"/>
            <a:ext cx="3249621" cy="327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57549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613467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-Transport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김은경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RT-G-01-22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CLP/STUFFING</a:t>
                      </a:r>
                      <a:r>
                        <a:rPr lang="en-US" altLang="ko-KR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ORDER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altLang="ko-KR" sz="1000" dirty="0"/>
                        <a:t>REQ-G-F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CLP/STUFFING ORDER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00183" y="3123453"/>
            <a:ext cx="2781960" cy="388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31717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703184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-Transport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김은경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RT-G-01-23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VGM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altLang="ko-KR" sz="1000" dirty="0"/>
                        <a:t>REQ-G-F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VGM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72" y="1856656"/>
            <a:ext cx="4336840" cy="636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07949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556151"/>
              </p:ext>
            </p:extLst>
          </p:nvPr>
        </p:nvGraphicFramePr>
        <p:xfrm>
          <a:off x="381915" y="443156"/>
          <a:ext cx="6101742" cy="754104"/>
        </p:xfrm>
        <a:graphic>
          <a:graphicData uri="http://schemas.openxmlformats.org/drawingml/2006/table">
            <a:tbl>
              <a:tblPr/>
              <a:tblGrid>
                <a:gridCol w="78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업무시스템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 err="1">
                          <a:latin typeface="+mn-ea"/>
                          <a:ea typeface="+mn-ea"/>
                          <a:cs typeface="Times New Roman"/>
                        </a:rPr>
                        <a:t>디지털물류</a:t>
                      </a: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 네트워크</a:t>
                      </a:r>
                      <a:r>
                        <a:rPr lang="ko-KR" altLang="en-US" sz="1000" b="0" kern="100" baseline="0" dirty="0">
                          <a:latin typeface="+mn-ea"/>
                          <a:ea typeface="+mn-ea"/>
                          <a:cs typeface="Times New Roman"/>
                        </a:rPr>
                        <a:t> 시스템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단위시스템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디지털물류네트워크 </a:t>
                      </a: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-Transport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작성자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김은경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보고서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RT-G-01-24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latin typeface="+mn-ea"/>
                          <a:ea typeface="+mn-ea"/>
                          <a:cs typeface="Times New Roman"/>
                        </a:rPr>
                        <a:t>보고서명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00" dirty="0">
                          <a:latin typeface="+mn-ea"/>
                          <a:ea typeface="+mn-ea"/>
                          <a:cs typeface="Times New Roman"/>
                        </a:rPr>
                        <a:t>화물운송요청서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56248"/>
                  </a:ext>
                </a:extLst>
              </a:tr>
              <a:tr h="2246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요구사항</a:t>
                      </a:r>
                      <a:r>
                        <a:rPr lang="en-US" alt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altLang="ko-KR" sz="1000" dirty="0"/>
                        <a:t>REQ-G-F</a:t>
                      </a:r>
                      <a:endParaRPr 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0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작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r>
                        <a:rPr lang="en-US" sz="1000" b="1" kern="100" dirty="0"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r>
                        <a:rPr lang="ko-KR" sz="1000" b="1" kern="100" dirty="0">
                          <a:latin typeface="+mn-ea"/>
                          <a:ea typeface="+mn-ea"/>
                          <a:cs typeface="Times New Roman"/>
                        </a:rPr>
                        <a:t>일</a:t>
                      </a: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latin typeface="+mn-ea"/>
                          <a:ea typeface="+mn-ea"/>
                          <a:cs typeface="Times New Roman"/>
                        </a:rPr>
                        <a:t>2022.03.30</a:t>
                      </a:r>
                      <a:endParaRPr lang="ko-KR" altLang="ko-KR" sz="10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8513" marR="48513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9313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359204" y="1388616"/>
            <a:ext cx="4464000" cy="7956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813595" y="1388616"/>
            <a:ext cx="1656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823121" y="1604614"/>
            <a:ext cx="1646474" cy="7740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59120" y="1388616"/>
            <a:ext cx="4464000" cy="215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화물운송요청서</a:t>
            </a: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4832730" y="1604613"/>
          <a:ext cx="1646474" cy="77408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064">
                  <a:extLst>
                    <a:ext uri="{9D8B030D-6E8A-4147-A177-3AD203B41FA5}">
                      <a16:colId xmlns:a16="http://schemas.microsoft.com/office/drawing/2014/main" val="377206406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372353527"/>
                    </a:ext>
                  </a:extLst>
                </a:gridCol>
                <a:gridCol w="1024370">
                  <a:extLst>
                    <a:ext uri="{9D8B030D-6E8A-4147-A177-3AD203B41FA5}">
                      <a16:colId xmlns:a16="http://schemas.microsoft.com/office/drawing/2014/main" val="237939870"/>
                    </a:ext>
                  </a:extLst>
                </a:gridCol>
              </a:tblGrid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설명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32500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7188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86176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772858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840459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8963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62664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17237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14595"/>
                  </a:ext>
                </a:extLst>
              </a:tr>
              <a:tr h="774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709414" rtl="0" eaLnBrk="1" latinLnBrk="1" hangingPunct="1">
                        <a:buFontTx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7094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52" marR="36052" marT="36008" marB="3600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833743"/>
                  </a:ext>
                </a:extLst>
              </a:tr>
            </a:tbl>
          </a:graphicData>
        </a:graphic>
      </p:graphicFrame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57" y="1928664"/>
            <a:ext cx="4275125" cy="604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32421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5886D90638B51438A467D5284272316" ma:contentTypeVersion="13" ma:contentTypeDescription="새 문서를 만듭니다." ma:contentTypeScope="" ma:versionID="8c13b2e596bf139e310d225af43e4c58">
  <xsd:schema xmlns:xsd="http://www.w3.org/2001/XMLSchema" xmlns:xs="http://www.w3.org/2001/XMLSchema" xmlns:p="http://schemas.microsoft.com/office/2006/metadata/properties" xmlns:ns2="c6568742-5de3-40ba-8220-779a1426b888" xmlns:ns3="1f135557-d3de-42f7-ade0-040a583f4276" targetNamespace="http://schemas.microsoft.com/office/2006/metadata/properties" ma:root="true" ma:fieldsID="a84199752af1719afd6cd5e1bffc9cd3" ns2:_="" ns3:_="">
    <xsd:import namespace="c6568742-5de3-40ba-8220-779a1426b888"/>
    <xsd:import namespace="1f135557-d3de-42f7-ade0-040a583f42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568742-5de3-40ba-8220-779a1426b8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135557-d3de-42f7-ade0-040a583f4276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06482EF-3FE1-4066-8718-8F755EB635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568742-5de3-40ba-8220-779a1426b888"/>
    <ds:schemaRef ds:uri="1f135557-d3de-42f7-ade0-040a583f42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BC4BAE8-2E07-4F3B-9F73-61E70420AC9A}">
  <ds:schemaRefs>
    <ds:schemaRef ds:uri="http://schemas.microsoft.com/office/2006/metadata/properties"/>
    <ds:schemaRef ds:uri="http://www.w3.org/XML/1998/namespace"/>
    <ds:schemaRef ds:uri="http://purl.org/dc/terms/"/>
    <ds:schemaRef ds:uri="http://schemas.microsoft.com/office/2006/documentManagement/types"/>
    <ds:schemaRef ds:uri="c6568742-5de3-40ba-8220-779a1426b888"/>
    <ds:schemaRef ds:uri="1f135557-d3de-42f7-ade0-040a583f4276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AD5C293-80CA-4182-979C-E9317421CAD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672</TotalTime>
  <Words>852</Words>
  <Application>Microsoft Office PowerPoint</Application>
  <PresentationFormat>A4 용지(210x297mm)</PresentationFormat>
  <Paragraphs>540</Paragraphs>
  <Slides>15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>Windows User</cp:lastModifiedBy>
  <cp:revision>99</cp:revision>
  <dcterms:created xsi:type="dcterms:W3CDTF">2013-01-15T05:34:45Z</dcterms:created>
  <dcterms:modified xsi:type="dcterms:W3CDTF">2022-06-10T07:57:58Z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0x01010055886D90638B51438A467D5284272316</vt:lpwstr>
  </property>
</Properties>
</file>